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problem and the idea" id="{7f65d601-d9fc-462b-fea5-38d110d8e57d}">
          <p14:sldIdLst>
            <p14:sldId id="256"/>
            <p14:sldId id="257"/>
            <p14:sldId id="258"/>
            <p14:sldId id="259"/>
          </p14:sldIdLst>
        </p14:section>
        <p14:section name="Proof, product and autonomy" id="{17ff98ae-0645-9cb5-6f1f-86bd0c93641a}">
          <p14:sldIdLst>
            <p14:sldId id="260"/>
            <p14:sldId id="261"/>
            <p14:sldId id="262"/>
            <p14:sldId id="263"/>
          </p14:sldIdLst>
        </p14:section>
        <p14:section name="Why it matters" id="{6bef23f5-3228-5274-878f-e97f4cdfb6db}">
          <p14:sldIdLst>
            <p14:sldId id="264"/>
            <p14:sldId id="265"/>
            <p14:sldId id="266"/>
          </p14:sldIdLst>
        </p14:section>
        <p14:section name="Technical appendix" id="{aadc4285-9037-3aa0-4623-12d3c4df6dfa}">
          <p14:sldIdLst>
            <p14:sldId id="267"/>
            <p14:sldId id="268"/>
            <p14:sldId id="269"/>
            <p14:sldId id="270"/>
            <p14:sldId id="271"/>
            <p14:sldId id="272"/>
            <p14:sldId id="273"/>
            <p14:sldId id="274"/>
            <p14:sldId id="275"/>
            <p14:sldId id="276"/>
            <p14:sldId id="277"/>
            <p14:sldId id="278"/>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Median shortfall (bps)</c:v>
                </c:pt>
              </c:strCache>
            </c:strRef>
          </c:tx>
          <c:spPr>
            <a:solidFill>
              <a:srgbClr val="9FB0BE"/>
            </a:solidFill>
            <a:effectLst/>
          </c:spPr>
          <c:invertIfNegative val="0"/>
          <c:dLbls>
            <c:numFmt formatCode="0.0#" sourceLinked="0"/>
            <c:txPr>
              <a:bodyPr/>
              <a:lstStyle/>
              <a:p>
                <a:pPr>
                  <a:defRPr b="0" i="0" strike="noStrike" sz="1200" u="none">
                    <a:solidFill>
                      <a:srgbClr val="13233F"/>
                    </a:solidFill>
                    <a:latin typeface="+mn-lt"/>
                  </a:defRPr>
                </a:pPr>
              </a:p>
            </c:txPr>
            <c:showLegendKey val="0"/>
            <c:showVal val="1"/>
            <c:showCatName val="0"/>
            <c:showSerName val="0"/>
            <c:showPercent val="0"/>
            <c:showBubbleSize val="0"/>
            <c:showLeaderLines val="0"/>
          </c:dLbls>
          <c:cat>
            <c:multiLvlStrRef>
              <c:f>Sheet1!$A$2:$A$5</c:f>
              <c:multiLvlStrCache>
                <c:ptCount val="4"/>
                <c:lvl>
                  <c:pt idx="0">
                    <c:v>Best single pool</c:v>
                  </c:pt>
                  <c:pt idx="1">
                    <c:v>Equal split over direct pools</c:v>
                  </c:pt>
                  <c:pt idx="2">
                    <c:v>Direct pools only, optimally split</c:v>
                  </c:pt>
                  <c:pt idx="3">
                    <c:v>QED, certified route (≤ 0.01, enforced on-chain)</c:v>
                  </c:pt>
                </c:lvl>
              </c:multiLvlStrCache>
            </c:multiLvlStrRef>
          </c:cat>
          <c:val>
            <c:numRef>
              <c:f>Sheet1!$B$2:$B$5</c:f>
              <c:numCache>
                <c:formatCode>General</c:formatCode>
                <c:ptCount val="4"/>
                <c:pt idx="0">
                  <c:v>74.5</c:v>
                </c:pt>
                <c:pt idx="1">
                  <c:v>117.2</c:v>
                </c:pt>
                <c:pt idx="2">
                  <c:v>33.7</c:v>
                </c:pt>
                <c:pt idx="3">
                  <c:v>0.01</c:v>
                </c:pt>
              </c:numCache>
            </c:numRef>
          </c:val>
        </c:ser>
        <c:dLbls>
          <c:numFmt formatCode="0.0#" sourceLinked="0"/>
          <c:txPr>
            <a:bodyPr/>
            <a:lstStyle/>
            <a:p>
              <a:pPr>
                <a:defRPr b="0" i="0" strike="noStrike" sz="1200" u="none">
                  <a:solidFill>
                    <a:srgbClr val="13233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3233F"/>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agents are starting to hold money. They pay suppliers, top up reserves and convert currencies, often with nobody watching each transaction. So here is our question: when an AI moves money, who makes sure it acted correctly? Today the answer is usually a spending limit and a hope. QED is an AI treasury in which every payment and every trade carries a proof, and the blockchain checks that proof before any money moves. In one line: AI can decide; QED makes it prove. In the next nine minutes: the problem, the idea, the proof on a public chain, and the product you can try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 concrete case. An AI treasury holds dollars and has to pay a euro invoice, so it converts. How do you know it got a good price? Today's wallets and intent systems check one thing: did the trade clear a minimum, a slippage floor of, say, one percent. Everything above that floor is the agent's discretion. A compromised or simply careless agent can leak a little on every trade, and every trade still looks fine. On a thousand seeded markets, routes that clear a one percent floor still give up a median of 14 to 32 basis points. Auction systems compare after settlement, when the money has already moved. In traditional finance, brokers owe clients best execution by law. An AI agent owes it to no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idea is simple: don't trust the agent's financial decision; make the chain verify its quality. Here is how money moves in QED. The AI proposes: it reads your instruction and plans the trade, but it holds no key that can pay alone. An independent co-signer, a separate process with its own key, re-derives the decision from the chain and signs only what the owner allowed. Then the contract verifies everything: the owner's signed mandate, the caps, the protected liabilities, and a mathematical proof of quality. If any check fails, the transaction reverts and nothing moves. The AI can be wrong, manipulated, even stolen, and the money still only moves with a valid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part is that quality proof, which we call certified best execution. The owner approves a set of trading venues. For those venues QED can compute an upper bound, B: the most that any route through them could possibly return, given their live reserves. The agent proves its trade with one price per token, a dual certificate in optimisation terms, and the key property is that any prices give a valid upper bound, so a cheating agent cannot fake a flattering one. The contract recomputes B in the same transaction, rounding against the agent, and accepts only if the output is within tau, one part per million, of B. A worse route does not settle; it reverts. The full derivation is in appendix A1.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simulation. This is transaction E1 on Ethereum Sepolia, a public test network. Twenty test dollars in, 18.086846 test euros out. The chain's own bound, computed in that same transaction from five venues' live reserves, was 18.086849. The gap is 0.17 parts per million. Look at the route: the agent split the trade across venues, including a two-hop path through test ether, because that is what the optimum required. The contract did not care which route the agent chose; it cared that no route could have done meaningfully better. All 196 of our Sepolia transactions, this one included, can be re-verified by anyone with one command and no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you can try it yourself. This is the QED app, live now; the link is on the last slide. You type an instruction, like convert 12.5 dollars to euros for the invoices. The AI interprets it and proposes; it shows you which of the owner's signed limits it checked, and it cannot sign anything. You confirm as the owner. The co-signer re-derives and signs an order, the agent builds the route and the proof, and the contract checks it. On the right you watch every step: the real transaction, the bound, a 0.26 parts-per-million gap, and the balances reconciled. Ask for 80 dollars and it is refused before anything is signed, because the mandate says 25. The app runs the real QED contracts on a sandbox test chain with valueless tokens, so you need no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the owner chose the amount. Here the agent decides. The owner signs one standing policy: keep at least 45 euros free in the reserve, convert in tranches of 2 to 25 dollars, and pay at most 150 basis points each time. Each tick the agent takes the smallest of five limits: what covers the shortfall, what the market can absorb within the cost limit, two caps, and the free funds. Over-eager, it first asked for 25; the co-signer recomputed the rule and refused. Then it converted 19.5, limited by market impact. Then 8.8, limited by need. Then it stopped: target met. On Sepolia the policy then became a contract, which refused over-conversion even with both hot keys stolen. In the app you can sign your own target and watch the agent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attacked it ourselves, on the public chain. Three examples. A compromised agent routes through the direct pools only, 33 basis points worse: that would clear a one percent slippage floor, but the bound catches it and the trade reverts with NotBestExecution. With both hot keys stolen, the agent's and the co-signer's, the attacker tries to pay itself: the vault refuses, because the owner never approved that payee. And with both keys stolen again, it tries to convert more than the policy needs: the policy contract refuses. In total: 48 attacks, 48 reverts, zero test dollars to the attacker. Six of them run live in the app's Security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would need this? First, autonomous treasuries: businesses, DAOs and AI services that hold one currency and owe another can delegate conversion, even its timing, without trusting the agent's routing. Second, regulated firms: a per-trade best-execution record that anyone can recompute from public state. Third, agent-to-agent services: a solver or provider can be paid on a proof instead of being monitored afterwards. Our business model is a hypothesis: a verification layer, with a fee per certified trade or a licence for custodians and agent platforms. To be clear about where we are: no users, no revenue, no partners; it is unaudited and runs on testnets. The next steps are an audit, more venue types, and a pilot with a treasury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this new? Every ingredient is known, and we cite them. Intent systems and aggregators enforce a minimum output. CoW Protocol compares fills after settlement. Some research computes routes on-chain for one pair, or certifies a router off-chain. Angeris and colleagues gave us the duality. What we did not find, after searching, is a system that makes the optimality of the executed route a condition of the trade itself, checked in the same transaction, inside an agent's spending mandate. And the claim is scoped honestly: the guarantee covers the owner's approved constant-product venues, not all of DeFi.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will hold the money. The question is whether they must prove they acted correctly before it moves, or whether we find out afterwards. QED makes it a precondition: who may pay, what may never be spent, whether a trade got the best price, each one checked by the chain. AI can decide. QED makes it prove. The live app, the Sepolia proof ledger and all the code are at these three links.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idea: routing through constant-product pools is a convex problem, so it has a dual. Pick any price for each token, and the value of every possible route is bounded by this sum, one closed-form term per pool from its live reserves and fee. Three properties follow. Unforgeable: every price vector gives a valid bound, so an agent can't fake a proof, only fail to have one. Tight: at the right prices the bound equals the optimum, and our solver finds them in milliseconds. Exact: we round every step upward, so it survives the EVM. The contract checks one inequality.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one transaction the contract checks the order the independent co-signer certified: recipient, the co-signer's own floor, the venue set. It computes the bound over every venue the owner allows, rounding up. Funds come through the original QED vault, so mandate, caps and solvency still apply. The agent's route runs, any shape, and nothing may be left behind. What actually arrived must clear the floor and be within tau of the bound. Whatever route the agent picks, the result is near-optimal.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attack it. A compromised agent gets a genuine co-signed order and tries every leak a slippage limit allows. The axis is distance below the bound, log scale. Orange is what a one-percent floor accepts; green is what QED accepts. A direct-pools-only route, 33 basis points short, would pass any one-percent wallet: here it reverts with NotBestExecution. A half-basis-point skim: rejected. Prices chosen to bless a bad route: rejected. Stranding the bridge token, redirecting the output, calling without the key: rejected. A front-run hit the co-signed floor, and our agent then declined to trade into the moved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F's four outcomes, each a transaction. One: a separate agent key under an independent certificate: L4 for a payment, E1 for a trade, PE1 for a trade the agent started itself. Two: paid work settled through escrow, on an optimality proof and on a zero-knowledge proof. Three: 48 attacks, 48 reverts, nothing to the attacker. Four: one command re-derives every claim, with no keys, daily in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it matter? On a thousand seeded markets, routing policies without a proof fall a median 34 to 117 basis points short of the optimum. The security reading: among routes that still clear a one-percent floor, a hostile agent keeps a median 14 to 32 basis points per trade. Under QED, at most one part per million. Our own routes land a median 0.075 parts per million from their bound. And honestly: for small trades in deep markets a good router is already within about three basis points, so there QED adds the guarantee, not the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claim like this should be falsifiable, so we put money on it. ExecutionBounty holds a thousand test dollars. Give it any route and prices: it runs your route on its own funds, compares with the deployed bound, and pays you if you beat it. No judge. On Sepolia, three attempts, including the whole pool in one trade, reverted with TheoremHolds. Six thousand fuzzed attempts never beat the bound, and a positive control shows the bounty does pay when a bound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Please don't trust these slides. One command re-derives every claim from a public Sepolia node with no keys: bytecode, receipts, replayed attacks, each bound recomputed, each route replayed. Another runs the whole economy and the autonomous policy on a laptop and reproduces the Sepolia trades to the last unit. The limits, plainly: a front-run smaller than the one-percent floor isn't caught; venues must be honest constant-product pools; the policy contract enforces safety, not liveness; and this is an unaudited testnet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one answers the first rubric question. In transaction L4 the sender is the AI agent’s own key. The vault recovered the owner’s signature on the mandate and the co-signer’s signature on a certificate binding the exact recipient, amount and a single-use id. The certificate also carries the hash of the co-signer’s decision record, all 12 checks, which is published in our repository, so anyone can see exactly why this payment was allowed. Change any signed field and it reverts.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two covers the protected-liability question. The owner ring-fenced 70 of 100 for CloudCo’s compute bill. Those 70 can now reach CloudCo and nobody else: not the AI, not the co-signer, not even the owner. Every outflow is checked against the free balance, which we proved by induction and fuzzed with an attacker holding both hot keys. And pausing stops the AI, never the creditor: on Sepolia, during a pause, the attacker’s own address triggered settlement and the money still went to CloudCo.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three. Escrow today needs a human or an oracle to accept work; we replaced acceptance with a theorem. The client buys a minimum-variance portfolio. The AI solves it off-chain and must attach a Karush–Kuhn–Tucker certificate. The contract checks it in exact integers, which is cheap, while solving would be expensive. We prove that passing the check puts the portfolio within 1.5 times ten to the minus eight of the optimum. The escrow pays for a proof, not a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live run answers the second rubric question. A robo-advisor agent asked for an optimal portfolio. QED priced it at 15, cost 6, and signed the quote; the client locked 15 in escrow. The agent bought the risk model it needed with its own key and a co-signed certificate, solved in two milliseconds and delivered the proof. The contract checked it and released 15. A cheaper rival’s lazy answer and near miss were rejected, and the client was refunded.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rubric question: can an adversary break a protected liability or tamper with signed terms? We broadcast 19 attacks to the public chain so the failures are permanent receipts. The attacker edited signed quotes and certificates, replayed them, stole the AI key and then the co-signer key, and tried to pay herself, overdraw and burst the daily cap. She tried owner powers and cancelling the creditor’s claim. Every one reverted with exactly the designed error. She received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four: risk is a number. QEDLens computes, at any block, the most that could leave if both hot keys were stolen: zero while paused, and only ever to payees the owner approved. To make it concrete, we published a second vault’s AI key and co-signer key in our repository. Anyone can try. With both keys you can pay the approved creditor one token a day, nothing else. Its 90 ring-fenced tokens are protected by the contract, not by secrecy.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two scales this to an economy of agents. Five AI businesses owe each other 200 but hold only 28, so paying gross fails: transaction G1. Our clearing contract executes a netting only if every net position is unchanged and a linear-programming duality certificate proves no larger netting exists, in exact integers. A rival’s shortest-cycles-first netting cancels 162: refused. Ours cancels the provable maximum, 169. The last 31 settles in tokens. Six more attacks, six reverts.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Proving an AI decision correct has meant showing its inputs; confidentiality has meant hiding them. QED does both. Helix signs only a commitment to its private model. Our agent proves, inside a zero-knowledge SNARK, the same optimality certificate the chain checked in public, in a second and a half. The escrow that paid job one pays this job unchanged, and never sees the data or the answer. A copied proof, a lower variance and self-attested data: all refused.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46C4B0"/>
                </a:solidFill>
                <a:latin typeface="Calibri" pitchFamily="34" charset="0"/>
                <a:ea typeface="Calibri" pitchFamily="34" charset="-122"/>
                <a:cs typeface="Calibri" pitchFamily="34" charset="-120"/>
              </a:rPr>
              <a:t>FINTECHATHON 2026 · INTERNATIONAL TRACK · TOPIC F</a:t>
            </a:r>
            <a:endParaRPr lang="en-US" sz="1200" dirty="0"/>
          </a:p>
        </p:txBody>
      </p:sp>
      <p:sp>
        <p:nvSpPr>
          <p:cNvPr id="3" name="Text 1"/>
          <p:cNvSpPr txBox="1"/>
          <p:nvPr/>
        </p:nvSpPr>
        <p:spPr>
          <a:xfrm>
            <a:off x="812800" y="1276350"/>
            <a:ext cx="10777728" cy="1426369"/>
          </a:xfrm>
          <a:prstGeom prst="rect">
            <a:avLst/>
          </a:prstGeom>
          <a:noFill/>
          <a:ln/>
        </p:spPr>
        <p:txBody>
          <a:bodyPr wrap="square" lIns="0" tIns="0" rIns="0" bIns="0" rtlCol="0" anchor="t"/>
          <a:lstStyle/>
          <a:p>
            <a:pPr algn="l" indent="0" marL="0">
              <a:lnSpc>
                <a:spcPts val="5620"/>
              </a:lnSpc>
              <a:buNone/>
            </a:pPr>
            <a:r>
              <a:rPr lang="en-US" sz="5200" dirty="0">
                <a:solidFill>
                  <a:srgbClr val="E4ECF1"/>
                </a:solidFill>
                <a:latin typeface="Cambria" pitchFamily="34" charset="0"/>
                <a:ea typeface="Cambria" pitchFamily="34" charset="-122"/>
                <a:cs typeface="Cambria" pitchFamily="34" charset="-120"/>
              </a:rPr>
              <a:t>AI is beginning to control money. Who makes sure it acts correctly?</a:t>
            </a:r>
            <a:endParaRPr lang="en-US" sz="5200" dirty="0"/>
          </a:p>
        </p:txBody>
      </p:sp>
      <p:sp>
        <p:nvSpPr>
          <p:cNvPr id="4" name="Text 2"/>
          <p:cNvSpPr txBox="1"/>
          <p:nvPr/>
        </p:nvSpPr>
        <p:spPr>
          <a:xfrm>
            <a:off x="812800" y="2982119"/>
            <a:ext cx="9391650" cy="639961"/>
          </a:xfrm>
          <a:prstGeom prst="rect">
            <a:avLst/>
          </a:prstGeom>
          <a:noFill/>
          <a:ln/>
        </p:spPr>
        <p:txBody>
          <a:bodyPr wrap="square" lIns="0" tIns="0" rIns="0" bIns="0" rtlCol="0" anchor="t"/>
          <a:lstStyle/>
          <a:p>
            <a:pPr algn="l" indent="0" marL="0">
              <a:lnSpc>
                <a:spcPts val="2520"/>
              </a:lnSpc>
              <a:buNone/>
            </a:pPr>
            <a:r>
              <a:rPr lang="en-US" sz="1800" dirty="0">
                <a:solidFill>
                  <a:srgbClr val="A9BACB"/>
                </a:solidFill>
                <a:latin typeface="Calibri" pitchFamily="34" charset="0"/>
                <a:ea typeface="Calibri" pitchFamily="34" charset="-122"/>
                <a:cs typeface="Calibri" pitchFamily="34" charset="-120"/>
              </a:rPr>
              <a:t>QED is an AI treasury in which every payment and every trade carries a proof that the blockchain checks before any money moves.</a:t>
            </a:r>
            <a:endParaRPr lang="en-US" sz="1800" dirty="0"/>
          </a:p>
        </p:txBody>
      </p:sp>
      <p:sp>
        <p:nvSpPr>
          <p:cNvPr id="5" name="Shape 3"/>
          <p:cNvSpPr/>
          <p:nvPr/>
        </p:nvSpPr>
        <p:spPr>
          <a:xfrm>
            <a:off x="812800" y="5311775"/>
            <a:ext cx="10566400" cy="0"/>
          </a:xfrm>
          <a:prstGeom prst="line">
            <a:avLst/>
          </a:prstGeom>
          <a:noFill/>
          <a:ln w="6350">
            <a:solidFill>
              <a:srgbClr val="2E4A72"/>
            </a:solidFill>
            <a:prstDash val="solid"/>
          </a:ln>
        </p:spPr>
      </p:sp>
      <p:sp>
        <p:nvSpPr>
          <p:cNvPr id="6" name="Text 4"/>
          <p:cNvSpPr txBox="1"/>
          <p:nvPr/>
        </p:nvSpPr>
        <p:spPr>
          <a:xfrm>
            <a:off x="812800" y="5518150"/>
            <a:ext cx="857349" cy="548640"/>
          </a:xfrm>
          <a:prstGeom prst="rect">
            <a:avLst/>
          </a:prstGeom>
          <a:noFill/>
          <a:ln/>
        </p:spPr>
        <p:txBody>
          <a:bodyPr wrap="square" lIns="0" tIns="0" rIns="0" bIns="0" rtlCol="0" anchor="t"/>
          <a:lstStyle/>
          <a:p>
            <a:pPr algn="l" indent="0" marL="0">
              <a:lnSpc>
                <a:spcPts val="4320"/>
              </a:lnSpc>
              <a:buNone/>
            </a:pPr>
            <a:r>
              <a:rPr lang="en-US" sz="3600" dirty="0">
                <a:solidFill>
                  <a:srgbClr val="E4ECF1"/>
                </a:solidFill>
                <a:latin typeface="Cambria" pitchFamily="34" charset="0"/>
                <a:ea typeface="Cambria" pitchFamily="34" charset="-122"/>
                <a:cs typeface="Cambria" pitchFamily="34" charset="-120"/>
              </a:rPr>
              <a:t>QED</a:t>
            </a:r>
            <a:endParaRPr lang="en-US" sz="3600" dirty="0"/>
          </a:p>
        </p:txBody>
      </p:sp>
      <p:sp>
        <p:nvSpPr>
          <p:cNvPr id="7" name="Shape 5"/>
          <p:cNvSpPr/>
          <p:nvPr/>
        </p:nvSpPr>
        <p:spPr>
          <a:xfrm>
            <a:off x="1746349" y="5692775"/>
            <a:ext cx="177800" cy="177800"/>
          </a:xfrm>
          <a:prstGeom prst="rect">
            <a:avLst/>
          </a:prstGeom>
          <a:solidFill>
            <a:srgbClr val="46C4B0"/>
          </a:solidFill>
          <a:ln/>
        </p:spPr>
      </p:sp>
      <p:sp>
        <p:nvSpPr>
          <p:cNvPr id="8" name="Text 6"/>
          <p:cNvSpPr txBox="1"/>
          <p:nvPr/>
        </p:nvSpPr>
        <p:spPr>
          <a:xfrm>
            <a:off x="7533779" y="5619750"/>
            <a:ext cx="3922330" cy="335280"/>
          </a:xfrm>
          <a:prstGeom prst="rect">
            <a:avLst/>
          </a:prstGeom>
          <a:noFill/>
          <a:ln/>
        </p:spPr>
        <p:txBody>
          <a:bodyPr wrap="square" lIns="0" tIns="0" rIns="0" bIns="0" rtlCol="0" anchor="t"/>
          <a:lstStyle/>
          <a:p>
            <a:pPr algn="l" indent="0" marL="0">
              <a:lnSpc>
                <a:spcPts val="2640"/>
              </a:lnSpc>
              <a:buNone/>
            </a:pPr>
            <a:r>
              <a:rPr lang="en-US" sz="2200" i="1" dirty="0">
                <a:solidFill>
                  <a:srgbClr val="46C4B0"/>
                </a:solidFill>
                <a:latin typeface="Cambria" pitchFamily="34" charset="0"/>
                <a:ea typeface="Cambria" pitchFamily="34" charset="-122"/>
                <a:cs typeface="Cambria" pitchFamily="34" charset="-120"/>
              </a:rPr>
              <a:t>AI can decide. QED makes it prove.</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812800" y="1250950"/>
            <a:ext cx="10777728" cy="934641"/>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An agent that converts money can leak a little on every trade, and nothing checks it.</a:t>
            </a:r>
            <a:endParaRPr lang="en-US" sz="3200" dirty="0"/>
          </a:p>
        </p:txBody>
      </p:sp>
      <p:sp>
        <p:nvSpPr>
          <p:cNvPr id="4" name="Shape 2"/>
          <p:cNvSpPr/>
          <p:nvPr/>
        </p:nvSpPr>
        <p:spPr>
          <a:xfrm>
            <a:off x="812800" y="2439591"/>
            <a:ext cx="3386634" cy="2155825"/>
          </a:xfrm>
          <a:prstGeom prst="roundRect">
            <a:avLst>
              <a:gd name="adj" fmla="val 2356"/>
            </a:avLst>
          </a:prstGeom>
          <a:solidFill>
            <a:srgbClr val="FBFCFC"/>
          </a:solidFill>
          <a:ln w="6350">
            <a:solidFill>
              <a:srgbClr val="D6DEE1"/>
            </a:solidFill>
            <a:prstDash val="solid"/>
          </a:ln>
        </p:spPr>
      </p:sp>
      <p:sp>
        <p:nvSpPr>
          <p:cNvPr id="5" name="Text 3"/>
          <p:cNvSpPr txBox="1"/>
          <p:nvPr/>
        </p:nvSpPr>
        <p:spPr>
          <a:xfrm>
            <a:off x="1073150" y="2699941"/>
            <a:ext cx="2923252" cy="304800"/>
          </a:xfrm>
          <a:prstGeom prst="rect">
            <a:avLst/>
          </a:prstGeom>
          <a:noFill/>
          <a:ln/>
        </p:spPr>
        <p:txBody>
          <a:bodyPr wrap="square" lIns="0" tIns="0" rIns="0" bIns="0" rtlCol="0" anchor="t"/>
          <a:lstStyle/>
          <a:p>
            <a:pPr algn="l" indent="0" marL="0">
              <a:lnSpc>
                <a:spcPts val="2400"/>
              </a:lnSpc>
              <a:buNone/>
            </a:pPr>
            <a:r>
              <a:rPr lang="en-US" sz="2000" dirty="0">
                <a:solidFill>
                  <a:srgbClr val="13233F"/>
                </a:solidFill>
                <a:latin typeface="Cambria" pitchFamily="34" charset="0"/>
                <a:ea typeface="Cambria" pitchFamily="34" charset="-122"/>
                <a:cs typeface="Cambria" pitchFamily="34" charset="-120"/>
              </a:rPr>
              <a:t>A floor, not a proof</a:t>
            </a:r>
            <a:endParaRPr lang="en-US" sz="2000" dirty="0"/>
          </a:p>
        </p:txBody>
      </p:sp>
      <p:sp>
        <p:nvSpPr>
          <p:cNvPr id="6" name="Text 4"/>
          <p:cNvSpPr txBox="1"/>
          <p:nvPr/>
        </p:nvSpPr>
        <p:spPr>
          <a:xfrm>
            <a:off x="1073150" y="3093641"/>
            <a:ext cx="2923252" cy="771525"/>
          </a:xfrm>
          <a:prstGeom prst="rect">
            <a:avLst/>
          </a:prstGeom>
          <a:noFill/>
          <a:ln/>
        </p:spPr>
        <p:txBody>
          <a:bodyPr wrap="square" lIns="0" tIns="0" rIns="0" bIns="0" rtlCol="0" anchor="t"/>
          <a:lstStyle/>
          <a:p>
            <a:pPr algn="l" indent="0" marL="0">
              <a:lnSpc>
                <a:spcPts val="2030"/>
              </a:lnSpc>
              <a:buNone/>
            </a:pPr>
            <a:r>
              <a:rPr lang="en-US" sz="1500" dirty="0">
                <a:solidFill>
                  <a:srgbClr val="13233F"/>
                </a:solidFill>
                <a:latin typeface="Calibri" pitchFamily="34" charset="0"/>
                <a:ea typeface="Calibri" pitchFamily="34" charset="-122"/>
                <a:cs typeface="Calibri" pitchFamily="34" charset="-120"/>
              </a:rPr>
              <a:t>Wallets and intents accept any route above a slippage limit. The agent keeps the difference.</a:t>
            </a:r>
            <a:endParaRPr lang="en-US" sz="1500" dirty="0"/>
          </a:p>
        </p:txBody>
      </p:sp>
      <p:sp>
        <p:nvSpPr>
          <p:cNvPr id="7" name="Text 5"/>
          <p:cNvSpPr txBox="1"/>
          <p:nvPr/>
        </p:nvSpPr>
        <p:spPr>
          <a:xfrm>
            <a:off x="1073150" y="3966766"/>
            <a:ext cx="2923252" cy="36830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Routes that clear a 1% floor still give up a median 14–32 bps (1,000 markets).</a:t>
            </a:r>
            <a:endParaRPr lang="en-US" sz="1200" dirty="0"/>
          </a:p>
        </p:txBody>
      </p:sp>
      <p:sp>
        <p:nvSpPr>
          <p:cNvPr id="8" name="Shape 6"/>
          <p:cNvSpPr/>
          <p:nvPr/>
        </p:nvSpPr>
        <p:spPr>
          <a:xfrm>
            <a:off x="4402634" y="2439591"/>
            <a:ext cx="3386634" cy="2155825"/>
          </a:xfrm>
          <a:prstGeom prst="roundRect">
            <a:avLst>
              <a:gd name="adj" fmla="val 2356"/>
            </a:avLst>
          </a:prstGeom>
          <a:solidFill>
            <a:srgbClr val="FBFCFC"/>
          </a:solidFill>
          <a:ln w="6350">
            <a:solidFill>
              <a:srgbClr val="D6DEE1"/>
            </a:solidFill>
            <a:prstDash val="solid"/>
          </a:ln>
        </p:spPr>
      </p:sp>
      <p:sp>
        <p:nvSpPr>
          <p:cNvPr id="9" name="Text 7"/>
          <p:cNvSpPr txBox="1"/>
          <p:nvPr/>
        </p:nvSpPr>
        <p:spPr>
          <a:xfrm>
            <a:off x="4662984" y="2699941"/>
            <a:ext cx="2923252" cy="304800"/>
          </a:xfrm>
          <a:prstGeom prst="rect">
            <a:avLst/>
          </a:prstGeom>
          <a:noFill/>
          <a:ln/>
        </p:spPr>
        <p:txBody>
          <a:bodyPr wrap="square" lIns="0" tIns="0" rIns="0" bIns="0" rtlCol="0" anchor="t"/>
          <a:lstStyle/>
          <a:p>
            <a:pPr algn="l" indent="0" marL="0">
              <a:lnSpc>
                <a:spcPts val="2400"/>
              </a:lnSpc>
              <a:buNone/>
            </a:pPr>
            <a:r>
              <a:rPr lang="en-US" sz="2000" dirty="0">
                <a:solidFill>
                  <a:srgbClr val="13233F"/>
                </a:solidFill>
                <a:latin typeface="Cambria" pitchFamily="34" charset="0"/>
                <a:ea typeface="Cambria" pitchFamily="34" charset="-122"/>
                <a:cs typeface="Cambria" pitchFamily="34" charset="-120"/>
              </a:rPr>
              <a:t>Checked afterwards</a:t>
            </a:r>
            <a:endParaRPr lang="en-US" sz="2000" dirty="0"/>
          </a:p>
        </p:txBody>
      </p:sp>
      <p:sp>
        <p:nvSpPr>
          <p:cNvPr id="10" name="Text 8"/>
          <p:cNvSpPr txBox="1"/>
          <p:nvPr/>
        </p:nvSpPr>
        <p:spPr>
          <a:xfrm>
            <a:off x="4662984" y="3093641"/>
            <a:ext cx="2923252" cy="771525"/>
          </a:xfrm>
          <a:prstGeom prst="rect">
            <a:avLst/>
          </a:prstGeom>
          <a:noFill/>
          <a:ln/>
        </p:spPr>
        <p:txBody>
          <a:bodyPr wrap="square" lIns="0" tIns="0" rIns="0" bIns="0" rtlCol="0" anchor="t"/>
          <a:lstStyle/>
          <a:p>
            <a:pPr algn="l" indent="0" marL="0">
              <a:lnSpc>
                <a:spcPts val="2030"/>
              </a:lnSpc>
              <a:buNone/>
            </a:pPr>
            <a:r>
              <a:rPr lang="en-US" sz="1500" dirty="0">
                <a:solidFill>
                  <a:srgbClr val="13233F"/>
                </a:solidFill>
                <a:latin typeface="Calibri" pitchFamily="34" charset="0"/>
                <a:ea typeface="Calibri" pitchFamily="34" charset="-122"/>
                <a:cs typeface="Calibri" pitchFamily="34" charset="-120"/>
              </a:rPr>
              <a:t>Solver auctions compare fills with baseline pools after settlement and punish by vote.</a:t>
            </a:r>
            <a:endParaRPr lang="en-US" sz="1500" dirty="0"/>
          </a:p>
        </p:txBody>
      </p:sp>
      <p:sp>
        <p:nvSpPr>
          <p:cNvPr id="11" name="Text 9"/>
          <p:cNvSpPr txBox="1"/>
          <p:nvPr/>
        </p:nvSpPr>
        <p:spPr>
          <a:xfrm>
            <a:off x="4662984" y="3966766"/>
            <a:ext cx="2923252" cy="36830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CoW's best-price rule is “not enforced by the smart contract”.</a:t>
            </a:r>
            <a:endParaRPr lang="en-US" sz="1200" dirty="0"/>
          </a:p>
        </p:txBody>
      </p:sp>
      <p:sp>
        <p:nvSpPr>
          <p:cNvPr id="12" name="Shape 10"/>
          <p:cNvSpPr/>
          <p:nvPr/>
        </p:nvSpPr>
        <p:spPr>
          <a:xfrm>
            <a:off x="7992467" y="2439591"/>
            <a:ext cx="3386634" cy="2155825"/>
          </a:xfrm>
          <a:prstGeom prst="roundRect">
            <a:avLst>
              <a:gd name="adj" fmla="val 2356"/>
            </a:avLst>
          </a:prstGeom>
          <a:solidFill>
            <a:srgbClr val="FBFCFC"/>
          </a:solidFill>
          <a:ln w="6350">
            <a:solidFill>
              <a:srgbClr val="D6DEE1"/>
            </a:solidFill>
            <a:prstDash val="solid"/>
          </a:ln>
        </p:spPr>
      </p:sp>
      <p:sp>
        <p:nvSpPr>
          <p:cNvPr id="13" name="Text 11"/>
          <p:cNvSpPr txBox="1"/>
          <p:nvPr/>
        </p:nvSpPr>
        <p:spPr>
          <a:xfrm>
            <a:off x="8252817" y="2699941"/>
            <a:ext cx="2923252" cy="304800"/>
          </a:xfrm>
          <a:prstGeom prst="rect">
            <a:avLst/>
          </a:prstGeom>
          <a:noFill/>
          <a:ln/>
        </p:spPr>
        <p:txBody>
          <a:bodyPr wrap="square" lIns="0" tIns="0" rIns="0" bIns="0" rtlCol="0" anchor="t"/>
          <a:lstStyle/>
          <a:p>
            <a:pPr algn="l" indent="0" marL="0">
              <a:lnSpc>
                <a:spcPts val="2400"/>
              </a:lnSpc>
              <a:buNone/>
            </a:pPr>
            <a:r>
              <a:rPr lang="en-US" sz="2000" dirty="0">
                <a:solidFill>
                  <a:srgbClr val="13233F"/>
                </a:solidFill>
                <a:latin typeface="Cambria" pitchFamily="34" charset="0"/>
                <a:ea typeface="Cambria" pitchFamily="34" charset="-122"/>
                <a:cs typeface="Cambria" pitchFamily="34" charset="-120"/>
              </a:rPr>
              <a:t>Unseen discretion</a:t>
            </a:r>
            <a:endParaRPr lang="en-US" sz="2000" dirty="0"/>
          </a:p>
        </p:txBody>
      </p:sp>
      <p:sp>
        <p:nvSpPr>
          <p:cNvPr id="14" name="Text 12"/>
          <p:cNvSpPr txBox="1"/>
          <p:nvPr/>
        </p:nvSpPr>
        <p:spPr>
          <a:xfrm>
            <a:off x="8252817" y="3093641"/>
            <a:ext cx="2923252" cy="1028700"/>
          </a:xfrm>
          <a:prstGeom prst="rect">
            <a:avLst/>
          </a:prstGeom>
          <a:noFill/>
          <a:ln/>
        </p:spPr>
        <p:txBody>
          <a:bodyPr wrap="square" lIns="0" tIns="0" rIns="0" bIns="0" rtlCol="0" anchor="t"/>
          <a:lstStyle/>
          <a:p>
            <a:pPr algn="l" indent="0" marL="0">
              <a:lnSpc>
                <a:spcPts val="2030"/>
              </a:lnSpc>
              <a:buNone/>
            </a:pPr>
            <a:r>
              <a:rPr lang="en-US" sz="1500" dirty="0">
                <a:solidFill>
                  <a:srgbClr val="13233F"/>
                </a:solidFill>
                <a:latin typeface="Calibri" pitchFamily="34" charset="0"/>
                <a:ea typeface="Calibri" pitchFamily="34" charset="-122"/>
                <a:cs typeface="Calibri" pitchFamily="34" charset="-120"/>
              </a:rPr>
              <a:t>Whether, when and how much to convert is the agent's call. Today a human approves each trade, or nobody does.</a:t>
            </a:r>
            <a:endParaRPr lang="en-US" sz="1500" dirty="0"/>
          </a:p>
        </p:txBody>
      </p:sp>
      <p:sp>
        <p:nvSpPr>
          <p:cNvPr id="15" name="Text 13"/>
          <p:cNvSpPr txBox="1"/>
          <p:nvPr/>
        </p:nvSpPr>
        <p:spPr>
          <a:xfrm>
            <a:off x="812800" y="4849416"/>
            <a:ext cx="10777728" cy="257175"/>
          </a:xfrm>
          <a:prstGeom prst="rect">
            <a:avLst/>
          </a:prstGeom>
          <a:noFill/>
          <a:ln/>
        </p:spPr>
        <p:txBody>
          <a:bodyPr wrap="square" lIns="0" tIns="0" rIns="0" bIns="0" rtlCol="0" anchor="t"/>
          <a:lstStyle/>
          <a:p>
            <a:pPr algn="l" indent="0" marL="0">
              <a:lnSpc>
                <a:spcPts val="2030"/>
              </a:lnSpc>
              <a:buNone/>
            </a:pPr>
            <a:r>
              <a:rPr lang="en-US" sz="1500" dirty="0">
                <a:solidFill>
                  <a:srgbClr val="13233F"/>
                </a:solidFill>
                <a:latin typeface="Calibri" pitchFamily="34" charset="0"/>
                <a:ea typeface="Calibri" pitchFamily="34" charset="-122"/>
                <a:cs typeface="Calibri" pitchFamily="34" charset="-120"/>
              </a:rPr>
              <a:t>Brokers owe clients </a:t>
            </a:r>
            <a:pPr algn="l" indent="0" marL="0">
              <a:lnSpc>
                <a:spcPts val="2030"/>
              </a:lnSpc>
              <a:buNone/>
            </a:pPr>
            <a:r>
              <a:rPr lang="en-US" sz="1500" b="1" dirty="0">
                <a:solidFill>
                  <a:srgbClr val="13233F"/>
                </a:solidFill>
                <a:latin typeface="Calibri" pitchFamily="34" charset="0"/>
                <a:ea typeface="Calibri" pitchFamily="34" charset="-122"/>
                <a:cs typeface="Calibri" pitchFamily="34" charset="-120"/>
              </a:rPr>
              <a:t>best execution</a:t>
            </a:r>
            <a:pPr algn="l" indent="0" marL="0">
              <a:lnSpc>
                <a:spcPts val="2030"/>
              </a:lnSpc>
              <a:buNone/>
            </a:pPr>
            <a:r>
              <a:rPr lang="en-US" sz="1500" dirty="0">
                <a:solidFill>
                  <a:srgbClr val="13233F"/>
                </a:solidFill>
                <a:latin typeface="Calibri" pitchFamily="34" charset="0"/>
                <a:ea typeface="Calibri" pitchFamily="34" charset="-122"/>
                <a:cs typeface="Calibri" pitchFamily="34" charset="-120"/>
              </a:rPr>
              <a:t> by law (MiFID II art. 27, FINRA 5310). An AI agent owes it to no one.</a:t>
            </a:r>
            <a:endParaRPr lang="en-US" sz="1500" dirty="0"/>
          </a:p>
        </p:txBody>
      </p:sp>
      <p:sp>
        <p:nvSpPr>
          <p:cNvPr id="16" name="Text 14"/>
          <p:cNvSpPr txBox="1"/>
          <p:nvPr/>
        </p:nvSpPr>
        <p:spPr>
          <a:xfrm>
            <a:off x="812800" y="6267450"/>
            <a:ext cx="77724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QED · proof-carrying autonomy for AI wallets</a:t>
            </a:r>
            <a:endParaRPr lang="en-US" sz="1200" dirty="0"/>
          </a:p>
        </p:txBody>
      </p:sp>
      <p:sp>
        <p:nvSpPr>
          <p:cNvPr id="17" name="Text 15"/>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2 / 11</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THE IDEA · PROOF-CARRYING TRANSACTIONS</a:t>
            </a:r>
            <a:endParaRPr lang="en-US" sz="1200" dirty="0"/>
          </a:p>
        </p:txBody>
      </p:sp>
      <p:sp>
        <p:nvSpPr>
          <p:cNvPr id="3" name="Text 1"/>
          <p:cNvSpPr txBox="1"/>
          <p:nvPr/>
        </p:nvSpPr>
        <p:spPr>
          <a:xfrm>
            <a:off x="812800" y="1200150"/>
            <a:ext cx="10777728" cy="934641"/>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Don't trust the agent's decision. Make the chain verify its quality.</a:t>
            </a:r>
            <a:endParaRPr lang="en-US" sz="3200" dirty="0"/>
          </a:p>
        </p:txBody>
      </p:sp>
      <p:sp>
        <p:nvSpPr>
          <p:cNvPr id="4" name="Shape 2"/>
          <p:cNvSpPr/>
          <p:nvPr/>
        </p:nvSpPr>
        <p:spPr>
          <a:xfrm>
            <a:off x="812800" y="2439591"/>
            <a:ext cx="2212777" cy="2507952"/>
          </a:xfrm>
          <a:prstGeom prst="roundRect">
            <a:avLst>
              <a:gd name="adj" fmla="val 2296"/>
            </a:avLst>
          </a:prstGeom>
          <a:solidFill>
            <a:srgbClr val="FFFFFF"/>
          </a:solidFill>
          <a:ln w="6350">
            <a:solidFill>
              <a:srgbClr val="D6DEE1"/>
            </a:solidFill>
            <a:prstDash val="solid"/>
          </a:ln>
        </p:spPr>
      </p:sp>
      <p:sp>
        <p:nvSpPr>
          <p:cNvPr id="5" name="Text 3"/>
          <p:cNvSpPr txBox="1"/>
          <p:nvPr/>
        </p:nvSpPr>
        <p:spPr>
          <a:xfrm>
            <a:off x="1022350" y="2649141"/>
            <a:ext cx="1844477" cy="171450"/>
          </a:xfrm>
          <a:prstGeom prst="rect">
            <a:avLst/>
          </a:prstGeom>
          <a:noFill/>
          <a:ln/>
        </p:spPr>
        <p:txBody>
          <a:bodyPr wrap="square" lIns="0" tIns="0" rIns="0" bIns="0" rtlCol="0" anchor="t"/>
          <a:lstStyle/>
          <a:p>
            <a:pPr algn="l" indent="0" marL="0">
              <a:lnSpc>
                <a:spcPts val="1320"/>
              </a:lnSpc>
              <a:buNone/>
            </a:pPr>
            <a:r>
              <a:rPr lang="en-US" sz="1100" b="1" spc="100" kern="0" dirty="0">
                <a:solidFill>
                  <a:srgbClr val="7B8A99"/>
                </a:solidFill>
                <a:latin typeface="Calibri" pitchFamily="34" charset="0"/>
                <a:ea typeface="Calibri" pitchFamily="34" charset="-122"/>
                <a:cs typeface="Calibri" pitchFamily="34" charset="-120"/>
              </a:rPr>
              <a:t>1 · PROPOSES</a:t>
            </a:r>
            <a:endParaRPr lang="en-US" sz="1100" dirty="0"/>
          </a:p>
        </p:txBody>
      </p:sp>
      <p:sp>
        <p:nvSpPr>
          <p:cNvPr id="6" name="Text 4"/>
          <p:cNvSpPr txBox="1"/>
          <p:nvPr/>
        </p:nvSpPr>
        <p:spPr>
          <a:xfrm>
            <a:off x="1022350" y="2909491"/>
            <a:ext cx="1844477" cy="304800"/>
          </a:xfrm>
          <a:prstGeom prst="rect">
            <a:avLst/>
          </a:prstGeom>
          <a:noFill/>
          <a:ln/>
        </p:spPr>
        <p:txBody>
          <a:bodyPr wrap="square" lIns="0" tIns="0" rIns="0" bIns="0" rtlCol="0" anchor="t"/>
          <a:lstStyle/>
          <a:p>
            <a:pPr algn="l" indent="0" marL="0">
              <a:lnSpc>
                <a:spcPts val="2400"/>
              </a:lnSpc>
              <a:buNone/>
            </a:pPr>
            <a:r>
              <a:rPr lang="en-US" sz="2000" dirty="0">
                <a:solidFill>
                  <a:srgbClr val="2F5DA8"/>
                </a:solidFill>
                <a:latin typeface="Cambria" pitchFamily="34" charset="0"/>
                <a:ea typeface="Cambria" pitchFamily="34" charset="-122"/>
                <a:cs typeface="Cambria" pitchFamily="34" charset="-120"/>
              </a:rPr>
              <a:t>AI agent</a:t>
            </a:r>
            <a:endParaRPr lang="en-US" sz="2000" dirty="0"/>
          </a:p>
        </p:txBody>
      </p:sp>
      <p:sp>
        <p:nvSpPr>
          <p:cNvPr id="7" name="Text 5"/>
          <p:cNvSpPr txBox="1"/>
          <p:nvPr/>
        </p:nvSpPr>
        <p:spPr>
          <a:xfrm>
            <a:off x="1022350" y="3290491"/>
            <a:ext cx="1844477" cy="924322"/>
          </a:xfrm>
          <a:prstGeom prst="rect">
            <a:avLst/>
          </a:prstGeom>
          <a:noFill/>
          <a:ln/>
        </p:spPr>
        <p:txBody>
          <a:bodyPr wrap="square" lIns="0" tIns="0" rIns="0" bIns="0" rtlCol="0" anchor="t"/>
          <a:lstStyle/>
          <a:p>
            <a:pPr algn="l" indent="0" marL="0">
              <a:lnSpc>
                <a:spcPts val="1820"/>
              </a:lnSpc>
              <a:buNone/>
            </a:pPr>
            <a:r>
              <a:rPr lang="en-US" sz="1300" dirty="0">
                <a:solidFill>
                  <a:srgbClr val="4E6074"/>
                </a:solidFill>
                <a:latin typeface="Calibri" pitchFamily="34" charset="0"/>
                <a:ea typeface="Calibri" pitchFamily="34" charset="-122"/>
                <a:cs typeface="Calibri" pitchFamily="34" charset="-120"/>
              </a:rPr>
              <a:t>Reads the instruction, plans the trade, builds the proof. Holds no key that can pay alone.</a:t>
            </a:r>
            <a:endParaRPr lang="en-US" sz="1300" dirty="0"/>
          </a:p>
        </p:txBody>
      </p:sp>
      <p:sp>
        <p:nvSpPr>
          <p:cNvPr id="8" name="Text 6"/>
          <p:cNvSpPr txBox="1"/>
          <p:nvPr/>
        </p:nvSpPr>
        <p:spPr>
          <a:xfrm>
            <a:off x="3152577" y="3477617"/>
            <a:ext cx="372765" cy="431800"/>
          </a:xfrm>
          <a:prstGeom prst="rect">
            <a:avLst/>
          </a:prstGeom>
          <a:noFill/>
          <a:ln/>
        </p:spPr>
        <p:txBody>
          <a:bodyPr wrap="square" lIns="0" tIns="0" rIns="0" bIns="0" rtlCol="0" anchor="t"/>
          <a:lstStyle/>
          <a:p>
            <a:pPr algn="l" indent="0" marL="0">
              <a:lnSpc>
                <a:spcPts val="3360"/>
              </a:lnSpc>
              <a:buNone/>
            </a:pPr>
            <a:r>
              <a:rPr lang="en-US" sz="2800" dirty="0">
                <a:solidFill>
                  <a:srgbClr val="0A7468"/>
                </a:solidFill>
                <a:latin typeface="Calibri" pitchFamily="34" charset="0"/>
                <a:ea typeface="Calibri" pitchFamily="34" charset="-122"/>
                <a:cs typeface="Calibri" pitchFamily="34" charset="-120"/>
              </a:rPr>
              <a:t>→</a:t>
            </a:r>
            <a:endParaRPr lang="en-US" sz="2800" dirty="0"/>
          </a:p>
        </p:txBody>
      </p:sp>
      <p:sp>
        <p:nvSpPr>
          <p:cNvPr id="9" name="Shape 7"/>
          <p:cNvSpPr/>
          <p:nvPr/>
        </p:nvSpPr>
        <p:spPr>
          <a:xfrm>
            <a:off x="3601541" y="2439591"/>
            <a:ext cx="2212777" cy="2507952"/>
          </a:xfrm>
          <a:prstGeom prst="roundRect">
            <a:avLst>
              <a:gd name="adj" fmla="val 2296"/>
            </a:avLst>
          </a:prstGeom>
          <a:solidFill>
            <a:srgbClr val="FFFFFF"/>
          </a:solidFill>
          <a:ln w="6350">
            <a:solidFill>
              <a:srgbClr val="D6DEE1"/>
            </a:solidFill>
            <a:prstDash val="solid"/>
          </a:ln>
        </p:spPr>
      </p:sp>
      <p:sp>
        <p:nvSpPr>
          <p:cNvPr id="10" name="Text 8"/>
          <p:cNvSpPr txBox="1"/>
          <p:nvPr/>
        </p:nvSpPr>
        <p:spPr>
          <a:xfrm>
            <a:off x="3811091" y="2649141"/>
            <a:ext cx="1844477" cy="171450"/>
          </a:xfrm>
          <a:prstGeom prst="rect">
            <a:avLst/>
          </a:prstGeom>
          <a:noFill/>
          <a:ln/>
        </p:spPr>
        <p:txBody>
          <a:bodyPr wrap="square" lIns="0" tIns="0" rIns="0" bIns="0" rtlCol="0" anchor="t"/>
          <a:lstStyle/>
          <a:p>
            <a:pPr algn="l" indent="0" marL="0">
              <a:lnSpc>
                <a:spcPts val="1320"/>
              </a:lnSpc>
              <a:buNone/>
            </a:pPr>
            <a:r>
              <a:rPr lang="en-US" sz="1100" b="1" spc="100" kern="0" dirty="0">
                <a:solidFill>
                  <a:srgbClr val="7B8A99"/>
                </a:solidFill>
                <a:latin typeface="Calibri" pitchFamily="34" charset="0"/>
                <a:ea typeface="Calibri" pitchFamily="34" charset="-122"/>
                <a:cs typeface="Calibri" pitchFamily="34" charset="-120"/>
              </a:rPr>
              <a:t>2 · RE-DERIVES</a:t>
            </a:r>
            <a:endParaRPr lang="en-US" sz="1100" dirty="0"/>
          </a:p>
        </p:txBody>
      </p:sp>
      <p:sp>
        <p:nvSpPr>
          <p:cNvPr id="11" name="Text 9"/>
          <p:cNvSpPr txBox="1"/>
          <p:nvPr/>
        </p:nvSpPr>
        <p:spPr>
          <a:xfrm>
            <a:off x="3811091" y="2909491"/>
            <a:ext cx="1844477" cy="584200"/>
          </a:xfrm>
          <a:prstGeom prst="rect">
            <a:avLst/>
          </a:prstGeom>
          <a:noFill/>
          <a:ln/>
        </p:spPr>
        <p:txBody>
          <a:bodyPr wrap="square" lIns="0" tIns="0" rIns="0" bIns="0" rtlCol="0" anchor="t"/>
          <a:lstStyle/>
          <a:p>
            <a:pPr algn="l" indent="0" marL="0">
              <a:lnSpc>
                <a:spcPts val="2400"/>
              </a:lnSpc>
              <a:buNone/>
            </a:pPr>
            <a:r>
              <a:rPr lang="en-US" sz="2000" dirty="0">
                <a:solidFill>
                  <a:srgbClr val="6B4FA0"/>
                </a:solidFill>
                <a:latin typeface="Cambria" pitchFamily="34" charset="0"/>
                <a:ea typeface="Cambria" pitchFamily="34" charset="-122"/>
                <a:cs typeface="Cambria" pitchFamily="34" charset="-120"/>
              </a:rPr>
              <a:t>Independent co-signer</a:t>
            </a:r>
            <a:endParaRPr lang="en-US" sz="2000" dirty="0"/>
          </a:p>
        </p:txBody>
      </p:sp>
      <p:sp>
        <p:nvSpPr>
          <p:cNvPr id="12" name="Text 10"/>
          <p:cNvSpPr txBox="1"/>
          <p:nvPr/>
        </p:nvSpPr>
        <p:spPr>
          <a:xfrm>
            <a:off x="3811091" y="3582591"/>
            <a:ext cx="1844477" cy="1155402"/>
          </a:xfrm>
          <a:prstGeom prst="rect">
            <a:avLst/>
          </a:prstGeom>
          <a:noFill/>
          <a:ln/>
        </p:spPr>
        <p:txBody>
          <a:bodyPr wrap="square" lIns="0" tIns="0" rIns="0" bIns="0" rtlCol="0" anchor="t"/>
          <a:lstStyle/>
          <a:p>
            <a:pPr algn="l" indent="0" marL="0">
              <a:lnSpc>
                <a:spcPts val="1820"/>
              </a:lnSpc>
              <a:buNone/>
            </a:pPr>
            <a:r>
              <a:rPr lang="en-US" sz="1300" dirty="0">
                <a:solidFill>
                  <a:srgbClr val="4E6074"/>
                </a:solidFill>
                <a:latin typeface="Calibri" pitchFamily="34" charset="0"/>
                <a:ea typeface="Calibri" pitchFamily="34" charset="-122"/>
                <a:cs typeface="Calibri" pitchFamily="34" charset="-120"/>
              </a:rPr>
              <a:t>Separate process, own key. Recomputes the decision from the chain; signs only what the owner allowed.</a:t>
            </a:r>
            <a:endParaRPr lang="en-US" sz="1300" dirty="0"/>
          </a:p>
        </p:txBody>
      </p:sp>
      <p:sp>
        <p:nvSpPr>
          <p:cNvPr id="13" name="Text 11"/>
          <p:cNvSpPr txBox="1"/>
          <p:nvPr/>
        </p:nvSpPr>
        <p:spPr>
          <a:xfrm>
            <a:off x="5941318" y="3477617"/>
            <a:ext cx="372765" cy="431800"/>
          </a:xfrm>
          <a:prstGeom prst="rect">
            <a:avLst/>
          </a:prstGeom>
          <a:noFill/>
          <a:ln/>
        </p:spPr>
        <p:txBody>
          <a:bodyPr wrap="square" lIns="0" tIns="0" rIns="0" bIns="0" rtlCol="0" anchor="t"/>
          <a:lstStyle/>
          <a:p>
            <a:pPr algn="l" indent="0" marL="0">
              <a:lnSpc>
                <a:spcPts val="3360"/>
              </a:lnSpc>
              <a:buNone/>
            </a:pPr>
            <a:r>
              <a:rPr lang="en-US" sz="2800" dirty="0">
                <a:solidFill>
                  <a:srgbClr val="0A7468"/>
                </a:solidFill>
                <a:latin typeface="Calibri" pitchFamily="34" charset="0"/>
                <a:ea typeface="Calibri" pitchFamily="34" charset="-122"/>
                <a:cs typeface="Calibri" pitchFamily="34" charset="-120"/>
              </a:rPr>
              <a:t>→</a:t>
            </a:r>
            <a:endParaRPr lang="en-US" sz="2800" dirty="0"/>
          </a:p>
        </p:txBody>
      </p:sp>
      <p:sp>
        <p:nvSpPr>
          <p:cNvPr id="14" name="Shape 12"/>
          <p:cNvSpPr/>
          <p:nvPr/>
        </p:nvSpPr>
        <p:spPr>
          <a:xfrm>
            <a:off x="6390283" y="2439591"/>
            <a:ext cx="2212777" cy="2507952"/>
          </a:xfrm>
          <a:prstGeom prst="roundRect">
            <a:avLst>
              <a:gd name="adj" fmla="val 2296"/>
            </a:avLst>
          </a:prstGeom>
          <a:solidFill>
            <a:srgbClr val="FFFFFF"/>
          </a:solidFill>
          <a:ln w="6350">
            <a:solidFill>
              <a:srgbClr val="D6DEE1"/>
            </a:solidFill>
            <a:prstDash val="solid"/>
          </a:ln>
        </p:spPr>
      </p:sp>
      <p:sp>
        <p:nvSpPr>
          <p:cNvPr id="15" name="Text 13"/>
          <p:cNvSpPr txBox="1"/>
          <p:nvPr/>
        </p:nvSpPr>
        <p:spPr>
          <a:xfrm>
            <a:off x="6599833" y="2649141"/>
            <a:ext cx="1844477" cy="171450"/>
          </a:xfrm>
          <a:prstGeom prst="rect">
            <a:avLst/>
          </a:prstGeom>
          <a:noFill/>
          <a:ln/>
        </p:spPr>
        <p:txBody>
          <a:bodyPr wrap="square" lIns="0" tIns="0" rIns="0" bIns="0" rtlCol="0" anchor="t"/>
          <a:lstStyle/>
          <a:p>
            <a:pPr algn="l" indent="0" marL="0">
              <a:lnSpc>
                <a:spcPts val="1320"/>
              </a:lnSpc>
              <a:buNone/>
            </a:pPr>
            <a:r>
              <a:rPr lang="en-US" sz="1100" b="1" spc="100" kern="0" dirty="0">
                <a:solidFill>
                  <a:srgbClr val="7B8A99"/>
                </a:solidFill>
                <a:latin typeface="Calibri" pitchFamily="34" charset="0"/>
                <a:ea typeface="Calibri" pitchFamily="34" charset="-122"/>
                <a:cs typeface="Calibri" pitchFamily="34" charset="-120"/>
              </a:rPr>
              <a:t>3 · VERIFIES</a:t>
            </a:r>
            <a:endParaRPr lang="en-US" sz="1100" dirty="0"/>
          </a:p>
        </p:txBody>
      </p:sp>
      <p:sp>
        <p:nvSpPr>
          <p:cNvPr id="16" name="Text 14"/>
          <p:cNvSpPr txBox="1"/>
          <p:nvPr/>
        </p:nvSpPr>
        <p:spPr>
          <a:xfrm>
            <a:off x="6599833" y="2909491"/>
            <a:ext cx="1844477" cy="304800"/>
          </a:xfrm>
          <a:prstGeom prst="rect">
            <a:avLst/>
          </a:prstGeom>
          <a:noFill/>
          <a:ln/>
        </p:spPr>
        <p:txBody>
          <a:bodyPr wrap="square" lIns="0" tIns="0" rIns="0" bIns="0" rtlCol="0" anchor="t"/>
          <a:lstStyle/>
          <a:p>
            <a:pPr algn="l" indent="0" marL="0">
              <a:lnSpc>
                <a:spcPts val="2400"/>
              </a:lnSpc>
              <a:buNone/>
            </a:pPr>
            <a:r>
              <a:rPr lang="en-US" sz="2000" dirty="0">
                <a:solidFill>
                  <a:srgbClr val="0A7468"/>
                </a:solidFill>
                <a:latin typeface="Cambria" pitchFamily="34" charset="0"/>
                <a:ea typeface="Cambria" pitchFamily="34" charset="-122"/>
                <a:cs typeface="Cambria" pitchFamily="34" charset="-120"/>
              </a:rPr>
              <a:t>Smart contract</a:t>
            </a:r>
            <a:endParaRPr lang="en-US" sz="2000" dirty="0"/>
          </a:p>
        </p:txBody>
      </p:sp>
      <p:sp>
        <p:nvSpPr>
          <p:cNvPr id="17" name="Text 15"/>
          <p:cNvSpPr txBox="1"/>
          <p:nvPr/>
        </p:nvSpPr>
        <p:spPr>
          <a:xfrm>
            <a:off x="6599833" y="3290491"/>
            <a:ext cx="1844477" cy="924322"/>
          </a:xfrm>
          <a:prstGeom prst="rect">
            <a:avLst/>
          </a:prstGeom>
          <a:noFill/>
          <a:ln/>
        </p:spPr>
        <p:txBody>
          <a:bodyPr wrap="square" lIns="0" tIns="0" rIns="0" bIns="0" rtlCol="0" anchor="t"/>
          <a:lstStyle/>
          <a:p>
            <a:pPr algn="l" indent="0" marL="0">
              <a:lnSpc>
                <a:spcPts val="1820"/>
              </a:lnSpc>
              <a:buNone/>
            </a:pPr>
            <a:r>
              <a:rPr lang="en-US" sz="1300" dirty="0">
                <a:solidFill>
                  <a:srgbClr val="4E6074"/>
                </a:solidFill>
                <a:latin typeface="Calibri" pitchFamily="34" charset="0"/>
                <a:ea typeface="Calibri" pitchFamily="34" charset="-122"/>
                <a:cs typeface="Calibri" pitchFamily="34" charset="-120"/>
              </a:rPr>
              <a:t>Owner's signed mandate, caps, protected liabilities, and the best-execution proof, in one transaction.</a:t>
            </a:r>
            <a:endParaRPr lang="en-US" sz="1300" dirty="0"/>
          </a:p>
        </p:txBody>
      </p:sp>
      <p:sp>
        <p:nvSpPr>
          <p:cNvPr id="18" name="Text 16"/>
          <p:cNvSpPr txBox="1"/>
          <p:nvPr/>
        </p:nvSpPr>
        <p:spPr>
          <a:xfrm>
            <a:off x="8730059" y="3477617"/>
            <a:ext cx="372765" cy="431800"/>
          </a:xfrm>
          <a:prstGeom prst="rect">
            <a:avLst/>
          </a:prstGeom>
          <a:noFill/>
          <a:ln/>
        </p:spPr>
        <p:txBody>
          <a:bodyPr wrap="square" lIns="0" tIns="0" rIns="0" bIns="0" rtlCol="0" anchor="t"/>
          <a:lstStyle/>
          <a:p>
            <a:pPr algn="l" indent="0" marL="0">
              <a:lnSpc>
                <a:spcPts val="3360"/>
              </a:lnSpc>
              <a:buNone/>
            </a:pPr>
            <a:r>
              <a:rPr lang="en-US" sz="2800" dirty="0">
                <a:solidFill>
                  <a:srgbClr val="0A7468"/>
                </a:solidFill>
                <a:latin typeface="Calibri" pitchFamily="34" charset="0"/>
                <a:ea typeface="Calibri" pitchFamily="34" charset="-122"/>
                <a:cs typeface="Calibri" pitchFamily="34" charset="-120"/>
              </a:rPr>
              <a:t>→</a:t>
            </a:r>
            <a:endParaRPr lang="en-US" sz="2800" dirty="0"/>
          </a:p>
        </p:txBody>
      </p:sp>
      <p:sp>
        <p:nvSpPr>
          <p:cNvPr id="19" name="Shape 17"/>
          <p:cNvSpPr/>
          <p:nvPr/>
        </p:nvSpPr>
        <p:spPr>
          <a:xfrm>
            <a:off x="9179024" y="2439591"/>
            <a:ext cx="2200077" cy="2507952"/>
          </a:xfrm>
          <a:prstGeom prst="roundRect">
            <a:avLst>
              <a:gd name="adj" fmla="val 2309"/>
            </a:avLst>
          </a:prstGeom>
          <a:solidFill>
            <a:srgbClr val="13233F"/>
          </a:solidFill>
          <a:ln/>
        </p:spPr>
      </p:sp>
      <p:sp>
        <p:nvSpPr>
          <p:cNvPr id="20" name="Text 18"/>
          <p:cNvSpPr txBox="1"/>
          <p:nvPr/>
        </p:nvSpPr>
        <p:spPr>
          <a:xfrm>
            <a:off x="9382224" y="2642791"/>
            <a:ext cx="1844477" cy="171450"/>
          </a:xfrm>
          <a:prstGeom prst="rect">
            <a:avLst/>
          </a:prstGeom>
          <a:noFill/>
          <a:ln/>
        </p:spPr>
        <p:txBody>
          <a:bodyPr wrap="square" lIns="0" tIns="0" rIns="0" bIns="0" rtlCol="0" anchor="t"/>
          <a:lstStyle/>
          <a:p>
            <a:pPr algn="l" indent="0" marL="0">
              <a:lnSpc>
                <a:spcPts val="1320"/>
              </a:lnSpc>
              <a:buNone/>
            </a:pPr>
            <a:r>
              <a:rPr lang="en-US" sz="1100" b="1" spc="100" kern="0" dirty="0">
                <a:solidFill>
                  <a:srgbClr val="46C4B0"/>
                </a:solidFill>
                <a:latin typeface="Calibri" pitchFamily="34" charset="0"/>
                <a:ea typeface="Calibri" pitchFamily="34" charset="-122"/>
                <a:cs typeface="Calibri" pitchFamily="34" charset="-120"/>
              </a:rPr>
              <a:t>4 · OUTCOME</a:t>
            </a:r>
            <a:endParaRPr lang="en-US" sz="1100" dirty="0"/>
          </a:p>
        </p:txBody>
      </p:sp>
      <p:sp>
        <p:nvSpPr>
          <p:cNvPr id="21" name="Text 19"/>
          <p:cNvSpPr txBox="1"/>
          <p:nvPr/>
        </p:nvSpPr>
        <p:spPr>
          <a:xfrm>
            <a:off x="9382224" y="2903141"/>
            <a:ext cx="1844477" cy="304800"/>
          </a:xfrm>
          <a:prstGeom prst="rect">
            <a:avLst/>
          </a:prstGeom>
          <a:noFill/>
          <a:ln/>
        </p:spPr>
        <p:txBody>
          <a:bodyPr wrap="square" lIns="0" tIns="0" rIns="0" bIns="0" rtlCol="0" anchor="t"/>
          <a:lstStyle/>
          <a:p>
            <a:pPr algn="l" indent="0" marL="0">
              <a:lnSpc>
                <a:spcPts val="2400"/>
              </a:lnSpc>
              <a:buNone/>
            </a:pPr>
            <a:r>
              <a:rPr lang="en-US" sz="2000" dirty="0">
                <a:solidFill>
                  <a:srgbClr val="E4ECF1"/>
                </a:solidFill>
                <a:latin typeface="Cambria" pitchFamily="34" charset="0"/>
                <a:ea typeface="Cambria" pitchFamily="34" charset="-122"/>
                <a:cs typeface="Cambria" pitchFamily="34" charset="-120"/>
              </a:rPr>
              <a:t>Settles, or reverts</a:t>
            </a:r>
            <a:endParaRPr lang="en-US" sz="2000" dirty="0"/>
          </a:p>
        </p:txBody>
      </p:sp>
      <p:sp>
        <p:nvSpPr>
          <p:cNvPr id="22" name="Text 20"/>
          <p:cNvSpPr txBox="1"/>
          <p:nvPr/>
        </p:nvSpPr>
        <p:spPr>
          <a:xfrm>
            <a:off x="9382224" y="3284141"/>
            <a:ext cx="1844477" cy="693241"/>
          </a:xfrm>
          <a:prstGeom prst="rect">
            <a:avLst/>
          </a:prstGeom>
          <a:noFill/>
          <a:ln/>
        </p:spPr>
        <p:txBody>
          <a:bodyPr wrap="square" lIns="0" tIns="0" rIns="0" bIns="0" rtlCol="0" anchor="t"/>
          <a:lstStyle/>
          <a:p>
            <a:pPr algn="l" indent="0" marL="0">
              <a:lnSpc>
                <a:spcPts val="1820"/>
              </a:lnSpc>
              <a:buNone/>
            </a:pPr>
            <a:r>
              <a:rPr lang="en-US" sz="1300" dirty="0">
                <a:solidFill>
                  <a:srgbClr val="A9BACB"/>
                </a:solidFill>
                <a:latin typeface="Calibri" pitchFamily="34" charset="0"/>
                <a:ea typeface="Calibri" pitchFamily="34" charset="-122"/>
                <a:cs typeface="Calibri" pitchFamily="34" charset="-120"/>
              </a:rPr>
              <a:t>Every check passes and money moves. Any check fails and nothing moves.</a:t>
            </a:r>
            <a:endParaRPr lang="en-US" sz="1300" dirty="0"/>
          </a:p>
        </p:txBody>
      </p:sp>
      <p:sp>
        <p:nvSpPr>
          <p:cNvPr id="23" name="Shape 21"/>
          <p:cNvSpPr/>
          <p:nvPr/>
        </p:nvSpPr>
        <p:spPr>
          <a:xfrm>
            <a:off x="825500" y="5252343"/>
            <a:ext cx="0" cy="364430"/>
          </a:xfrm>
          <a:prstGeom prst="line">
            <a:avLst/>
          </a:prstGeom>
          <a:noFill/>
          <a:ln w="25400">
            <a:solidFill>
              <a:srgbClr val="0A7468"/>
            </a:solidFill>
            <a:prstDash val="solid"/>
          </a:ln>
        </p:spPr>
      </p:sp>
      <p:sp>
        <p:nvSpPr>
          <p:cNvPr id="24" name="Text 22"/>
          <p:cNvSpPr txBox="1"/>
          <p:nvPr/>
        </p:nvSpPr>
        <p:spPr>
          <a:xfrm>
            <a:off x="1016000" y="5277743"/>
            <a:ext cx="10570464" cy="313690"/>
          </a:xfrm>
          <a:prstGeom prst="rect">
            <a:avLst/>
          </a:prstGeom>
          <a:noFill/>
          <a:ln/>
        </p:spPr>
        <p:txBody>
          <a:bodyPr wrap="square" lIns="0" tIns="0" rIns="0" bIns="0" rtlCol="0" anchor="t"/>
          <a:lstStyle/>
          <a:p>
            <a:pPr algn="l" indent="0" marL="0">
              <a:lnSpc>
                <a:spcPts val="2470"/>
              </a:lnSpc>
              <a:buNone/>
            </a:pPr>
            <a:r>
              <a:rPr lang="en-US" sz="1900" dirty="0">
                <a:solidFill>
                  <a:srgbClr val="13233F"/>
                </a:solidFill>
                <a:latin typeface="Cambria" pitchFamily="34" charset="0"/>
                <a:ea typeface="Cambria" pitchFamily="34" charset="-122"/>
                <a:cs typeface="Cambria" pitchFamily="34" charset="-120"/>
              </a:rPr>
              <a:t>The AI can be wrong, manipulated or stolen. The money still moves only with a valid proof.</a:t>
            </a:r>
            <a:endParaRPr lang="en-US" sz="1900" dirty="0"/>
          </a:p>
        </p:txBody>
      </p:sp>
      <p:sp>
        <p:nvSpPr>
          <p:cNvPr id="25" name="Text 23"/>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QED · proof-carrying autonomy for AI treasuries</a:t>
            </a:r>
            <a:endParaRPr lang="en-US" sz="1200" dirty="0"/>
          </a:p>
        </p:txBody>
      </p:sp>
      <p:sp>
        <p:nvSpPr>
          <p:cNvPr id="26" name="Text 24"/>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3 / 11</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THE BREAKTHROUGH · CERTIFIED BEST EXECUTION</a:t>
            </a:r>
            <a:endParaRPr lang="en-US" sz="1200" dirty="0"/>
          </a:p>
        </p:txBody>
      </p:sp>
      <p:sp>
        <p:nvSpPr>
          <p:cNvPr id="3" name="Text 1"/>
          <p:cNvSpPr txBox="1"/>
          <p:nvPr/>
        </p:nvSpPr>
        <p:spPr>
          <a:xfrm>
            <a:off x="812800" y="12001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The contract checks one inequality, inside the trade itself.</a:t>
            </a:r>
            <a:endParaRPr lang="en-US" sz="3200" dirty="0"/>
          </a:p>
        </p:txBody>
      </p:sp>
      <p:sp>
        <p:nvSpPr>
          <p:cNvPr id="4" name="Shape 2"/>
          <p:cNvSpPr/>
          <p:nvPr/>
        </p:nvSpPr>
        <p:spPr>
          <a:xfrm>
            <a:off x="812800" y="1870670"/>
            <a:ext cx="10566400" cy="1633141"/>
          </a:xfrm>
          <a:prstGeom prst="roundRect">
            <a:avLst>
              <a:gd name="adj" fmla="val 3111"/>
            </a:avLst>
          </a:prstGeom>
          <a:solidFill>
            <a:srgbClr val="0F1B2D"/>
          </a:solidFill>
          <a:ln/>
        </p:spPr>
      </p:sp>
      <p:sp>
        <p:nvSpPr>
          <p:cNvPr id="5" name="Text 3"/>
          <p:cNvSpPr txBox="1"/>
          <p:nvPr/>
        </p:nvSpPr>
        <p:spPr>
          <a:xfrm>
            <a:off x="1168400" y="2150070"/>
            <a:ext cx="10052304" cy="731520"/>
          </a:xfrm>
          <a:prstGeom prst="rect">
            <a:avLst/>
          </a:prstGeom>
          <a:noFill/>
          <a:ln/>
        </p:spPr>
        <p:txBody>
          <a:bodyPr wrap="square" lIns="0" tIns="0" rIns="0" bIns="0" rtlCol="0" anchor="t"/>
          <a:lstStyle/>
          <a:p>
            <a:pPr algn="l" indent="0" marL="0">
              <a:lnSpc>
                <a:spcPts val="5760"/>
              </a:lnSpc>
              <a:buNone/>
            </a:pPr>
            <a:r>
              <a:rPr lang="en-US" sz="4800" dirty="0">
                <a:solidFill>
                  <a:srgbClr val="E4ECF1"/>
                </a:solidFill>
                <a:latin typeface="Cambria" pitchFamily="34" charset="0"/>
                <a:ea typeface="Cambria" pitchFamily="34" charset="-122"/>
                <a:cs typeface="Cambria" pitchFamily="34" charset="-120"/>
              </a:rPr>
              <a:t>output ≥ (1 − τ) · B</a:t>
            </a:r>
            <a:endParaRPr lang="en-US" sz="4800" dirty="0"/>
          </a:p>
        </p:txBody>
      </p:sp>
      <p:sp>
        <p:nvSpPr>
          <p:cNvPr id="6" name="Text 4"/>
          <p:cNvSpPr txBox="1"/>
          <p:nvPr/>
        </p:nvSpPr>
        <p:spPr>
          <a:xfrm>
            <a:off x="1168400" y="2975570"/>
            <a:ext cx="10052304" cy="248920"/>
          </a:xfrm>
          <a:prstGeom prst="rect">
            <a:avLst/>
          </a:prstGeom>
          <a:noFill/>
          <a:ln/>
        </p:spPr>
        <p:txBody>
          <a:bodyPr wrap="square" lIns="0" tIns="0" rIns="0" bIns="0" rtlCol="0" anchor="t"/>
          <a:lstStyle/>
          <a:p>
            <a:pPr algn="l" indent="0" marL="0">
              <a:lnSpc>
                <a:spcPts val="1960"/>
              </a:lnSpc>
              <a:buNone/>
            </a:pPr>
            <a:r>
              <a:rPr lang="en-US" sz="1400" b="1" dirty="0">
                <a:solidFill>
                  <a:srgbClr val="46C4B0"/>
                </a:solidFill>
                <a:latin typeface="Calibri" pitchFamily="34" charset="0"/>
                <a:ea typeface="Calibri" pitchFamily="34" charset="-122"/>
                <a:cs typeface="Calibri" pitchFamily="34" charset="-120"/>
              </a:rPr>
              <a:t>B</a:t>
            </a:r>
            <a:pPr algn="l" indent="0" marL="0">
              <a:lnSpc>
                <a:spcPts val="1960"/>
              </a:lnSpc>
              <a:buNone/>
            </a:pPr>
            <a:r>
              <a:rPr lang="en-US" sz="1400" dirty="0">
                <a:solidFill>
                  <a:srgbClr val="A9BACB"/>
                </a:solidFill>
                <a:latin typeface="Calibri" pitchFamily="34" charset="0"/>
                <a:ea typeface="Calibri" pitchFamily="34" charset="-122"/>
                <a:cs typeface="Calibri" pitchFamily="34" charset="-120"/>
              </a:rPr>
              <a:t> = the most any route through the owner's approved venues could return, from their live reserves. </a:t>
            </a:r>
            <a:pPr algn="l" indent="0" marL="0">
              <a:lnSpc>
                <a:spcPts val="1960"/>
              </a:lnSpc>
              <a:buNone/>
            </a:pPr>
            <a:r>
              <a:rPr lang="en-US" sz="1400" b="1" dirty="0">
                <a:solidFill>
                  <a:srgbClr val="46C4B0"/>
                </a:solidFill>
                <a:latin typeface="Calibri" pitchFamily="34" charset="0"/>
                <a:ea typeface="Calibri" pitchFamily="34" charset="-122"/>
                <a:cs typeface="Calibri" pitchFamily="34" charset="-120"/>
              </a:rPr>
              <a:t>τ</a:t>
            </a:r>
            <a:pPr algn="l" indent="0" marL="0">
              <a:lnSpc>
                <a:spcPts val="1960"/>
              </a:lnSpc>
              <a:buNone/>
            </a:pPr>
            <a:r>
              <a:rPr lang="en-US" sz="1400" dirty="0">
                <a:solidFill>
                  <a:srgbClr val="A9BACB"/>
                </a:solidFill>
                <a:latin typeface="Calibri" pitchFamily="34" charset="0"/>
                <a:ea typeface="Calibri" pitchFamily="34" charset="-122"/>
                <a:cs typeface="Calibri" pitchFamily="34" charset="-120"/>
              </a:rPr>
              <a:t> = one part per million.</a:t>
            </a:r>
            <a:endParaRPr lang="en-US" sz="1400" dirty="0"/>
          </a:p>
        </p:txBody>
      </p:sp>
      <p:sp>
        <p:nvSpPr>
          <p:cNvPr id="7" name="Shape 5"/>
          <p:cNvSpPr/>
          <p:nvPr/>
        </p:nvSpPr>
        <p:spPr>
          <a:xfrm>
            <a:off x="812800" y="3707011"/>
            <a:ext cx="3403600" cy="1159470"/>
          </a:xfrm>
          <a:prstGeom prst="roundRect">
            <a:avLst>
              <a:gd name="adj" fmla="val 4381"/>
            </a:avLst>
          </a:prstGeom>
          <a:solidFill>
            <a:srgbClr val="FFFFFF"/>
          </a:solidFill>
          <a:ln w="6350">
            <a:solidFill>
              <a:srgbClr val="D6DEE1"/>
            </a:solidFill>
            <a:prstDash val="solid"/>
          </a:ln>
        </p:spPr>
      </p:sp>
      <p:sp>
        <p:nvSpPr>
          <p:cNvPr id="8" name="Text 6"/>
          <p:cNvSpPr txBox="1"/>
          <p:nvPr/>
        </p:nvSpPr>
        <p:spPr>
          <a:xfrm>
            <a:off x="1022350" y="3916561"/>
            <a:ext cx="3044190" cy="171450"/>
          </a:xfrm>
          <a:prstGeom prst="rect">
            <a:avLst/>
          </a:prstGeom>
          <a:noFill/>
          <a:ln/>
        </p:spPr>
        <p:txBody>
          <a:bodyPr wrap="square" lIns="0" tIns="0" rIns="0" bIns="0" rtlCol="0" anchor="t"/>
          <a:lstStyle/>
          <a:p>
            <a:pPr algn="l" indent="0" marL="0">
              <a:lnSpc>
                <a:spcPts val="1320"/>
              </a:lnSpc>
              <a:buNone/>
            </a:pPr>
            <a:r>
              <a:rPr lang="en-US" sz="1100" b="1" spc="100" kern="0" dirty="0">
                <a:solidFill>
                  <a:srgbClr val="0A7468"/>
                </a:solidFill>
                <a:latin typeface="Calibri" pitchFamily="34" charset="0"/>
                <a:ea typeface="Calibri" pitchFamily="34" charset="-122"/>
                <a:cs typeface="Calibri" pitchFamily="34" charset="-120"/>
              </a:rPr>
              <a:t>1</a:t>
            </a:r>
            <a:endParaRPr lang="en-US" sz="1100" dirty="0"/>
          </a:p>
        </p:txBody>
      </p:sp>
      <p:sp>
        <p:nvSpPr>
          <p:cNvPr id="9" name="Text 7"/>
          <p:cNvSpPr txBox="1"/>
          <p:nvPr/>
        </p:nvSpPr>
        <p:spPr>
          <a:xfrm>
            <a:off x="1022350" y="4176911"/>
            <a:ext cx="3044190" cy="480020"/>
          </a:xfrm>
          <a:prstGeom prst="rect">
            <a:avLst/>
          </a:prstGeom>
          <a:noFill/>
          <a:ln/>
        </p:spPr>
        <p:txBody>
          <a:bodyPr wrap="square" lIns="0" tIns="0" rIns="0" bIns="0" rtlCol="0" anchor="t"/>
          <a:lstStyle/>
          <a:p>
            <a:pPr algn="l" indent="0" marL="0">
              <a:lnSpc>
                <a:spcPts val="1890"/>
              </a:lnSpc>
              <a:buNone/>
            </a:pPr>
            <a:r>
              <a:rPr lang="en-US" sz="1400" dirty="0">
                <a:solidFill>
                  <a:srgbClr val="13233F"/>
                </a:solidFill>
                <a:latin typeface="Calibri" pitchFamily="34" charset="0"/>
                <a:ea typeface="Calibri" pitchFamily="34" charset="-122"/>
                <a:cs typeface="Calibri" pitchFamily="34" charset="-120"/>
              </a:rPr>
              <a:t>The owner approves the venues the agent may use.</a:t>
            </a:r>
            <a:endParaRPr lang="en-US" sz="1400" dirty="0"/>
          </a:p>
        </p:txBody>
      </p:sp>
      <p:sp>
        <p:nvSpPr>
          <p:cNvPr id="10" name="Shape 8"/>
          <p:cNvSpPr/>
          <p:nvPr/>
        </p:nvSpPr>
        <p:spPr>
          <a:xfrm>
            <a:off x="4394200" y="3707011"/>
            <a:ext cx="3403600" cy="1159470"/>
          </a:xfrm>
          <a:prstGeom prst="roundRect">
            <a:avLst>
              <a:gd name="adj" fmla="val 4381"/>
            </a:avLst>
          </a:prstGeom>
          <a:solidFill>
            <a:srgbClr val="FFFFFF"/>
          </a:solidFill>
          <a:ln w="6350">
            <a:solidFill>
              <a:srgbClr val="D6DEE1"/>
            </a:solidFill>
            <a:prstDash val="solid"/>
          </a:ln>
        </p:spPr>
      </p:sp>
      <p:sp>
        <p:nvSpPr>
          <p:cNvPr id="11" name="Text 9"/>
          <p:cNvSpPr txBox="1"/>
          <p:nvPr/>
        </p:nvSpPr>
        <p:spPr>
          <a:xfrm>
            <a:off x="4603750" y="3916561"/>
            <a:ext cx="3044190" cy="171450"/>
          </a:xfrm>
          <a:prstGeom prst="rect">
            <a:avLst/>
          </a:prstGeom>
          <a:noFill/>
          <a:ln/>
        </p:spPr>
        <p:txBody>
          <a:bodyPr wrap="square" lIns="0" tIns="0" rIns="0" bIns="0" rtlCol="0" anchor="t"/>
          <a:lstStyle/>
          <a:p>
            <a:pPr algn="l" indent="0" marL="0">
              <a:lnSpc>
                <a:spcPts val="1320"/>
              </a:lnSpc>
              <a:buNone/>
            </a:pPr>
            <a:r>
              <a:rPr lang="en-US" sz="1100" b="1" spc="100" kern="0" dirty="0">
                <a:solidFill>
                  <a:srgbClr val="0A7468"/>
                </a:solidFill>
                <a:latin typeface="Calibri" pitchFamily="34" charset="0"/>
                <a:ea typeface="Calibri" pitchFamily="34" charset="-122"/>
                <a:cs typeface="Calibri" pitchFamily="34" charset="-120"/>
              </a:rPr>
              <a:t>2</a:t>
            </a:r>
            <a:endParaRPr lang="en-US" sz="1100" dirty="0"/>
          </a:p>
        </p:txBody>
      </p:sp>
      <p:sp>
        <p:nvSpPr>
          <p:cNvPr id="12" name="Text 10"/>
          <p:cNvSpPr txBox="1"/>
          <p:nvPr/>
        </p:nvSpPr>
        <p:spPr>
          <a:xfrm>
            <a:off x="4603750" y="4176911"/>
            <a:ext cx="3044190" cy="480020"/>
          </a:xfrm>
          <a:prstGeom prst="rect">
            <a:avLst/>
          </a:prstGeom>
          <a:noFill/>
          <a:ln/>
        </p:spPr>
        <p:txBody>
          <a:bodyPr wrap="square" lIns="0" tIns="0" rIns="0" bIns="0" rtlCol="0" anchor="t"/>
          <a:lstStyle/>
          <a:p>
            <a:pPr algn="l" indent="0" marL="0">
              <a:lnSpc>
                <a:spcPts val="1890"/>
              </a:lnSpc>
              <a:buNone/>
            </a:pPr>
            <a:r>
              <a:rPr lang="en-US" sz="1400" dirty="0">
                <a:solidFill>
                  <a:srgbClr val="13233F"/>
                </a:solidFill>
                <a:latin typeface="Calibri" pitchFamily="34" charset="0"/>
                <a:ea typeface="Calibri" pitchFamily="34" charset="-122"/>
                <a:cs typeface="Calibri" pitchFamily="34" charset="-120"/>
              </a:rPr>
              <a:t>The agent picks any route and sends one price per token as its certificate.</a:t>
            </a:r>
            <a:endParaRPr lang="en-US" sz="1400" dirty="0"/>
          </a:p>
        </p:txBody>
      </p:sp>
      <p:sp>
        <p:nvSpPr>
          <p:cNvPr id="13" name="Shape 11"/>
          <p:cNvSpPr/>
          <p:nvPr/>
        </p:nvSpPr>
        <p:spPr>
          <a:xfrm>
            <a:off x="7975600" y="3707011"/>
            <a:ext cx="3403600" cy="1159470"/>
          </a:xfrm>
          <a:prstGeom prst="roundRect">
            <a:avLst>
              <a:gd name="adj" fmla="val 4381"/>
            </a:avLst>
          </a:prstGeom>
          <a:solidFill>
            <a:srgbClr val="FFFFFF"/>
          </a:solidFill>
          <a:ln w="6350">
            <a:solidFill>
              <a:srgbClr val="D6DEE1"/>
            </a:solidFill>
            <a:prstDash val="solid"/>
          </a:ln>
        </p:spPr>
      </p:sp>
      <p:sp>
        <p:nvSpPr>
          <p:cNvPr id="14" name="Text 12"/>
          <p:cNvSpPr txBox="1"/>
          <p:nvPr/>
        </p:nvSpPr>
        <p:spPr>
          <a:xfrm>
            <a:off x="8185150" y="3916561"/>
            <a:ext cx="3044190" cy="171450"/>
          </a:xfrm>
          <a:prstGeom prst="rect">
            <a:avLst/>
          </a:prstGeom>
          <a:noFill/>
          <a:ln/>
        </p:spPr>
        <p:txBody>
          <a:bodyPr wrap="square" lIns="0" tIns="0" rIns="0" bIns="0" rtlCol="0" anchor="t"/>
          <a:lstStyle/>
          <a:p>
            <a:pPr algn="l" indent="0" marL="0">
              <a:lnSpc>
                <a:spcPts val="1320"/>
              </a:lnSpc>
              <a:buNone/>
            </a:pPr>
            <a:r>
              <a:rPr lang="en-US" sz="1100" b="1" spc="100" kern="0" dirty="0">
                <a:solidFill>
                  <a:srgbClr val="0A7468"/>
                </a:solidFill>
                <a:latin typeface="Calibri" pitchFamily="34" charset="0"/>
                <a:ea typeface="Calibri" pitchFamily="34" charset="-122"/>
                <a:cs typeface="Calibri" pitchFamily="34" charset="-120"/>
              </a:rPr>
              <a:t>3</a:t>
            </a:r>
            <a:endParaRPr lang="en-US" sz="1100" dirty="0"/>
          </a:p>
        </p:txBody>
      </p:sp>
      <p:sp>
        <p:nvSpPr>
          <p:cNvPr id="15" name="Text 13"/>
          <p:cNvSpPr txBox="1"/>
          <p:nvPr/>
        </p:nvSpPr>
        <p:spPr>
          <a:xfrm>
            <a:off x="8185150" y="4176911"/>
            <a:ext cx="3044190" cy="480020"/>
          </a:xfrm>
          <a:prstGeom prst="rect">
            <a:avLst/>
          </a:prstGeom>
          <a:noFill/>
          <a:ln/>
        </p:spPr>
        <p:txBody>
          <a:bodyPr wrap="square" lIns="0" tIns="0" rIns="0" bIns="0" rtlCol="0" anchor="t"/>
          <a:lstStyle/>
          <a:p>
            <a:pPr algn="l" indent="0" marL="0">
              <a:lnSpc>
                <a:spcPts val="1890"/>
              </a:lnSpc>
              <a:buNone/>
            </a:pPr>
            <a:r>
              <a:rPr lang="en-US" sz="1400" dirty="0">
                <a:solidFill>
                  <a:srgbClr val="13233F"/>
                </a:solidFill>
                <a:latin typeface="Calibri" pitchFamily="34" charset="0"/>
                <a:ea typeface="Calibri" pitchFamily="34" charset="-122"/>
                <a:cs typeface="Calibri" pitchFamily="34" charset="-120"/>
              </a:rPr>
              <a:t>The contract recomputes B, rounding against the agent. A worse route reverts.</a:t>
            </a:r>
            <a:endParaRPr lang="en-US" sz="1400" dirty="0"/>
          </a:p>
        </p:txBody>
      </p:sp>
      <p:sp>
        <p:nvSpPr>
          <p:cNvPr id="16" name="Text 14"/>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Why B can't be faked: any prices give a valid upper bound (weak duality). Derivation: appendix A1</a:t>
            </a:r>
            <a:endParaRPr lang="en-US" sz="1200" dirty="0"/>
          </a:p>
        </p:txBody>
      </p:sp>
      <p:sp>
        <p:nvSpPr>
          <p:cNvPr id="17" name="Text 15"/>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4 / 11</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THE BREAKTHROUGH, LIVE · SEPOLIA TRANSACTION E1</a:t>
            </a:r>
            <a:endParaRPr lang="en-US" sz="1200" dirty="0"/>
          </a:p>
        </p:txBody>
      </p:sp>
      <p:sp>
        <p:nvSpPr>
          <p:cNvPr id="3" name="Text 1"/>
          <p:cNvSpPr txBox="1"/>
          <p:nvPr/>
        </p:nvSpPr>
        <p:spPr>
          <a:xfrm>
            <a:off x="812800" y="1200150"/>
            <a:ext cx="10777728" cy="934641"/>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20 tUSD in, 18.086846 tEUR out. The chain's own bound: 18.086849.</a:t>
            </a:r>
            <a:endParaRPr lang="en-US" sz="3200" dirty="0"/>
          </a:p>
        </p:txBody>
      </p:sp>
      <p:pic>
        <p:nvPicPr>
          <p:cNvPr id="4" name="Image 0" descr="The agent's route for 20 tUSD: 11.42 through venue 0 and 3.95 through venue 1 directly to tEUR, 4.63 through venue 2 to tETH and on through venue 3 to tEUR; venue 4, an off-market 1% pool, unused but still inside the bound">    </p:cNvPr>
          <p:cNvPicPr>
            <a:picLocks noChangeAspect="1"/>
          </p:cNvPicPr>
          <p:nvPr/>
        </p:nvPicPr>
        <p:blipFill>
          <a:blip r:embed="rId1"/>
          <a:stretch>
            <a:fillRect/>
          </a:stretch>
        </p:blipFill>
        <p:spPr>
          <a:xfrm>
            <a:off x="812800" y="2337991"/>
            <a:ext cx="6350000" cy="3302000"/>
          </a:xfrm>
          <a:prstGeom prst="rect">
            <a:avLst/>
          </a:prstGeom>
        </p:spPr>
      </p:pic>
      <p:sp>
        <p:nvSpPr>
          <p:cNvPr id="5" name="Shape 2"/>
          <p:cNvSpPr/>
          <p:nvPr/>
        </p:nvSpPr>
        <p:spPr>
          <a:xfrm>
            <a:off x="7416800" y="2337991"/>
            <a:ext cx="3962400" cy="2731691"/>
          </a:xfrm>
          <a:prstGeom prst="roundRect">
            <a:avLst>
              <a:gd name="adj" fmla="val 1860"/>
            </a:avLst>
          </a:prstGeom>
          <a:solidFill>
            <a:srgbClr val="13233F"/>
          </a:solidFill>
          <a:ln/>
        </p:spPr>
      </p:sp>
      <p:sp>
        <p:nvSpPr>
          <p:cNvPr id="6" name="Text 3"/>
          <p:cNvSpPr txBox="1"/>
          <p:nvPr/>
        </p:nvSpPr>
        <p:spPr>
          <a:xfrm>
            <a:off x="7645400" y="2566591"/>
            <a:ext cx="3575304" cy="609600"/>
          </a:xfrm>
          <a:prstGeom prst="rect">
            <a:avLst/>
          </a:prstGeom>
          <a:noFill/>
          <a:ln/>
        </p:spPr>
        <p:txBody>
          <a:bodyPr wrap="square" lIns="0" tIns="0" rIns="0" bIns="0" rtlCol="0" anchor="t"/>
          <a:lstStyle/>
          <a:p>
            <a:pPr algn="l" indent="0" marL="0">
              <a:lnSpc>
                <a:spcPts val="4800"/>
              </a:lnSpc>
              <a:buNone/>
            </a:pPr>
            <a:r>
              <a:rPr lang="en-US" sz="4800" dirty="0">
                <a:solidFill>
                  <a:srgbClr val="46C4B0"/>
                </a:solidFill>
                <a:latin typeface="Cambria" pitchFamily="34" charset="0"/>
                <a:ea typeface="Cambria" pitchFamily="34" charset="-122"/>
                <a:cs typeface="Cambria" pitchFamily="34" charset="-120"/>
              </a:rPr>
              <a:t>0.17 ppm</a:t>
            </a:r>
            <a:endParaRPr lang="en-US" sz="4800" dirty="0"/>
          </a:p>
        </p:txBody>
      </p:sp>
      <p:sp>
        <p:nvSpPr>
          <p:cNvPr id="7" name="Text 4"/>
          <p:cNvSpPr txBox="1"/>
          <p:nvPr/>
        </p:nvSpPr>
        <p:spPr>
          <a:xfrm>
            <a:off x="7645400" y="3290491"/>
            <a:ext cx="3575304" cy="426641"/>
          </a:xfrm>
          <a:prstGeom prst="rect">
            <a:avLst/>
          </a:prstGeom>
          <a:noFill/>
          <a:ln/>
        </p:spPr>
        <p:txBody>
          <a:bodyPr wrap="square" lIns="0" tIns="0" rIns="0" bIns="0" rtlCol="0" anchor="t"/>
          <a:lstStyle/>
          <a:p>
            <a:pPr algn="l" indent="0" marL="0">
              <a:lnSpc>
                <a:spcPts val="1680"/>
              </a:lnSpc>
              <a:buNone/>
            </a:pPr>
            <a:r>
              <a:rPr lang="en-US" sz="1200" dirty="0">
                <a:solidFill>
                  <a:srgbClr val="A9BACB"/>
                </a:solidFill>
                <a:latin typeface="Calibri" pitchFamily="34" charset="0"/>
                <a:ea typeface="Calibri" pitchFamily="34" charset="-122"/>
                <a:cs typeface="Calibri" pitchFamily="34" charset="-120"/>
              </a:rPr>
              <a:t>from the most any route through the owner's five venues could have returned</a:t>
            </a:r>
            <a:endParaRPr lang="en-US" sz="1200" dirty="0"/>
          </a:p>
        </p:txBody>
      </p:sp>
      <p:sp>
        <p:nvSpPr>
          <p:cNvPr id="8" name="Shape 5"/>
          <p:cNvSpPr/>
          <p:nvPr/>
        </p:nvSpPr>
        <p:spPr>
          <a:xfrm>
            <a:off x="7645400" y="3834606"/>
            <a:ext cx="3505200" cy="0"/>
          </a:xfrm>
          <a:prstGeom prst="line">
            <a:avLst/>
          </a:prstGeom>
          <a:noFill/>
          <a:ln w="6350">
            <a:solidFill>
              <a:srgbClr val="2E4A72"/>
            </a:solidFill>
            <a:prstDash val="solid"/>
          </a:ln>
        </p:spPr>
      </p:sp>
      <p:sp>
        <p:nvSpPr>
          <p:cNvPr id="9" name="Text 6"/>
          <p:cNvSpPr txBox="1"/>
          <p:nvPr/>
        </p:nvSpPr>
        <p:spPr>
          <a:xfrm>
            <a:off x="7645400" y="3952081"/>
            <a:ext cx="1257300" cy="36830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The proof</a:t>
            </a:r>
            <a:endParaRPr lang="en-US" sz="1200" dirty="0"/>
          </a:p>
        </p:txBody>
      </p:sp>
      <p:sp>
        <p:nvSpPr>
          <p:cNvPr id="10" name="Text 7"/>
          <p:cNvSpPr txBox="1"/>
          <p:nvPr/>
        </p:nvSpPr>
        <p:spPr>
          <a:xfrm>
            <a:off x="8928100" y="3952081"/>
            <a:ext cx="2273300" cy="36830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three prices: ν(tUSD) 0.891672 · ν(tETH) 2,724.50 · ν(tEUR) 1</a:t>
            </a:r>
            <a:endParaRPr lang="en-US" sz="1200" dirty="0"/>
          </a:p>
        </p:txBody>
      </p:sp>
      <p:sp>
        <p:nvSpPr>
          <p:cNvPr id="11" name="Text 8"/>
          <p:cNvSpPr txBox="1"/>
          <p:nvPr/>
        </p:nvSpPr>
        <p:spPr>
          <a:xfrm>
            <a:off x="7645400" y="4396581"/>
            <a:ext cx="12573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Checked by</a:t>
            </a:r>
            <a:endParaRPr lang="en-US" sz="1200" dirty="0"/>
          </a:p>
        </p:txBody>
      </p:sp>
      <p:sp>
        <p:nvSpPr>
          <p:cNvPr id="12" name="Text 9"/>
          <p:cNvSpPr txBox="1"/>
          <p:nvPr/>
        </p:nvSpPr>
        <p:spPr>
          <a:xfrm>
            <a:off x="8928100" y="4396581"/>
            <a:ext cx="2273300"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QEDExecution, same transaction</a:t>
            </a:r>
            <a:endParaRPr lang="en-US" sz="1200" dirty="0"/>
          </a:p>
        </p:txBody>
      </p:sp>
      <p:sp>
        <p:nvSpPr>
          <p:cNvPr id="13" name="Text 10"/>
          <p:cNvSpPr txBox="1"/>
          <p:nvPr/>
        </p:nvSpPr>
        <p:spPr>
          <a:xfrm>
            <a:off x="7645400" y="4656931"/>
            <a:ext cx="12573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Transaction</a:t>
            </a:r>
            <a:endParaRPr lang="en-US" sz="1200" dirty="0"/>
          </a:p>
        </p:txBody>
      </p:sp>
      <p:sp>
        <p:nvSpPr>
          <p:cNvPr id="14" name="Text 11"/>
          <p:cNvSpPr txBox="1"/>
          <p:nvPr/>
        </p:nvSpPr>
        <p:spPr>
          <a:xfrm>
            <a:off x="8928100" y="4656931"/>
            <a:ext cx="2273300"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ourier New" pitchFamily="34" charset="0"/>
                <a:ea typeface="Courier New" pitchFamily="34" charset="-122"/>
                <a:cs typeface="Courier New" pitchFamily="34" charset="-120"/>
              </a:rPr>
              <a:t>0x56f798cd…9690</a:t>
            </a:r>
            <a:endParaRPr lang="en-US" sz="1200" dirty="0"/>
          </a:p>
        </p:txBody>
      </p:sp>
      <p:sp>
        <p:nvSpPr>
          <p:cNvPr id="15" name="Text 12"/>
          <p:cNvSpPr txBox="1"/>
          <p:nvPr/>
        </p:nvSpPr>
        <p:spPr>
          <a:xfrm>
            <a:off x="812800" y="6267450"/>
            <a:ext cx="77724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Amounts in tUSD → tEUR · block 11,952,708 · 1,122,781 gas</a:t>
            </a:r>
            <a:endParaRPr lang="en-US" sz="1200" dirty="0"/>
          </a:p>
        </p:txBody>
      </p:sp>
      <p:sp>
        <p:nvSpPr>
          <p:cNvPr id="16" name="Text 13"/>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5 / 11</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THE PRODUCT · LIVE NOW</a:t>
            </a:r>
            <a:endParaRPr lang="en-US" sz="1200" dirty="0"/>
          </a:p>
        </p:txBody>
      </p:sp>
      <p:sp>
        <p:nvSpPr>
          <p:cNvPr id="3" name="Text 1"/>
          <p:cNvSpPr txBox="1"/>
          <p:nvPr/>
        </p:nvSpPr>
        <p:spPr>
          <a:xfrm>
            <a:off x="812800" y="11747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Type an instruction. Watch it get proved.</a:t>
            </a:r>
            <a:endParaRPr lang="en-US" sz="3200" dirty="0"/>
          </a:p>
        </p:txBody>
      </p:sp>
      <p:pic>
        <p:nvPicPr>
          <p:cNvPr id="4" name="Image 0" descr="preencoded.png">    </p:cNvPr>
          <p:cNvPicPr>
            <a:picLocks noChangeAspect="1"/>
          </p:cNvPicPr>
          <p:nvPr/>
        </p:nvPicPr>
        <p:blipFill>
          <a:blip r:embed="rId1"/>
          <a:stretch>
            <a:fillRect/>
          </a:stretch>
        </p:blipFill>
        <p:spPr>
          <a:xfrm>
            <a:off x="812800" y="1819870"/>
            <a:ext cx="7010400" cy="4381500"/>
          </a:xfrm>
          <a:prstGeom prst="rect">
            <a:avLst/>
          </a:prstGeom>
        </p:spPr>
      </p:pic>
      <p:sp>
        <p:nvSpPr>
          <p:cNvPr id="5" name="Shape 2"/>
          <p:cNvSpPr/>
          <p:nvPr/>
        </p:nvSpPr>
        <p:spPr>
          <a:xfrm>
            <a:off x="8128000" y="1823045"/>
            <a:ext cx="3251200" cy="0"/>
          </a:xfrm>
          <a:prstGeom prst="line">
            <a:avLst/>
          </a:prstGeom>
          <a:noFill/>
          <a:ln w="6350">
            <a:solidFill>
              <a:srgbClr val="D6DEE1"/>
            </a:solidFill>
            <a:prstDash val="solid"/>
          </a:ln>
        </p:spPr>
      </p:sp>
      <p:sp>
        <p:nvSpPr>
          <p:cNvPr id="6" name="Text 3"/>
          <p:cNvSpPr txBox="1"/>
          <p:nvPr/>
        </p:nvSpPr>
        <p:spPr>
          <a:xfrm>
            <a:off x="8128000" y="1915120"/>
            <a:ext cx="3316224" cy="171450"/>
          </a:xfrm>
          <a:prstGeom prst="rect">
            <a:avLst/>
          </a:prstGeom>
          <a:noFill/>
          <a:ln/>
        </p:spPr>
        <p:txBody>
          <a:bodyPr wrap="square" lIns="0" tIns="0" rIns="0" bIns="0" rtlCol="0" anchor="t"/>
          <a:lstStyle/>
          <a:p>
            <a:pPr algn="l" indent="0" marL="0">
              <a:lnSpc>
                <a:spcPts val="1320"/>
              </a:lnSpc>
              <a:buNone/>
            </a:pPr>
            <a:r>
              <a:rPr lang="en-US" sz="1100" b="1" spc="100" kern="0" dirty="0">
                <a:solidFill>
                  <a:srgbClr val="0A7468"/>
                </a:solidFill>
                <a:latin typeface="Calibri" pitchFamily="34" charset="0"/>
                <a:ea typeface="Calibri" pitchFamily="34" charset="-122"/>
                <a:cs typeface="Calibri" pitchFamily="34" charset="-120"/>
              </a:rPr>
              <a:t>1 · YOU ASK</a:t>
            </a:r>
            <a:endParaRPr lang="en-US" sz="1100" dirty="0"/>
          </a:p>
        </p:txBody>
      </p:sp>
      <p:sp>
        <p:nvSpPr>
          <p:cNvPr id="7" name="Text 4"/>
          <p:cNvSpPr txBox="1"/>
          <p:nvPr/>
        </p:nvSpPr>
        <p:spPr>
          <a:xfrm>
            <a:off x="8128000" y="2111970"/>
            <a:ext cx="3316224" cy="214313"/>
          </a:xfrm>
          <a:prstGeom prst="rect">
            <a:avLst/>
          </a:prstGeom>
          <a:noFill/>
          <a:ln/>
        </p:spPr>
        <p:txBody>
          <a:bodyPr wrap="square" lIns="0" tIns="0" rIns="0" bIns="0" rtlCol="0" anchor="t"/>
          <a:lstStyle/>
          <a:p>
            <a:pPr algn="l" indent="0" marL="0">
              <a:lnSpc>
                <a:spcPts val="1690"/>
              </a:lnSpc>
              <a:buNone/>
            </a:pPr>
            <a:r>
              <a:rPr lang="en-US" sz="1250" dirty="0">
                <a:solidFill>
                  <a:srgbClr val="13233F"/>
                </a:solidFill>
                <a:latin typeface="Calibri" pitchFamily="34" charset="0"/>
                <a:ea typeface="Calibri" pitchFamily="34" charset="-122"/>
                <a:cs typeface="Calibri" pitchFamily="34" charset="-120"/>
              </a:rPr>
              <a:t>“Convert 12.5 tUSD to tEUR for the euro invoices.”</a:t>
            </a:r>
            <a:endParaRPr lang="en-US" sz="1250" dirty="0"/>
          </a:p>
        </p:txBody>
      </p:sp>
      <p:sp>
        <p:nvSpPr>
          <p:cNvPr id="8" name="Shape 5"/>
          <p:cNvSpPr/>
          <p:nvPr/>
        </p:nvSpPr>
        <p:spPr>
          <a:xfrm>
            <a:off x="8128000" y="2443758"/>
            <a:ext cx="3251200" cy="0"/>
          </a:xfrm>
          <a:prstGeom prst="line">
            <a:avLst/>
          </a:prstGeom>
          <a:noFill/>
          <a:ln w="6350">
            <a:solidFill>
              <a:srgbClr val="D6DEE1"/>
            </a:solidFill>
            <a:prstDash val="solid"/>
          </a:ln>
        </p:spPr>
      </p:sp>
      <p:sp>
        <p:nvSpPr>
          <p:cNvPr id="9" name="Text 6"/>
          <p:cNvSpPr txBox="1"/>
          <p:nvPr/>
        </p:nvSpPr>
        <p:spPr>
          <a:xfrm>
            <a:off x="8128000" y="2535833"/>
            <a:ext cx="3316224" cy="171450"/>
          </a:xfrm>
          <a:prstGeom prst="rect">
            <a:avLst/>
          </a:prstGeom>
          <a:noFill/>
          <a:ln/>
        </p:spPr>
        <p:txBody>
          <a:bodyPr wrap="square" lIns="0" tIns="0" rIns="0" bIns="0" rtlCol="0" anchor="t"/>
          <a:lstStyle/>
          <a:p>
            <a:pPr algn="l" indent="0" marL="0">
              <a:lnSpc>
                <a:spcPts val="1320"/>
              </a:lnSpc>
              <a:buNone/>
            </a:pPr>
            <a:r>
              <a:rPr lang="en-US" sz="1100" b="1" spc="100" kern="0" dirty="0">
                <a:solidFill>
                  <a:srgbClr val="0A7468"/>
                </a:solidFill>
                <a:latin typeface="Calibri" pitchFamily="34" charset="0"/>
                <a:ea typeface="Calibri" pitchFamily="34" charset="-122"/>
                <a:cs typeface="Calibri" pitchFamily="34" charset="-120"/>
              </a:rPr>
              <a:t>2 · THE AI PROPOSES</a:t>
            </a:r>
            <a:endParaRPr lang="en-US" sz="1100" dirty="0"/>
          </a:p>
        </p:txBody>
      </p:sp>
      <p:sp>
        <p:nvSpPr>
          <p:cNvPr id="10" name="Text 7"/>
          <p:cNvSpPr txBox="1"/>
          <p:nvPr/>
        </p:nvSpPr>
        <p:spPr>
          <a:xfrm>
            <a:off x="8128000" y="2732683"/>
            <a:ext cx="3316224" cy="428625"/>
          </a:xfrm>
          <a:prstGeom prst="rect">
            <a:avLst/>
          </a:prstGeom>
          <a:noFill/>
          <a:ln/>
        </p:spPr>
        <p:txBody>
          <a:bodyPr wrap="square" lIns="0" tIns="0" rIns="0" bIns="0" rtlCol="0" anchor="t"/>
          <a:lstStyle/>
          <a:p>
            <a:pPr algn="l" indent="0" marL="0">
              <a:lnSpc>
                <a:spcPts val="1690"/>
              </a:lnSpc>
              <a:buNone/>
            </a:pPr>
            <a:r>
              <a:rPr lang="en-US" sz="1250" dirty="0">
                <a:solidFill>
                  <a:srgbClr val="13233F"/>
                </a:solidFill>
                <a:latin typeface="Calibri" pitchFamily="34" charset="0"/>
                <a:ea typeface="Calibri" pitchFamily="34" charset="-122"/>
                <a:cs typeface="Calibri" pitchFamily="34" charset="-120"/>
              </a:rPr>
              <a:t>It shows the signed limits it checked. It cannot sign.</a:t>
            </a:r>
            <a:endParaRPr lang="en-US" sz="1250" dirty="0"/>
          </a:p>
        </p:txBody>
      </p:sp>
      <p:sp>
        <p:nvSpPr>
          <p:cNvPr id="11" name="Shape 8"/>
          <p:cNvSpPr/>
          <p:nvPr/>
        </p:nvSpPr>
        <p:spPr>
          <a:xfrm>
            <a:off x="8128000" y="3278783"/>
            <a:ext cx="3251200" cy="0"/>
          </a:xfrm>
          <a:prstGeom prst="line">
            <a:avLst/>
          </a:prstGeom>
          <a:noFill/>
          <a:ln w="6350">
            <a:solidFill>
              <a:srgbClr val="D6DEE1"/>
            </a:solidFill>
            <a:prstDash val="solid"/>
          </a:ln>
        </p:spPr>
      </p:sp>
      <p:sp>
        <p:nvSpPr>
          <p:cNvPr id="12" name="Text 9"/>
          <p:cNvSpPr txBox="1"/>
          <p:nvPr/>
        </p:nvSpPr>
        <p:spPr>
          <a:xfrm>
            <a:off x="8128000" y="3370858"/>
            <a:ext cx="3316224" cy="171450"/>
          </a:xfrm>
          <a:prstGeom prst="rect">
            <a:avLst/>
          </a:prstGeom>
          <a:noFill/>
          <a:ln/>
        </p:spPr>
        <p:txBody>
          <a:bodyPr wrap="square" lIns="0" tIns="0" rIns="0" bIns="0" rtlCol="0" anchor="t"/>
          <a:lstStyle/>
          <a:p>
            <a:pPr algn="l" indent="0" marL="0">
              <a:lnSpc>
                <a:spcPts val="1320"/>
              </a:lnSpc>
              <a:buNone/>
            </a:pPr>
            <a:r>
              <a:rPr lang="en-US" sz="1100" b="1" spc="100" kern="0" dirty="0">
                <a:solidFill>
                  <a:srgbClr val="0A7468"/>
                </a:solidFill>
                <a:latin typeface="Calibri" pitchFamily="34" charset="0"/>
                <a:ea typeface="Calibri" pitchFamily="34" charset="-122"/>
                <a:cs typeface="Calibri" pitchFamily="34" charset="-120"/>
              </a:rPr>
              <a:t>3 · YOU CONFIRM AS OWNER</a:t>
            </a:r>
            <a:endParaRPr lang="en-US" sz="1100" dirty="0"/>
          </a:p>
        </p:txBody>
      </p:sp>
      <p:sp>
        <p:nvSpPr>
          <p:cNvPr id="13" name="Text 10"/>
          <p:cNvSpPr txBox="1"/>
          <p:nvPr/>
        </p:nvSpPr>
        <p:spPr>
          <a:xfrm>
            <a:off x="8128000" y="3567708"/>
            <a:ext cx="3316224" cy="214313"/>
          </a:xfrm>
          <a:prstGeom prst="rect">
            <a:avLst/>
          </a:prstGeom>
          <a:noFill/>
          <a:ln/>
        </p:spPr>
        <p:txBody>
          <a:bodyPr wrap="square" lIns="0" tIns="0" rIns="0" bIns="0" rtlCol="0" anchor="t"/>
          <a:lstStyle/>
          <a:p>
            <a:pPr algn="l" indent="0" marL="0">
              <a:lnSpc>
                <a:spcPts val="1690"/>
              </a:lnSpc>
              <a:buNone/>
            </a:pPr>
            <a:r>
              <a:rPr lang="en-US" sz="1250" dirty="0">
                <a:solidFill>
                  <a:srgbClr val="13233F"/>
                </a:solidFill>
                <a:latin typeface="Calibri" pitchFamily="34" charset="0"/>
                <a:ea typeface="Calibri" pitchFamily="34" charset="-122"/>
                <a:cs typeface="Calibri" pitchFamily="34" charset="-120"/>
              </a:rPr>
              <a:t>The co-signer re-derives and signs an order.</a:t>
            </a:r>
            <a:endParaRPr lang="en-US" sz="1250" dirty="0"/>
          </a:p>
        </p:txBody>
      </p:sp>
      <p:sp>
        <p:nvSpPr>
          <p:cNvPr id="14" name="Shape 11"/>
          <p:cNvSpPr/>
          <p:nvPr/>
        </p:nvSpPr>
        <p:spPr>
          <a:xfrm>
            <a:off x="8128000" y="3899495"/>
            <a:ext cx="3251200" cy="0"/>
          </a:xfrm>
          <a:prstGeom prst="line">
            <a:avLst/>
          </a:prstGeom>
          <a:noFill/>
          <a:ln w="6350">
            <a:solidFill>
              <a:srgbClr val="D6DEE1"/>
            </a:solidFill>
            <a:prstDash val="solid"/>
          </a:ln>
        </p:spPr>
      </p:sp>
      <p:sp>
        <p:nvSpPr>
          <p:cNvPr id="15" name="Text 12"/>
          <p:cNvSpPr txBox="1"/>
          <p:nvPr/>
        </p:nvSpPr>
        <p:spPr>
          <a:xfrm>
            <a:off x="8128000" y="3991570"/>
            <a:ext cx="3316224" cy="171450"/>
          </a:xfrm>
          <a:prstGeom prst="rect">
            <a:avLst/>
          </a:prstGeom>
          <a:noFill/>
          <a:ln/>
        </p:spPr>
        <p:txBody>
          <a:bodyPr wrap="square" lIns="0" tIns="0" rIns="0" bIns="0" rtlCol="0" anchor="t"/>
          <a:lstStyle/>
          <a:p>
            <a:pPr algn="l" indent="0" marL="0">
              <a:lnSpc>
                <a:spcPts val="1320"/>
              </a:lnSpc>
              <a:buNone/>
            </a:pPr>
            <a:r>
              <a:rPr lang="en-US" sz="1100" b="1" spc="100" kern="0" dirty="0">
                <a:solidFill>
                  <a:srgbClr val="0A7468"/>
                </a:solidFill>
                <a:latin typeface="Calibri" pitchFamily="34" charset="0"/>
                <a:ea typeface="Calibri" pitchFamily="34" charset="-122"/>
                <a:cs typeface="Calibri" pitchFamily="34" charset="-120"/>
              </a:rPr>
              <a:t>4 · THE CHAIN DECIDES</a:t>
            </a:r>
            <a:endParaRPr lang="en-US" sz="1100" dirty="0"/>
          </a:p>
        </p:txBody>
      </p:sp>
      <p:sp>
        <p:nvSpPr>
          <p:cNvPr id="16" name="Text 13"/>
          <p:cNvSpPr txBox="1"/>
          <p:nvPr/>
        </p:nvSpPr>
        <p:spPr>
          <a:xfrm>
            <a:off x="8128000" y="4188420"/>
            <a:ext cx="3316224" cy="428625"/>
          </a:xfrm>
          <a:prstGeom prst="rect">
            <a:avLst/>
          </a:prstGeom>
          <a:noFill/>
          <a:ln/>
        </p:spPr>
        <p:txBody>
          <a:bodyPr wrap="square" lIns="0" tIns="0" rIns="0" bIns="0" rtlCol="0" anchor="t"/>
          <a:lstStyle/>
          <a:p>
            <a:pPr algn="l" indent="0" marL="0">
              <a:lnSpc>
                <a:spcPts val="1690"/>
              </a:lnSpc>
              <a:buNone/>
            </a:pPr>
            <a:r>
              <a:rPr lang="en-US" sz="1250" dirty="0">
                <a:solidFill>
                  <a:srgbClr val="13233F"/>
                </a:solidFill>
                <a:latin typeface="Calibri" pitchFamily="34" charset="0"/>
                <a:ea typeface="Calibri" pitchFamily="34" charset="-122"/>
                <a:cs typeface="Calibri" pitchFamily="34" charset="-120"/>
              </a:rPr>
              <a:t>Proof checked, transaction mined, balances reconciled: 0.26 ppm from the bound.</a:t>
            </a:r>
            <a:endParaRPr lang="en-US" sz="1250" dirty="0"/>
          </a:p>
        </p:txBody>
      </p:sp>
      <p:sp>
        <p:nvSpPr>
          <p:cNvPr id="17" name="Text 14"/>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Real QED contracts on a testnet sandbox chain · valueless tokens · no wallet needed · screenshot of the app</a:t>
            </a:r>
            <a:endParaRPr lang="en-US" sz="1200" dirty="0"/>
          </a:p>
        </p:txBody>
      </p:sp>
      <p:sp>
        <p:nvSpPr>
          <p:cNvPr id="18" name="Text 15"/>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6 / 11</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AUTONOMY · SEPOLIA RUNS 4C AND 4D</a:t>
            </a:r>
            <a:endParaRPr lang="en-US" sz="1200" dirty="0"/>
          </a:p>
        </p:txBody>
      </p:sp>
      <p:sp>
        <p:nvSpPr>
          <p:cNvPr id="3" name="Text 1"/>
          <p:cNvSpPr txBox="1"/>
          <p:nvPr/>
        </p:nvSpPr>
        <p:spPr>
          <a:xfrm>
            <a:off x="812800" y="12001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One signed policy. The agent decided when and how much.</a:t>
            </a:r>
            <a:endParaRPr lang="en-US" sz="3200" dirty="0"/>
          </a:p>
        </p:txBody>
      </p:sp>
      <p:sp>
        <p:nvSpPr>
          <p:cNvPr id="4" name="Shape 2"/>
          <p:cNvSpPr/>
          <p:nvPr/>
        </p:nvSpPr>
        <p:spPr>
          <a:xfrm>
            <a:off x="812800" y="1870670"/>
            <a:ext cx="3556000" cy="3121025"/>
          </a:xfrm>
          <a:prstGeom prst="roundRect">
            <a:avLst>
              <a:gd name="adj" fmla="val 1628"/>
            </a:avLst>
          </a:prstGeom>
          <a:solidFill>
            <a:srgbClr val="13233F"/>
          </a:solidFill>
          <a:ln/>
        </p:spPr>
      </p:sp>
      <p:sp>
        <p:nvSpPr>
          <p:cNvPr id="5" name="Text 3"/>
          <p:cNvSpPr txBox="1"/>
          <p:nvPr/>
        </p:nvSpPr>
        <p:spPr>
          <a:xfrm>
            <a:off x="1041400" y="2099270"/>
            <a:ext cx="3160776" cy="184150"/>
          </a:xfrm>
          <a:prstGeom prst="rect">
            <a:avLst/>
          </a:prstGeom>
          <a:noFill/>
          <a:ln/>
        </p:spPr>
        <p:txBody>
          <a:bodyPr wrap="square" lIns="0" tIns="0" rIns="0" bIns="0" rtlCol="0" anchor="t"/>
          <a:lstStyle/>
          <a:p>
            <a:pPr algn="l" indent="0" marL="0">
              <a:lnSpc>
                <a:spcPts val="1440"/>
              </a:lnSpc>
              <a:buNone/>
            </a:pPr>
            <a:r>
              <a:rPr lang="en-US" sz="1200" b="1" spc="100" kern="0" dirty="0">
                <a:solidFill>
                  <a:srgbClr val="46C4B0"/>
                </a:solidFill>
                <a:latin typeface="Calibri" pitchFamily="34" charset="0"/>
                <a:ea typeface="Calibri" pitchFamily="34" charset="-122"/>
                <a:cs typeface="Calibri" pitchFamily="34" charset="-120"/>
              </a:rPr>
              <a:t>STANDING POLICY · SIGNED ONCE</a:t>
            </a:r>
            <a:endParaRPr lang="en-US" sz="1200" dirty="0"/>
          </a:p>
        </p:txBody>
      </p:sp>
      <p:sp>
        <p:nvSpPr>
          <p:cNvPr id="6" name="Text 4"/>
          <p:cNvSpPr txBox="1"/>
          <p:nvPr/>
        </p:nvSpPr>
        <p:spPr>
          <a:xfrm>
            <a:off x="1041400" y="2397720"/>
            <a:ext cx="3160776" cy="771525"/>
          </a:xfrm>
          <a:prstGeom prst="rect">
            <a:avLst/>
          </a:prstGeom>
          <a:noFill/>
          <a:ln/>
        </p:spPr>
        <p:txBody>
          <a:bodyPr wrap="square" lIns="0" tIns="0" rIns="0" bIns="0" rtlCol="0" anchor="t"/>
          <a:lstStyle/>
          <a:p>
            <a:pPr algn="l" indent="0" marL="0">
              <a:lnSpc>
                <a:spcPts val="2030"/>
              </a:lnSpc>
              <a:buNone/>
            </a:pPr>
            <a:r>
              <a:rPr lang="en-US" sz="1500" dirty="0">
                <a:solidFill>
                  <a:srgbClr val="E4ECF1"/>
                </a:solidFill>
                <a:latin typeface="Calibri" pitchFamily="34" charset="0"/>
                <a:ea typeface="Calibri" pitchFamily="34" charset="-122"/>
                <a:cs typeface="Calibri" pitchFamily="34" charset="-120"/>
              </a:rPr>
              <a:t>Keep at least </a:t>
            </a:r>
            <a:pPr algn="l" indent="0" marL="0">
              <a:lnSpc>
                <a:spcPts val="2030"/>
              </a:lnSpc>
              <a:buNone/>
            </a:pPr>
            <a:r>
              <a:rPr lang="en-US" sz="1500" b="1" dirty="0">
                <a:solidFill>
                  <a:srgbClr val="E4ECF1"/>
                </a:solidFill>
                <a:latin typeface="Calibri" pitchFamily="34" charset="0"/>
                <a:ea typeface="Calibri" pitchFamily="34" charset="-122"/>
                <a:cs typeface="Calibri" pitchFamily="34" charset="-120"/>
              </a:rPr>
              <a:t>45 tEUR</a:t>
            </a:r>
            <a:pPr algn="l" indent="0" marL="0">
              <a:lnSpc>
                <a:spcPts val="2030"/>
              </a:lnSpc>
              <a:buNone/>
            </a:pPr>
            <a:r>
              <a:rPr lang="en-US" sz="1500" dirty="0">
                <a:solidFill>
                  <a:srgbClr val="E4ECF1"/>
                </a:solidFill>
                <a:latin typeface="Calibri" pitchFamily="34" charset="0"/>
                <a:ea typeface="Calibri" pitchFamily="34" charset="-122"/>
                <a:cs typeface="Calibri" pitchFamily="34" charset="-120"/>
              </a:rPr>
              <a:t> free in the euro reserve. Tranches of 2–25 tUSD. At most </a:t>
            </a:r>
            <a:pPr algn="l" indent="0" marL="0">
              <a:lnSpc>
                <a:spcPts val="2030"/>
              </a:lnSpc>
              <a:buNone/>
            </a:pPr>
            <a:r>
              <a:rPr lang="en-US" sz="1500" b="1" dirty="0">
                <a:solidFill>
                  <a:srgbClr val="E4ECF1"/>
                </a:solidFill>
                <a:latin typeface="Calibri" pitchFamily="34" charset="0"/>
                <a:ea typeface="Calibri" pitchFamily="34" charset="-122"/>
                <a:cs typeface="Calibri" pitchFamily="34" charset="-120"/>
              </a:rPr>
              <a:t>150 bps</a:t>
            </a:r>
            <a:pPr algn="l" indent="0" marL="0">
              <a:lnSpc>
                <a:spcPts val="2030"/>
              </a:lnSpc>
              <a:buNone/>
            </a:pPr>
            <a:r>
              <a:rPr lang="en-US" sz="1500" dirty="0">
                <a:solidFill>
                  <a:srgbClr val="E4ECF1"/>
                </a:solidFill>
                <a:latin typeface="Calibri" pitchFamily="34" charset="0"/>
                <a:ea typeface="Calibri" pitchFamily="34" charset="-122"/>
                <a:cs typeface="Calibri" pitchFamily="34" charset="-120"/>
              </a:rPr>
              <a:t> execution cost each.</a:t>
            </a:r>
            <a:endParaRPr lang="en-US" sz="1500" dirty="0"/>
          </a:p>
        </p:txBody>
      </p:sp>
      <p:sp>
        <p:nvSpPr>
          <p:cNvPr id="7" name="Shape 5"/>
          <p:cNvSpPr/>
          <p:nvPr/>
        </p:nvSpPr>
        <p:spPr>
          <a:xfrm>
            <a:off x="1041400" y="3286720"/>
            <a:ext cx="3098800" cy="0"/>
          </a:xfrm>
          <a:prstGeom prst="line">
            <a:avLst/>
          </a:prstGeom>
          <a:noFill/>
          <a:ln w="6350">
            <a:solidFill>
              <a:srgbClr val="2E4A72"/>
            </a:solidFill>
            <a:prstDash val="solid"/>
          </a:ln>
        </p:spPr>
      </p:sp>
      <p:sp>
        <p:nvSpPr>
          <p:cNvPr id="8" name="Text 6"/>
          <p:cNvSpPr txBox="1"/>
          <p:nvPr/>
        </p:nvSpPr>
        <p:spPr>
          <a:xfrm>
            <a:off x="1041400" y="3404195"/>
            <a:ext cx="3160776"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Each tick the agent converts</a:t>
            </a:r>
            <a:endParaRPr lang="en-US" sz="1200" dirty="0"/>
          </a:p>
        </p:txBody>
      </p:sp>
      <p:sp>
        <p:nvSpPr>
          <p:cNvPr id="9" name="Text 7"/>
          <p:cNvSpPr txBox="1"/>
          <p:nvPr/>
        </p:nvSpPr>
        <p:spPr>
          <a:xfrm>
            <a:off x="1041400" y="3651845"/>
            <a:ext cx="3160776" cy="495300"/>
          </a:xfrm>
          <a:prstGeom prst="rect">
            <a:avLst/>
          </a:prstGeom>
          <a:noFill/>
          <a:ln/>
        </p:spPr>
        <p:txBody>
          <a:bodyPr wrap="square" lIns="0" tIns="0" rIns="0" bIns="0" rtlCol="0" anchor="t"/>
          <a:lstStyle/>
          <a:p>
            <a:pPr algn="l" indent="0" marL="0">
              <a:lnSpc>
                <a:spcPts val="1950"/>
              </a:lnSpc>
              <a:buNone/>
            </a:pPr>
            <a:r>
              <a:rPr lang="en-US" sz="1500" dirty="0">
                <a:solidFill>
                  <a:srgbClr val="E4ECF1"/>
                </a:solidFill>
                <a:latin typeface="Cambria" pitchFamily="34" charset="0"/>
                <a:ea typeface="Cambria" pitchFamily="34" charset="-122"/>
                <a:cs typeface="Cambria" pitchFamily="34" charset="-120"/>
              </a:rPr>
              <a:t>X = min(need, impact, policy cap, mandate cap, free funds)</a:t>
            </a:r>
            <a:endParaRPr lang="en-US" sz="1500" dirty="0"/>
          </a:p>
        </p:txBody>
      </p:sp>
      <p:sp>
        <p:nvSpPr>
          <p:cNvPr id="10" name="Text 8"/>
          <p:cNvSpPr txBox="1"/>
          <p:nvPr/>
        </p:nvSpPr>
        <p:spPr>
          <a:xfrm>
            <a:off x="1041400" y="4210645"/>
            <a:ext cx="3160776" cy="5524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and waits if X &lt; 2 tUSD. The co-signer re-derives X before it signs; since Run 4d a contract refuses any tranche the policy does not need.</a:t>
            </a:r>
            <a:endParaRPr lang="en-US" sz="1200" dirty="0"/>
          </a:p>
        </p:txBody>
      </p:sp>
      <p:sp>
        <p:nvSpPr>
          <p:cNvPr id="11" name="Shape 9"/>
          <p:cNvSpPr/>
          <p:nvPr/>
        </p:nvSpPr>
        <p:spPr>
          <a:xfrm>
            <a:off x="4622800" y="2513806"/>
            <a:ext cx="6756400" cy="0"/>
          </a:xfrm>
          <a:prstGeom prst="line">
            <a:avLst/>
          </a:prstGeom>
          <a:noFill/>
          <a:ln w="6350">
            <a:solidFill>
              <a:srgbClr val="D6DEE1"/>
            </a:solidFill>
            <a:prstDash val="solid"/>
          </a:ln>
        </p:spPr>
      </p:sp>
      <p:sp>
        <p:nvSpPr>
          <p:cNvPr id="12" name="Text 10"/>
          <p:cNvSpPr txBox="1"/>
          <p:nvPr/>
        </p:nvSpPr>
        <p:spPr>
          <a:xfrm>
            <a:off x="4622800" y="1984970"/>
            <a:ext cx="749300" cy="184150"/>
          </a:xfrm>
          <a:prstGeom prst="rect">
            <a:avLst/>
          </a:prstGeom>
          <a:noFill/>
          <a:ln/>
        </p:spPr>
        <p:txBody>
          <a:bodyPr wrap="square" lIns="0" tIns="0" rIns="0" bIns="0" rtlCol="0" anchor="t"/>
          <a:lstStyle/>
          <a:p>
            <a:pPr algn="l" indent="0" marL="0">
              <a:lnSpc>
                <a:spcPts val="1440"/>
              </a:lnSpc>
              <a:buNone/>
            </a:pPr>
            <a:r>
              <a:rPr lang="en-US" sz="1200" b="1" dirty="0">
                <a:solidFill>
                  <a:srgbClr val="B1262E"/>
                </a:solidFill>
                <a:latin typeface="Calibri" pitchFamily="34" charset="0"/>
                <a:ea typeface="Calibri" pitchFamily="34" charset="-122"/>
                <a:cs typeface="Calibri" pitchFamily="34" charset="-120"/>
              </a:rPr>
              <a:t>Tick 0</a:t>
            </a:r>
            <a:endParaRPr lang="en-US" sz="1200" dirty="0"/>
          </a:p>
        </p:txBody>
      </p:sp>
      <p:sp>
        <p:nvSpPr>
          <p:cNvPr id="13" name="Text 11"/>
          <p:cNvSpPr txBox="1"/>
          <p:nvPr/>
        </p:nvSpPr>
        <p:spPr>
          <a:xfrm>
            <a:off x="5448300" y="1984970"/>
            <a:ext cx="3329178" cy="205740"/>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An over-eager agent asks for 25 tUSD at once</a:t>
            </a:r>
            <a:endParaRPr lang="en-US" sz="1200" dirty="0"/>
          </a:p>
        </p:txBody>
      </p:sp>
      <p:sp>
        <p:nvSpPr>
          <p:cNvPr id="14" name="Text 12"/>
          <p:cNvSpPr txBox="1"/>
          <p:nvPr/>
        </p:nvSpPr>
        <p:spPr>
          <a:xfrm>
            <a:off x="8839200" y="1984970"/>
            <a:ext cx="2590800" cy="411361"/>
          </a:xfrm>
          <a:prstGeom prst="rect">
            <a:avLst/>
          </a:prstGeom>
          <a:noFill/>
          <a:ln/>
        </p:spPr>
        <p:txBody>
          <a:bodyPr wrap="square" lIns="0" tIns="0" rIns="0" bIns="0" rtlCol="0" anchor="t"/>
          <a:lstStyle/>
          <a:p>
            <a:pPr algn="l" indent="0" marL="0">
              <a:lnSpc>
                <a:spcPts val="1620"/>
              </a:lnSpc>
              <a:buNone/>
            </a:pPr>
            <a:r>
              <a:rPr lang="en-US" sz="1200" dirty="0">
                <a:solidFill>
                  <a:srgbClr val="B1262E"/>
                </a:solidFill>
                <a:latin typeface="Calibri" pitchFamily="34" charset="0"/>
                <a:ea typeface="Calibri" pitchFamily="34" charset="-122"/>
                <a:cs typeface="Calibri" pitchFamily="34" charset="-120"/>
              </a:rPr>
              <a:t>refused: co-signer allows 19.54, 180 bps &gt; 150 (PA1)</a:t>
            </a:r>
            <a:endParaRPr lang="en-US" sz="1200" dirty="0"/>
          </a:p>
        </p:txBody>
      </p:sp>
      <p:sp>
        <p:nvSpPr>
          <p:cNvPr id="15" name="Shape 13"/>
          <p:cNvSpPr/>
          <p:nvPr/>
        </p:nvSpPr>
        <p:spPr>
          <a:xfrm>
            <a:off x="4622800" y="3160117"/>
            <a:ext cx="6756400" cy="0"/>
          </a:xfrm>
          <a:prstGeom prst="line">
            <a:avLst/>
          </a:prstGeom>
          <a:noFill/>
          <a:ln w="6350">
            <a:solidFill>
              <a:srgbClr val="D6DEE1"/>
            </a:solidFill>
            <a:prstDash val="solid"/>
          </a:ln>
        </p:spPr>
      </p:sp>
      <p:sp>
        <p:nvSpPr>
          <p:cNvPr id="16" name="Text 14"/>
          <p:cNvSpPr txBox="1"/>
          <p:nvPr/>
        </p:nvSpPr>
        <p:spPr>
          <a:xfrm>
            <a:off x="4622800" y="2631281"/>
            <a:ext cx="749300" cy="184150"/>
          </a:xfrm>
          <a:prstGeom prst="rect">
            <a:avLst/>
          </a:prstGeom>
          <a:noFill/>
          <a:ln/>
        </p:spPr>
        <p:txBody>
          <a:bodyPr wrap="square" lIns="0" tIns="0" rIns="0" bIns="0" rtlCol="0" anchor="t"/>
          <a:lstStyle/>
          <a:p>
            <a:pPr algn="l" indent="0" marL="0">
              <a:lnSpc>
                <a:spcPts val="1440"/>
              </a:lnSpc>
              <a:buNone/>
            </a:pPr>
            <a:r>
              <a:rPr lang="en-US" sz="1200" b="1" dirty="0">
                <a:solidFill>
                  <a:srgbClr val="0A7468"/>
                </a:solidFill>
                <a:latin typeface="Calibri" pitchFamily="34" charset="0"/>
                <a:ea typeface="Calibri" pitchFamily="34" charset="-122"/>
                <a:cs typeface="Calibri" pitchFamily="34" charset="-120"/>
              </a:rPr>
              <a:t>Tick 1</a:t>
            </a:r>
            <a:endParaRPr lang="en-US" sz="1200" dirty="0"/>
          </a:p>
        </p:txBody>
      </p:sp>
      <p:sp>
        <p:nvSpPr>
          <p:cNvPr id="17" name="Text 15"/>
          <p:cNvSpPr txBox="1"/>
          <p:nvPr/>
        </p:nvSpPr>
        <p:spPr>
          <a:xfrm>
            <a:off x="5448300" y="2631281"/>
            <a:ext cx="3329178"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Short 24.30 tEUR → convert 19.54 tUSD, limited by </a:t>
            </a:r>
            <a:pPr algn="l" indent="0" marL="0">
              <a:lnSpc>
                <a:spcPts val="1620"/>
              </a:lnSpc>
              <a:buNone/>
            </a:pPr>
            <a:r>
              <a:rPr lang="en-US" sz="1200" b="1" dirty="0">
                <a:solidFill>
                  <a:srgbClr val="13233F"/>
                </a:solidFill>
                <a:latin typeface="Calibri" pitchFamily="34" charset="0"/>
                <a:ea typeface="Calibri" pitchFamily="34" charset="-122"/>
                <a:cs typeface="Calibri" pitchFamily="34" charset="-120"/>
              </a:rPr>
              <a:t>market impact</a:t>
            </a:r>
            <a:endParaRPr lang="en-US" sz="1200" dirty="0"/>
          </a:p>
        </p:txBody>
      </p:sp>
      <p:sp>
        <p:nvSpPr>
          <p:cNvPr id="18" name="Text 16"/>
          <p:cNvSpPr txBox="1"/>
          <p:nvPr/>
        </p:nvSpPr>
        <p:spPr>
          <a:xfrm>
            <a:off x="8839200" y="2631281"/>
            <a:ext cx="2590800" cy="205740"/>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PE1 · 16.816098 tEUR · 0.18 ppm</a:t>
            </a:r>
            <a:endParaRPr lang="en-US" sz="1200" dirty="0"/>
          </a:p>
        </p:txBody>
      </p:sp>
      <p:sp>
        <p:nvSpPr>
          <p:cNvPr id="19" name="Shape 17"/>
          <p:cNvSpPr/>
          <p:nvPr/>
        </p:nvSpPr>
        <p:spPr>
          <a:xfrm>
            <a:off x="4622800" y="3806428"/>
            <a:ext cx="6756400" cy="0"/>
          </a:xfrm>
          <a:prstGeom prst="line">
            <a:avLst/>
          </a:prstGeom>
          <a:noFill/>
          <a:ln w="6350">
            <a:solidFill>
              <a:srgbClr val="D6DEE1"/>
            </a:solidFill>
            <a:prstDash val="solid"/>
          </a:ln>
        </p:spPr>
      </p:sp>
      <p:sp>
        <p:nvSpPr>
          <p:cNvPr id="20" name="Text 18"/>
          <p:cNvSpPr txBox="1"/>
          <p:nvPr/>
        </p:nvSpPr>
        <p:spPr>
          <a:xfrm>
            <a:off x="4622800" y="3277592"/>
            <a:ext cx="749300" cy="184150"/>
          </a:xfrm>
          <a:prstGeom prst="rect">
            <a:avLst/>
          </a:prstGeom>
          <a:noFill/>
          <a:ln/>
        </p:spPr>
        <p:txBody>
          <a:bodyPr wrap="square" lIns="0" tIns="0" rIns="0" bIns="0" rtlCol="0" anchor="t"/>
          <a:lstStyle/>
          <a:p>
            <a:pPr algn="l" indent="0" marL="0">
              <a:lnSpc>
                <a:spcPts val="1440"/>
              </a:lnSpc>
              <a:buNone/>
            </a:pPr>
            <a:r>
              <a:rPr lang="en-US" sz="1200" b="1" dirty="0">
                <a:solidFill>
                  <a:srgbClr val="0A7468"/>
                </a:solidFill>
                <a:latin typeface="Calibri" pitchFamily="34" charset="0"/>
                <a:ea typeface="Calibri" pitchFamily="34" charset="-122"/>
                <a:cs typeface="Calibri" pitchFamily="34" charset="-120"/>
              </a:rPr>
              <a:t>Tick 2</a:t>
            </a:r>
            <a:endParaRPr lang="en-US" sz="1200" dirty="0"/>
          </a:p>
        </p:txBody>
      </p:sp>
      <p:sp>
        <p:nvSpPr>
          <p:cNvPr id="21" name="Text 19"/>
          <p:cNvSpPr txBox="1"/>
          <p:nvPr/>
        </p:nvSpPr>
        <p:spPr>
          <a:xfrm>
            <a:off x="5448300" y="3277592"/>
            <a:ext cx="3329178"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Short 7.48 tEUR → convert 8.84 tUSD, limited by </a:t>
            </a:r>
            <a:pPr algn="l" indent="0" marL="0">
              <a:lnSpc>
                <a:spcPts val="1620"/>
              </a:lnSpc>
              <a:buNone/>
            </a:pPr>
            <a:r>
              <a:rPr lang="en-US" sz="1200" b="1" dirty="0">
                <a:solidFill>
                  <a:srgbClr val="13233F"/>
                </a:solidFill>
                <a:latin typeface="Calibri" pitchFamily="34" charset="0"/>
                <a:ea typeface="Calibri" pitchFamily="34" charset="-122"/>
                <a:cs typeface="Calibri" pitchFamily="34" charset="-120"/>
              </a:rPr>
              <a:t>need</a:t>
            </a:r>
            <a:endParaRPr lang="en-US" sz="1200" dirty="0"/>
          </a:p>
        </p:txBody>
      </p:sp>
      <p:sp>
        <p:nvSpPr>
          <p:cNvPr id="22" name="Text 20"/>
          <p:cNvSpPr txBox="1"/>
          <p:nvPr/>
        </p:nvSpPr>
        <p:spPr>
          <a:xfrm>
            <a:off x="8839200" y="3277592"/>
            <a:ext cx="2590800" cy="205740"/>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PE2 · 7.484336 tEUR · 0.40 ppm</a:t>
            </a:r>
            <a:endParaRPr lang="en-US" sz="1200" dirty="0"/>
          </a:p>
        </p:txBody>
      </p:sp>
      <p:sp>
        <p:nvSpPr>
          <p:cNvPr id="23" name="Text 21"/>
          <p:cNvSpPr txBox="1"/>
          <p:nvPr/>
        </p:nvSpPr>
        <p:spPr>
          <a:xfrm>
            <a:off x="4622800" y="3923903"/>
            <a:ext cx="749300" cy="184150"/>
          </a:xfrm>
          <a:prstGeom prst="rect">
            <a:avLst/>
          </a:prstGeom>
          <a:noFill/>
          <a:ln/>
        </p:spPr>
        <p:txBody>
          <a:bodyPr wrap="square" lIns="0" tIns="0" rIns="0" bIns="0" rtlCol="0" anchor="t"/>
          <a:lstStyle/>
          <a:p>
            <a:pPr algn="l" indent="0" marL="0">
              <a:lnSpc>
                <a:spcPts val="1440"/>
              </a:lnSpc>
              <a:buNone/>
            </a:pPr>
            <a:r>
              <a:rPr lang="en-US" sz="1200" b="1" dirty="0">
                <a:solidFill>
                  <a:srgbClr val="0A7468"/>
                </a:solidFill>
                <a:latin typeface="Calibri" pitchFamily="34" charset="0"/>
                <a:ea typeface="Calibri" pitchFamily="34" charset="-122"/>
                <a:cs typeface="Calibri" pitchFamily="34" charset="-120"/>
              </a:rPr>
              <a:t>Tick 3</a:t>
            </a:r>
            <a:endParaRPr lang="en-US" sz="1200" dirty="0"/>
          </a:p>
        </p:txBody>
      </p:sp>
      <p:sp>
        <p:nvSpPr>
          <p:cNvPr id="24" name="Text 22"/>
          <p:cNvSpPr txBox="1"/>
          <p:nvPr/>
        </p:nvSpPr>
        <p:spPr>
          <a:xfrm>
            <a:off x="5448300" y="3923903"/>
            <a:ext cx="3329178"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Reserve free: 20.70 → 37.52 → </a:t>
            </a:r>
            <a:pPr algn="l" indent="0" marL="0">
              <a:lnSpc>
                <a:spcPts val="1620"/>
              </a:lnSpc>
              <a:buNone/>
            </a:pPr>
            <a:r>
              <a:rPr lang="en-US" sz="1200" b="1" dirty="0">
                <a:solidFill>
                  <a:srgbClr val="13233F"/>
                </a:solidFill>
                <a:latin typeface="Calibri" pitchFamily="34" charset="0"/>
                <a:ea typeface="Calibri" pitchFamily="34" charset="-122"/>
                <a:cs typeface="Calibri" pitchFamily="34" charset="-120"/>
              </a:rPr>
              <a:t>45.00 tEUR</a:t>
            </a:r>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 Target met.</a:t>
            </a:r>
            <a:endParaRPr lang="en-US" sz="1200" dirty="0"/>
          </a:p>
        </p:txBody>
      </p:sp>
      <p:sp>
        <p:nvSpPr>
          <p:cNvPr id="25" name="Text 23"/>
          <p:cNvSpPr txBox="1"/>
          <p:nvPr/>
        </p:nvSpPr>
        <p:spPr>
          <a:xfrm>
            <a:off x="8839200" y="3923903"/>
            <a:ext cx="2590800" cy="205740"/>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nothing sent</a:t>
            </a:r>
            <a:endParaRPr lang="en-US" sz="1200" dirty="0"/>
          </a:p>
        </p:txBody>
      </p:sp>
      <p:pic>
        <p:nvPicPr>
          <p:cNvPr id="26" name="Image 0" descr="Free tEUR in the euro reserve: 20.70 before tick 1, 37.52 after PE1, 45.00 after PE2, reaching the 45 tEUR target">    </p:cNvPr>
          <p:cNvPicPr>
            <a:picLocks noChangeAspect="1"/>
          </p:cNvPicPr>
          <p:nvPr/>
        </p:nvPicPr>
        <p:blipFill>
          <a:blip r:embed="rId1"/>
          <a:stretch>
            <a:fillRect/>
          </a:stretch>
        </p:blipFill>
        <p:spPr>
          <a:xfrm>
            <a:off x="4622800" y="4449564"/>
            <a:ext cx="6731000" cy="952500"/>
          </a:xfrm>
          <a:prstGeom prst="rect">
            <a:avLst/>
          </a:prstGeom>
        </p:spPr>
      </p:pic>
      <p:sp>
        <p:nvSpPr>
          <p:cNvPr id="27" name="Text 24"/>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Runs with dev keys too: npm run local:execute reproduces PE1 and PE2 to the raw unit</a:t>
            </a:r>
            <a:endParaRPr lang="en-US" sz="1200" dirty="0"/>
          </a:p>
        </p:txBody>
      </p:sp>
      <p:sp>
        <p:nvSpPr>
          <p:cNvPr id="28" name="Text 25"/>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7 / 11</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B1262E"/>
                </a:solidFill>
                <a:latin typeface="Calibri" pitchFamily="34" charset="0"/>
                <a:ea typeface="Calibri" pitchFamily="34" charset="-122"/>
                <a:cs typeface="Calibri" pitchFamily="34" charset="-120"/>
              </a:rPr>
              <a:t>SECURITY UNDER ATTACK · PUBLIC SEPOLIA RECEIPTS</a:t>
            </a:r>
            <a:endParaRPr lang="en-US" sz="1200" dirty="0"/>
          </a:p>
        </p:txBody>
      </p:sp>
      <p:sp>
        <p:nvSpPr>
          <p:cNvPr id="3" name="Text 1"/>
          <p:cNvSpPr txBox="1"/>
          <p:nvPr/>
        </p:nvSpPr>
        <p:spPr>
          <a:xfrm>
            <a:off x="812800" y="12001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We attacked it with stolen keys. The chain said no.</a:t>
            </a:r>
            <a:endParaRPr lang="en-US" sz="3200" dirty="0"/>
          </a:p>
        </p:txBody>
      </p:sp>
      <p:sp>
        <p:nvSpPr>
          <p:cNvPr id="4" name="Shape 2"/>
          <p:cNvSpPr/>
          <p:nvPr/>
        </p:nvSpPr>
        <p:spPr>
          <a:xfrm>
            <a:off x="812800" y="1870670"/>
            <a:ext cx="3403600" cy="2768600"/>
          </a:xfrm>
          <a:prstGeom prst="roundRect">
            <a:avLst>
              <a:gd name="adj" fmla="val 1835"/>
            </a:avLst>
          </a:prstGeom>
          <a:solidFill>
            <a:srgbClr val="FFFFFF"/>
          </a:solidFill>
          <a:ln w="6350">
            <a:solidFill>
              <a:srgbClr val="D6DEE1"/>
            </a:solidFill>
            <a:prstDash val="solid"/>
          </a:ln>
        </p:spPr>
      </p:sp>
      <p:sp>
        <p:nvSpPr>
          <p:cNvPr id="5" name="Text 3"/>
          <p:cNvSpPr txBox="1"/>
          <p:nvPr/>
        </p:nvSpPr>
        <p:spPr>
          <a:xfrm>
            <a:off x="1022350" y="2080220"/>
            <a:ext cx="3044190" cy="171450"/>
          </a:xfrm>
          <a:prstGeom prst="rect">
            <a:avLst/>
          </a:prstGeom>
          <a:noFill/>
          <a:ln/>
        </p:spPr>
        <p:txBody>
          <a:bodyPr wrap="square" lIns="0" tIns="0" rIns="0" bIns="0" rtlCol="0" anchor="t"/>
          <a:lstStyle/>
          <a:p>
            <a:pPr algn="l" indent="0" marL="0">
              <a:lnSpc>
                <a:spcPts val="1320"/>
              </a:lnSpc>
              <a:buNone/>
            </a:pPr>
            <a:r>
              <a:rPr lang="en-US" sz="1100" b="1" spc="100" kern="0" dirty="0">
                <a:solidFill>
                  <a:srgbClr val="B1262E"/>
                </a:solidFill>
                <a:latin typeface="Calibri" pitchFamily="34" charset="0"/>
                <a:ea typeface="Calibri" pitchFamily="34" charset="-122"/>
                <a:cs typeface="Calibri" pitchFamily="34" charset="-120"/>
              </a:rPr>
              <a:t>ATTACK 1</a:t>
            </a:r>
            <a:endParaRPr lang="en-US" sz="1100" dirty="0"/>
          </a:p>
        </p:txBody>
      </p:sp>
      <p:sp>
        <p:nvSpPr>
          <p:cNvPr id="6" name="Text 4"/>
          <p:cNvSpPr txBox="1"/>
          <p:nvPr/>
        </p:nvSpPr>
        <p:spPr>
          <a:xfrm>
            <a:off x="1022350" y="2353270"/>
            <a:ext cx="3044190" cy="320040"/>
          </a:xfrm>
          <a:prstGeom prst="rect">
            <a:avLst/>
          </a:prstGeom>
          <a:noFill/>
          <a:ln/>
        </p:spPr>
        <p:txBody>
          <a:bodyPr wrap="square" lIns="0" tIns="0" rIns="0" bIns="0" rtlCol="0" anchor="t"/>
          <a:lstStyle/>
          <a:p>
            <a:pPr algn="l" indent="0" marL="0">
              <a:lnSpc>
                <a:spcPts val="2520"/>
              </a:lnSpc>
              <a:buNone/>
            </a:pPr>
            <a:r>
              <a:rPr lang="en-US" sz="2100" dirty="0">
                <a:solidFill>
                  <a:srgbClr val="13233F"/>
                </a:solidFill>
                <a:latin typeface="Cambria" pitchFamily="34" charset="0"/>
                <a:ea typeface="Cambria" pitchFamily="34" charset="-122"/>
                <a:cs typeface="Cambria" pitchFamily="34" charset="-120"/>
              </a:rPr>
              <a:t>A worse route</a:t>
            </a:r>
            <a:endParaRPr lang="en-US" sz="2100" dirty="0"/>
          </a:p>
        </p:txBody>
      </p:sp>
      <p:sp>
        <p:nvSpPr>
          <p:cNvPr id="7" name="Text 5"/>
          <p:cNvSpPr txBox="1"/>
          <p:nvPr/>
        </p:nvSpPr>
        <p:spPr>
          <a:xfrm>
            <a:off x="1022350" y="2766020"/>
            <a:ext cx="3044190" cy="666750"/>
          </a:xfrm>
          <a:prstGeom prst="rect">
            <a:avLst/>
          </a:prstGeom>
          <a:noFill/>
          <a:ln/>
        </p:spPr>
        <p:txBody>
          <a:bodyPr wrap="square" lIns="0" tIns="0" rIns="0" bIns="0" rtlCol="0" anchor="t"/>
          <a:lstStyle/>
          <a:p>
            <a:pPr algn="l" indent="0" marL="0">
              <a:lnSpc>
                <a:spcPts val="1750"/>
              </a:lnSpc>
              <a:buNone/>
            </a:pPr>
            <a:r>
              <a:rPr lang="en-US" sz="1250" dirty="0">
                <a:solidFill>
                  <a:srgbClr val="4E6074"/>
                </a:solidFill>
                <a:latin typeface="Calibri" pitchFamily="34" charset="0"/>
                <a:ea typeface="Calibri" pitchFamily="34" charset="-122"/>
                <a:cs typeface="Calibri" pitchFamily="34" charset="-120"/>
              </a:rPr>
              <a:t>A compromised agent routes through the direct pools only: 33 bps below the bound, yet above a 1% slippage floor.</a:t>
            </a:r>
            <a:endParaRPr lang="en-US" sz="1250" dirty="0"/>
          </a:p>
        </p:txBody>
      </p:sp>
      <p:sp>
        <p:nvSpPr>
          <p:cNvPr id="8" name="Shape 6"/>
          <p:cNvSpPr/>
          <p:nvPr/>
        </p:nvSpPr>
        <p:spPr>
          <a:xfrm>
            <a:off x="1022350" y="3537545"/>
            <a:ext cx="2984500" cy="0"/>
          </a:xfrm>
          <a:prstGeom prst="line">
            <a:avLst/>
          </a:prstGeom>
          <a:noFill/>
          <a:ln w="6350">
            <a:solidFill>
              <a:srgbClr val="D6DEE1"/>
            </a:solidFill>
            <a:prstDash val="solid"/>
          </a:ln>
        </p:spPr>
      </p:sp>
      <p:sp>
        <p:nvSpPr>
          <p:cNvPr id="9" name="Text 7"/>
          <p:cNvSpPr txBox="1"/>
          <p:nvPr/>
        </p:nvSpPr>
        <p:spPr>
          <a:xfrm>
            <a:off x="1022350" y="3642320"/>
            <a:ext cx="3044190" cy="342900"/>
          </a:xfrm>
          <a:prstGeom prst="rect">
            <a:avLst/>
          </a:prstGeom>
          <a:noFill/>
          <a:ln/>
        </p:spPr>
        <p:txBody>
          <a:bodyPr wrap="square" lIns="0" tIns="0" rIns="0" bIns="0" rtlCol="0" anchor="t"/>
          <a:lstStyle/>
          <a:p>
            <a:pPr algn="l" indent="0" marL="0">
              <a:lnSpc>
                <a:spcPts val="1320"/>
              </a:lnSpc>
              <a:buNone/>
            </a:pPr>
            <a:r>
              <a:rPr lang="en-US" sz="1100" dirty="0">
                <a:solidFill>
                  <a:srgbClr val="7B8A99"/>
                </a:solidFill>
                <a:latin typeface="Calibri" pitchFamily="34" charset="0"/>
                <a:ea typeface="Calibri" pitchFamily="34" charset="-122"/>
                <a:cs typeface="Calibri" pitchFamily="34" charset="-120"/>
              </a:rPr>
              <a:t>Stopped by QEDExecution · best-execution inequality</a:t>
            </a:r>
            <a:endParaRPr lang="en-US" sz="1100" dirty="0"/>
          </a:p>
        </p:txBody>
      </p:sp>
      <p:sp>
        <p:nvSpPr>
          <p:cNvPr id="10" name="Text 8"/>
          <p:cNvSpPr txBox="1"/>
          <p:nvPr/>
        </p:nvSpPr>
        <p:spPr>
          <a:xfrm>
            <a:off x="1022350" y="4036020"/>
            <a:ext cx="3044190" cy="213360"/>
          </a:xfrm>
          <a:prstGeom prst="rect">
            <a:avLst/>
          </a:prstGeom>
          <a:noFill/>
          <a:ln/>
        </p:spPr>
        <p:txBody>
          <a:bodyPr wrap="square" lIns="0" tIns="0" rIns="0" bIns="0" rtlCol="0" anchor="t"/>
          <a:lstStyle/>
          <a:p>
            <a:pPr algn="l" indent="0" marL="0">
              <a:lnSpc>
                <a:spcPts val="1680"/>
              </a:lnSpc>
              <a:buNone/>
            </a:pPr>
            <a:r>
              <a:rPr lang="en-US" sz="1400" dirty="0">
                <a:solidFill>
                  <a:srgbClr val="B1262E"/>
                </a:solidFill>
                <a:latin typeface="Courier New" pitchFamily="34" charset="0"/>
                <a:ea typeface="Courier New" pitchFamily="34" charset="-122"/>
                <a:cs typeface="Courier New" pitchFamily="34" charset="-120"/>
              </a:rPr>
              <a:t>NotBestExecution</a:t>
            </a:r>
            <a:endParaRPr lang="en-US" sz="1400" dirty="0"/>
          </a:p>
        </p:txBody>
      </p:sp>
      <p:sp>
        <p:nvSpPr>
          <p:cNvPr id="11" name="Text 9"/>
          <p:cNvSpPr txBox="1"/>
          <p:nvPr/>
        </p:nvSpPr>
        <p:spPr>
          <a:xfrm>
            <a:off x="1022350" y="4283670"/>
            <a:ext cx="3044190" cy="152400"/>
          </a:xfrm>
          <a:prstGeom prst="rect">
            <a:avLst/>
          </a:prstGeom>
          <a:noFill/>
          <a:ln/>
        </p:spPr>
        <p:txBody>
          <a:bodyPr wrap="square" lIns="0" tIns="0" rIns="0" bIns="0" rtlCol="0" anchor="t"/>
          <a:lstStyle/>
          <a:p>
            <a:pPr algn="l" indent="0" marL="0">
              <a:lnSpc>
                <a:spcPts val="1200"/>
              </a:lnSpc>
              <a:buNone/>
            </a:pPr>
            <a:r>
              <a:rPr lang="en-US" sz="1000" dirty="0">
                <a:solidFill>
                  <a:srgbClr val="4E6074"/>
                </a:solidFill>
                <a:latin typeface="Courier New" pitchFamily="34" charset="0"/>
                <a:ea typeface="Courier New" pitchFamily="34" charset="-122"/>
                <a:cs typeface="Courier New" pitchFamily="34" charset="-120"/>
              </a:rPr>
              <a:t>EA1 · 0xccd07d17…cd9b54937</a:t>
            </a:r>
            <a:endParaRPr lang="en-US" sz="1000" dirty="0"/>
          </a:p>
        </p:txBody>
      </p:sp>
      <p:sp>
        <p:nvSpPr>
          <p:cNvPr id="12" name="Shape 10"/>
          <p:cNvSpPr/>
          <p:nvPr/>
        </p:nvSpPr>
        <p:spPr>
          <a:xfrm>
            <a:off x="4394200" y="1870670"/>
            <a:ext cx="3403600" cy="2768600"/>
          </a:xfrm>
          <a:prstGeom prst="roundRect">
            <a:avLst>
              <a:gd name="adj" fmla="val 1835"/>
            </a:avLst>
          </a:prstGeom>
          <a:solidFill>
            <a:srgbClr val="FFFFFF"/>
          </a:solidFill>
          <a:ln w="6350">
            <a:solidFill>
              <a:srgbClr val="D6DEE1"/>
            </a:solidFill>
            <a:prstDash val="solid"/>
          </a:ln>
        </p:spPr>
      </p:sp>
      <p:sp>
        <p:nvSpPr>
          <p:cNvPr id="13" name="Text 11"/>
          <p:cNvSpPr txBox="1"/>
          <p:nvPr/>
        </p:nvSpPr>
        <p:spPr>
          <a:xfrm>
            <a:off x="4603750" y="2080220"/>
            <a:ext cx="3044190" cy="171450"/>
          </a:xfrm>
          <a:prstGeom prst="rect">
            <a:avLst/>
          </a:prstGeom>
          <a:noFill/>
          <a:ln/>
        </p:spPr>
        <p:txBody>
          <a:bodyPr wrap="square" lIns="0" tIns="0" rIns="0" bIns="0" rtlCol="0" anchor="t"/>
          <a:lstStyle/>
          <a:p>
            <a:pPr algn="l" indent="0" marL="0">
              <a:lnSpc>
                <a:spcPts val="1320"/>
              </a:lnSpc>
              <a:buNone/>
            </a:pPr>
            <a:r>
              <a:rPr lang="en-US" sz="1100" b="1" spc="100" kern="0" dirty="0">
                <a:solidFill>
                  <a:srgbClr val="B1262E"/>
                </a:solidFill>
                <a:latin typeface="Calibri" pitchFamily="34" charset="0"/>
                <a:ea typeface="Calibri" pitchFamily="34" charset="-122"/>
                <a:cs typeface="Calibri" pitchFamily="34" charset="-120"/>
              </a:rPr>
              <a:t>ATTACK 2</a:t>
            </a:r>
            <a:endParaRPr lang="en-US" sz="1100" dirty="0"/>
          </a:p>
        </p:txBody>
      </p:sp>
      <p:sp>
        <p:nvSpPr>
          <p:cNvPr id="14" name="Text 12"/>
          <p:cNvSpPr txBox="1"/>
          <p:nvPr/>
        </p:nvSpPr>
        <p:spPr>
          <a:xfrm>
            <a:off x="4603750" y="2353270"/>
            <a:ext cx="3044190" cy="320040"/>
          </a:xfrm>
          <a:prstGeom prst="rect">
            <a:avLst/>
          </a:prstGeom>
          <a:noFill/>
          <a:ln/>
        </p:spPr>
        <p:txBody>
          <a:bodyPr wrap="square" lIns="0" tIns="0" rIns="0" bIns="0" rtlCol="0" anchor="t"/>
          <a:lstStyle/>
          <a:p>
            <a:pPr algn="l" indent="0" marL="0">
              <a:lnSpc>
                <a:spcPts val="2520"/>
              </a:lnSpc>
              <a:buNone/>
            </a:pPr>
            <a:r>
              <a:rPr lang="en-US" sz="2100" dirty="0">
                <a:solidFill>
                  <a:srgbClr val="13233F"/>
                </a:solidFill>
                <a:latin typeface="Cambria" pitchFamily="34" charset="0"/>
                <a:ea typeface="Cambria" pitchFamily="34" charset="-122"/>
                <a:cs typeface="Cambria" pitchFamily="34" charset="-120"/>
              </a:rPr>
              <a:t>Pay the attacker</a:t>
            </a:r>
            <a:endParaRPr lang="en-US" sz="2100" dirty="0"/>
          </a:p>
        </p:txBody>
      </p:sp>
      <p:sp>
        <p:nvSpPr>
          <p:cNvPr id="15" name="Text 13"/>
          <p:cNvSpPr txBox="1"/>
          <p:nvPr/>
        </p:nvSpPr>
        <p:spPr>
          <a:xfrm>
            <a:off x="4603750" y="2766020"/>
            <a:ext cx="3044190" cy="444500"/>
          </a:xfrm>
          <a:prstGeom prst="rect">
            <a:avLst/>
          </a:prstGeom>
          <a:noFill/>
          <a:ln/>
        </p:spPr>
        <p:txBody>
          <a:bodyPr wrap="square" lIns="0" tIns="0" rIns="0" bIns="0" rtlCol="0" anchor="t"/>
          <a:lstStyle/>
          <a:p>
            <a:pPr algn="l" indent="0" marL="0">
              <a:lnSpc>
                <a:spcPts val="1750"/>
              </a:lnSpc>
              <a:buNone/>
            </a:pPr>
            <a:r>
              <a:rPr lang="en-US" sz="1250" dirty="0">
                <a:solidFill>
                  <a:srgbClr val="4E6074"/>
                </a:solidFill>
                <a:latin typeface="Calibri" pitchFamily="34" charset="0"/>
                <a:ea typeface="Calibri" pitchFamily="34" charset="-122"/>
                <a:cs typeface="Calibri" pitchFamily="34" charset="-120"/>
              </a:rPr>
              <a:t>Both hot keys stolen, the agent's and the co-signer's. The attacker tries to pay itself.</a:t>
            </a:r>
            <a:endParaRPr lang="en-US" sz="1250" dirty="0"/>
          </a:p>
        </p:txBody>
      </p:sp>
      <p:sp>
        <p:nvSpPr>
          <p:cNvPr id="16" name="Shape 14"/>
          <p:cNvSpPr/>
          <p:nvPr/>
        </p:nvSpPr>
        <p:spPr>
          <a:xfrm>
            <a:off x="4603750" y="3315295"/>
            <a:ext cx="2984500" cy="0"/>
          </a:xfrm>
          <a:prstGeom prst="line">
            <a:avLst/>
          </a:prstGeom>
          <a:noFill/>
          <a:ln w="6350">
            <a:solidFill>
              <a:srgbClr val="D6DEE1"/>
            </a:solidFill>
            <a:prstDash val="solid"/>
          </a:ln>
        </p:spPr>
      </p:sp>
      <p:sp>
        <p:nvSpPr>
          <p:cNvPr id="17" name="Text 15"/>
          <p:cNvSpPr txBox="1"/>
          <p:nvPr/>
        </p:nvSpPr>
        <p:spPr>
          <a:xfrm>
            <a:off x="4603750" y="3420070"/>
            <a:ext cx="3044190" cy="171450"/>
          </a:xfrm>
          <a:prstGeom prst="rect">
            <a:avLst/>
          </a:prstGeom>
          <a:noFill/>
          <a:ln/>
        </p:spPr>
        <p:txBody>
          <a:bodyPr wrap="square" lIns="0" tIns="0" rIns="0" bIns="0" rtlCol="0" anchor="t"/>
          <a:lstStyle/>
          <a:p>
            <a:pPr algn="l" indent="0" marL="0">
              <a:lnSpc>
                <a:spcPts val="1320"/>
              </a:lnSpc>
              <a:buNone/>
            </a:pPr>
            <a:r>
              <a:rPr lang="en-US" sz="1100" dirty="0">
                <a:solidFill>
                  <a:srgbClr val="7B8A99"/>
                </a:solidFill>
                <a:latin typeface="Calibri" pitchFamily="34" charset="0"/>
                <a:ea typeface="Calibri" pitchFamily="34" charset="-122"/>
                <a:cs typeface="Calibri" pitchFamily="34" charset="-120"/>
              </a:rPr>
              <a:t>Stopped by QEDVault · owner's signed payee list</a:t>
            </a:r>
            <a:endParaRPr lang="en-US" sz="1100" dirty="0"/>
          </a:p>
        </p:txBody>
      </p:sp>
      <p:sp>
        <p:nvSpPr>
          <p:cNvPr id="18" name="Text 16"/>
          <p:cNvSpPr txBox="1"/>
          <p:nvPr/>
        </p:nvSpPr>
        <p:spPr>
          <a:xfrm>
            <a:off x="4603750" y="3642320"/>
            <a:ext cx="3044190" cy="213360"/>
          </a:xfrm>
          <a:prstGeom prst="rect">
            <a:avLst/>
          </a:prstGeom>
          <a:noFill/>
          <a:ln/>
        </p:spPr>
        <p:txBody>
          <a:bodyPr wrap="square" lIns="0" tIns="0" rIns="0" bIns="0" rtlCol="0" anchor="t"/>
          <a:lstStyle/>
          <a:p>
            <a:pPr algn="l" indent="0" marL="0">
              <a:lnSpc>
                <a:spcPts val="1680"/>
              </a:lnSpc>
              <a:buNone/>
            </a:pPr>
            <a:r>
              <a:rPr lang="en-US" sz="1400" dirty="0">
                <a:solidFill>
                  <a:srgbClr val="B1262E"/>
                </a:solidFill>
                <a:latin typeface="Courier New" pitchFamily="34" charset="0"/>
                <a:ea typeface="Courier New" pitchFamily="34" charset="-122"/>
                <a:cs typeface="Courier New" pitchFamily="34" charset="-120"/>
              </a:rPr>
              <a:t>PayeeNotInMandate</a:t>
            </a:r>
            <a:endParaRPr lang="en-US" sz="1400" dirty="0"/>
          </a:p>
        </p:txBody>
      </p:sp>
      <p:sp>
        <p:nvSpPr>
          <p:cNvPr id="19" name="Text 17"/>
          <p:cNvSpPr txBox="1"/>
          <p:nvPr/>
        </p:nvSpPr>
        <p:spPr>
          <a:xfrm>
            <a:off x="4603750" y="3889970"/>
            <a:ext cx="3044190" cy="152400"/>
          </a:xfrm>
          <a:prstGeom prst="rect">
            <a:avLst/>
          </a:prstGeom>
          <a:noFill/>
          <a:ln/>
        </p:spPr>
        <p:txBody>
          <a:bodyPr wrap="square" lIns="0" tIns="0" rIns="0" bIns="0" rtlCol="0" anchor="t"/>
          <a:lstStyle/>
          <a:p>
            <a:pPr algn="l" indent="0" marL="0">
              <a:lnSpc>
                <a:spcPts val="1200"/>
              </a:lnSpc>
              <a:buNone/>
            </a:pPr>
            <a:r>
              <a:rPr lang="en-US" sz="1000" dirty="0">
                <a:solidFill>
                  <a:srgbClr val="4E6074"/>
                </a:solidFill>
                <a:latin typeface="Courier New" pitchFamily="34" charset="0"/>
                <a:ea typeface="Courier New" pitchFamily="34" charset="-122"/>
                <a:cs typeface="Courier New" pitchFamily="34" charset="-120"/>
              </a:rPr>
              <a:t>X6 · 0xf9a023d7…29c63c018</a:t>
            </a:r>
            <a:endParaRPr lang="en-US" sz="1000" dirty="0"/>
          </a:p>
        </p:txBody>
      </p:sp>
      <p:sp>
        <p:nvSpPr>
          <p:cNvPr id="20" name="Shape 18"/>
          <p:cNvSpPr/>
          <p:nvPr/>
        </p:nvSpPr>
        <p:spPr>
          <a:xfrm>
            <a:off x="7975600" y="1870670"/>
            <a:ext cx="3403600" cy="2768600"/>
          </a:xfrm>
          <a:prstGeom prst="roundRect">
            <a:avLst>
              <a:gd name="adj" fmla="val 1835"/>
            </a:avLst>
          </a:prstGeom>
          <a:solidFill>
            <a:srgbClr val="FFFFFF"/>
          </a:solidFill>
          <a:ln w="6350">
            <a:solidFill>
              <a:srgbClr val="D6DEE1"/>
            </a:solidFill>
            <a:prstDash val="solid"/>
          </a:ln>
        </p:spPr>
      </p:sp>
      <p:sp>
        <p:nvSpPr>
          <p:cNvPr id="21" name="Text 19"/>
          <p:cNvSpPr txBox="1"/>
          <p:nvPr/>
        </p:nvSpPr>
        <p:spPr>
          <a:xfrm>
            <a:off x="8185150" y="2080220"/>
            <a:ext cx="3044190" cy="171450"/>
          </a:xfrm>
          <a:prstGeom prst="rect">
            <a:avLst/>
          </a:prstGeom>
          <a:noFill/>
          <a:ln/>
        </p:spPr>
        <p:txBody>
          <a:bodyPr wrap="square" lIns="0" tIns="0" rIns="0" bIns="0" rtlCol="0" anchor="t"/>
          <a:lstStyle/>
          <a:p>
            <a:pPr algn="l" indent="0" marL="0">
              <a:lnSpc>
                <a:spcPts val="1320"/>
              </a:lnSpc>
              <a:buNone/>
            </a:pPr>
            <a:r>
              <a:rPr lang="en-US" sz="1100" b="1" spc="100" kern="0" dirty="0">
                <a:solidFill>
                  <a:srgbClr val="B1262E"/>
                </a:solidFill>
                <a:latin typeface="Calibri" pitchFamily="34" charset="0"/>
                <a:ea typeface="Calibri" pitchFamily="34" charset="-122"/>
                <a:cs typeface="Calibri" pitchFamily="34" charset="-120"/>
              </a:rPr>
              <a:t>ATTACK 3</a:t>
            </a:r>
            <a:endParaRPr lang="en-US" sz="1100" dirty="0"/>
          </a:p>
        </p:txBody>
      </p:sp>
      <p:sp>
        <p:nvSpPr>
          <p:cNvPr id="22" name="Text 20"/>
          <p:cNvSpPr txBox="1"/>
          <p:nvPr/>
        </p:nvSpPr>
        <p:spPr>
          <a:xfrm>
            <a:off x="8185150" y="2353270"/>
            <a:ext cx="3044190" cy="320040"/>
          </a:xfrm>
          <a:prstGeom prst="rect">
            <a:avLst/>
          </a:prstGeom>
          <a:noFill/>
          <a:ln/>
        </p:spPr>
        <p:txBody>
          <a:bodyPr wrap="square" lIns="0" tIns="0" rIns="0" bIns="0" rtlCol="0" anchor="t"/>
          <a:lstStyle/>
          <a:p>
            <a:pPr algn="l" indent="0" marL="0">
              <a:lnSpc>
                <a:spcPts val="2520"/>
              </a:lnSpc>
              <a:buNone/>
            </a:pPr>
            <a:r>
              <a:rPr lang="en-US" sz="2100" dirty="0">
                <a:solidFill>
                  <a:srgbClr val="13233F"/>
                </a:solidFill>
                <a:latin typeface="Cambria" pitchFamily="34" charset="0"/>
                <a:ea typeface="Cambria" pitchFamily="34" charset="-122"/>
                <a:cs typeface="Cambria" pitchFamily="34" charset="-120"/>
              </a:rPr>
              <a:t>Convert too much</a:t>
            </a:r>
            <a:endParaRPr lang="en-US" sz="2100" dirty="0"/>
          </a:p>
        </p:txBody>
      </p:sp>
      <p:sp>
        <p:nvSpPr>
          <p:cNvPr id="23" name="Text 21"/>
          <p:cNvSpPr txBox="1"/>
          <p:nvPr/>
        </p:nvSpPr>
        <p:spPr>
          <a:xfrm>
            <a:off x="8185150" y="2766020"/>
            <a:ext cx="3044190" cy="666750"/>
          </a:xfrm>
          <a:prstGeom prst="rect">
            <a:avLst/>
          </a:prstGeom>
          <a:noFill/>
          <a:ln/>
        </p:spPr>
        <p:txBody>
          <a:bodyPr wrap="square" lIns="0" tIns="0" rIns="0" bIns="0" rtlCol="0" anchor="t"/>
          <a:lstStyle/>
          <a:p>
            <a:pPr algn="l" indent="0" marL="0">
              <a:lnSpc>
                <a:spcPts val="1750"/>
              </a:lnSpc>
              <a:buNone/>
            </a:pPr>
            <a:r>
              <a:rPr lang="en-US" sz="1250" dirty="0">
                <a:solidFill>
                  <a:srgbClr val="4E6074"/>
                </a:solidFill>
                <a:latin typeface="Calibri" pitchFamily="34" charset="0"/>
                <a:ea typeface="Calibri" pitchFamily="34" charset="-122"/>
                <a:cs typeface="Calibri" pitchFamily="34" charset="-120"/>
              </a:rPr>
              <a:t>Both hot keys stolen again. The attacker converts more of the treasury than the policy needs.</a:t>
            </a:r>
            <a:endParaRPr lang="en-US" sz="1250" dirty="0"/>
          </a:p>
        </p:txBody>
      </p:sp>
      <p:sp>
        <p:nvSpPr>
          <p:cNvPr id="24" name="Shape 22"/>
          <p:cNvSpPr/>
          <p:nvPr/>
        </p:nvSpPr>
        <p:spPr>
          <a:xfrm>
            <a:off x="8185150" y="3537545"/>
            <a:ext cx="2984500" cy="0"/>
          </a:xfrm>
          <a:prstGeom prst="line">
            <a:avLst/>
          </a:prstGeom>
          <a:noFill/>
          <a:ln w="6350">
            <a:solidFill>
              <a:srgbClr val="D6DEE1"/>
            </a:solidFill>
            <a:prstDash val="solid"/>
          </a:ln>
        </p:spPr>
      </p:sp>
      <p:sp>
        <p:nvSpPr>
          <p:cNvPr id="25" name="Text 23"/>
          <p:cNvSpPr txBox="1"/>
          <p:nvPr/>
        </p:nvSpPr>
        <p:spPr>
          <a:xfrm>
            <a:off x="8185150" y="3642320"/>
            <a:ext cx="3044190" cy="342900"/>
          </a:xfrm>
          <a:prstGeom prst="rect">
            <a:avLst/>
          </a:prstGeom>
          <a:noFill/>
          <a:ln/>
        </p:spPr>
        <p:txBody>
          <a:bodyPr wrap="square" lIns="0" tIns="0" rIns="0" bIns="0" rtlCol="0" anchor="t"/>
          <a:lstStyle/>
          <a:p>
            <a:pPr algn="l" indent="0" marL="0">
              <a:lnSpc>
                <a:spcPts val="1320"/>
              </a:lnSpc>
              <a:buNone/>
            </a:pPr>
            <a:r>
              <a:rPr lang="en-US" sz="1100" dirty="0">
                <a:solidFill>
                  <a:srgbClr val="7B8A99"/>
                </a:solidFill>
                <a:latin typeface="Calibri" pitchFamily="34" charset="0"/>
                <a:ea typeface="Calibri" pitchFamily="34" charset="-122"/>
                <a:cs typeface="Calibri" pitchFamily="34" charset="-120"/>
              </a:rPr>
              <a:t>Stopped by QEDTreasuryPolicy · over-conversion clause</a:t>
            </a:r>
            <a:endParaRPr lang="en-US" sz="1100" dirty="0"/>
          </a:p>
        </p:txBody>
      </p:sp>
      <p:sp>
        <p:nvSpPr>
          <p:cNvPr id="26" name="Text 24"/>
          <p:cNvSpPr txBox="1"/>
          <p:nvPr/>
        </p:nvSpPr>
        <p:spPr>
          <a:xfrm>
            <a:off x="8185150" y="4036020"/>
            <a:ext cx="3044190" cy="213360"/>
          </a:xfrm>
          <a:prstGeom prst="rect">
            <a:avLst/>
          </a:prstGeom>
          <a:noFill/>
          <a:ln/>
        </p:spPr>
        <p:txBody>
          <a:bodyPr wrap="square" lIns="0" tIns="0" rIns="0" bIns="0" rtlCol="0" anchor="t"/>
          <a:lstStyle/>
          <a:p>
            <a:pPr algn="l" indent="0" marL="0">
              <a:lnSpc>
                <a:spcPts val="1680"/>
              </a:lnSpc>
              <a:buNone/>
            </a:pPr>
            <a:r>
              <a:rPr lang="en-US" sz="1400" dirty="0">
                <a:solidFill>
                  <a:srgbClr val="B1262E"/>
                </a:solidFill>
                <a:latin typeface="Courier New" pitchFamily="34" charset="0"/>
                <a:ea typeface="Courier New" pitchFamily="34" charset="-122"/>
                <a:cs typeface="Courier New" pitchFamily="34" charset="-120"/>
              </a:rPr>
              <a:t>OverConversion</a:t>
            </a:r>
            <a:endParaRPr lang="en-US" sz="1400" dirty="0"/>
          </a:p>
        </p:txBody>
      </p:sp>
      <p:sp>
        <p:nvSpPr>
          <p:cNvPr id="27" name="Text 25"/>
          <p:cNvSpPr txBox="1"/>
          <p:nvPr/>
        </p:nvSpPr>
        <p:spPr>
          <a:xfrm>
            <a:off x="8185150" y="4283670"/>
            <a:ext cx="3044190" cy="152400"/>
          </a:xfrm>
          <a:prstGeom prst="rect">
            <a:avLst/>
          </a:prstGeom>
          <a:noFill/>
          <a:ln/>
        </p:spPr>
        <p:txBody>
          <a:bodyPr wrap="square" lIns="0" tIns="0" rIns="0" bIns="0" rtlCol="0" anchor="t"/>
          <a:lstStyle/>
          <a:p>
            <a:pPr algn="l" indent="0" marL="0">
              <a:lnSpc>
                <a:spcPts val="1200"/>
              </a:lnSpc>
              <a:buNone/>
            </a:pPr>
            <a:r>
              <a:rPr lang="en-US" sz="1000" dirty="0">
                <a:solidFill>
                  <a:srgbClr val="4E6074"/>
                </a:solidFill>
                <a:latin typeface="Courier New" pitchFamily="34" charset="0"/>
                <a:ea typeface="Courier New" pitchFamily="34" charset="-122"/>
                <a:cs typeface="Courier New" pitchFamily="34" charset="-120"/>
              </a:rPr>
              <a:t>QA2 · 0xb49d0c4f…cd23f9f3</a:t>
            </a:r>
            <a:endParaRPr lang="en-US" sz="1000" dirty="0"/>
          </a:p>
        </p:txBody>
      </p:sp>
      <p:sp>
        <p:nvSpPr>
          <p:cNvPr id="28" name="Text 26"/>
          <p:cNvSpPr txBox="1"/>
          <p:nvPr/>
        </p:nvSpPr>
        <p:spPr>
          <a:xfrm>
            <a:off x="812800" y="4842470"/>
            <a:ext cx="10777728" cy="313690"/>
          </a:xfrm>
          <a:prstGeom prst="rect">
            <a:avLst/>
          </a:prstGeom>
          <a:noFill/>
          <a:ln/>
        </p:spPr>
        <p:txBody>
          <a:bodyPr wrap="square" lIns="0" tIns="0" rIns="0" bIns="0" rtlCol="0" anchor="t"/>
          <a:lstStyle/>
          <a:p>
            <a:pPr algn="l" indent="0" marL="0">
              <a:lnSpc>
                <a:spcPts val="2470"/>
              </a:lnSpc>
              <a:buNone/>
            </a:pPr>
            <a:r>
              <a:rPr lang="en-US" sz="1900" dirty="0">
                <a:solidFill>
                  <a:srgbClr val="13233F"/>
                </a:solidFill>
                <a:latin typeface="Cambria" pitchFamily="34" charset="0"/>
                <a:ea typeface="Cambria" pitchFamily="34" charset="-122"/>
                <a:cs typeface="Cambria" pitchFamily="34" charset="-120"/>
              </a:rPr>
              <a:t>48 attacks on Sepolia, 48 reverts, 0 tUSD to the attacker. Six run live in the app's Security Lab.</a:t>
            </a:r>
            <a:endParaRPr lang="en-US" sz="1900" dirty="0"/>
          </a:p>
        </p:txBody>
      </p:sp>
      <p:sp>
        <p:nvSpPr>
          <p:cNvPr id="29" name="Text 27"/>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Every attack and its custom error: docs/EVIDENCE.md · appendix A12</a:t>
            </a:r>
            <a:endParaRPr lang="en-US" sz="1200" dirty="0"/>
          </a:p>
        </p:txBody>
      </p:sp>
      <p:sp>
        <p:nvSpPr>
          <p:cNvPr id="30" name="Text 28"/>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8 / 11</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WHY IT MATTERS · WHO WOULD PAY</a:t>
            </a:r>
            <a:endParaRPr lang="en-US" sz="1200" dirty="0"/>
          </a:p>
        </p:txBody>
      </p:sp>
      <p:sp>
        <p:nvSpPr>
          <p:cNvPr id="3" name="Text 1"/>
          <p:cNvSpPr txBox="1"/>
          <p:nvPr/>
        </p:nvSpPr>
        <p:spPr>
          <a:xfrm>
            <a:off x="812800" y="12255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Best execution becomes a precondition, not a quarterly report.</a:t>
            </a:r>
            <a:endParaRPr lang="en-US" sz="3200" dirty="0"/>
          </a:p>
        </p:txBody>
      </p:sp>
      <p:sp>
        <p:nvSpPr>
          <p:cNvPr id="4" name="Shape 2"/>
          <p:cNvSpPr/>
          <p:nvPr/>
        </p:nvSpPr>
        <p:spPr>
          <a:xfrm>
            <a:off x="812800" y="1921470"/>
            <a:ext cx="3386634" cy="1704181"/>
          </a:xfrm>
          <a:prstGeom prst="roundRect">
            <a:avLst>
              <a:gd name="adj" fmla="val 2981"/>
            </a:avLst>
          </a:prstGeom>
          <a:solidFill>
            <a:srgbClr val="FBFCFC"/>
          </a:solidFill>
          <a:ln w="6350">
            <a:solidFill>
              <a:srgbClr val="D6DEE1"/>
            </a:solidFill>
            <a:prstDash val="solid"/>
          </a:ln>
        </p:spPr>
      </p:sp>
      <p:sp>
        <p:nvSpPr>
          <p:cNvPr id="5" name="Text 3"/>
          <p:cNvSpPr txBox="1"/>
          <p:nvPr/>
        </p:nvSpPr>
        <p:spPr>
          <a:xfrm>
            <a:off x="1047750" y="2156420"/>
            <a:ext cx="2975068" cy="304800"/>
          </a:xfrm>
          <a:prstGeom prst="rect">
            <a:avLst/>
          </a:prstGeom>
          <a:noFill/>
          <a:ln/>
        </p:spPr>
        <p:txBody>
          <a:bodyPr wrap="square" lIns="0" tIns="0" rIns="0" bIns="0" rtlCol="0" anchor="t"/>
          <a:lstStyle/>
          <a:p>
            <a:pPr algn="l" indent="0" marL="0">
              <a:lnSpc>
                <a:spcPts val="2400"/>
              </a:lnSpc>
              <a:buNone/>
            </a:pPr>
            <a:r>
              <a:rPr lang="en-US" sz="2000" dirty="0">
                <a:solidFill>
                  <a:srgbClr val="13233F"/>
                </a:solidFill>
                <a:latin typeface="Cambria" pitchFamily="34" charset="0"/>
                <a:ea typeface="Cambria" pitchFamily="34" charset="-122"/>
                <a:cs typeface="Cambria" pitchFamily="34" charset="-120"/>
              </a:rPr>
              <a:t>Agent treasuries</a:t>
            </a:r>
            <a:endParaRPr lang="en-US" sz="2000" dirty="0"/>
          </a:p>
        </p:txBody>
      </p:sp>
      <p:sp>
        <p:nvSpPr>
          <p:cNvPr id="6" name="Text 4"/>
          <p:cNvSpPr txBox="1"/>
          <p:nvPr/>
        </p:nvSpPr>
        <p:spPr>
          <a:xfrm>
            <a:off x="1047750" y="2537420"/>
            <a:ext cx="2975068" cy="85328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Businesses, DAOs and AI services that hold one currency and owe another can delegate conversion, including when and how much, without trusting the agent's routing.</a:t>
            </a:r>
            <a:endParaRPr lang="en-US" sz="1200" dirty="0"/>
          </a:p>
        </p:txBody>
      </p:sp>
      <p:sp>
        <p:nvSpPr>
          <p:cNvPr id="7" name="Shape 5"/>
          <p:cNvSpPr/>
          <p:nvPr/>
        </p:nvSpPr>
        <p:spPr>
          <a:xfrm>
            <a:off x="4402634" y="1921470"/>
            <a:ext cx="3386634" cy="1704181"/>
          </a:xfrm>
          <a:prstGeom prst="roundRect">
            <a:avLst>
              <a:gd name="adj" fmla="val 2981"/>
            </a:avLst>
          </a:prstGeom>
          <a:solidFill>
            <a:srgbClr val="FBFCFC"/>
          </a:solidFill>
          <a:ln w="6350">
            <a:solidFill>
              <a:srgbClr val="D6DEE1"/>
            </a:solidFill>
            <a:prstDash val="solid"/>
          </a:ln>
        </p:spPr>
      </p:sp>
      <p:sp>
        <p:nvSpPr>
          <p:cNvPr id="8" name="Text 6"/>
          <p:cNvSpPr txBox="1"/>
          <p:nvPr/>
        </p:nvSpPr>
        <p:spPr>
          <a:xfrm>
            <a:off x="4637584" y="2156420"/>
            <a:ext cx="2975068" cy="304800"/>
          </a:xfrm>
          <a:prstGeom prst="rect">
            <a:avLst/>
          </a:prstGeom>
          <a:noFill/>
          <a:ln/>
        </p:spPr>
        <p:txBody>
          <a:bodyPr wrap="square" lIns="0" tIns="0" rIns="0" bIns="0" rtlCol="0" anchor="t"/>
          <a:lstStyle/>
          <a:p>
            <a:pPr algn="l" indent="0" marL="0">
              <a:lnSpc>
                <a:spcPts val="2400"/>
              </a:lnSpc>
              <a:buNone/>
            </a:pPr>
            <a:r>
              <a:rPr lang="en-US" sz="2000" dirty="0">
                <a:solidFill>
                  <a:srgbClr val="13233F"/>
                </a:solidFill>
                <a:latin typeface="Cambria" pitchFamily="34" charset="0"/>
                <a:ea typeface="Cambria" pitchFamily="34" charset="-122"/>
                <a:cs typeface="Cambria" pitchFamily="34" charset="-120"/>
              </a:rPr>
              <a:t>Regulated firms</a:t>
            </a:r>
            <a:endParaRPr lang="en-US" sz="2000" dirty="0"/>
          </a:p>
        </p:txBody>
      </p:sp>
      <p:sp>
        <p:nvSpPr>
          <p:cNvPr id="9" name="Text 7"/>
          <p:cNvSpPr txBox="1"/>
          <p:nvPr/>
        </p:nvSpPr>
        <p:spPr>
          <a:xfrm>
            <a:off x="4637584" y="2537420"/>
            <a:ext cx="2975068" cy="85328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A per-trade record anyone can recompute from public state, for the best-execution duty firms already carry under MiFID II and FINRA rules.</a:t>
            </a:r>
            <a:endParaRPr lang="en-US" sz="1200" dirty="0"/>
          </a:p>
        </p:txBody>
      </p:sp>
      <p:sp>
        <p:nvSpPr>
          <p:cNvPr id="10" name="Shape 8"/>
          <p:cNvSpPr/>
          <p:nvPr/>
        </p:nvSpPr>
        <p:spPr>
          <a:xfrm>
            <a:off x="7992467" y="1921470"/>
            <a:ext cx="3386634" cy="1704181"/>
          </a:xfrm>
          <a:prstGeom prst="roundRect">
            <a:avLst>
              <a:gd name="adj" fmla="val 2981"/>
            </a:avLst>
          </a:prstGeom>
          <a:solidFill>
            <a:srgbClr val="FBFCFC"/>
          </a:solidFill>
          <a:ln w="6350">
            <a:solidFill>
              <a:srgbClr val="D6DEE1"/>
            </a:solidFill>
            <a:prstDash val="solid"/>
          </a:ln>
        </p:spPr>
      </p:sp>
      <p:sp>
        <p:nvSpPr>
          <p:cNvPr id="11" name="Text 9"/>
          <p:cNvSpPr txBox="1"/>
          <p:nvPr/>
        </p:nvSpPr>
        <p:spPr>
          <a:xfrm>
            <a:off x="8227417" y="2156420"/>
            <a:ext cx="2975068" cy="304800"/>
          </a:xfrm>
          <a:prstGeom prst="rect">
            <a:avLst/>
          </a:prstGeom>
          <a:noFill/>
          <a:ln/>
        </p:spPr>
        <p:txBody>
          <a:bodyPr wrap="square" lIns="0" tIns="0" rIns="0" bIns="0" rtlCol="0" anchor="t"/>
          <a:lstStyle/>
          <a:p>
            <a:pPr algn="l" indent="0" marL="0">
              <a:lnSpc>
                <a:spcPts val="2400"/>
              </a:lnSpc>
              <a:buNone/>
            </a:pPr>
            <a:r>
              <a:rPr lang="en-US" sz="2000" dirty="0">
                <a:solidFill>
                  <a:srgbClr val="13233F"/>
                </a:solidFill>
                <a:latin typeface="Cambria" pitchFamily="34" charset="0"/>
                <a:ea typeface="Cambria" pitchFamily="34" charset="-122"/>
                <a:cs typeface="Cambria" pitchFamily="34" charset="-120"/>
              </a:rPr>
              <a:t>Solvers and intents</a:t>
            </a:r>
            <a:endParaRPr lang="en-US" sz="2000" dirty="0"/>
          </a:p>
        </p:txBody>
      </p:sp>
      <p:sp>
        <p:nvSpPr>
          <p:cNvPr id="12" name="Text 10"/>
          <p:cNvSpPr txBox="1"/>
          <p:nvPr/>
        </p:nvSpPr>
        <p:spPr>
          <a:xfrm>
            <a:off x="8227417" y="2537420"/>
            <a:ext cx="2975068" cy="63996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A filler can attach the proof and be accepted on it; a protocol can settle on the proof instead of after-the-fact monitoring.</a:t>
            </a:r>
            <a:endParaRPr lang="en-US" sz="1200" dirty="0"/>
          </a:p>
        </p:txBody>
      </p:sp>
      <p:sp>
        <p:nvSpPr>
          <p:cNvPr id="13" name="Shape 11"/>
          <p:cNvSpPr/>
          <p:nvPr/>
        </p:nvSpPr>
        <p:spPr>
          <a:xfrm>
            <a:off x="825500" y="3854252"/>
            <a:ext cx="0" cy="753070"/>
          </a:xfrm>
          <a:prstGeom prst="line">
            <a:avLst/>
          </a:prstGeom>
          <a:noFill/>
          <a:ln w="25400">
            <a:solidFill>
              <a:srgbClr val="0A7468"/>
            </a:solidFill>
            <a:prstDash val="solid"/>
          </a:ln>
        </p:spPr>
      </p:sp>
      <p:sp>
        <p:nvSpPr>
          <p:cNvPr id="14" name="Text 12"/>
          <p:cNvSpPr txBox="1"/>
          <p:nvPr/>
        </p:nvSpPr>
        <p:spPr>
          <a:xfrm>
            <a:off x="1016000" y="3879652"/>
            <a:ext cx="5077968" cy="171450"/>
          </a:xfrm>
          <a:prstGeom prst="rect">
            <a:avLst/>
          </a:prstGeom>
          <a:noFill/>
          <a:ln/>
        </p:spPr>
        <p:txBody>
          <a:bodyPr wrap="square" lIns="0" tIns="0" rIns="0" bIns="0" rtlCol="0" anchor="t"/>
          <a:lstStyle/>
          <a:p>
            <a:pPr algn="l" indent="0" marL="0">
              <a:lnSpc>
                <a:spcPts val="1320"/>
              </a:lnSpc>
              <a:buNone/>
            </a:pPr>
            <a:r>
              <a:rPr lang="en-US" sz="1100" b="1" spc="100" kern="0" dirty="0">
                <a:solidFill>
                  <a:srgbClr val="0A7468"/>
                </a:solidFill>
                <a:latin typeface="Calibri" pitchFamily="34" charset="0"/>
                <a:ea typeface="Calibri" pitchFamily="34" charset="-122"/>
                <a:cs typeface="Calibri" pitchFamily="34" charset="-120"/>
              </a:rPr>
              <a:t>BUSINESS MODEL · A HYPOTHESIS</a:t>
            </a:r>
            <a:endParaRPr lang="en-US" sz="1100" dirty="0"/>
          </a:p>
        </p:txBody>
      </p:sp>
      <p:sp>
        <p:nvSpPr>
          <p:cNvPr id="15" name="Text 13"/>
          <p:cNvSpPr txBox="1"/>
          <p:nvPr/>
        </p:nvSpPr>
        <p:spPr>
          <a:xfrm>
            <a:off x="1016000" y="4101902"/>
            <a:ext cx="5077968" cy="480020"/>
          </a:xfrm>
          <a:prstGeom prst="rect">
            <a:avLst/>
          </a:prstGeom>
          <a:noFill/>
          <a:ln/>
        </p:spPr>
        <p:txBody>
          <a:bodyPr wrap="square" lIns="0" tIns="0" rIns="0" bIns="0" rtlCol="0" anchor="t"/>
          <a:lstStyle/>
          <a:p>
            <a:pPr algn="l" indent="0" marL="0">
              <a:lnSpc>
                <a:spcPts val="1890"/>
              </a:lnSpc>
              <a:buNone/>
            </a:pPr>
            <a:r>
              <a:rPr lang="en-US" sz="1400" dirty="0">
                <a:solidFill>
                  <a:srgbClr val="13233F"/>
                </a:solidFill>
                <a:latin typeface="Calibri" pitchFamily="34" charset="0"/>
                <a:ea typeface="Calibri" pitchFamily="34" charset="-122"/>
                <a:cs typeface="Calibri" pitchFamily="34" charset="-120"/>
              </a:rPr>
              <a:t>A verification layer: a fee per certified trade, or a licence for custodians and agent platforms.</a:t>
            </a:r>
            <a:endParaRPr lang="en-US" sz="1400" dirty="0"/>
          </a:p>
        </p:txBody>
      </p:sp>
      <p:sp>
        <p:nvSpPr>
          <p:cNvPr id="16" name="Shape 14"/>
          <p:cNvSpPr/>
          <p:nvPr/>
        </p:nvSpPr>
        <p:spPr>
          <a:xfrm>
            <a:off x="6210300" y="3854252"/>
            <a:ext cx="0" cy="753070"/>
          </a:xfrm>
          <a:prstGeom prst="line">
            <a:avLst/>
          </a:prstGeom>
          <a:noFill/>
          <a:ln w="25400">
            <a:solidFill>
              <a:srgbClr val="9A6A00"/>
            </a:solidFill>
            <a:prstDash val="solid"/>
          </a:ln>
        </p:spPr>
      </p:sp>
      <p:sp>
        <p:nvSpPr>
          <p:cNvPr id="17" name="Text 15"/>
          <p:cNvSpPr txBox="1"/>
          <p:nvPr/>
        </p:nvSpPr>
        <p:spPr>
          <a:xfrm>
            <a:off x="6400800" y="3879652"/>
            <a:ext cx="5077968" cy="171450"/>
          </a:xfrm>
          <a:prstGeom prst="rect">
            <a:avLst/>
          </a:prstGeom>
          <a:noFill/>
          <a:ln/>
        </p:spPr>
        <p:txBody>
          <a:bodyPr wrap="square" lIns="0" tIns="0" rIns="0" bIns="0" rtlCol="0" anchor="t"/>
          <a:lstStyle/>
          <a:p>
            <a:pPr algn="l" indent="0" marL="0">
              <a:lnSpc>
                <a:spcPts val="1320"/>
              </a:lnSpc>
              <a:buNone/>
            </a:pPr>
            <a:r>
              <a:rPr lang="en-US" sz="1100" b="1" spc="100" kern="0" dirty="0">
                <a:solidFill>
                  <a:srgbClr val="9A6A00"/>
                </a:solidFill>
                <a:latin typeface="Calibri" pitchFamily="34" charset="0"/>
                <a:ea typeface="Calibri" pitchFamily="34" charset="-122"/>
                <a:cs typeface="Calibri" pitchFamily="34" charset="-120"/>
              </a:rPr>
              <a:t>NOT YET VALIDATED</a:t>
            </a:r>
            <a:endParaRPr lang="en-US" sz="1100" dirty="0"/>
          </a:p>
        </p:txBody>
      </p:sp>
      <p:sp>
        <p:nvSpPr>
          <p:cNvPr id="18" name="Text 16"/>
          <p:cNvSpPr txBox="1"/>
          <p:nvPr/>
        </p:nvSpPr>
        <p:spPr>
          <a:xfrm>
            <a:off x="6400800" y="4101902"/>
            <a:ext cx="5077968" cy="480020"/>
          </a:xfrm>
          <a:prstGeom prst="rect">
            <a:avLst/>
          </a:prstGeom>
          <a:noFill/>
          <a:ln/>
        </p:spPr>
        <p:txBody>
          <a:bodyPr wrap="square" lIns="0" tIns="0" rIns="0" bIns="0" rtlCol="0" anchor="t"/>
          <a:lstStyle/>
          <a:p>
            <a:pPr algn="l" indent="0" marL="0">
              <a:lnSpc>
                <a:spcPts val="1890"/>
              </a:lnSpc>
              <a:buNone/>
            </a:pPr>
            <a:r>
              <a:rPr lang="en-US" sz="1400" dirty="0">
                <a:solidFill>
                  <a:srgbClr val="13233F"/>
                </a:solidFill>
                <a:latin typeface="Calibri" pitchFamily="34" charset="0"/>
                <a:ea typeface="Calibri" pitchFamily="34" charset="-122"/>
                <a:cs typeface="Calibri" pitchFamily="34" charset="-120"/>
              </a:rPr>
              <a:t>No users, revenue or partners. Unaudited, testnet only. Next: audit, more venue types, a pilot with a treasury team.</a:t>
            </a:r>
            <a:endParaRPr lang="en-US" sz="1400" dirty="0"/>
          </a:p>
        </p:txBody>
      </p:sp>
      <p:sp>
        <p:nvSpPr>
          <p:cNvPr id="19" name="Text 17"/>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Hypotheses, not traction · market sizing not claimed</a:t>
            </a:r>
            <a:endParaRPr lang="en-US" sz="1200" dirty="0"/>
          </a:p>
        </p:txBody>
      </p:sp>
      <p:sp>
        <p:nvSpPr>
          <p:cNvPr id="20" name="Text 18"/>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9 / 11</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DEFENSIBILITY · PRIOR ART</a:t>
            </a:r>
            <a:endParaRPr lang="en-US" sz="1200" dirty="0"/>
          </a:p>
        </p:txBody>
      </p:sp>
      <p:sp>
        <p:nvSpPr>
          <p:cNvPr id="3" name="Text 1"/>
          <p:cNvSpPr txBox="1"/>
          <p:nvPr/>
        </p:nvSpPr>
        <p:spPr>
          <a:xfrm>
            <a:off x="812800" y="12001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Every ingredient is known. The guarantee is not.</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12800" y="1870670"/>
          <a:ext cx="10566400" cy="914400"/>
        </p:xfrm>
        <a:graphic>
          <a:graphicData uri="http://schemas.openxmlformats.org/drawingml/2006/table">
            <a:tbl>
              <a:tblPr/>
              <a:tblGrid>
                <a:gridCol w="3169841"/>
                <a:gridCol w="4226520"/>
                <a:gridCol w="3170039"/>
              </a:tblGrid>
              <a:tr h="196850">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Closest work</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What it does</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What it leaves open</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38100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Intents and aggregators: UniswapX, 1inch Fusion, ERC-7683</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Enforce a minimum output</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Leak up to the tolerance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CoW Protocol, EBBO rule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Compare fills with baseline pools after settlement</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Social, after the fact</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A²MM (2021); on-chain one-hop routing (FC 2026)</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Compute a split on-chain for parallel pools</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Approximate, one pair, no bound</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Certified routing (arXiv 2607.22540)</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Off-chain KKT certificate for a router</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Execution guarded by slippage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Angeris et al., EC 2022</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CFMM routing is convex; duality</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Theory; routes solved off-chain</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381000">
                <a:tc>
                  <a:txBody>
                    <a:bodyPr/>
                    <a:lstStyle/>
                    <a:p>
                      <a:pPr algn="l" indent="0" marL="0">
                        <a:buNone/>
                      </a:pPr>
                      <a:r>
                        <a:rPr lang="en-US" sz="1200" b="1" dirty="0">
                          <a:solidFill>
                            <a:srgbClr val="0A7468"/>
                          </a:solidFill>
                          <a:latin typeface="Calibri" pitchFamily="34" charset="0"/>
                          <a:ea typeface="Calibri" pitchFamily="34" charset="-122"/>
                          <a:cs typeface="Calibri" pitchFamily="34" charset="-120"/>
                        </a:rPr>
                        <a:t>QED</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b="1" dirty="0">
                          <a:solidFill>
                            <a:srgbClr val="0A7468"/>
                          </a:solidFill>
                          <a:latin typeface="Calibri" pitchFamily="34" charset="0"/>
                          <a:ea typeface="Calibri" pitchFamily="34" charset="-122"/>
                          <a:cs typeface="Calibri" pitchFamily="34" charset="-120"/>
                        </a:rPr>
                        <a:t>Verifies any route over any owner venues, in the trade's transaction, to 1 ppm</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b="1" dirty="0">
                          <a:solidFill>
                            <a:srgbClr val="0A7468"/>
                          </a:solidFill>
                          <a:latin typeface="Calibri" pitchFamily="34" charset="0"/>
                          <a:ea typeface="Calibri" pitchFamily="34" charset="-122"/>
                          <a:cs typeface="Calibri" pitchFamily="34" charset="-120"/>
                        </a:rPr>
                        <a:t>Inside an agent's mandate, money on it</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bl>
          </a:graphicData>
        </a:graphic>
      </p:graphicFrame>
      <p:sp>
        <p:nvSpPr>
          <p:cNvPr id="5" name="Text 2"/>
          <p:cNvSpPr txBox="1"/>
          <p:nvPr/>
        </p:nvSpPr>
        <p:spPr>
          <a:xfrm>
            <a:off x="812800" y="3820120"/>
            <a:ext cx="10777728" cy="257175"/>
          </a:xfrm>
          <a:prstGeom prst="rect">
            <a:avLst/>
          </a:prstGeom>
          <a:noFill/>
          <a:ln/>
        </p:spPr>
        <p:txBody>
          <a:bodyPr wrap="square" lIns="0" tIns="0" rIns="0" bIns="0" rtlCol="0" anchor="t"/>
          <a:lstStyle/>
          <a:p>
            <a:pPr algn="l" indent="0" marL="0">
              <a:lnSpc>
                <a:spcPts val="2030"/>
              </a:lnSpc>
              <a:buNone/>
            </a:pPr>
            <a:r>
              <a:rPr lang="en-US" sz="1500" dirty="0">
                <a:solidFill>
                  <a:srgbClr val="13233F"/>
                </a:solidFill>
                <a:latin typeface="Calibri" pitchFamily="34" charset="0"/>
                <a:ea typeface="Calibri" pitchFamily="34" charset="-122"/>
                <a:cs typeface="Calibri" pitchFamily="34" charset="-120"/>
              </a:rPr>
              <a:t>We found no prior system that makes the optimality of an executed route an on-chain condition of the trade.</a:t>
            </a:r>
            <a:endParaRPr lang="en-US" sz="1500" dirty="0"/>
          </a:p>
        </p:txBody>
      </p:sp>
      <p:sp>
        <p:nvSpPr>
          <p:cNvPr id="6" name="Text 3"/>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Sources and the full comparison: docs/PRIOR_ART.md §0 · searched 20 Oct 2026</a:t>
            </a:r>
            <a:endParaRPr lang="en-US" sz="1200" dirty="0"/>
          </a:p>
        </p:txBody>
      </p:sp>
      <p:sp>
        <p:nvSpPr>
          <p:cNvPr id="7" name="Text 4"/>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10 / 11</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46C4B0"/>
                </a:solidFill>
                <a:latin typeface="Calibri" pitchFamily="34" charset="0"/>
                <a:ea typeface="Calibri" pitchFamily="34" charset="-122"/>
                <a:cs typeface="Calibri" pitchFamily="34" charset="-120"/>
              </a:rPr>
              <a:t>QED</a:t>
            </a:r>
            <a:endParaRPr lang="en-US" sz="1200" dirty="0"/>
          </a:p>
        </p:txBody>
      </p:sp>
      <p:sp>
        <p:nvSpPr>
          <p:cNvPr id="3" name="Text 1"/>
          <p:cNvSpPr txBox="1"/>
          <p:nvPr/>
        </p:nvSpPr>
        <p:spPr>
          <a:xfrm>
            <a:off x="812800" y="1200150"/>
            <a:ext cx="10777728" cy="733425"/>
          </a:xfrm>
          <a:prstGeom prst="rect">
            <a:avLst/>
          </a:prstGeom>
          <a:noFill/>
          <a:ln/>
        </p:spPr>
        <p:txBody>
          <a:bodyPr wrap="square" lIns="0" tIns="0" rIns="0" bIns="0" rtlCol="0" anchor="t"/>
          <a:lstStyle/>
          <a:p>
            <a:pPr algn="l" indent="0" marL="0">
              <a:lnSpc>
                <a:spcPts val="5780"/>
              </a:lnSpc>
              <a:buNone/>
            </a:pPr>
            <a:r>
              <a:rPr lang="en-US" sz="5500" dirty="0">
                <a:solidFill>
                  <a:srgbClr val="E4ECF1"/>
                </a:solidFill>
                <a:latin typeface="Cambria" pitchFamily="34" charset="0"/>
                <a:ea typeface="Cambria" pitchFamily="34" charset="-122"/>
                <a:cs typeface="Cambria" pitchFamily="34" charset="-120"/>
              </a:rPr>
              <a:t>AI can decide. QED makes it prove.</a:t>
            </a:r>
            <a:endParaRPr lang="en-US" sz="5500" dirty="0"/>
          </a:p>
        </p:txBody>
      </p:sp>
      <p:sp>
        <p:nvSpPr>
          <p:cNvPr id="4" name="Text 2"/>
          <p:cNvSpPr txBox="1"/>
          <p:nvPr/>
        </p:nvSpPr>
        <p:spPr>
          <a:xfrm>
            <a:off x="812800" y="2136775"/>
            <a:ext cx="10777728" cy="731441"/>
          </a:xfrm>
          <a:prstGeom prst="rect">
            <a:avLst/>
          </a:prstGeom>
          <a:noFill/>
          <a:ln/>
        </p:spPr>
        <p:txBody>
          <a:bodyPr wrap="square" lIns="0" tIns="0" rIns="0" bIns="0" rtlCol="0" anchor="t"/>
          <a:lstStyle/>
          <a:p>
            <a:pPr algn="l" indent="0" marL="0">
              <a:lnSpc>
                <a:spcPts val="2880"/>
              </a:lnSpc>
              <a:buNone/>
            </a:pPr>
            <a:r>
              <a:rPr lang="en-US" sz="2400" i="1" dirty="0">
                <a:solidFill>
                  <a:srgbClr val="A9BACB"/>
                </a:solidFill>
                <a:latin typeface="Cambria" pitchFamily="34" charset="0"/>
                <a:ea typeface="Cambria" pitchFamily="34" charset="-122"/>
                <a:cs typeface="Cambria" pitchFamily="34" charset="-120"/>
              </a:rPr>
              <a:t>Verifiable financial constraints should be a precondition for autonomous execution, not an audit after the fact.</a:t>
            </a:r>
            <a:endParaRPr lang="en-US" sz="2400" dirty="0"/>
          </a:p>
        </p:txBody>
      </p:sp>
      <p:sp>
        <p:nvSpPr>
          <p:cNvPr id="5" name="Shape 3"/>
          <p:cNvSpPr/>
          <p:nvPr/>
        </p:nvSpPr>
        <p:spPr>
          <a:xfrm>
            <a:off x="812800" y="4651375"/>
            <a:ext cx="10566400" cy="0"/>
          </a:xfrm>
          <a:prstGeom prst="line">
            <a:avLst/>
          </a:prstGeom>
          <a:noFill/>
          <a:ln w="6350">
            <a:solidFill>
              <a:srgbClr val="2E4A72"/>
            </a:solidFill>
            <a:prstDash val="solid"/>
          </a:ln>
        </p:spPr>
      </p:sp>
      <p:sp>
        <p:nvSpPr>
          <p:cNvPr id="6" name="Text 4"/>
          <p:cNvSpPr txBox="1"/>
          <p:nvPr/>
        </p:nvSpPr>
        <p:spPr>
          <a:xfrm>
            <a:off x="812800" y="4832350"/>
            <a:ext cx="10777728" cy="184150"/>
          </a:xfrm>
          <a:prstGeom prst="rect">
            <a:avLst/>
          </a:prstGeom>
          <a:noFill/>
          <a:ln/>
        </p:spPr>
        <p:txBody>
          <a:bodyPr wrap="square" lIns="0" tIns="0" rIns="0" bIns="0" rtlCol="0" anchor="t"/>
          <a:lstStyle/>
          <a:p>
            <a:pPr algn="l" indent="0" marL="0">
              <a:lnSpc>
                <a:spcPts val="1440"/>
              </a:lnSpc>
              <a:buNone/>
            </a:pPr>
            <a:r>
              <a:rPr lang="en-US" sz="1200" dirty="0">
                <a:solidFill>
                  <a:srgbClr val="46C4B0"/>
                </a:solidFill>
                <a:latin typeface="Calibri" pitchFamily="34" charset="0"/>
                <a:ea typeface="Calibri" pitchFamily="34" charset="-122"/>
                <a:cs typeface="Calibri" pitchFamily="34" charset="-120"/>
              </a:rPr>
              <a:t>Try it: the live app, on a testnet sandbox chain (no wallet, no keys)</a:t>
            </a:r>
            <a:endParaRPr lang="en-US" sz="1200" dirty="0"/>
          </a:p>
        </p:txBody>
      </p:sp>
      <p:sp>
        <p:nvSpPr>
          <p:cNvPr id="7" name="Text 5"/>
          <p:cNvSpPr txBox="1"/>
          <p:nvPr/>
        </p:nvSpPr>
        <p:spPr>
          <a:xfrm>
            <a:off x="812800" y="5054600"/>
            <a:ext cx="10777728" cy="228600"/>
          </a:xfrm>
          <a:prstGeom prst="rect">
            <a:avLst/>
          </a:prstGeom>
          <a:noFill/>
          <a:ln/>
        </p:spPr>
        <p:txBody>
          <a:bodyPr wrap="square" lIns="0" tIns="0" rIns="0" bIns="0" rtlCol="0" anchor="t"/>
          <a:lstStyle/>
          <a:p>
            <a:pPr algn="l" indent="0" marL="0">
              <a:lnSpc>
                <a:spcPts val="1800"/>
              </a:lnSpc>
              <a:buNone/>
            </a:pPr>
            <a:r>
              <a:rPr lang="en-US" sz="1500" dirty="0">
                <a:solidFill>
                  <a:srgbClr val="E4ECF1"/>
                </a:solidFill>
                <a:latin typeface="Courier New" pitchFamily="34" charset="0"/>
                <a:ea typeface="Courier New" pitchFamily="34" charset="-122"/>
                <a:cs typeface="Courier New" pitchFamily="34" charset="-120"/>
              </a:rPr>
              <a:t>qed-judges-preview-production.up.railway.app</a:t>
            </a:r>
            <a:endParaRPr lang="en-US" sz="1500" dirty="0"/>
          </a:p>
        </p:txBody>
      </p:sp>
      <p:sp>
        <p:nvSpPr>
          <p:cNvPr id="8" name="Text 6"/>
          <p:cNvSpPr txBox="1"/>
          <p:nvPr/>
        </p:nvSpPr>
        <p:spPr>
          <a:xfrm>
            <a:off x="812800" y="5448300"/>
            <a:ext cx="5233416"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Sepolia proof ledger</a:t>
            </a:r>
            <a:endParaRPr lang="en-US" sz="1200" dirty="0"/>
          </a:p>
        </p:txBody>
      </p:sp>
      <p:sp>
        <p:nvSpPr>
          <p:cNvPr id="9" name="Text 7"/>
          <p:cNvSpPr txBox="1"/>
          <p:nvPr/>
        </p:nvSpPr>
        <p:spPr>
          <a:xfrm>
            <a:off x="812800" y="5670550"/>
            <a:ext cx="5233416" cy="18288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ourier New" pitchFamily="34" charset="0"/>
                <a:ea typeface="Courier New" pitchFamily="34" charset="-122"/>
                <a:cs typeface="Courier New" pitchFamily="34" charset="-120"/>
              </a:rPr>
              <a:t>nightcore709.github.io/qed-agent-wallet</a:t>
            </a:r>
            <a:endParaRPr lang="en-US" sz="1200" dirty="0"/>
          </a:p>
        </p:txBody>
      </p:sp>
      <p:sp>
        <p:nvSpPr>
          <p:cNvPr id="10" name="Text 8"/>
          <p:cNvSpPr txBox="1"/>
          <p:nvPr/>
        </p:nvSpPr>
        <p:spPr>
          <a:xfrm>
            <a:off x="6248400" y="5448300"/>
            <a:ext cx="5233416"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Code, evidence, docs</a:t>
            </a:r>
            <a:endParaRPr lang="en-US" sz="1200" dirty="0"/>
          </a:p>
        </p:txBody>
      </p:sp>
      <p:sp>
        <p:nvSpPr>
          <p:cNvPr id="11" name="Text 9"/>
          <p:cNvSpPr txBox="1"/>
          <p:nvPr/>
        </p:nvSpPr>
        <p:spPr>
          <a:xfrm>
            <a:off x="6248400" y="5670550"/>
            <a:ext cx="5233416" cy="18288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ourier New" pitchFamily="34" charset="0"/>
                <a:ea typeface="Courier New" pitchFamily="34" charset="-122"/>
                <a:cs typeface="Courier New" pitchFamily="34" charset="-120"/>
              </a:rPr>
              <a:t>github.com/Nightcore709/qed-agent-wallet</a:t>
            </a:r>
            <a:endParaRPr lang="en-US" sz="1200" dirty="0"/>
          </a:p>
        </p:txBody>
      </p:sp>
      <p:sp>
        <p:nvSpPr>
          <p:cNvPr id="12" name="Text 10"/>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QED · FinTechathon 2026 · International Track · Topic F</a:t>
            </a:r>
            <a:endParaRPr lang="en-US" sz="1200" dirty="0"/>
          </a:p>
        </p:txBody>
      </p:sp>
      <p:sp>
        <p:nvSpPr>
          <p:cNvPr id="13" name="Text 11"/>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A9BACB"/>
                </a:solidFill>
                <a:latin typeface="Calibri" pitchFamily="34" charset="0"/>
                <a:ea typeface="Calibri" pitchFamily="34" charset="-122"/>
                <a:cs typeface="Calibri" pitchFamily="34" charset="-120"/>
              </a:rPr>
              <a:t>11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46C4B0"/>
                </a:solidFill>
                <a:latin typeface="Calibri" pitchFamily="34" charset="0"/>
                <a:ea typeface="Calibri" pitchFamily="34" charset="-122"/>
                <a:cs typeface="Calibri" pitchFamily="34" charset="-120"/>
              </a:rPr>
              <a:t>THE INSIGHT</a:t>
            </a:r>
            <a:endParaRPr lang="en-US" sz="1200" dirty="0"/>
          </a:p>
        </p:txBody>
      </p:sp>
      <p:sp>
        <p:nvSpPr>
          <p:cNvPr id="3" name="Text 1"/>
          <p:cNvSpPr txBox="1"/>
          <p:nvPr/>
        </p:nvSpPr>
        <p:spPr>
          <a:xfrm>
            <a:off x="812800" y="1174750"/>
            <a:ext cx="10777728" cy="800100"/>
          </a:xfrm>
          <a:prstGeom prst="rect">
            <a:avLst/>
          </a:prstGeom>
          <a:noFill/>
          <a:ln/>
        </p:spPr>
        <p:txBody>
          <a:bodyPr wrap="square" lIns="0" tIns="0" rIns="0" bIns="0" rtlCol="0" anchor="t"/>
          <a:lstStyle/>
          <a:p>
            <a:pPr algn="l" indent="0" marL="0">
              <a:lnSpc>
                <a:spcPts val="6300"/>
              </a:lnSpc>
              <a:buNone/>
            </a:pPr>
            <a:r>
              <a:rPr lang="en-US" sz="6000" dirty="0">
                <a:solidFill>
                  <a:srgbClr val="E4ECF1"/>
                </a:solidFill>
                <a:latin typeface="Cambria" pitchFamily="34" charset="0"/>
                <a:ea typeface="Cambria" pitchFamily="34" charset="-122"/>
                <a:cs typeface="Cambria" pitchFamily="34" charset="-120"/>
              </a:rPr>
              <a:t>A price vector is a proof.</a:t>
            </a:r>
            <a:endParaRPr lang="en-US" sz="6000" dirty="0"/>
          </a:p>
        </p:txBody>
      </p:sp>
      <p:sp>
        <p:nvSpPr>
          <p:cNvPr id="4" name="Text 2"/>
          <p:cNvSpPr txBox="1"/>
          <p:nvPr/>
        </p:nvSpPr>
        <p:spPr>
          <a:xfrm>
            <a:off x="812800" y="2152650"/>
            <a:ext cx="10777728" cy="365760"/>
          </a:xfrm>
          <a:prstGeom prst="rect">
            <a:avLst/>
          </a:prstGeom>
          <a:noFill/>
          <a:ln/>
        </p:spPr>
        <p:txBody>
          <a:bodyPr wrap="square" lIns="0" tIns="0" rIns="0" bIns="0" rtlCol="0" anchor="t"/>
          <a:lstStyle/>
          <a:p>
            <a:pPr algn="l" indent="0" marL="0">
              <a:lnSpc>
                <a:spcPts val="2880"/>
              </a:lnSpc>
              <a:buNone/>
            </a:pPr>
            <a:r>
              <a:rPr lang="en-US" sz="2400" i="1" dirty="0">
                <a:solidFill>
                  <a:srgbClr val="A9BACB"/>
                </a:solidFill>
                <a:latin typeface="Cambria" pitchFamily="34" charset="0"/>
                <a:ea typeface="Cambria" pitchFamily="34" charset="-122"/>
                <a:cs typeface="Cambria" pitchFamily="34" charset="-120"/>
              </a:rPr>
              <a:t>For any prices ν, no route through the owner's venues can return more than</a:t>
            </a:r>
            <a:endParaRPr lang="en-US" sz="2400" dirty="0"/>
          </a:p>
        </p:txBody>
      </p:sp>
      <p:sp>
        <p:nvSpPr>
          <p:cNvPr id="5" name="Text 3"/>
          <p:cNvSpPr txBox="1"/>
          <p:nvPr/>
        </p:nvSpPr>
        <p:spPr>
          <a:xfrm>
            <a:off x="812800" y="2696170"/>
            <a:ext cx="10777728" cy="416520"/>
          </a:xfrm>
          <a:prstGeom prst="rect">
            <a:avLst/>
          </a:prstGeom>
          <a:noFill/>
          <a:ln/>
        </p:spPr>
        <p:txBody>
          <a:bodyPr wrap="square" lIns="0" tIns="0" rIns="0" bIns="0" rtlCol="0" anchor="t"/>
          <a:lstStyle/>
          <a:p>
            <a:pPr algn="l" indent="0" marL="0">
              <a:lnSpc>
                <a:spcPts val="2880"/>
              </a:lnSpc>
              <a:buNone/>
            </a:pPr>
            <a:r>
              <a:rPr lang="en-US" sz="2400" dirty="0">
                <a:solidFill>
                  <a:srgbClr val="E4ECF1"/>
                </a:solidFill>
                <a:latin typeface="Cambria" pitchFamily="34" charset="0"/>
                <a:ea typeface="Cambria" pitchFamily="34" charset="-122"/>
                <a:cs typeface="Cambria" pitchFamily="34" charset="-120"/>
              </a:rPr>
              <a:t>B(ν) = ν</a:t>
            </a:r>
            <a:pPr algn="l" indent="0" marL="0">
              <a:lnSpc>
                <a:spcPts val="2880"/>
              </a:lnSpc>
              <a:buNone/>
            </a:pPr>
            <a:r>
              <a:rPr lang="en-US" sz="2000" baseline="-40000" dirty="0">
                <a:solidFill>
                  <a:srgbClr val="E4ECF1"/>
                </a:solidFill>
                <a:latin typeface="Cambria" pitchFamily="34" charset="0"/>
                <a:ea typeface="Cambria" pitchFamily="34" charset="-122"/>
                <a:cs typeface="Cambria" pitchFamily="34" charset="-120"/>
              </a:rPr>
              <a:t>s</a:t>
            </a:r>
            <a:pPr algn="l" indent="0" marL="0">
              <a:lnSpc>
                <a:spcPts val="2880"/>
              </a:lnSpc>
              <a:buNone/>
            </a:pPr>
            <a:r>
              <a:rPr lang="en-US" sz="2400" dirty="0">
                <a:solidFill>
                  <a:srgbClr val="E4ECF1"/>
                </a:solidFill>
                <a:latin typeface="Cambria" pitchFamily="34" charset="0"/>
                <a:ea typeface="Cambria" pitchFamily="34" charset="-122"/>
                <a:cs typeface="Cambria" pitchFamily="34" charset="-120"/>
              </a:rPr>
              <a:t>A + Σ</a:t>
            </a:r>
            <a:pPr algn="l" indent="0" marL="0">
              <a:lnSpc>
                <a:spcPts val="2880"/>
              </a:lnSpc>
              <a:buNone/>
            </a:pPr>
            <a:r>
              <a:rPr lang="en-US" sz="2000" baseline="-40000" dirty="0">
                <a:solidFill>
                  <a:srgbClr val="E4ECF1"/>
                </a:solidFill>
                <a:latin typeface="Cambria" pitchFamily="34" charset="0"/>
                <a:ea typeface="Cambria" pitchFamily="34" charset="-122"/>
                <a:cs typeface="Cambria" pitchFamily="34" charset="-120"/>
              </a:rPr>
              <a:t>venues</a:t>
            </a:r>
            <a:pPr algn="l" indent="0" marL="0">
              <a:lnSpc>
                <a:spcPts val="2880"/>
              </a:lnSpc>
              <a:buNone/>
            </a:pPr>
            <a:r>
              <a:rPr lang="en-US" sz="2400" dirty="0">
                <a:solidFill>
                  <a:srgbClr val="E4ECF1"/>
                </a:solidFill>
                <a:latin typeface="Cambria" pitchFamily="34" charset="0"/>
                <a:ea typeface="Cambria" pitchFamily="34" charset="-122"/>
                <a:cs typeface="Cambria" pitchFamily="34" charset="-120"/>
              </a:rPr>
              <a:t> [ (√(ν</a:t>
            </a:r>
            <a:pPr algn="l" indent="0" marL="0">
              <a:lnSpc>
                <a:spcPts val="2880"/>
              </a:lnSpc>
              <a:buNone/>
            </a:pPr>
            <a:r>
              <a:rPr lang="en-US" sz="2000" baseline="-40000" dirty="0">
                <a:solidFill>
                  <a:srgbClr val="E4ECF1"/>
                </a:solidFill>
                <a:latin typeface="Cambria" pitchFamily="34" charset="0"/>
                <a:ea typeface="Cambria" pitchFamily="34" charset="-122"/>
                <a:cs typeface="Cambria" pitchFamily="34" charset="-120"/>
              </a:rPr>
              <a:t>b</a:t>
            </a:r>
            <a:pPr algn="l" indent="0" marL="0">
              <a:lnSpc>
                <a:spcPts val="2880"/>
              </a:lnSpc>
              <a:buNone/>
            </a:pPr>
            <a:r>
              <a:rPr lang="en-US" sz="2400" dirty="0">
                <a:solidFill>
                  <a:srgbClr val="E4ECF1"/>
                </a:solidFill>
                <a:latin typeface="Cambria" pitchFamily="34" charset="0"/>
                <a:ea typeface="Cambria" pitchFamily="34" charset="-122"/>
                <a:cs typeface="Cambria" pitchFamily="34" charset="-120"/>
              </a:rPr>
              <a:t>R</a:t>
            </a:r>
            <a:pPr algn="l" indent="0" marL="0">
              <a:lnSpc>
                <a:spcPts val="2880"/>
              </a:lnSpc>
              <a:buNone/>
            </a:pPr>
            <a:r>
              <a:rPr lang="en-US" sz="2000" baseline="-40000" dirty="0">
                <a:solidFill>
                  <a:srgbClr val="E4ECF1"/>
                </a:solidFill>
                <a:latin typeface="Cambria" pitchFamily="34" charset="0"/>
                <a:ea typeface="Cambria" pitchFamily="34" charset="-122"/>
                <a:cs typeface="Cambria" pitchFamily="34" charset="-120"/>
              </a:rPr>
              <a:t>b</a:t>
            </a:r>
            <a:pPr algn="l" indent="0" marL="0">
              <a:lnSpc>
                <a:spcPts val="2880"/>
              </a:lnSpc>
              <a:buNone/>
            </a:pPr>
            <a:r>
              <a:rPr lang="en-US" sz="2400" dirty="0">
                <a:solidFill>
                  <a:srgbClr val="E4ECF1"/>
                </a:solidFill>
                <a:latin typeface="Cambria" pitchFamily="34" charset="0"/>
                <a:ea typeface="Cambria" pitchFamily="34" charset="-122"/>
                <a:cs typeface="Cambria" pitchFamily="34" charset="-120"/>
              </a:rPr>
              <a:t>) − √(ν</a:t>
            </a:r>
            <a:pPr algn="l" indent="0" marL="0">
              <a:lnSpc>
                <a:spcPts val="2880"/>
              </a:lnSpc>
              <a:buNone/>
            </a:pPr>
            <a:r>
              <a:rPr lang="en-US" sz="2000" baseline="-40000" dirty="0">
                <a:solidFill>
                  <a:srgbClr val="E4ECF1"/>
                </a:solidFill>
                <a:latin typeface="Cambria" pitchFamily="34" charset="0"/>
                <a:ea typeface="Cambria" pitchFamily="34" charset="-122"/>
                <a:cs typeface="Cambria" pitchFamily="34" charset="-120"/>
              </a:rPr>
              <a:t>a</a:t>
            </a:r>
            <a:pPr algn="l" indent="0" marL="0">
              <a:lnSpc>
                <a:spcPts val="2880"/>
              </a:lnSpc>
              <a:buNone/>
            </a:pPr>
            <a:r>
              <a:rPr lang="en-US" sz="2400" dirty="0">
                <a:solidFill>
                  <a:srgbClr val="E4ECF1"/>
                </a:solidFill>
                <a:latin typeface="Cambria" pitchFamily="34" charset="0"/>
                <a:ea typeface="Cambria" pitchFamily="34" charset="-122"/>
                <a:cs typeface="Cambria" pitchFamily="34" charset="-120"/>
              </a:rPr>
              <a:t>R</a:t>
            </a:r>
            <a:pPr algn="l" indent="0" marL="0">
              <a:lnSpc>
                <a:spcPts val="2880"/>
              </a:lnSpc>
              <a:buNone/>
            </a:pPr>
            <a:r>
              <a:rPr lang="en-US" sz="2000" baseline="-40000" dirty="0">
                <a:solidFill>
                  <a:srgbClr val="E4ECF1"/>
                </a:solidFill>
                <a:latin typeface="Cambria" pitchFamily="34" charset="0"/>
                <a:ea typeface="Cambria" pitchFamily="34" charset="-122"/>
                <a:cs typeface="Cambria" pitchFamily="34" charset="-120"/>
              </a:rPr>
              <a:t>a</a:t>
            </a:r>
            <a:pPr algn="l" indent="0" marL="0">
              <a:lnSpc>
                <a:spcPts val="2880"/>
              </a:lnSpc>
              <a:buNone/>
            </a:pPr>
            <a:r>
              <a:rPr lang="en-US" sz="2400" dirty="0">
                <a:solidFill>
                  <a:srgbClr val="E4ECF1"/>
                </a:solidFill>
                <a:latin typeface="Cambria" pitchFamily="34" charset="0"/>
                <a:ea typeface="Cambria" pitchFamily="34" charset="-122"/>
                <a:cs typeface="Cambria" pitchFamily="34" charset="-120"/>
              </a:rPr>
              <a:t>/γ))₊² + (√(ν</a:t>
            </a:r>
            <a:pPr algn="l" indent="0" marL="0">
              <a:lnSpc>
                <a:spcPts val="2880"/>
              </a:lnSpc>
              <a:buNone/>
            </a:pPr>
            <a:r>
              <a:rPr lang="en-US" sz="2000" baseline="-40000" dirty="0">
                <a:solidFill>
                  <a:srgbClr val="E4ECF1"/>
                </a:solidFill>
                <a:latin typeface="Cambria" pitchFamily="34" charset="0"/>
                <a:ea typeface="Cambria" pitchFamily="34" charset="-122"/>
                <a:cs typeface="Cambria" pitchFamily="34" charset="-120"/>
              </a:rPr>
              <a:t>a</a:t>
            </a:r>
            <a:pPr algn="l" indent="0" marL="0">
              <a:lnSpc>
                <a:spcPts val="2880"/>
              </a:lnSpc>
              <a:buNone/>
            </a:pPr>
            <a:r>
              <a:rPr lang="en-US" sz="2400" dirty="0">
                <a:solidFill>
                  <a:srgbClr val="E4ECF1"/>
                </a:solidFill>
                <a:latin typeface="Cambria" pitchFamily="34" charset="0"/>
                <a:ea typeface="Cambria" pitchFamily="34" charset="-122"/>
                <a:cs typeface="Cambria" pitchFamily="34" charset="-120"/>
              </a:rPr>
              <a:t>R</a:t>
            </a:r>
            <a:pPr algn="l" indent="0" marL="0">
              <a:lnSpc>
                <a:spcPts val="2880"/>
              </a:lnSpc>
              <a:buNone/>
            </a:pPr>
            <a:r>
              <a:rPr lang="en-US" sz="2000" baseline="-40000" dirty="0">
                <a:solidFill>
                  <a:srgbClr val="E4ECF1"/>
                </a:solidFill>
                <a:latin typeface="Cambria" pitchFamily="34" charset="0"/>
                <a:ea typeface="Cambria" pitchFamily="34" charset="-122"/>
                <a:cs typeface="Cambria" pitchFamily="34" charset="-120"/>
              </a:rPr>
              <a:t>a</a:t>
            </a:r>
            <a:pPr algn="l" indent="0" marL="0">
              <a:lnSpc>
                <a:spcPts val="2880"/>
              </a:lnSpc>
              <a:buNone/>
            </a:pPr>
            <a:r>
              <a:rPr lang="en-US" sz="2400" dirty="0">
                <a:solidFill>
                  <a:srgbClr val="E4ECF1"/>
                </a:solidFill>
                <a:latin typeface="Cambria" pitchFamily="34" charset="0"/>
                <a:ea typeface="Cambria" pitchFamily="34" charset="-122"/>
                <a:cs typeface="Cambria" pitchFamily="34" charset="-120"/>
              </a:rPr>
              <a:t>) − √(ν</a:t>
            </a:r>
            <a:pPr algn="l" indent="0" marL="0">
              <a:lnSpc>
                <a:spcPts val="2880"/>
              </a:lnSpc>
              <a:buNone/>
            </a:pPr>
            <a:r>
              <a:rPr lang="en-US" sz="2000" baseline="-40000" dirty="0">
                <a:solidFill>
                  <a:srgbClr val="E4ECF1"/>
                </a:solidFill>
                <a:latin typeface="Cambria" pitchFamily="34" charset="0"/>
                <a:ea typeface="Cambria" pitchFamily="34" charset="-122"/>
                <a:cs typeface="Cambria" pitchFamily="34" charset="-120"/>
              </a:rPr>
              <a:t>b</a:t>
            </a:r>
            <a:pPr algn="l" indent="0" marL="0">
              <a:lnSpc>
                <a:spcPts val="2880"/>
              </a:lnSpc>
              <a:buNone/>
            </a:pPr>
            <a:r>
              <a:rPr lang="en-US" sz="2400" dirty="0">
                <a:solidFill>
                  <a:srgbClr val="E4ECF1"/>
                </a:solidFill>
                <a:latin typeface="Cambria" pitchFamily="34" charset="0"/>
                <a:ea typeface="Cambria" pitchFamily="34" charset="-122"/>
                <a:cs typeface="Cambria" pitchFamily="34" charset="-120"/>
              </a:rPr>
              <a:t>R</a:t>
            </a:r>
            <a:pPr algn="l" indent="0" marL="0">
              <a:lnSpc>
                <a:spcPts val="2880"/>
              </a:lnSpc>
              <a:buNone/>
            </a:pPr>
            <a:r>
              <a:rPr lang="en-US" sz="2000" baseline="-40000" dirty="0">
                <a:solidFill>
                  <a:srgbClr val="E4ECF1"/>
                </a:solidFill>
                <a:latin typeface="Cambria" pitchFamily="34" charset="0"/>
                <a:ea typeface="Cambria" pitchFamily="34" charset="-122"/>
                <a:cs typeface="Cambria" pitchFamily="34" charset="-120"/>
              </a:rPr>
              <a:t>b</a:t>
            </a:r>
            <a:pPr algn="l" indent="0" marL="0">
              <a:lnSpc>
                <a:spcPts val="2880"/>
              </a:lnSpc>
              <a:buNone/>
            </a:pPr>
            <a:r>
              <a:rPr lang="en-US" sz="2400" dirty="0">
                <a:solidFill>
                  <a:srgbClr val="E4ECF1"/>
                </a:solidFill>
                <a:latin typeface="Cambria" pitchFamily="34" charset="0"/>
                <a:ea typeface="Cambria" pitchFamily="34" charset="-122"/>
                <a:cs typeface="Cambria" pitchFamily="34" charset="-120"/>
              </a:rPr>
              <a:t>/γ))₊² ]</a:t>
            </a:r>
            <a:endParaRPr lang="en-US" sz="2400" dirty="0"/>
          </a:p>
        </p:txBody>
      </p:sp>
      <p:sp>
        <p:nvSpPr>
          <p:cNvPr id="6" name="Text 4"/>
          <p:cNvSpPr txBox="1"/>
          <p:nvPr/>
        </p:nvSpPr>
        <p:spPr>
          <a:xfrm>
            <a:off x="812800" y="3290491"/>
            <a:ext cx="10777728" cy="240010"/>
          </a:xfrm>
          <a:prstGeom prst="rect">
            <a:avLst/>
          </a:prstGeom>
          <a:noFill/>
          <a:ln/>
        </p:spPr>
        <p:txBody>
          <a:bodyPr wrap="square" lIns="0" tIns="0" rIns="0" bIns="0" rtlCol="0" anchor="t"/>
          <a:lstStyle/>
          <a:p>
            <a:pPr algn="l" indent="0" marL="0">
              <a:lnSpc>
                <a:spcPts val="1680"/>
              </a:lnSpc>
              <a:buNone/>
            </a:pPr>
            <a:r>
              <a:rPr lang="en-US" sz="1200" dirty="0">
                <a:solidFill>
                  <a:srgbClr val="A9BACB"/>
                </a:solidFill>
                <a:latin typeface="Calibri" pitchFamily="34" charset="0"/>
                <a:ea typeface="Calibri" pitchFamily="34" charset="-122"/>
                <a:cs typeface="Calibri" pitchFamily="34" charset="-120"/>
              </a:rPr>
              <a:t>A is the input, R</a:t>
            </a:r>
            <a:pPr algn="l" indent="0" marL="0">
              <a:lnSpc>
                <a:spcPts val="1680"/>
              </a:lnSpc>
              <a:buNone/>
            </a:pPr>
            <a:r>
              <a:rPr lang="en-US" sz="1000" baseline="-40000" dirty="0">
                <a:solidFill>
                  <a:srgbClr val="A9BACB"/>
                </a:solidFill>
                <a:latin typeface="Calibri" pitchFamily="34" charset="0"/>
                <a:ea typeface="Calibri" pitchFamily="34" charset="-122"/>
                <a:cs typeface="Calibri" pitchFamily="34" charset="-120"/>
              </a:rPr>
              <a:t>a</a:t>
            </a:r>
            <a:pPr algn="l" indent="0" marL="0">
              <a:lnSpc>
                <a:spcPts val="1680"/>
              </a:lnSpc>
              <a:buNone/>
            </a:pPr>
            <a:r>
              <a:rPr lang="en-US" sz="1200" dirty="0">
                <a:solidFill>
                  <a:srgbClr val="A9BACB"/>
                </a:solidFill>
                <a:latin typeface="Calibri" pitchFamily="34" charset="0"/>
                <a:ea typeface="Calibri" pitchFamily="34" charset="-122"/>
                <a:cs typeface="Calibri" pitchFamily="34" charset="-120"/>
              </a:rPr>
              <a:t>, R</a:t>
            </a:r>
            <a:pPr algn="l" indent="0" marL="0">
              <a:lnSpc>
                <a:spcPts val="1680"/>
              </a:lnSpc>
              <a:buNone/>
            </a:pPr>
            <a:r>
              <a:rPr lang="en-US" sz="1000" baseline="-40000" dirty="0">
                <a:solidFill>
                  <a:srgbClr val="A9BACB"/>
                </a:solidFill>
                <a:latin typeface="Calibri" pitchFamily="34" charset="0"/>
                <a:ea typeface="Calibri" pitchFamily="34" charset="-122"/>
                <a:cs typeface="Calibri" pitchFamily="34" charset="-120"/>
              </a:rPr>
              <a:t>b</a:t>
            </a:r>
            <a:pPr algn="l" indent="0" marL="0">
              <a:lnSpc>
                <a:spcPts val="1680"/>
              </a:lnSpc>
              <a:buNone/>
            </a:pPr>
            <a:r>
              <a:rPr lang="en-US" sz="1200" dirty="0">
                <a:solidFill>
                  <a:srgbClr val="A9BACB"/>
                </a:solidFill>
                <a:latin typeface="Calibri" pitchFamily="34" charset="0"/>
                <a:ea typeface="Calibri" pitchFamily="34" charset="-122"/>
                <a:cs typeface="Calibri" pitchFamily="34" charset="-120"/>
              </a:rPr>
              <a:t> a venue's live reserves, 1 − γ its fee. Each term is the most that venue can add at prices ν, in closed form.</a:t>
            </a:r>
            <a:endParaRPr lang="en-US" sz="1200" dirty="0"/>
          </a:p>
        </p:txBody>
      </p:sp>
      <p:sp>
        <p:nvSpPr>
          <p:cNvPr id="7" name="Shape 5"/>
          <p:cNvSpPr/>
          <p:nvPr/>
        </p:nvSpPr>
        <p:spPr>
          <a:xfrm>
            <a:off x="812800" y="4843264"/>
            <a:ext cx="10566400" cy="0"/>
          </a:xfrm>
          <a:prstGeom prst="line">
            <a:avLst/>
          </a:prstGeom>
          <a:noFill/>
          <a:ln w="6350">
            <a:solidFill>
              <a:srgbClr val="2E4A72"/>
            </a:solidFill>
            <a:prstDash val="solid"/>
          </a:ln>
        </p:spPr>
      </p:sp>
      <p:sp>
        <p:nvSpPr>
          <p:cNvPr id="8" name="Text 6"/>
          <p:cNvSpPr txBox="1"/>
          <p:nvPr/>
        </p:nvSpPr>
        <p:spPr>
          <a:xfrm>
            <a:off x="812800" y="5049639"/>
            <a:ext cx="3385245" cy="304800"/>
          </a:xfrm>
          <a:prstGeom prst="rect">
            <a:avLst/>
          </a:prstGeom>
          <a:noFill/>
          <a:ln/>
        </p:spPr>
        <p:txBody>
          <a:bodyPr wrap="square" lIns="0" tIns="0" rIns="0" bIns="0" rtlCol="0" anchor="t"/>
          <a:lstStyle/>
          <a:p>
            <a:pPr algn="l" indent="0" marL="0">
              <a:lnSpc>
                <a:spcPts val="2400"/>
              </a:lnSpc>
              <a:buNone/>
            </a:pPr>
            <a:r>
              <a:rPr lang="en-US" sz="2000" dirty="0">
                <a:solidFill>
                  <a:srgbClr val="46C4B0"/>
                </a:solidFill>
                <a:latin typeface="Cambria" pitchFamily="34" charset="0"/>
                <a:ea typeface="Cambria" pitchFamily="34" charset="-122"/>
                <a:cs typeface="Cambria" pitchFamily="34" charset="-120"/>
              </a:rPr>
              <a:t>Unforgeable</a:t>
            </a:r>
            <a:endParaRPr lang="en-US" sz="2000" dirty="0"/>
          </a:p>
        </p:txBody>
      </p:sp>
      <p:sp>
        <p:nvSpPr>
          <p:cNvPr id="9" name="Text 7"/>
          <p:cNvSpPr txBox="1"/>
          <p:nvPr/>
        </p:nvSpPr>
        <p:spPr>
          <a:xfrm>
            <a:off x="812800" y="5405239"/>
            <a:ext cx="3385245" cy="639961"/>
          </a:xfrm>
          <a:prstGeom prst="rect">
            <a:avLst/>
          </a:prstGeom>
          <a:noFill/>
          <a:ln/>
        </p:spPr>
        <p:txBody>
          <a:bodyPr wrap="square" lIns="0" tIns="0" rIns="0" bIns="0" rtlCol="0" anchor="t"/>
          <a:lstStyle/>
          <a:p>
            <a:pPr algn="l" indent="0" marL="0">
              <a:lnSpc>
                <a:spcPts val="1680"/>
              </a:lnSpc>
              <a:buNone/>
            </a:pPr>
            <a:r>
              <a:rPr lang="en-US" sz="1200" dirty="0">
                <a:solidFill>
                  <a:srgbClr val="A9BACB"/>
                </a:solidFill>
                <a:latin typeface="Calibri" pitchFamily="34" charset="0"/>
                <a:ea typeface="Calibri" pitchFamily="34" charset="-122"/>
                <a:cs typeface="Calibri" pitchFamily="34" charset="-120"/>
              </a:rPr>
              <a:t>Weak duality: every ν gives a valid upper bound. A dishonest agent cannot fake a proof; it can only fail to have one.</a:t>
            </a:r>
            <a:endParaRPr lang="en-US" sz="1200" dirty="0"/>
          </a:p>
        </p:txBody>
      </p:sp>
      <p:sp>
        <p:nvSpPr>
          <p:cNvPr id="10" name="Text 8"/>
          <p:cNvSpPr txBox="1"/>
          <p:nvPr/>
        </p:nvSpPr>
        <p:spPr>
          <a:xfrm>
            <a:off x="4436467" y="5049639"/>
            <a:ext cx="3385346" cy="304800"/>
          </a:xfrm>
          <a:prstGeom prst="rect">
            <a:avLst/>
          </a:prstGeom>
          <a:noFill/>
          <a:ln/>
        </p:spPr>
        <p:txBody>
          <a:bodyPr wrap="square" lIns="0" tIns="0" rIns="0" bIns="0" rtlCol="0" anchor="t"/>
          <a:lstStyle/>
          <a:p>
            <a:pPr algn="l" indent="0" marL="0">
              <a:lnSpc>
                <a:spcPts val="2400"/>
              </a:lnSpc>
              <a:buNone/>
            </a:pPr>
            <a:r>
              <a:rPr lang="en-US" sz="2000" dirty="0">
                <a:solidFill>
                  <a:srgbClr val="46C4B0"/>
                </a:solidFill>
                <a:latin typeface="Cambria" pitchFamily="34" charset="0"/>
                <a:ea typeface="Cambria" pitchFamily="34" charset="-122"/>
                <a:cs typeface="Cambria" pitchFamily="34" charset="-120"/>
              </a:rPr>
              <a:t>Tight</a:t>
            </a:r>
            <a:endParaRPr lang="en-US" sz="2000" dirty="0"/>
          </a:p>
        </p:txBody>
      </p:sp>
      <p:sp>
        <p:nvSpPr>
          <p:cNvPr id="11" name="Text 9"/>
          <p:cNvSpPr txBox="1"/>
          <p:nvPr/>
        </p:nvSpPr>
        <p:spPr>
          <a:xfrm>
            <a:off x="4436467" y="5405239"/>
            <a:ext cx="3385346" cy="426641"/>
          </a:xfrm>
          <a:prstGeom prst="rect">
            <a:avLst/>
          </a:prstGeom>
          <a:noFill/>
          <a:ln/>
        </p:spPr>
        <p:txBody>
          <a:bodyPr wrap="square" lIns="0" tIns="0" rIns="0" bIns="0" rtlCol="0" anchor="t"/>
          <a:lstStyle/>
          <a:p>
            <a:pPr algn="l" indent="0" marL="0">
              <a:lnSpc>
                <a:spcPts val="1680"/>
              </a:lnSpc>
              <a:buNone/>
            </a:pPr>
            <a:r>
              <a:rPr lang="en-US" sz="1200" dirty="0">
                <a:solidFill>
                  <a:srgbClr val="A9BACB"/>
                </a:solidFill>
                <a:latin typeface="Calibri" pitchFamily="34" charset="0"/>
                <a:ea typeface="Calibri" pitchFamily="34" charset="-122"/>
                <a:cs typeface="Calibri" pitchFamily="34" charset="-120"/>
              </a:rPr>
              <a:t>Strong duality: at the right ν the bound meets the optimum. Our solver finds it in a median 3.3 ms.</a:t>
            </a:r>
            <a:endParaRPr lang="en-US" sz="1200" dirty="0"/>
          </a:p>
        </p:txBody>
      </p:sp>
      <p:sp>
        <p:nvSpPr>
          <p:cNvPr id="12" name="Text 10"/>
          <p:cNvSpPr txBox="1"/>
          <p:nvPr/>
        </p:nvSpPr>
        <p:spPr>
          <a:xfrm>
            <a:off x="8060234" y="5049639"/>
            <a:ext cx="3385346" cy="304800"/>
          </a:xfrm>
          <a:prstGeom prst="rect">
            <a:avLst/>
          </a:prstGeom>
          <a:noFill/>
          <a:ln/>
        </p:spPr>
        <p:txBody>
          <a:bodyPr wrap="square" lIns="0" tIns="0" rIns="0" bIns="0" rtlCol="0" anchor="t"/>
          <a:lstStyle/>
          <a:p>
            <a:pPr algn="l" indent="0" marL="0">
              <a:lnSpc>
                <a:spcPts val="2400"/>
              </a:lnSpc>
              <a:buNone/>
            </a:pPr>
            <a:r>
              <a:rPr lang="en-US" sz="2000" dirty="0">
                <a:solidFill>
                  <a:srgbClr val="46C4B0"/>
                </a:solidFill>
                <a:latin typeface="Cambria" pitchFamily="34" charset="0"/>
                <a:ea typeface="Cambria" pitchFamily="34" charset="-122"/>
                <a:cs typeface="Cambria" pitchFamily="34" charset="-120"/>
              </a:rPr>
              <a:t>Exact on-chain</a:t>
            </a:r>
            <a:endParaRPr lang="en-US" sz="2000" dirty="0"/>
          </a:p>
        </p:txBody>
      </p:sp>
      <p:sp>
        <p:nvSpPr>
          <p:cNvPr id="13" name="Text 11"/>
          <p:cNvSpPr txBox="1"/>
          <p:nvPr/>
        </p:nvSpPr>
        <p:spPr>
          <a:xfrm>
            <a:off x="8060234" y="5405239"/>
            <a:ext cx="3385346" cy="426641"/>
          </a:xfrm>
          <a:prstGeom prst="rect">
            <a:avLst/>
          </a:prstGeom>
          <a:noFill/>
          <a:ln/>
        </p:spPr>
        <p:txBody>
          <a:bodyPr wrap="square" lIns="0" tIns="0" rIns="0" bIns="0" rtlCol="0" anchor="t"/>
          <a:lstStyle/>
          <a:p>
            <a:pPr algn="l" indent="0" marL="0">
              <a:lnSpc>
                <a:spcPts val="1680"/>
              </a:lnSpc>
              <a:buNone/>
            </a:pPr>
            <a:r>
              <a:rPr lang="en-US" sz="1200" dirty="0">
                <a:solidFill>
                  <a:srgbClr val="A9BACB"/>
                </a:solidFill>
                <a:latin typeface="Calibri" pitchFamily="34" charset="0"/>
                <a:ea typeface="Calibri" pitchFamily="34" charset="-122"/>
                <a:cs typeface="Calibri" pitchFamily="34" charset="-120"/>
              </a:rPr>
              <a:t>Every rounding step goes up, so the theorem survives integer arithmetic. The check costs O(venues).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THE MECHANISM · QEDEXECUTION.TRADE</a:t>
            </a:r>
            <a:endParaRPr lang="en-US" sz="1200" dirty="0"/>
          </a:p>
        </p:txBody>
      </p:sp>
      <p:sp>
        <p:nvSpPr>
          <p:cNvPr id="3" name="Text 1"/>
          <p:cNvSpPr txBox="1"/>
          <p:nvPr/>
        </p:nvSpPr>
        <p:spPr>
          <a:xfrm>
            <a:off x="812800" y="12001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The agent routes freely. The contract checks one inequality.</a:t>
            </a:r>
            <a:endParaRPr lang="en-US" sz="3200" dirty="0"/>
          </a:p>
        </p:txBody>
      </p:sp>
      <p:sp>
        <p:nvSpPr>
          <p:cNvPr id="4" name="Shape 2"/>
          <p:cNvSpPr/>
          <p:nvPr/>
        </p:nvSpPr>
        <p:spPr>
          <a:xfrm>
            <a:off x="812800" y="1870670"/>
            <a:ext cx="3437434" cy="1232991"/>
          </a:xfrm>
          <a:prstGeom prst="roundRect">
            <a:avLst>
              <a:gd name="adj" fmla="val 4120"/>
            </a:avLst>
          </a:prstGeom>
          <a:solidFill>
            <a:srgbClr val="FBFCFC"/>
          </a:solidFill>
          <a:ln w="6350">
            <a:solidFill>
              <a:srgbClr val="D6DEE1"/>
            </a:solidFill>
            <a:prstDash val="solid"/>
          </a:ln>
        </p:spPr>
      </p:sp>
      <p:sp>
        <p:nvSpPr>
          <p:cNvPr id="5" name="Text 3"/>
          <p:cNvSpPr txBox="1"/>
          <p:nvPr/>
        </p:nvSpPr>
        <p:spPr>
          <a:xfrm>
            <a:off x="984250" y="2042120"/>
            <a:ext cx="3156424"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1 · Order</a:t>
            </a:r>
            <a:endParaRPr lang="en-US" sz="1500" dirty="0"/>
          </a:p>
        </p:txBody>
      </p:sp>
      <p:sp>
        <p:nvSpPr>
          <p:cNvPr id="6" name="Text 4"/>
          <p:cNvSpPr txBox="1"/>
          <p:nvPr/>
        </p:nvSpPr>
        <p:spPr>
          <a:xfrm>
            <a:off x="984250" y="2315170"/>
            <a:ext cx="3156424" cy="61704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The co-signer's certificate commits to hash(order): recipient in the owner's mandate, its own floor, τ, the venue set.</a:t>
            </a:r>
            <a:endParaRPr lang="en-US" sz="1200" dirty="0"/>
          </a:p>
        </p:txBody>
      </p:sp>
      <p:sp>
        <p:nvSpPr>
          <p:cNvPr id="7" name="Shape 5"/>
          <p:cNvSpPr/>
          <p:nvPr/>
        </p:nvSpPr>
        <p:spPr>
          <a:xfrm>
            <a:off x="4377234" y="1870670"/>
            <a:ext cx="3437434" cy="1232991"/>
          </a:xfrm>
          <a:prstGeom prst="roundRect">
            <a:avLst>
              <a:gd name="adj" fmla="val 4120"/>
            </a:avLst>
          </a:prstGeom>
          <a:solidFill>
            <a:srgbClr val="FBFCFC"/>
          </a:solidFill>
          <a:ln w="6350">
            <a:solidFill>
              <a:srgbClr val="D6DEE1"/>
            </a:solidFill>
            <a:prstDash val="solid"/>
          </a:ln>
        </p:spPr>
      </p:sp>
      <p:sp>
        <p:nvSpPr>
          <p:cNvPr id="8" name="Text 6"/>
          <p:cNvSpPr txBox="1"/>
          <p:nvPr/>
        </p:nvSpPr>
        <p:spPr>
          <a:xfrm>
            <a:off x="4548684" y="2042120"/>
            <a:ext cx="3156424"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2 · Bound</a:t>
            </a:r>
            <a:endParaRPr lang="en-US" sz="1500" dirty="0"/>
          </a:p>
        </p:txBody>
      </p:sp>
      <p:sp>
        <p:nvSpPr>
          <p:cNvPr id="9" name="Text 7"/>
          <p:cNvSpPr txBox="1"/>
          <p:nvPr/>
        </p:nvSpPr>
        <p:spPr>
          <a:xfrm>
            <a:off x="4548684" y="2315170"/>
            <a:ext cx="3156424"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B̂(ν) from the live reserves of every owner venue, not only those used, every step rounded up.</a:t>
            </a:r>
            <a:endParaRPr lang="en-US" sz="1200" dirty="0"/>
          </a:p>
        </p:txBody>
      </p:sp>
      <p:sp>
        <p:nvSpPr>
          <p:cNvPr id="10" name="Shape 8"/>
          <p:cNvSpPr/>
          <p:nvPr/>
        </p:nvSpPr>
        <p:spPr>
          <a:xfrm>
            <a:off x="7941667" y="1870670"/>
            <a:ext cx="3437434" cy="1232991"/>
          </a:xfrm>
          <a:prstGeom prst="roundRect">
            <a:avLst>
              <a:gd name="adj" fmla="val 4120"/>
            </a:avLst>
          </a:prstGeom>
          <a:solidFill>
            <a:srgbClr val="FBFCFC"/>
          </a:solidFill>
          <a:ln w="6350">
            <a:solidFill>
              <a:srgbClr val="D6DEE1"/>
            </a:solidFill>
            <a:prstDash val="solid"/>
          </a:ln>
        </p:spPr>
      </p:sp>
      <p:sp>
        <p:nvSpPr>
          <p:cNvPr id="11" name="Text 9"/>
          <p:cNvSpPr txBox="1"/>
          <p:nvPr/>
        </p:nvSpPr>
        <p:spPr>
          <a:xfrm>
            <a:off x="8113117" y="2042120"/>
            <a:ext cx="3156424"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3 · Funding</a:t>
            </a:r>
            <a:endParaRPr lang="en-US" sz="1500" dirty="0"/>
          </a:p>
        </p:txBody>
      </p:sp>
      <p:sp>
        <p:nvSpPr>
          <p:cNvPr id="12" name="Text 10"/>
          <p:cNvSpPr txBox="1"/>
          <p:nvPr/>
        </p:nvSpPr>
        <p:spPr>
          <a:xfrm>
            <a:off x="8113117" y="2315170"/>
            <a:ext cx="3156424" cy="61704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The unchanged QEDVault pays exactly A: mandate, co-signature, caps and solvency all still apply.</a:t>
            </a:r>
            <a:endParaRPr lang="en-US" sz="1200" dirty="0"/>
          </a:p>
        </p:txBody>
      </p:sp>
      <p:sp>
        <p:nvSpPr>
          <p:cNvPr id="13" name="Shape 11"/>
          <p:cNvSpPr/>
          <p:nvPr/>
        </p:nvSpPr>
        <p:spPr>
          <a:xfrm>
            <a:off x="812800" y="3230662"/>
            <a:ext cx="3437434" cy="1245691"/>
          </a:xfrm>
          <a:prstGeom prst="roundRect">
            <a:avLst>
              <a:gd name="adj" fmla="val 4078"/>
            </a:avLst>
          </a:prstGeom>
          <a:solidFill>
            <a:srgbClr val="FBFCFC"/>
          </a:solidFill>
          <a:ln w="6350">
            <a:solidFill>
              <a:srgbClr val="D6DEE1"/>
            </a:solidFill>
            <a:prstDash val="solid"/>
          </a:ln>
        </p:spPr>
      </p:sp>
      <p:sp>
        <p:nvSpPr>
          <p:cNvPr id="14" name="Text 12"/>
          <p:cNvSpPr txBox="1"/>
          <p:nvPr/>
        </p:nvSpPr>
        <p:spPr>
          <a:xfrm>
            <a:off x="984250" y="3402112"/>
            <a:ext cx="3156424"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4 · Route</a:t>
            </a:r>
            <a:endParaRPr lang="en-US" sz="1500" dirty="0"/>
          </a:p>
        </p:txBody>
      </p:sp>
      <p:sp>
        <p:nvSpPr>
          <p:cNvPr id="15" name="Text 13"/>
          <p:cNvSpPr txBox="1"/>
          <p:nvPr/>
        </p:nvSpPr>
        <p:spPr>
          <a:xfrm>
            <a:off x="984250" y="3675162"/>
            <a:ext cx="3156424"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Up to 32 hops of any shape: splits, multi-hop, the same pool twice.</a:t>
            </a:r>
            <a:endParaRPr lang="en-US" sz="1200" dirty="0"/>
          </a:p>
        </p:txBody>
      </p:sp>
      <p:sp>
        <p:nvSpPr>
          <p:cNvPr id="16" name="Shape 14"/>
          <p:cNvSpPr/>
          <p:nvPr/>
        </p:nvSpPr>
        <p:spPr>
          <a:xfrm>
            <a:off x="4377234" y="3230662"/>
            <a:ext cx="3437434" cy="1245691"/>
          </a:xfrm>
          <a:prstGeom prst="roundRect">
            <a:avLst>
              <a:gd name="adj" fmla="val 4078"/>
            </a:avLst>
          </a:prstGeom>
          <a:solidFill>
            <a:srgbClr val="FBFCFC"/>
          </a:solidFill>
          <a:ln w="6350">
            <a:solidFill>
              <a:srgbClr val="D6DEE1"/>
            </a:solidFill>
            <a:prstDash val="solid"/>
          </a:ln>
        </p:spPr>
      </p:sp>
      <p:sp>
        <p:nvSpPr>
          <p:cNvPr id="17" name="Text 15"/>
          <p:cNvSpPr txBox="1"/>
          <p:nvPr/>
        </p:nvSpPr>
        <p:spPr>
          <a:xfrm>
            <a:off x="4548684" y="3402112"/>
            <a:ext cx="3156424"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5 · Nothing left</a:t>
            </a:r>
            <a:endParaRPr lang="en-US" sz="1500" dirty="0"/>
          </a:p>
        </p:txBody>
      </p:sp>
      <p:sp>
        <p:nvSpPr>
          <p:cNvPr id="18" name="Text 16"/>
          <p:cNvSpPr txBox="1"/>
          <p:nvPr/>
        </p:nvSpPr>
        <p:spPr>
          <a:xfrm>
            <a:off x="4548684" y="3675162"/>
            <a:ext cx="3156424"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No intermediate token may stay behind; unspent input goes back to the vault.</a:t>
            </a:r>
            <a:endParaRPr lang="en-US" sz="1200" dirty="0"/>
          </a:p>
        </p:txBody>
      </p:sp>
      <p:sp>
        <p:nvSpPr>
          <p:cNvPr id="19" name="Shape 17"/>
          <p:cNvSpPr/>
          <p:nvPr/>
        </p:nvSpPr>
        <p:spPr>
          <a:xfrm>
            <a:off x="7941667" y="3230662"/>
            <a:ext cx="3437434" cy="1245691"/>
          </a:xfrm>
          <a:prstGeom prst="roundRect">
            <a:avLst>
              <a:gd name="adj" fmla="val 4078"/>
            </a:avLst>
          </a:prstGeom>
          <a:solidFill>
            <a:srgbClr val="E3F0EE"/>
          </a:solidFill>
          <a:ln w="12700">
            <a:solidFill>
              <a:srgbClr val="0A7468"/>
            </a:solidFill>
            <a:prstDash val="solid"/>
          </a:ln>
        </p:spPr>
      </p:sp>
      <p:sp>
        <p:nvSpPr>
          <p:cNvPr id="20" name="Text 18"/>
          <p:cNvSpPr txBox="1"/>
          <p:nvPr/>
        </p:nvSpPr>
        <p:spPr>
          <a:xfrm>
            <a:off x="8119467" y="3408462"/>
            <a:ext cx="3143470"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6 · Two checks</a:t>
            </a:r>
            <a:endParaRPr lang="en-US" sz="1500" dirty="0"/>
          </a:p>
        </p:txBody>
      </p:sp>
      <p:sp>
        <p:nvSpPr>
          <p:cNvPr id="21" name="Text 19"/>
          <p:cNvSpPr txBox="1"/>
          <p:nvPr/>
        </p:nvSpPr>
        <p:spPr>
          <a:xfrm>
            <a:off x="8119467" y="3681512"/>
            <a:ext cx="3143470" cy="61704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out ≥ floor (market risk) and out·10⁶ ≥ B̂·(10⁶ − τ) (best execution), out measured as a balance change.</a:t>
            </a:r>
            <a:endParaRPr lang="en-US" sz="1200" dirty="0"/>
          </a:p>
        </p:txBody>
      </p:sp>
      <p:sp>
        <p:nvSpPr>
          <p:cNvPr id="22" name="Shape 20"/>
          <p:cNvSpPr/>
          <p:nvPr/>
        </p:nvSpPr>
        <p:spPr>
          <a:xfrm>
            <a:off x="812800" y="4682728"/>
            <a:ext cx="10566400" cy="0"/>
          </a:xfrm>
          <a:prstGeom prst="line">
            <a:avLst/>
          </a:prstGeom>
          <a:noFill/>
          <a:ln w="6350">
            <a:solidFill>
              <a:srgbClr val="D6DEE1"/>
            </a:solidFill>
            <a:prstDash val="solid"/>
          </a:ln>
        </p:spPr>
      </p:sp>
      <p:sp>
        <p:nvSpPr>
          <p:cNvPr id="23" name="Text 21"/>
          <p:cNvSpPr txBox="1"/>
          <p:nvPr/>
        </p:nvSpPr>
        <p:spPr>
          <a:xfrm>
            <a:off x="812800" y="4838303"/>
            <a:ext cx="10777728" cy="297180"/>
          </a:xfrm>
          <a:prstGeom prst="rect">
            <a:avLst/>
          </a:prstGeom>
          <a:noFill/>
          <a:ln/>
        </p:spPr>
        <p:txBody>
          <a:bodyPr wrap="square" lIns="0" tIns="0" rIns="0" bIns="0" rtlCol="0" anchor="t"/>
          <a:lstStyle/>
          <a:p>
            <a:pPr algn="l" indent="0" marL="0">
              <a:lnSpc>
                <a:spcPts val="2340"/>
              </a:lnSpc>
              <a:buNone/>
            </a:pPr>
            <a:r>
              <a:rPr lang="en-US" sz="1800" dirty="0">
                <a:solidFill>
                  <a:srgbClr val="13233F"/>
                </a:solidFill>
                <a:latin typeface="Cambria" pitchFamily="34" charset="0"/>
                <a:ea typeface="Cambria" pitchFamily="34" charset="-122"/>
                <a:cs typeface="Cambria" pitchFamily="34" charset="-120"/>
              </a:rPr>
              <a:t>Every accepted trade delivered at least (1 − τ)·OPT on the state it executed against, whatever route the agent chose.</a:t>
            </a:r>
            <a:endParaRPr lang="en-US" sz="1800" dirty="0"/>
          </a:p>
        </p:txBody>
      </p:sp>
      <p:sp>
        <p:nvSpPr>
          <p:cNvPr id="24" name="Text 22"/>
          <p:cNvSpPr txBox="1"/>
          <p:nvPr/>
        </p:nvSpPr>
        <p:spPr>
          <a:xfrm>
            <a:off x="812800" y="6267450"/>
            <a:ext cx="77724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Proof: docs/ALGORITHMS.md §12 · contract: contracts/src/QEDExecution.sol</a:t>
            </a:r>
            <a:endParaRPr lang="en-US" sz="1200" dirty="0"/>
          </a:p>
        </p:txBody>
      </p:sp>
      <p:sp>
        <p:nvSpPr>
          <p:cNvPr id="25" name="Text 23"/>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Appendix A2</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B1262E"/>
                </a:solidFill>
                <a:latin typeface="Calibri" pitchFamily="34" charset="0"/>
                <a:ea typeface="Calibri" pitchFamily="34" charset="-122"/>
                <a:cs typeface="Calibri" pitchFamily="34" charset="-120"/>
              </a:rPr>
              <a:t>A COMPROMISED AGENT, ONE CO-SIGNED ORDER</a:t>
            </a:r>
            <a:endParaRPr lang="en-US" sz="1200" dirty="0"/>
          </a:p>
        </p:txBody>
      </p:sp>
      <p:sp>
        <p:nvSpPr>
          <p:cNvPr id="3" name="Text 1"/>
          <p:cNvSpPr txBox="1"/>
          <p:nvPr/>
        </p:nvSpPr>
        <p:spPr>
          <a:xfrm>
            <a:off x="812800" y="11747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Every leak a slippage limit allows, refused on-chain</a:t>
            </a:r>
            <a:endParaRPr lang="en-US" sz="3200" dirty="0"/>
          </a:p>
        </p:txBody>
      </p:sp>
      <p:pic>
        <p:nvPicPr>
          <p:cNvPr id="4" name="Image 0" descr="Shortfall below the on-chain bound on a log scale. A 1% slippage floor accepts everything left of 100 bps; QED accepts only what is left of 0.01 bps. The honest route at 0.17 ppm was accepted; a 0.47 bp skim and a direct-only route 33 bps short were rejected with NotBestExecution although a 1% floor would accept them; a single-pool route 118 bps short was rejected by the floor">    </p:cNvPr>
          <p:cNvPicPr>
            <a:picLocks noChangeAspect="1"/>
          </p:cNvPicPr>
          <p:nvPr/>
        </p:nvPicPr>
        <p:blipFill>
          <a:blip r:embed="rId1"/>
          <a:stretch>
            <a:fillRect/>
          </a:stretch>
        </p:blipFill>
        <p:spPr>
          <a:xfrm>
            <a:off x="812800" y="1819870"/>
            <a:ext cx="10566400" cy="2413000"/>
          </a:xfrm>
          <a:prstGeom prst="rect">
            <a:avLst/>
          </a:prstGeom>
        </p:spPr>
      </p:pic>
      <p:sp>
        <p:nvSpPr>
          <p:cNvPr id="5" name="Shape 2"/>
          <p:cNvSpPr/>
          <p:nvPr/>
        </p:nvSpPr>
        <p:spPr>
          <a:xfrm>
            <a:off x="812800" y="4413845"/>
            <a:ext cx="10566400" cy="0"/>
          </a:xfrm>
          <a:prstGeom prst="line">
            <a:avLst/>
          </a:prstGeom>
          <a:noFill/>
          <a:ln w="6350">
            <a:solidFill>
              <a:srgbClr val="D6DEE1"/>
            </a:solidFill>
            <a:prstDash val="solid"/>
          </a:ln>
        </p:spPr>
      </p:sp>
      <p:sp>
        <p:nvSpPr>
          <p:cNvPr id="6" name="Text 3"/>
          <p:cNvSpPr txBox="1"/>
          <p:nvPr/>
        </p:nvSpPr>
        <p:spPr>
          <a:xfrm>
            <a:off x="812800" y="4544020"/>
            <a:ext cx="3419856"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“Forged” prices to bless a bad route → </a:t>
            </a:r>
            <a:pPr algn="l" indent="0" marL="0">
              <a:lnSpc>
                <a:spcPts val="1620"/>
              </a:lnSpc>
              <a:buNone/>
            </a:pPr>
            <a:r>
              <a:rPr lang="en-US" sz="1200" b="1" dirty="0">
                <a:solidFill>
                  <a:srgbClr val="13233F"/>
                </a:solidFill>
                <a:latin typeface="Calibri" pitchFamily="34" charset="0"/>
                <a:ea typeface="Calibri" pitchFamily="34" charset="-122"/>
                <a:cs typeface="Calibri" pitchFamily="34" charset="-120"/>
              </a:rPr>
              <a:t>NotBestExecution</a:t>
            </a:r>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 (EA3)</a:t>
            </a:r>
            <a:endParaRPr lang="en-US" sz="1200" dirty="0"/>
          </a:p>
        </p:txBody>
      </p:sp>
      <p:sp>
        <p:nvSpPr>
          <p:cNvPr id="7" name="Text 4"/>
          <p:cNvSpPr txBox="1"/>
          <p:nvPr/>
        </p:nvSpPr>
        <p:spPr>
          <a:xfrm>
            <a:off x="4419600" y="4544020"/>
            <a:ext cx="3419856"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Strand the bridge token → </a:t>
            </a:r>
            <a:pPr algn="l" indent="0" marL="0">
              <a:lnSpc>
                <a:spcPts val="1620"/>
              </a:lnSpc>
              <a:buNone/>
            </a:pPr>
            <a:r>
              <a:rPr lang="en-US" sz="1200" b="1" dirty="0">
                <a:solidFill>
                  <a:srgbClr val="13233F"/>
                </a:solidFill>
                <a:latin typeface="Calibri" pitchFamily="34" charset="0"/>
                <a:ea typeface="Calibri" pitchFamily="34" charset="-122"/>
                <a:cs typeface="Calibri" pitchFamily="34" charset="-120"/>
              </a:rPr>
              <a:t>Leftover</a:t>
            </a:r>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 (EA4)</a:t>
            </a:r>
            <a:endParaRPr lang="en-US" sz="1200" dirty="0"/>
          </a:p>
        </p:txBody>
      </p:sp>
      <p:sp>
        <p:nvSpPr>
          <p:cNvPr id="8" name="Text 5"/>
          <p:cNvSpPr txBox="1"/>
          <p:nvPr/>
        </p:nvSpPr>
        <p:spPr>
          <a:xfrm>
            <a:off x="8026400" y="4544020"/>
            <a:ext cx="3419856"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Redirect the output to Mallory → </a:t>
            </a:r>
            <a:pPr algn="l" indent="0" marL="0">
              <a:lnSpc>
                <a:spcPts val="1620"/>
              </a:lnSpc>
              <a:buNone/>
            </a:pPr>
            <a:r>
              <a:rPr lang="en-US" sz="1200" b="1" dirty="0">
                <a:solidFill>
                  <a:srgbClr val="13233F"/>
                </a:solidFill>
                <a:latin typeface="Calibri" pitchFamily="34" charset="0"/>
                <a:ea typeface="Calibri" pitchFamily="34" charset="-122"/>
                <a:cs typeface="Calibri" pitchFamily="34" charset="-120"/>
              </a:rPr>
              <a:t>OrderMismatch</a:t>
            </a:r>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 (EA6)</a:t>
            </a:r>
            <a:endParaRPr lang="en-US" sz="1200" dirty="0"/>
          </a:p>
        </p:txBody>
      </p:sp>
      <p:sp>
        <p:nvSpPr>
          <p:cNvPr id="9" name="Text 6"/>
          <p:cNvSpPr txBox="1"/>
          <p:nvPr/>
        </p:nvSpPr>
        <p:spPr>
          <a:xfrm>
            <a:off x="812800" y="5056981"/>
            <a:ext cx="3419856"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Call without the agent key → </a:t>
            </a:r>
            <a:pPr algn="l" indent="0" marL="0">
              <a:lnSpc>
                <a:spcPts val="1620"/>
              </a:lnSpc>
              <a:buNone/>
            </a:pPr>
            <a:r>
              <a:rPr lang="en-US" sz="1200" b="1" dirty="0">
                <a:solidFill>
                  <a:srgbClr val="13233F"/>
                </a:solidFill>
                <a:latin typeface="Calibri" pitchFamily="34" charset="0"/>
                <a:ea typeface="Calibri" pitchFamily="34" charset="-122"/>
                <a:cs typeface="Calibri" pitchFamily="34" charset="-120"/>
              </a:rPr>
              <a:t>NotOperator</a:t>
            </a:r>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 (EA7)</a:t>
            </a:r>
            <a:endParaRPr lang="en-US" sz="1200" dirty="0"/>
          </a:p>
        </p:txBody>
      </p:sp>
      <p:sp>
        <p:nvSpPr>
          <p:cNvPr id="10" name="Text 7"/>
          <p:cNvSpPr txBox="1"/>
          <p:nvPr/>
        </p:nvSpPr>
        <p:spPr>
          <a:xfrm>
            <a:off x="4419600" y="5056981"/>
            <a:ext cx="3419856"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Front-run the signed order → </a:t>
            </a:r>
            <a:pPr algn="l" indent="0" marL="0">
              <a:lnSpc>
                <a:spcPts val="1620"/>
              </a:lnSpc>
              <a:buNone/>
            </a:pPr>
            <a:r>
              <a:rPr lang="en-US" sz="1200" b="1" dirty="0">
                <a:solidFill>
                  <a:srgbClr val="13233F"/>
                </a:solidFill>
                <a:latin typeface="Calibri" pitchFamily="34" charset="0"/>
                <a:ea typeface="Calibri" pitchFamily="34" charset="-122"/>
                <a:cs typeface="Calibri" pitchFamily="34" charset="-120"/>
              </a:rPr>
              <a:t>InsufficientOutput</a:t>
            </a:r>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 (EA8)</a:t>
            </a:r>
            <a:endParaRPr lang="en-US" sz="1200" dirty="0"/>
          </a:p>
        </p:txBody>
      </p:sp>
      <p:sp>
        <p:nvSpPr>
          <p:cNvPr id="11" name="Text 8"/>
          <p:cNvSpPr txBox="1"/>
          <p:nvPr/>
        </p:nvSpPr>
        <p:spPr>
          <a:xfrm>
            <a:off x="8026400" y="5056981"/>
            <a:ext cx="3419856"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Then the agent re-plans and </a:t>
            </a:r>
            <a:pPr algn="l" indent="0" marL="0">
              <a:lnSpc>
                <a:spcPts val="1620"/>
              </a:lnSpc>
              <a:buNone/>
            </a:pPr>
            <a:r>
              <a:rPr lang="en-US" sz="1200" b="1" dirty="0">
                <a:solidFill>
                  <a:srgbClr val="13233F"/>
                </a:solidFill>
                <a:latin typeface="Calibri" pitchFamily="34" charset="0"/>
                <a:ea typeface="Calibri" pitchFamily="34" charset="-122"/>
                <a:cs typeface="Calibri" pitchFamily="34" charset="-120"/>
              </a:rPr>
              <a:t>declines</a:t>
            </a:r>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 to trade into the moved market (A10)</a:t>
            </a:r>
            <a:endParaRPr lang="en-US" sz="1200" dirty="0"/>
          </a:p>
        </p:txBody>
      </p:sp>
      <p:sp>
        <p:nvSpPr>
          <p:cNvPr id="12" name="Text 9"/>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All on Sepolia under one genuine co-signed order; the honest route then went through with the same certificate</a:t>
            </a:r>
            <a:endParaRPr lang="en-US" sz="1200" dirty="0"/>
          </a:p>
        </p:txBody>
      </p:sp>
      <p:sp>
        <p:nvSpPr>
          <p:cNvPr id="13" name="Text 10"/>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Appendix A3</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TOPIC F · THE FOUR REQUIRED OUTCOMES</a:t>
            </a:r>
            <a:endParaRPr lang="en-US" sz="1200" dirty="0"/>
          </a:p>
        </p:txBody>
      </p:sp>
      <p:sp>
        <p:nvSpPr>
          <p:cNvPr id="3" name="Text 1"/>
          <p:cNvSpPr txBox="1"/>
          <p:nvPr/>
        </p:nvSpPr>
        <p:spPr>
          <a:xfrm>
            <a:off x="812800" y="12001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Each outcome is a public transaction you can open.</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12800" y="1870670"/>
          <a:ext cx="10566400" cy="914400"/>
        </p:xfrm>
        <a:graphic>
          <a:graphicData uri="http://schemas.openxmlformats.org/drawingml/2006/table">
            <a:tbl>
              <a:tblPr/>
              <a:tblGrid>
                <a:gridCol w="633909"/>
                <a:gridCol w="3592513"/>
                <a:gridCol w="6339979"/>
              </a:tblGrid>
              <a:tr h="196850">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Outcome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Evidence on Ethereum Sepolia</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393700">
                <a:tc>
                  <a:txBody>
                    <a:bodyPr/>
                    <a:lstStyle/>
                    <a:p>
                      <a:pPr algn="l" indent="0" marL="0">
                        <a:buNone/>
                      </a:pPr>
                      <a:r>
                        <a:rPr lang="en-US" sz="1200" b="1" dirty="0">
                          <a:solidFill>
                            <a:srgbClr val="0A7468"/>
                          </a:solidFill>
                          <a:latin typeface="Calibri" pitchFamily="34" charset="0"/>
                          <a:ea typeface="Calibri" pitchFamily="34" charset="-122"/>
                          <a:cs typeface="Calibri" pitchFamily="34" charset="-120"/>
                        </a:rPr>
                        <a:t>O1</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 separate AI-agent key acts under an independent policy certificate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ourier New" pitchFamily="34" charset="0"/>
                          <a:ea typeface="Courier New" pitchFamily="34" charset="-122"/>
                          <a:cs typeface="Courier New" pitchFamily="34" charset="-120"/>
                        </a:rPr>
                        <a:t>L4 0x56a2334e…</a:t>
                      </a:r>
                      <a:pPr algn="l" indent="0" marL="0">
                        <a:buNone/>
                      </a:pPr>
                      <a:r>
                        <a:rPr lang="en-US" sz="1200" dirty="0">
                          <a:solidFill>
                            <a:srgbClr val="13233F"/>
                          </a:solidFill>
                          <a:latin typeface="Calibri" pitchFamily="34" charset="0"/>
                          <a:ea typeface="Calibri" pitchFamily="34" charset="-122"/>
                          <a:cs typeface="Calibri" pitchFamily="34" charset="-120"/>
                        </a:rPr>
                        <a:t> payment · </a:t>
                      </a:r>
                      <a:pPr algn="l" indent="0" marL="0">
                        <a:buNone/>
                      </a:pPr>
                      <a:r>
                        <a:rPr lang="en-US" sz="1200" dirty="0">
                          <a:solidFill>
                            <a:srgbClr val="13233F"/>
                          </a:solidFill>
                          <a:latin typeface="Courier New" pitchFamily="34" charset="0"/>
                          <a:ea typeface="Courier New" pitchFamily="34" charset="-122"/>
                          <a:cs typeface="Courier New" pitchFamily="34" charset="-120"/>
                        </a:rPr>
                        <a:t>E1 0x56f798cd…</a:t>
                      </a:r>
                      <a:pPr algn="l" indent="0" marL="0">
                        <a:buNone/>
                      </a:pPr>
                      <a:r>
                        <a:rPr lang="en-US" sz="1200" dirty="0">
                          <a:solidFill>
                            <a:srgbClr val="13233F"/>
                          </a:solidFill>
                          <a:latin typeface="Calibri" pitchFamily="34" charset="0"/>
                          <a:ea typeface="Calibri" pitchFamily="34" charset="-122"/>
                          <a:cs typeface="Calibri" pitchFamily="34" charset="-120"/>
                        </a:rPr>
                        <a:t> trade · </a:t>
                      </a:r>
                      <a:pPr algn="l" indent="0" marL="0">
                        <a:buNone/>
                      </a:pPr>
                      <a:r>
                        <a:rPr lang="en-US" sz="1200" dirty="0">
                          <a:solidFill>
                            <a:srgbClr val="13233F"/>
                          </a:solidFill>
                          <a:latin typeface="Courier New" pitchFamily="34" charset="0"/>
                          <a:ea typeface="Courier New" pitchFamily="34" charset="-122"/>
                          <a:cs typeface="Courier New" pitchFamily="34" charset="-120"/>
                        </a:rPr>
                        <a:t>PE1 0xaaa0bacd…</a:t>
                      </a:r>
                      <a:pPr algn="l" indent="0" marL="0">
                        <a:buNone/>
                      </a:pPr>
                      <a:r>
                        <a:rPr lang="en-US" sz="1200" dirty="0">
                          <a:solidFill>
                            <a:srgbClr val="13233F"/>
                          </a:solidFill>
                          <a:latin typeface="Calibri" pitchFamily="34" charset="0"/>
                          <a:ea typeface="Calibri" pitchFamily="34" charset="-122"/>
                          <a:cs typeface="Calibri" pitchFamily="34" charset="-120"/>
                        </a:rPr>
                        <a:t> and </a:t>
                      </a:r>
                      <a:pPr algn="l" indent="0" marL="0">
                        <a:buNone/>
                      </a:pPr>
                      <a:r>
                        <a:rPr lang="en-US" sz="1200" dirty="0">
                          <a:solidFill>
                            <a:srgbClr val="13233F"/>
                          </a:solidFill>
                          <a:latin typeface="Courier New" pitchFamily="34" charset="0"/>
                          <a:ea typeface="Courier New" pitchFamily="34" charset="-122"/>
                          <a:cs typeface="Courier New" pitchFamily="34" charset="-120"/>
                        </a:rPr>
                        <a:t>QE1 0x12739525…</a:t>
                      </a:r>
                      <a:pPr algn="l" indent="0" marL="0">
                        <a:buNone/>
                      </a:pPr>
                      <a:r>
                        <a:rPr lang="en-US" sz="1200" dirty="0">
                          <a:solidFill>
                            <a:srgbClr val="13233F"/>
                          </a:solidFill>
                          <a:latin typeface="Calibri" pitchFamily="34" charset="0"/>
                          <a:ea typeface="Calibri" pitchFamily="34" charset="-122"/>
                          <a:cs typeface="Calibri" pitchFamily="34" charset="-120"/>
                        </a:rPr>
                        <a:t> agent-initiated</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387350">
                <a:tc>
                  <a:txBody>
                    <a:bodyPr/>
                    <a:lstStyle/>
                    <a:p>
                      <a:pPr algn="l" indent="0" marL="0">
                        <a:buNone/>
                      </a:pPr>
                      <a:r>
                        <a:rPr lang="en-US" sz="1200" b="1" dirty="0">
                          <a:solidFill>
                            <a:srgbClr val="0A7468"/>
                          </a:solidFill>
                          <a:latin typeface="Calibri" pitchFamily="34" charset="0"/>
                          <a:ea typeface="Calibri" pitchFamily="34" charset="-122"/>
                          <a:cs typeface="Calibri" pitchFamily="34" charset="-120"/>
                        </a:rPr>
                        <a:t>O2</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Paid work ends in a real escrow settlement</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ourier New" pitchFamily="34" charset="0"/>
                          <a:ea typeface="Courier New" pitchFamily="34" charset="-122"/>
                          <a:cs typeface="Courier New" pitchFamily="34" charset="-120"/>
                        </a:rPr>
                        <a:t>L6 0x4166253f…</a:t>
                      </a:r>
                      <a:pPr algn="l" indent="0" marL="0">
                        <a:buNone/>
                      </a:pPr>
                      <a:r>
                        <a:rPr lang="en-US" sz="1200" dirty="0">
                          <a:solidFill>
                            <a:srgbClr val="13233F"/>
                          </a:solidFill>
                          <a:latin typeface="Calibri" pitchFamily="34" charset="0"/>
                          <a:ea typeface="Calibri" pitchFamily="34" charset="-122"/>
                          <a:cs typeface="Calibri" pitchFamily="34" charset="-120"/>
                        </a:rPr>
                        <a:t> 15 tUSD on an optimality proof · </a:t>
                      </a:r>
                      <a:pPr algn="l" indent="0" marL="0">
                        <a:buNone/>
                      </a:pPr>
                      <a:r>
                        <a:rPr lang="en-US" sz="1200" dirty="0">
                          <a:solidFill>
                            <a:srgbClr val="13233F"/>
                          </a:solidFill>
                          <a:latin typeface="Courier New" pitchFamily="34" charset="0"/>
                          <a:ea typeface="Courier New" pitchFamily="34" charset="-122"/>
                          <a:cs typeface="Courier New" pitchFamily="34" charset="-120"/>
                        </a:rPr>
                        <a:t>Z3 0xbb619bf0…</a:t>
                      </a:r>
                      <a:pPr algn="l" indent="0" marL="0">
                        <a:buNone/>
                      </a:pPr>
                      <a:r>
                        <a:rPr lang="en-US" sz="1200" dirty="0">
                          <a:solidFill>
                            <a:srgbClr val="13233F"/>
                          </a:solidFill>
                          <a:latin typeface="Calibri" pitchFamily="34" charset="0"/>
                          <a:ea typeface="Calibri" pitchFamily="34" charset="-122"/>
                          <a:cs typeface="Calibri" pitchFamily="34" charset="-120"/>
                        </a:rPr>
                        <a:t> 12 tUSD on a zero-knowledge proof</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387350">
                <a:tc>
                  <a:txBody>
                    <a:bodyPr/>
                    <a:lstStyle/>
                    <a:p>
                      <a:pPr algn="l" indent="0" marL="0">
                        <a:buNone/>
                      </a:pPr>
                      <a:r>
                        <a:rPr lang="en-US" sz="1200" b="1" dirty="0">
                          <a:solidFill>
                            <a:srgbClr val="0A7468"/>
                          </a:solidFill>
                          <a:latin typeface="Calibri" pitchFamily="34" charset="0"/>
                          <a:ea typeface="Calibri" pitchFamily="34" charset="-122"/>
                          <a:cs typeface="Calibri" pitchFamily="34" charset="-120"/>
                        </a:rPr>
                        <a:t>O3</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An adversary cannot breach a liability or tamper with signed terms</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48 attacks, 48 reverts, 0 tUSD to the attacker; e.g. </a:t>
                      </a:r>
                      <a:pPr algn="l" indent="0" marL="0">
                        <a:buNone/>
                      </a:pPr>
                      <a:r>
                        <a:rPr lang="en-US" sz="1200" dirty="0">
                          <a:solidFill>
                            <a:srgbClr val="13233F"/>
                          </a:solidFill>
                          <a:latin typeface="Courier New" pitchFamily="34" charset="0"/>
                          <a:ea typeface="Courier New" pitchFamily="34" charset="-122"/>
                          <a:cs typeface="Courier New" pitchFamily="34" charset="-120"/>
                        </a:rPr>
                        <a:t>EA1 0xccd07d17…</a:t>
                      </a:r>
                      <a:pPr algn="l" indent="0" marL="0">
                        <a:buNone/>
                      </a:pPr>
                      <a:r>
                        <a:rPr lang="en-US" sz="1200" dirty="0">
                          <a:solidFill>
                            <a:srgbClr val="13233F"/>
                          </a:solidFill>
                          <a:latin typeface="Calibri" pitchFamily="34" charset="0"/>
                          <a:ea typeface="Calibri" pitchFamily="34" charset="-122"/>
                          <a:cs typeface="Calibri" pitchFamily="34" charset="-120"/>
                        </a:rPr>
                        <a:t>, and </a:t>
                      </a:r>
                      <a:pPr algn="l" indent="0" marL="0">
                        <a:buNone/>
                      </a:pPr>
                      <a:r>
                        <a:rPr lang="en-US" sz="1200" dirty="0">
                          <a:solidFill>
                            <a:srgbClr val="13233F"/>
                          </a:solidFill>
                          <a:latin typeface="Courier New" pitchFamily="34" charset="0"/>
                          <a:ea typeface="Courier New" pitchFamily="34" charset="-122"/>
                          <a:cs typeface="Courier New" pitchFamily="34" charset="-120"/>
                        </a:rPr>
                        <a:t>P3 0x9f4a753c…</a:t>
                      </a:r>
                      <a:pPr algn="l" indent="0" marL="0">
                        <a:buNone/>
                      </a:pPr>
                      <a:r>
                        <a:rPr lang="en-US" sz="1200" dirty="0">
                          <a:solidFill>
                            <a:srgbClr val="13233F"/>
                          </a:solidFill>
                          <a:latin typeface="Calibri" pitchFamily="34" charset="0"/>
                          <a:ea typeface="Calibri" pitchFamily="34" charset="-122"/>
                          <a:cs typeface="Calibri" pitchFamily="34" charset="-120"/>
                        </a:rPr>
                        <a:t>: the creditor paid during a pause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387350">
                <a:tc>
                  <a:txBody>
                    <a:bodyPr/>
                    <a:lstStyle/>
                    <a:p>
                      <a:pPr algn="l" indent="0" marL="0">
                        <a:buNone/>
                      </a:pPr>
                      <a:r>
                        <a:rPr lang="en-US" sz="1200" b="1" dirty="0">
                          <a:solidFill>
                            <a:srgbClr val="0A7468"/>
                          </a:solidFill>
                          <a:latin typeface="Calibri" pitchFamily="34" charset="0"/>
                          <a:ea typeface="Calibri" pitchFamily="34" charset="-122"/>
                          <a:cs typeface="Calibri" pitchFamily="34" charset="-120"/>
                        </a:rPr>
                        <a:t>O4</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 reviewer can reproduce everything</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ourier New" pitchFamily="34" charset="0"/>
                          <a:ea typeface="Courier New" pitchFamily="34" charset="-122"/>
                          <a:cs typeface="Courier New" pitchFamily="34" charset="-120"/>
                        </a:rPr>
                        <a:t>npm run verify</a:t>
                      </a:r>
                      <a:pPr algn="l" indent="0" marL="0">
                        <a:buNone/>
                      </a:pPr>
                      <a:r>
                        <a:rPr lang="en-US" sz="1200" dirty="0">
                          <a:solidFill>
                            <a:srgbClr val="13233F"/>
                          </a:solidFill>
                          <a:latin typeface="Calibri" pitchFamily="34" charset="0"/>
                          <a:ea typeface="Calibri" pitchFamily="34" charset="-122"/>
                          <a:cs typeface="Calibri" pitchFamily="34" charset="-120"/>
                        </a:rPr>
                        <a:t>: every claim re-derived from a public RPC, no keys, in CI daily; 24 contracts verified on Sourcify</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bl>
          </a:graphicData>
        </a:graphic>
      </p:graphicFrame>
      <p:sp>
        <p:nvSpPr>
          <p:cNvPr id="5" name="Text 2"/>
          <p:cNvSpPr txBox="1"/>
          <p:nvPr/>
        </p:nvSpPr>
        <p:spPr>
          <a:xfrm>
            <a:off x="812800" y="3864570"/>
            <a:ext cx="25908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Built on QED's earlier proofs, unchanged:</a:t>
            </a:r>
            <a:endParaRPr lang="en-US" sz="1200" dirty="0"/>
          </a:p>
        </p:txBody>
      </p:sp>
      <p:sp>
        <p:nvSpPr>
          <p:cNvPr id="6" name="Shape 3"/>
          <p:cNvSpPr/>
          <p:nvPr/>
        </p:nvSpPr>
        <p:spPr>
          <a:xfrm>
            <a:off x="3454400" y="3826470"/>
            <a:ext cx="1872059" cy="260350"/>
          </a:xfrm>
          <a:prstGeom prst="roundRect">
            <a:avLst>
              <a:gd name="adj" fmla="val 14634"/>
            </a:avLst>
          </a:prstGeom>
          <a:solidFill>
            <a:srgbClr val="E3E9EC"/>
          </a:solidFill>
          <a:ln/>
        </p:spPr>
      </p:sp>
      <p:sp>
        <p:nvSpPr>
          <p:cNvPr id="7" name="Text 4"/>
          <p:cNvSpPr txBox="1"/>
          <p:nvPr/>
        </p:nvSpPr>
        <p:spPr>
          <a:xfrm>
            <a:off x="3543300" y="3864570"/>
            <a:ext cx="1745059" cy="18415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alibri" pitchFamily="34" charset="0"/>
                <a:ea typeface="Calibri" pitchFamily="34" charset="-122"/>
                <a:cs typeface="Calibri" pitchFamily="34" charset="-120"/>
              </a:rPr>
              <a:t>owner mandate × co-signer</a:t>
            </a:r>
            <a:endParaRPr lang="en-US" sz="1200" dirty="0"/>
          </a:p>
        </p:txBody>
      </p:sp>
      <p:sp>
        <p:nvSpPr>
          <p:cNvPr id="8" name="Shape 5"/>
          <p:cNvSpPr/>
          <p:nvPr/>
        </p:nvSpPr>
        <p:spPr>
          <a:xfrm>
            <a:off x="5428059" y="3826470"/>
            <a:ext cx="1448098" cy="260350"/>
          </a:xfrm>
          <a:prstGeom prst="roundRect">
            <a:avLst>
              <a:gd name="adj" fmla="val 14634"/>
            </a:avLst>
          </a:prstGeom>
          <a:solidFill>
            <a:srgbClr val="E3E9EC"/>
          </a:solidFill>
          <a:ln/>
        </p:spPr>
      </p:sp>
      <p:sp>
        <p:nvSpPr>
          <p:cNvPr id="9" name="Text 6"/>
          <p:cNvSpPr txBox="1"/>
          <p:nvPr/>
        </p:nvSpPr>
        <p:spPr>
          <a:xfrm>
            <a:off x="5516959" y="3864570"/>
            <a:ext cx="1321098" cy="18415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alibri" pitchFamily="34" charset="0"/>
                <a:ea typeface="Calibri" pitchFamily="34" charset="-122"/>
                <a:cs typeface="Calibri" pitchFamily="34" charset="-120"/>
              </a:rPr>
              <a:t>ring-fenced solvency</a:t>
            </a:r>
            <a:endParaRPr lang="en-US" sz="1200" dirty="0"/>
          </a:p>
        </p:txBody>
      </p:sp>
      <p:sp>
        <p:nvSpPr>
          <p:cNvPr id="10" name="Shape 7"/>
          <p:cNvSpPr/>
          <p:nvPr/>
        </p:nvSpPr>
        <p:spPr>
          <a:xfrm>
            <a:off x="6977757" y="3826470"/>
            <a:ext cx="1732558" cy="260350"/>
          </a:xfrm>
          <a:prstGeom prst="roundRect">
            <a:avLst>
              <a:gd name="adj" fmla="val 14634"/>
            </a:avLst>
          </a:prstGeom>
          <a:solidFill>
            <a:srgbClr val="E3E9EC"/>
          </a:solidFill>
          <a:ln/>
        </p:spPr>
      </p:sp>
      <p:sp>
        <p:nvSpPr>
          <p:cNvPr id="11" name="Text 8"/>
          <p:cNvSpPr txBox="1"/>
          <p:nvPr/>
        </p:nvSpPr>
        <p:spPr>
          <a:xfrm>
            <a:off x="7066657" y="3864570"/>
            <a:ext cx="1605558" cy="18415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alibri" pitchFamily="34" charset="0"/>
                <a:ea typeface="Calibri" pitchFamily="34" charset="-122"/>
                <a:cs typeface="Calibri" pitchFamily="34" charset="-120"/>
              </a:rPr>
              <a:t>paid work on a KKT proof</a:t>
            </a:r>
            <a:endParaRPr lang="en-US" sz="1200" dirty="0"/>
          </a:p>
        </p:txBody>
      </p:sp>
      <p:sp>
        <p:nvSpPr>
          <p:cNvPr id="12" name="Shape 9"/>
          <p:cNvSpPr/>
          <p:nvPr/>
        </p:nvSpPr>
        <p:spPr>
          <a:xfrm>
            <a:off x="8811915" y="3826470"/>
            <a:ext cx="1003399" cy="260350"/>
          </a:xfrm>
          <a:prstGeom prst="roundRect">
            <a:avLst>
              <a:gd name="adj" fmla="val 14634"/>
            </a:avLst>
          </a:prstGeom>
          <a:solidFill>
            <a:srgbClr val="E3E9EC"/>
          </a:solidFill>
          <a:ln/>
        </p:spPr>
      </p:sp>
      <p:sp>
        <p:nvSpPr>
          <p:cNvPr id="13" name="Text 10"/>
          <p:cNvSpPr txBox="1"/>
          <p:nvPr/>
        </p:nvSpPr>
        <p:spPr>
          <a:xfrm>
            <a:off x="8900815" y="3864570"/>
            <a:ext cx="876399" cy="18415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alibri" pitchFamily="34" charset="0"/>
                <a:ea typeface="Calibri" pitchFamily="34" charset="-122"/>
                <a:cs typeface="Calibri" pitchFamily="34" charset="-120"/>
              </a:rPr>
              <a:t>bounded loss</a:t>
            </a:r>
            <a:endParaRPr lang="en-US" sz="1200" dirty="0"/>
          </a:p>
        </p:txBody>
      </p:sp>
      <p:sp>
        <p:nvSpPr>
          <p:cNvPr id="14" name="Shape 11"/>
          <p:cNvSpPr/>
          <p:nvPr/>
        </p:nvSpPr>
        <p:spPr>
          <a:xfrm>
            <a:off x="9916914" y="3826470"/>
            <a:ext cx="1134170" cy="260350"/>
          </a:xfrm>
          <a:prstGeom prst="roundRect">
            <a:avLst>
              <a:gd name="adj" fmla="val 14634"/>
            </a:avLst>
          </a:prstGeom>
          <a:solidFill>
            <a:srgbClr val="E3E9EC"/>
          </a:solidFill>
          <a:ln/>
        </p:spPr>
      </p:sp>
      <p:sp>
        <p:nvSpPr>
          <p:cNvPr id="15" name="Text 12"/>
          <p:cNvSpPr txBox="1"/>
          <p:nvPr/>
        </p:nvSpPr>
        <p:spPr>
          <a:xfrm>
            <a:off x="10005814" y="3864570"/>
            <a:ext cx="1007170" cy="18415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alibri" pitchFamily="34" charset="0"/>
                <a:ea typeface="Calibri" pitchFamily="34" charset="-122"/>
                <a:cs typeface="Calibri" pitchFamily="34" charset="-120"/>
              </a:rPr>
              <a:t>proven clearing</a:t>
            </a:r>
            <a:endParaRPr lang="en-US" sz="1200" dirty="0"/>
          </a:p>
        </p:txBody>
      </p:sp>
      <p:sp>
        <p:nvSpPr>
          <p:cNvPr id="16" name="Shape 13"/>
          <p:cNvSpPr/>
          <p:nvPr/>
        </p:nvSpPr>
        <p:spPr>
          <a:xfrm>
            <a:off x="812800" y="4188420"/>
            <a:ext cx="1827213" cy="260350"/>
          </a:xfrm>
          <a:prstGeom prst="roundRect">
            <a:avLst>
              <a:gd name="adj" fmla="val 14634"/>
            </a:avLst>
          </a:prstGeom>
          <a:solidFill>
            <a:srgbClr val="E3E9EC"/>
          </a:solidFill>
          <a:ln/>
        </p:spPr>
      </p:sp>
      <p:sp>
        <p:nvSpPr>
          <p:cNvPr id="17" name="Text 14"/>
          <p:cNvSpPr txBox="1"/>
          <p:nvPr/>
        </p:nvSpPr>
        <p:spPr>
          <a:xfrm>
            <a:off x="901700" y="4226520"/>
            <a:ext cx="1700213" cy="18415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alibri" pitchFamily="34" charset="0"/>
                <a:ea typeface="Calibri" pitchFamily="34" charset="-122"/>
                <a:cs typeface="Calibri" pitchFamily="34" charset="-120"/>
              </a:rPr>
              <a:t>zero-knowledge optimality</a:t>
            </a:r>
            <a:endParaRPr lang="en-US" sz="1200" dirty="0"/>
          </a:p>
        </p:txBody>
      </p:sp>
      <p:sp>
        <p:nvSpPr>
          <p:cNvPr id="18" name="Text 15"/>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All 196 transactions with blocks and errors: docs/EVIDENCE.md · backup slides B1–B8</a:t>
            </a:r>
            <a:endParaRPr lang="en-US" sz="1200" dirty="0"/>
          </a:p>
        </p:txBody>
      </p:sp>
      <p:sp>
        <p:nvSpPr>
          <p:cNvPr id="19" name="Text 16"/>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Appendix A4</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EVALUATION · 1,000 SEEDED MARKETS</a:t>
            </a:r>
            <a:endParaRPr lang="en-US" sz="1200" dirty="0"/>
          </a:p>
        </p:txBody>
      </p:sp>
      <p:sp>
        <p:nvSpPr>
          <p:cNvPr id="3" name="Text 1"/>
          <p:cNvSpPr txBox="1"/>
          <p:nvPr/>
        </p:nvSpPr>
        <p:spPr>
          <a:xfrm>
            <a:off x="812800" y="12001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What the proof buys, including where it buys little</a:t>
            </a:r>
            <a:endParaRPr lang="en-US" sz="3200" dirty="0"/>
          </a:p>
        </p:txBody>
      </p:sp>
      <p:sp>
        <p:nvSpPr>
          <p:cNvPr id="4" name="Text 2"/>
          <p:cNvSpPr txBox="1"/>
          <p:nvPr/>
        </p:nvSpPr>
        <p:spPr>
          <a:xfrm>
            <a:off x="812800" y="1870670"/>
            <a:ext cx="5829300" cy="184150"/>
          </a:xfrm>
          <a:prstGeom prst="rect">
            <a:avLst/>
          </a:prstGeom>
          <a:noFill/>
          <a:ln/>
        </p:spPr>
        <p:txBody>
          <a:bodyPr wrap="square" lIns="0" tIns="0" rIns="0" bIns="0" rtlCol="0" anchor="t"/>
          <a:lstStyle/>
          <a:p>
            <a:pPr algn="l" indent="0" marL="0">
              <a:lnSpc>
                <a:spcPts val="1440"/>
              </a:lnSpc>
              <a:buNone/>
            </a:pPr>
            <a:r>
              <a:rPr lang="en-US" sz="1200" b="1" dirty="0">
                <a:solidFill>
                  <a:srgbClr val="4E6074"/>
                </a:solidFill>
                <a:latin typeface="Calibri" pitchFamily="34" charset="0"/>
                <a:ea typeface="Calibri" pitchFamily="34" charset="-122"/>
                <a:cs typeface="Calibri" pitchFamily="34" charset="-120"/>
              </a:rPr>
              <a:t>Median shortfall below the optimum, bps</a:t>
            </a:r>
            <a:endParaRPr lang="en-US" sz="1200" dirty="0"/>
          </a:p>
        </p:txBody>
      </p:sp>
      <p:graphicFrame>
        <p:nvGraphicFramePr>
          <p:cNvPr id="5" name="Chart 0" descr="Median shortfall below the optimum: best single pool 74.5 bps, equal split over direct pools 117.2 bps, optimal split over direct pools only 33.7 bps, QED's certified route at most 0.01 bps by construction"/>
          <p:cNvGraphicFramePr/>
          <p:nvPr/>
        </p:nvGraphicFramePr>
        <p:xfrm>
          <a:off x="812800" y="2143720"/>
          <a:ext cx="5715000" cy="2540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832600" y="1870670"/>
            <a:ext cx="4637532" cy="373380"/>
          </a:xfrm>
          <a:prstGeom prst="rect">
            <a:avLst/>
          </a:prstGeom>
          <a:noFill/>
          <a:ln/>
        </p:spPr>
        <p:txBody>
          <a:bodyPr wrap="square" lIns="0" tIns="0" rIns="0" bIns="0" rtlCol="0" anchor="t"/>
          <a:lstStyle/>
          <a:p>
            <a:pPr algn="l" indent="0" marL="0">
              <a:lnSpc>
                <a:spcPts val="2940"/>
              </a:lnSpc>
              <a:buNone/>
            </a:pPr>
            <a:r>
              <a:rPr lang="en-US" sz="2800" dirty="0">
                <a:solidFill>
                  <a:srgbClr val="B1262E"/>
                </a:solidFill>
                <a:latin typeface="Cambria" pitchFamily="34" charset="0"/>
                <a:ea typeface="Cambria" pitchFamily="34" charset="-122"/>
                <a:cs typeface="Cambria" pitchFamily="34" charset="-120"/>
              </a:rPr>
              <a:t>14–32 bps</a:t>
            </a:r>
            <a:endParaRPr lang="en-US" sz="2800" dirty="0"/>
          </a:p>
        </p:txBody>
      </p:sp>
      <p:sp>
        <p:nvSpPr>
          <p:cNvPr id="7" name="Text 4"/>
          <p:cNvSpPr txBox="1"/>
          <p:nvPr/>
        </p:nvSpPr>
        <p:spPr>
          <a:xfrm>
            <a:off x="6832600" y="2269430"/>
            <a:ext cx="4637532" cy="411361"/>
          </a:xfrm>
          <a:prstGeom prst="rect">
            <a:avLst/>
          </a:prstGeom>
          <a:noFill/>
          <a:ln/>
        </p:spPr>
        <p:txBody>
          <a:bodyPr wrap="square" lIns="0" tIns="0" rIns="0" bIns="0" rtlCol="0" anchor="t"/>
          <a:lstStyle/>
          <a:p>
            <a:pPr algn="l" indent="0" marL="0">
              <a:lnSpc>
                <a:spcPts val="1620"/>
              </a:lnSpc>
              <a:buNone/>
            </a:pPr>
            <a:r>
              <a:rPr lang="en-US" sz="1200" dirty="0">
                <a:solidFill>
                  <a:srgbClr val="4E6074"/>
                </a:solidFill>
                <a:latin typeface="Calibri" pitchFamily="34" charset="0"/>
                <a:ea typeface="Calibri" pitchFamily="34" charset="-122"/>
                <a:cs typeface="Calibri" pitchFamily="34" charset="-120"/>
              </a:rPr>
              <a:t>median a hostile agent keeps per trade while still clearing a 1% floor (max 99.9). With QED: ≤ 0.01.</a:t>
            </a:r>
            <a:endParaRPr lang="en-US" sz="1200" dirty="0"/>
          </a:p>
        </p:txBody>
      </p:sp>
      <p:sp>
        <p:nvSpPr>
          <p:cNvPr id="8" name="Text 5"/>
          <p:cNvSpPr txBox="1"/>
          <p:nvPr/>
        </p:nvSpPr>
        <p:spPr>
          <a:xfrm>
            <a:off x="6832600" y="2845891"/>
            <a:ext cx="4637532" cy="373380"/>
          </a:xfrm>
          <a:prstGeom prst="rect">
            <a:avLst/>
          </a:prstGeom>
          <a:noFill/>
          <a:ln/>
        </p:spPr>
        <p:txBody>
          <a:bodyPr wrap="square" lIns="0" tIns="0" rIns="0" bIns="0" rtlCol="0" anchor="t"/>
          <a:lstStyle/>
          <a:p>
            <a:pPr algn="l" indent="0" marL="0">
              <a:lnSpc>
                <a:spcPts val="2940"/>
              </a:lnSpc>
              <a:buNone/>
            </a:pPr>
            <a:r>
              <a:rPr lang="en-US" sz="2800" dirty="0">
                <a:solidFill>
                  <a:srgbClr val="0A7468"/>
                </a:solidFill>
                <a:latin typeface="Cambria" pitchFamily="34" charset="0"/>
                <a:ea typeface="Cambria" pitchFamily="34" charset="-122"/>
                <a:cs typeface="Cambria" pitchFamily="34" charset="-120"/>
              </a:rPr>
              <a:t>0.075 ppm</a:t>
            </a:r>
            <a:endParaRPr lang="en-US" sz="2800" dirty="0"/>
          </a:p>
        </p:txBody>
      </p:sp>
      <p:sp>
        <p:nvSpPr>
          <p:cNvPr id="9" name="Text 6"/>
          <p:cNvSpPr txBox="1"/>
          <p:nvPr/>
        </p:nvSpPr>
        <p:spPr>
          <a:xfrm>
            <a:off x="6832600" y="3244652"/>
            <a:ext cx="4637532" cy="411361"/>
          </a:xfrm>
          <a:prstGeom prst="rect">
            <a:avLst/>
          </a:prstGeom>
          <a:noFill/>
          <a:ln/>
        </p:spPr>
        <p:txBody>
          <a:bodyPr wrap="square" lIns="0" tIns="0" rIns="0" bIns="0" rtlCol="0" anchor="t"/>
          <a:lstStyle/>
          <a:p>
            <a:pPr algn="l" indent="0" marL="0">
              <a:lnSpc>
                <a:spcPts val="1620"/>
              </a:lnSpc>
              <a:buNone/>
            </a:pPr>
            <a:r>
              <a:rPr lang="en-US" sz="1200" dirty="0">
                <a:solidFill>
                  <a:srgbClr val="4E6074"/>
                </a:solidFill>
                <a:latin typeface="Calibri" pitchFamily="34" charset="0"/>
                <a:ea typeface="Calibri" pitchFamily="34" charset="-122"/>
                <a:cs typeface="Calibri" pitchFamily="34" charset="-120"/>
              </a:rPr>
              <a:t>median gap between our route and its own bound; 92.3% within 1 ppm; solver 3.3 ms median.</a:t>
            </a:r>
            <a:endParaRPr lang="en-US" sz="1200" dirty="0"/>
          </a:p>
        </p:txBody>
      </p:sp>
      <p:sp>
        <p:nvSpPr>
          <p:cNvPr id="10" name="Text 7"/>
          <p:cNvSpPr txBox="1"/>
          <p:nvPr/>
        </p:nvSpPr>
        <p:spPr>
          <a:xfrm>
            <a:off x="6832600" y="3821113"/>
            <a:ext cx="4637532" cy="373380"/>
          </a:xfrm>
          <a:prstGeom prst="rect">
            <a:avLst/>
          </a:prstGeom>
          <a:noFill/>
          <a:ln/>
        </p:spPr>
        <p:txBody>
          <a:bodyPr wrap="square" lIns="0" tIns="0" rIns="0" bIns="0" rtlCol="0" anchor="t"/>
          <a:lstStyle/>
          <a:p>
            <a:pPr algn="l" indent="0" marL="0">
              <a:lnSpc>
                <a:spcPts val="2940"/>
              </a:lnSpc>
              <a:buNone/>
            </a:pPr>
            <a:r>
              <a:rPr lang="en-US" sz="2800" dirty="0">
                <a:solidFill>
                  <a:srgbClr val="13233F"/>
                </a:solidFill>
                <a:latin typeface="Cambria" pitchFamily="34" charset="0"/>
                <a:ea typeface="Cambria" pitchFamily="34" charset="-122"/>
                <a:cs typeface="Cambria" pitchFamily="34" charset="-120"/>
              </a:rPr>
              <a:t>3.2 bps</a:t>
            </a:r>
            <a:endParaRPr lang="en-US" sz="2800" dirty="0"/>
          </a:p>
        </p:txBody>
      </p:sp>
      <p:sp>
        <p:nvSpPr>
          <p:cNvPr id="11" name="Text 8"/>
          <p:cNvSpPr txBox="1"/>
          <p:nvPr/>
        </p:nvSpPr>
        <p:spPr>
          <a:xfrm>
            <a:off x="6832600" y="4219873"/>
            <a:ext cx="4637532" cy="411361"/>
          </a:xfrm>
          <a:prstGeom prst="rect">
            <a:avLst/>
          </a:prstGeom>
          <a:noFill/>
          <a:ln/>
        </p:spPr>
        <p:txBody>
          <a:bodyPr wrap="square" lIns="0" tIns="0" rIns="0" bIns="0" rtlCol="0" anchor="t"/>
          <a:lstStyle/>
          <a:p>
            <a:pPr algn="l" indent="0" marL="0">
              <a:lnSpc>
                <a:spcPts val="1620"/>
              </a:lnSpc>
              <a:buNone/>
            </a:pPr>
            <a:r>
              <a:rPr lang="en-US" sz="1200" dirty="0">
                <a:solidFill>
                  <a:srgbClr val="4E6074"/>
                </a:solidFill>
                <a:latin typeface="Calibri" pitchFamily="34" charset="0"/>
                <a:ea typeface="Calibri" pitchFamily="34" charset="-122"/>
                <a:cs typeface="Calibri" pitchFamily="34" charset="-120"/>
              </a:rPr>
              <a:t>Honest limit: for trades under 0.5% of depth a good router is already this close. There the proof buys the guarantee, not the average.</a:t>
            </a:r>
            <a:endParaRPr lang="en-US" sz="1200" dirty="0"/>
          </a:p>
        </p:txBody>
      </p:sp>
      <p:sp>
        <p:nvSpPr>
          <p:cNvPr id="12" name="Text 9"/>
          <p:cNvSpPr txBox="1"/>
          <p:nvPr/>
        </p:nvSpPr>
        <p:spPr>
          <a:xfrm>
            <a:off x="812800" y="6267450"/>
            <a:ext cx="90678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benchmarks/run.ts · fixed seeds, re-run and diffed in CI · baselines are simple policies, not production aggregators</a:t>
            </a:r>
            <a:endParaRPr lang="en-US" sz="1200" dirty="0"/>
          </a:p>
        </p:txBody>
      </p:sp>
      <p:sp>
        <p:nvSpPr>
          <p:cNvPr id="13" name="Text 10"/>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Appendix A5</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46C4B0"/>
                </a:solidFill>
                <a:latin typeface="Calibri" pitchFamily="34" charset="0"/>
                <a:ea typeface="Calibri" pitchFamily="34" charset="-122"/>
                <a:cs typeface="Calibri" pitchFamily="34" charset="-120"/>
              </a:rPr>
              <a:t>FALSIFIABLE, FOR MONEY</a:t>
            </a:r>
            <a:endParaRPr lang="en-US" sz="1200" dirty="0"/>
          </a:p>
        </p:txBody>
      </p:sp>
      <p:sp>
        <p:nvSpPr>
          <p:cNvPr id="3" name="Text 1"/>
          <p:cNvSpPr txBox="1"/>
          <p:nvPr/>
        </p:nvSpPr>
        <p:spPr>
          <a:xfrm>
            <a:off x="812800" y="12001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E4ECF1"/>
                </a:solidFill>
                <a:latin typeface="Cambria" pitchFamily="34" charset="0"/>
                <a:ea typeface="Cambria" pitchFamily="34" charset="-122"/>
                <a:cs typeface="Cambria" pitchFamily="34" charset="-120"/>
              </a:rPr>
              <a:t>Beat the bound and the contract pays you 1,000 tUSD.</a:t>
            </a:r>
            <a:endParaRPr lang="en-US" sz="3200" dirty="0"/>
          </a:p>
        </p:txBody>
      </p:sp>
      <p:sp>
        <p:nvSpPr>
          <p:cNvPr id="4" name="Shape 2"/>
          <p:cNvSpPr/>
          <p:nvPr/>
        </p:nvSpPr>
        <p:spPr>
          <a:xfrm>
            <a:off x="812800" y="1870670"/>
            <a:ext cx="5365750" cy="2134791"/>
          </a:xfrm>
          <a:prstGeom prst="roundRect">
            <a:avLst>
              <a:gd name="adj" fmla="val 2380"/>
            </a:avLst>
          </a:prstGeom>
          <a:solidFill>
            <a:srgbClr val="1D3152"/>
          </a:solidFill>
          <a:ln w="6350">
            <a:solidFill>
              <a:srgbClr val="2E4A72"/>
            </a:solidFill>
            <a:prstDash val="solid"/>
          </a:ln>
        </p:spPr>
      </p:sp>
      <p:sp>
        <p:nvSpPr>
          <p:cNvPr id="5" name="Text 3"/>
          <p:cNvSpPr txBox="1"/>
          <p:nvPr/>
        </p:nvSpPr>
        <p:spPr>
          <a:xfrm>
            <a:off x="1047750" y="2105620"/>
            <a:ext cx="4993767" cy="184150"/>
          </a:xfrm>
          <a:prstGeom prst="rect">
            <a:avLst/>
          </a:prstGeom>
          <a:noFill/>
          <a:ln/>
        </p:spPr>
        <p:txBody>
          <a:bodyPr wrap="square" lIns="0" tIns="0" rIns="0" bIns="0" rtlCol="0" anchor="t"/>
          <a:lstStyle/>
          <a:p>
            <a:pPr algn="l" indent="0" marL="0">
              <a:lnSpc>
                <a:spcPts val="1440"/>
              </a:lnSpc>
              <a:buNone/>
            </a:pPr>
            <a:r>
              <a:rPr lang="en-US" sz="1200" b="1" spc="100" kern="0" dirty="0">
                <a:solidFill>
                  <a:srgbClr val="46C4B0"/>
                </a:solidFill>
                <a:latin typeface="Calibri" pitchFamily="34" charset="0"/>
                <a:ea typeface="Calibri" pitchFamily="34" charset="-122"/>
                <a:cs typeface="Calibri" pitchFamily="34" charset="-120"/>
              </a:rPr>
              <a:t>EXECUTIONBOUNTY · 0X3148…19C4</a:t>
            </a:r>
            <a:endParaRPr lang="en-US" sz="1200" dirty="0"/>
          </a:p>
        </p:txBody>
      </p:sp>
      <p:sp>
        <p:nvSpPr>
          <p:cNvPr id="6" name="Text 4"/>
          <p:cNvSpPr txBox="1"/>
          <p:nvPr/>
        </p:nvSpPr>
        <p:spPr>
          <a:xfrm>
            <a:off x="1047750" y="2404070"/>
            <a:ext cx="4993767" cy="426641"/>
          </a:xfrm>
          <a:prstGeom prst="rect">
            <a:avLst/>
          </a:prstGeom>
          <a:noFill/>
          <a:ln/>
        </p:spPr>
        <p:txBody>
          <a:bodyPr wrap="square" lIns="0" tIns="0" rIns="0" bIns="0" rtlCol="0" anchor="t"/>
          <a:lstStyle/>
          <a:p>
            <a:pPr algn="l" indent="0" marL="0">
              <a:lnSpc>
                <a:spcPts val="1680"/>
              </a:lnSpc>
              <a:buNone/>
            </a:pPr>
            <a:r>
              <a:rPr lang="en-US" sz="1200" dirty="0">
                <a:solidFill>
                  <a:srgbClr val="A9BACB"/>
                </a:solidFill>
                <a:latin typeface="Calibri" pitchFamily="34" charset="0"/>
                <a:ea typeface="Calibri" pitchFamily="34" charset="-122"/>
                <a:cs typeface="Calibri" pitchFamily="34" charset="-120"/>
              </a:rPr>
              <a:t>Runs your route on its own funds and compares the output with the deployed QEDExecution's bound. No judge, no owner, no withdrawal.</a:t>
            </a:r>
            <a:endParaRPr lang="en-US" sz="1200" dirty="0"/>
          </a:p>
        </p:txBody>
      </p:sp>
      <p:sp>
        <p:nvSpPr>
          <p:cNvPr id="7" name="Shape 5"/>
          <p:cNvSpPr/>
          <p:nvPr/>
        </p:nvSpPr>
        <p:spPr>
          <a:xfrm>
            <a:off x="1047750" y="2948186"/>
            <a:ext cx="4895850" cy="0"/>
          </a:xfrm>
          <a:prstGeom prst="line">
            <a:avLst/>
          </a:prstGeom>
          <a:noFill/>
          <a:ln w="6350">
            <a:solidFill>
              <a:srgbClr val="2E4A72"/>
            </a:solidFill>
            <a:prstDash val="solid"/>
          </a:ln>
        </p:spPr>
      </p:sp>
      <p:sp>
        <p:nvSpPr>
          <p:cNvPr id="8" name="Text 6"/>
          <p:cNvSpPr txBox="1"/>
          <p:nvPr/>
        </p:nvSpPr>
        <p:spPr>
          <a:xfrm>
            <a:off x="1047750" y="3065661"/>
            <a:ext cx="622300" cy="184150"/>
          </a:xfrm>
          <a:prstGeom prst="rect">
            <a:avLst/>
          </a:prstGeom>
          <a:noFill/>
          <a:ln/>
        </p:spPr>
        <p:txBody>
          <a:bodyPr wrap="square" lIns="0" tIns="0" rIns="0" bIns="0" rtlCol="0" anchor="t"/>
          <a:lstStyle/>
          <a:p>
            <a:pPr algn="l" indent="0" marL="0">
              <a:lnSpc>
                <a:spcPts val="1440"/>
              </a:lnSpc>
              <a:buNone/>
            </a:pPr>
            <a:r>
              <a:rPr lang="en-US" sz="1200" dirty="0">
                <a:solidFill>
                  <a:srgbClr val="46C4B0"/>
                </a:solidFill>
                <a:latin typeface="Calibri" pitchFamily="34" charset="0"/>
                <a:ea typeface="Calibri" pitchFamily="34" charset="-122"/>
                <a:cs typeface="Calibri" pitchFamily="34" charset="-120"/>
              </a:rPr>
              <a:t>XA1</a:t>
            </a:r>
            <a:endParaRPr lang="en-US" sz="1200" dirty="0"/>
          </a:p>
        </p:txBody>
      </p:sp>
      <p:sp>
        <p:nvSpPr>
          <p:cNvPr id="9" name="Text 7"/>
          <p:cNvSpPr txBox="1"/>
          <p:nvPr/>
        </p:nvSpPr>
        <p:spPr>
          <a:xfrm>
            <a:off x="1695450" y="3065661"/>
            <a:ext cx="4333113"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the optimal route itself → TheoremHolds</a:t>
            </a:r>
            <a:endParaRPr lang="en-US" sz="1200" dirty="0"/>
          </a:p>
        </p:txBody>
      </p:sp>
      <p:sp>
        <p:nvSpPr>
          <p:cNvPr id="10" name="Text 8"/>
          <p:cNvSpPr txBox="1"/>
          <p:nvPr/>
        </p:nvSpPr>
        <p:spPr>
          <a:xfrm>
            <a:off x="1047750" y="3326011"/>
            <a:ext cx="622300" cy="184150"/>
          </a:xfrm>
          <a:prstGeom prst="rect">
            <a:avLst/>
          </a:prstGeom>
          <a:noFill/>
          <a:ln/>
        </p:spPr>
        <p:txBody>
          <a:bodyPr wrap="square" lIns="0" tIns="0" rIns="0" bIns="0" rtlCol="0" anchor="t"/>
          <a:lstStyle/>
          <a:p>
            <a:pPr algn="l" indent="0" marL="0">
              <a:lnSpc>
                <a:spcPts val="1440"/>
              </a:lnSpc>
              <a:buNone/>
            </a:pPr>
            <a:r>
              <a:rPr lang="en-US" sz="1200" dirty="0">
                <a:solidFill>
                  <a:srgbClr val="46C4B0"/>
                </a:solidFill>
                <a:latin typeface="Calibri" pitchFamily="34" charset="0"/>
                <a:ea typeface="Calibri" pitchFamily="34" charset="-122"/>
                <a:cs typeface="Calibri" pitchFamily="34" charset="-120"/>
              </a:rPr>
              <a:t>XA2</a:t>
            </a:r>
            <a:endParaRPr lang="en-US" sz="1200" dirty="0"/>
          </a:p>
        </p:txBody>
      </p:sp>
      <p:sp>
        <p:nvSpPr>
          <p:cNvPr id="11" name="Text 9"/>
          <p:cNvSpPr txBox="1"/>
          <p:nvPr/>
        </p:nvSpPr>
        <p:spPr>
          <a:xfrm>
            <a:off x="1695450" y="3326011"/>
            <a:ext cx="4333113"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prices lowered 3% to shrink the bound → TheoremHolds</a:t>
            </a:r>
            <a:endParaRPr lang="en-US" sz="1200" dirty="0"/>
          </a:p>
        </p:txBody>
      </p:sp>
      <p:sp>
        <p:nvSpPr>
          <p:cNvPr id="12" name="Text 10"/>
          <p:cNvSpPr txBox="1"/>
          <p:nvPr/>
        </p:nvSpPr>
        <p:spPr>
          <a:xfrm>
            <a:off x="1047750" y="3586361"/>
            <a:ext cx="622300" cy="184150"/>
          </a:xfrm>
          <a:prstGeom prst="rect">
            <a:avLst/>
          </a:prstGeom>
          <a:noFill/>
          <a:ln/>
        </p:spPr>
        <p:txBody>
          <a:bodyPr wrap="square" lIns="0" tIns="0" rIns="0" bIns="0" rtlCol="0" anchor="t"/>
          <a:lstStyle/>
          <a:p>
            <a:pPr algn="l" indent="0" marL="0">
              <a:lnSpc>
                <a:spcPts val="1440"/>
              </a:lnSpc>
              <a:buNone/>
            </a:pPr>
            <a:r>
              <a:rPr lang="en-US" sz="1200" dirty="0">
                <a:solidFill>
                  <a:srgbClr val="46C4B0"/>
                </a:solidFill>
                <a:latin typeface="Calibri" pitchFamily="34" charset="0"/>
                <a:ea typeface="Calibri" pitchFamily="34" charset="-122"/>
                <a:cs typeface="Calibri" pitchFamily="34" charset="-120"/>
              </a:rPr>
              <a:t>XA3</a:t>
            </a:r>
            <a:endParaRPr lang="en-US" sz="1200" dirty="0"/>
          </a:p>
        </p:txBody>
      </p:sp>
      <p:sp>
        <p:nvSpPr>
          <p:cNvPr id="13" name="Text 11"/>
          <p:cNvSpPr txBox="1"/>
          <p:nvPr/>
        </p:nvSpPr>
        <p:spPr>
          <a:xfrm>
            <a:off x="1695450" y="3586361"/>
            <a:ext cx="4333113"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the whole 1,000 tUSD in one trade → TheoremHolds</a:t>
            </a:r>
            <a:endParaRPr lang="en-US" sz="1200" dirty="0"/>
          </a:p>
        </p:txBody>
      </p:sp>
      <p:sp>
        <p:nvSpPr>
          <p:cNvPr id="14" name="Text 12"/>
          <p:cNvSpPr txBox="1"/>
          <p:nvPr/>
        </p:nvSpPr>
        <p:spPr>
          <a:xfrm>
            <a:off x="6483350" y="1870670"/>
            <a:ext cx="4993767" cy="373380"/>
          </a:xfrm>
          <a:prstGeom prst="rect">
            <a:avLst/>
          </a:prstGeom>
          <a:noFill/>
          <a:ln/>
        </p:spPr>
        <p:txBody>
          <a:bodyPr wrap="square" lIns="0" tIns="0" rIns="0" bIns="0" rtlCol="0" anchor="t"/>
          <a:lstStyle/>
          <a:p>
            <a:pPr algn="l" indent="0" marL="0">
              <a:lnSpc>
                <a:spcPts val="2940"/>
              </a:lnSpc>
              <a:buNone/>
            </a:pPr>
            <a:r>
              <a:rPr lang="en-US" sz="2800" dirty="0">
                <a:solidFill>
                  <a:srgbClr val="46C4B0"/>
                </a:solidFill>
                <a:latin typeface="Cambria" pitchFamily="34" charset="0"/>
                <a:ea typeface="Cambria" pitchFamily="34" charset="-122"/>
                <a:cs typeface="Cambria" pitchFamily="34" charset="-120"/>
              </a:rPr>
              <a:t>3,000 tUSD</a:t>
            </a:r>
            <a:endParaRPr lang="en-US" sz="2800" dirty="0"/>
          </a:p>
        </p:txBody>
      </p:sp>
      <p:sp>
        <p:nvSpPr>
          <p:cNvPr id="15" name="Text 13"/>
          <p:cNvSpPr txBox="1"/>
          <p:nvPr/>
        </p:nvSpPr>
        <p:spPr>
          <a:xfrm>
            <a:off x="6483350" y="2282130"/>
            <a:ext cx="4993767" cy="411361"/>
          </a:xfrm>
          <a:prstGeom prst="rect">
            <a:avLst/>
          </a:prstGeom>
          <a:noFill/>
          <a:ln/>
        </p:spPr>
        <p:txBody>
          <a:bodyPr wrap="square" lIns="0" tIns="0" rIns="0" bIns="0" rtlCol="0" anchor="t"/>
          <a:lstStyle/>
          <a:p>
            <a:pPr algn="l" indent="0" marL="0">
              <a:lnSpc>
                <a:spcPts val="1620"/>
              </a:lnSpc>
              <a:buNone/>
            </a:pPr>
            <a:r>
              <a:rPr lang="en-US" sz="1200" dirty="0">
                <a:solidFill>
                  <a:srgbClr val="A9BACB"/>
                </a:solidFill>
                <a:latin typeface="Calibri" pitchFamily="34" charset="0"/>
                <a:ea typeface="Calibri" pitchFamily="34" charset="-122"/>
                <a:cs typeface="Calibri" pitchFamily="34" charset="-120"/>
              </a:rPr>
              <a:t>unclaimed across three theorems: best execution, portfolio optimality, clearing maximality. Checked daily in CI.</a:t>
            </a:r>
            <a:endParaRPr lang="en-US" sz="1200" dirty="0"/>
          </a:p>
        </p:txBody>
      </p:sp>
      <p:sp>
        <p:nvSpPr>
          <p:cNvPr id="16" name="Text 14"/>
          <p:cNvSpPr txBox="1"/>
          <p:nvPr/>
        </p:nvSpPr>
        <p:spPr>
          <a:xfrm>
            <a:off x="6483350" y="2845891"/>
            <a:ext cx="4993767" cy="373380"/>
          </a:xfrm>
          <a:prstGeom prst="rect">
            <a:avLst/>
          </a:prstGeom>
          <a:noFill/>
          <a:ln/>
        </p:spPr>
        <p:txBody>
          <a:bodyPr wrap="square" lIns="0" tIns="0" rIns="0" bIns="0" rtlCol="0" anchor="t"/>
          <a:lstStyle/>
          <a:p>
            <a:pPr algn="l" indent="0" marL="0">
              <a:lnSpc>
                <a:spcPts val="2940"/>
              </a:lnSpc>
              <a:buNone/>
            </a:pPr>
            <a:r>
              <a:rPr lang="en-US" sz="2800" dirty="0">
                <a:solidFill>
                  <a:srgbClr val="46C4B0"/>
                </a:solidFill>
                <a:latin typeface="Cambria" pitchFamily="34" charset="0"/>
                <a:ea typeface="Cambria" pitchFamily="34" charset="-122"/>
                <a:cs typeface="Cambria" pitchFamily="34" charset="-120"/>
              </a:rPr>
              <a:t>6,000</a:t>
            </a:r>
            <a:endParaRPr lang="en-US" sz="2800" dirty="0"/>
          </a:p>
        </p:txBody>
      </p:sp>
      <p:sp>
        <p:nvSpPr>
          <p:cNvPr id="17" name="Text 15"/>
          <p:cNvSpPr txBox="1"/>
          <p:nvPr/>
        </p:nvSpPr>
        <p:spPr>
          <a:xfrm>
            <a:off x="6483350" y="3257352"/>
            <a:ext cx="4993767" cy="411361"/>
          </a:xfrm>
          <a:prstGeom prst="rect">
            <a:avLst/>
          </a:prstGeom>
          <a:noFill/>
          <a:ln/>
        </p:spPr>
        <p:txBody>
          <a:bodyPr wrap="square" lIns="0" tIns="0" rIns="0" bIns="0" rtlCol="0" anchor="t"/>
          <a:lstStyle/>
          <a:p>
            <a:pPr algn="l" indent="0" marL="0">
              <a:lnSpc>
                <a:spcPts val="1620"/>
              </a:lnSpc>
              <a:buNone/>
            </a:pPr>
            <a:r>
              <a:rPr lang="en-US" sz="1200" dirty="0">
                <a:solidFill>
                  <a:srgbClr val="A9BACB"/>
                </a:solidFill>
                <a:latin typeface="Calibri" pitchFamily="34" charset="0"/>
                <a:ea typeface="Calibri" pitchFamily="34" charset="-122"/>
                <a:cs typeface="Calibri" pitchFamily="34" charset="-120"/>
              </a:rPr>
              <a:t>fuzzed routes, prices and claims never beat the bound; weak duality also holds on 12,000 route–price pairs off-chain.</a:t>
            </a:r>
            <a:endParaRPr lang="en-US" sz="1200" dirty="0"/>
          </a:p>
        </p:txBody>
      </p:sp>
      <p:sp>
        <p:nvSpPr>
          <p:cNvPr id="18" name="Text 16"/>
          <p:cNvSpPr txBox="1"/>
          <p:nvPr/>
        </p:nvSpPr>
        <p:spPr>
          <a:xfrm>
            <a:off x="6483350" y="3821113"/>
            <a:ext cx="4993767" cy="373380"/>
          </a:xfrm>
          <a:prstGeom prst="rect">
            <a:avLst/>
          </a:prstGeom>
          <a:noFill/>
          <a:ln/>
        </p:spPr>
        <p:txBody>
          <a:bodyPr wrap="square" lIns="0" tIns="0" rIns="0" bIns="0" rtlCol="0" anchor="t"/>
          <a:lstStyle/>
          <a:p>
            <a:pPr algn="l" indent="0" marL="0">
              <a:lnSpc>
                <a:spcPts val="2940"/>
              </a:lnSpc>
              <a:buNone/>
            </a:pPr>
            <a:r>
              <a:rPr lang="en-US" sz="2800" dirty="0">
                <a:solidFill>
                  <a:srgbClr val="46C4B0"/>
                </a:solidFill>
                <a:latin typeface="Cambria" pitchFamily="34" charset="0"/>
                <a:ea typeface="Cambria" pitchFamily="34" charset="-122"/>
                <a:cs typeface="Cambria" pitchFamily="34" charset="-120"/>
              </a:rPr>
              <a:t>Positive control</a:t>
            </a:r>
            <a:endParaRPr lang="en-US" sz="2800" dirty="0"/>
          </a:p>
        </p:txBody>
      </p:sp>
      <p:sp>
        <p:nvSpPr>
          <p:cNvPr id="19" name="Text 17"/>
          <p:cNvSpPr txBox="1"/>
          <p:nvPr/>
        </p:nvSpPr>
        <p:spPr>
          <a:xfrm>
            <a:off x="6483350" y="4232573"/>
            <a:ext cx="4993767" cy="411361"/>
          </a:xfrm>
          <a:prstGeom prst="rect">
            <a:avLst/>
          </a:prstGeom>
          <a:noFill/>
          <a:ln/>
        </p:spPr>
        <p:txBody>
          <a:bodyPr wrap="square" lIns="0" tIns="0" rIns="0" bIns="0" rtlCol="0" anchor="t"/>
          <a:lstStyle/>
          <a:p>
            <a:pPr algn="l" indent="0" marL="0">
              <a:lnSpc>
                <a:spcPts val="1620"/>
              </a:lnSpc>
              <a:buNone/>
            </a:pPr>
            <a:r>
              <a:rPr lang="en-US" sz="1200" dirty="0">
                <a:solidFill>
                  <a:srgbClr val="A9BACB"/>
                </a:solidFill>
                <a:latin typeface="Calibri" pitchFamily="34" charset="0"/>
                <a:ea typeface="Calibri" pitchFamily="34" charset="-122"/>
                <a:cs typeface="Calibri" pitchFamily="34" charset="-120"/>
              </a:rPr>
              <a:t>against a bound understated by 0.1%, the bounty pays the first real refutation, so the check is not vacuous.</a:t>
            </a:r>
            <a:endParaRPr lang="en-US" sz="1200" dirty="0"/>
          </a:p>
        </p:txBody>
      </p:sp>
      <p:sp>
        <p:nvSpPr>
          <p:cNvPr id="20" name="Text 18"/>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145 Solidity + 60 TypeScript tests · contracts/test/QEDExecution.t.sol</a:t>
            </a:r>
            <a:endParaRPr lang="en-US" sz="1200" dirty="0"/>
          </a:p>
        </p:txBody>
      </p:sp>
      <p:sp>
        <p:nvSpPr>
          <p:cNvPr id="21" name="Text 19"/>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A9BACB"/>
                </a:solidFill>
                <a:latin typeface="Calibri" pitchFamily="34" charset="0"/>
                <a:ea typeface="Calibri" pitchFamily="34" charset="-122"/>
                <a:cs typeface="Calibri" pitchFamily="34" charset="-120"/>
              </a:rPr>
              <a:t>Appendix A6</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CHECK US · AND OUR LIMITS</a:t>
            </a:r>
            <a:endParaRPr lang="en-US" sz="1200" dirty="0"/>
          </a:p>
        </p:txBody>
      </p:sp>
      <p:sp>
        <p:nvSpPr>
          <p:cNvPr id="3" name="Text 1"/>
          <p:cNvSpPr txBox="1"/>
          <p:nvPr/>
        </p:nvSpPr>
        <p:spPr>
          <a:xfrm>
            <a:off x="812800" y="12001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Don't trust the slides. Re-derive them.</a:t>
            </a:r>
            <a:endParaRPr lang="en-US" sz="3200" dirty="0"/>
          </a:p>
        </p:txBody>
      </p:sp>
      <p:sp>
        <p:nvSpPr>
          <p:cNvPr id="4" name="Shape 2"/>
          <p:cNvSpPr/>
          <p:nvPr/>
        </p:nvSpPr>
        <p:spPr>
          <a:xfrm>
            <a:off x="812800" y="1870670"/>
            <a:ext cx="5359400" cy="2507952"/>
          </a:xfrm>
          <a:prstGeom prst="roundRect">
            <a:avLst>
              <a:gd name="adj" fmla="val 2026"/>
            </a:avLst>
          </a:prstGeom>
          <a:solidFill>
            <a:srgbClr val="13233F"/>
          </a:solidFill>
          <a:ln/>
        </p:spPr>
      </p:sp>
      <p:sp>
        <p:nvSpPr>
          <p:cNvPr id="5" name="Text 3"/>
          <p:cNvSpPr txBox="1"/>
          <p:nvPr/>
        </p:nvSpPr>
        <p:spPr>
          <a:xfrm>
            <a:off x="1041400" y="2099270"/>
            <a:ext cx="5000244" cy="182880"/>
          </a:xfrm>
          <a:prstGeom prst="rect">
            <a:avLst/>
          </a:prstGeom>
          <a:noFill/>
          <a:ln/>
        </p:spPr>
        <p:txBody>
          <a:bodyPr wrap="square" lIns="0" tIns="0" rIns="0" bIns="0" rtlCol="0" anchor="t"/>
          <a:lstStyle/>
          <a:p>
            <a:pPr algn="l" indent="0" marL="0">
              <a:lnSpc>
                <a:spcPts val="1440"/>
              </a:lnSpc>
              <a:buNone/>
            </a:pPr>
            <a:r>
              <a:rPr lang="en-US" sz="1200" dirty="0">
                <a:solidFill>
                  <a:srgbClr val="46C4B0"/>
                </a:solidFill>
                <a:latin typeface="Courier New" pitchFamily="34" charset="0"/>
                <a:ea typeface="Courier New" pitchFamily="34" charset="-122"/>
                <a:cs typeface="Courier New" pitchFamily="34" charset="-120"/>
              </a:rPr>
              <a:t>npm run verify</a:t>
            </a:r>
            <a:endParaRPr lang="en-US" sz="1200" dirty="0"/>
          </a:p>
        </p:txBody>
      </p:sp>
      <p:sp>
        <p:nvSpPr>
          <p:cNvPr id="6" name="Text 4"/>
          <p:cNvSpPr txBox="1"/>
          <p:nvPr/>
        </p:nvSpPr>
        <p:spPr>
          <a:xfrm>
            <a:off x="1041400" y="2372320"/>
            <a:ext cx="5000244" cy="411361"/>
          </a:xfrm>
          <a:prstGeom prst="rect">
            <a:avLst/>
          </a:prstGeom>
          <a:noFill/>
          <a:ln/>
        </p:spPr>
        <p:txBody>
          <a:bodyPr wrap="square" lIns="0" tIns="0" rIns="0" bIns="0" rtlCol="0" anchor="t"/>
          <a:lstStyle/>
          <a:p>
            <a:pPr algn="l" indent="0" marL="0">
              <a:lnSpc>
                <a:spcPts val="1620"/>
              </a:lnSpc>
              <a:buNone/>
            </a:pPr>
            <a:r>
              <a:rPr lang="en-US" sz="1200" dirty="0">
                <a:solidFill>
                  <a:srgbClr val="A9BACB"/>
                </a:solidFill>
                <a:latin typeface="Calibri" pitchFamily="34" charset="0"/>
                <a:ea typeface="Calibri" pitchFamily="34" charset="-122"/>
                <a:cs typeface="Calibri" pitchFamily="34" charset="-120"/>
              </a:rPr>
              <a:t>every claim from a public Sepolia node, no keys: bytecode, receipts, replayed reverts, each bound recomputed, routes replayed</a:t>
            </a:r>
            <a:endParaRPr lang="en-US" sz="1200" dirty="0"/>
          </a:p>
        </p:txBody>
      </p:sp>
      <p:sp>
        <p:nvSpPr>
          <p:cNvPr id="7" name="Text 5"/>
          <p:cNvSpPr txBox="1"/>
          <p:nvPr/>
        </p:nvSpPr>
        <p:spPr>
          <a:xfrm>
            <a:off x="1041400" y="2885281"/>
            <a:ext cx="5000244" cy="182880"/>
          </a:xfrm>
          <a:prstGeom prst="rect">
            <a:avLst/>
          </a:prstGeom>
          <a:noFill/>
          <a:ln/>
        </p:spPr>
        <p:txBody>
          <a:bodyPr wrap="square" lIns="0" tIns="0" rIns="0" bIns="0" rtlCol="0" anchor="t"/>
          <a:lstStyle/>
          <a:p>
            <a:pPr algn="l" indent="0" marL="0">
              <a:lnSpc>
                <a:spcPts val="1440"/>
              </a:lnSpc>
              <a:buNone/>
            </a:pPr>
            <a:r>
              <a:rPr lang="en-US" sz="1200" dirty="0">
                <a:solidFill>
                  <a:srgbClr val="46C4B0"/>
                </a:solidFill>
                <a:latin typeface="Courier New" pitchFamily="34" charset="0"/>
                <a:ea typeface="Courier New" pitchFamily="34" charset="-122"/>
                <a:cs typeface="Courier New" pitchFamily="34" charset="-120"/>
              </a:rPr>
              <a:t>QED_OFFLINE=1 npm run local:execute</a:t>
            </a:r>
            <a:endParaRPr lang="en-US" sz="1200" dirty="0"/>
          </a:p>
        </p:txBody>
      </p:sp>
      <p:sp>
        <p:nvSpPr>
          <p:cNvPr id="8" name="Text 6"/>
          <p:cNvSpPr txBox="1"/>
          <p:nvPr/>
        </p:nvSpPr>
        <p:spPr>
          <a:xfrm>
            <a:off x="1041400" y="3158331"/>
            <a:ext cx="5000244" cy="411361"/>
          </a:xfrm>
          <a:prstGeom prst="rect">
            <a:avLst/>
          </a:prstGeom>
          <a:noFill/>
          <a:ln/>
        </p:spPr>
        <p:txBody>
          <a:bodyPr wrap="square" lIns="0" tIns="0" rIns="0" bIns="0" rtlCol="0" anchor="t"/>
          <a:lstStyle/>
          <a:p>
            <a:pPr algn="l" indent="0" marL="0">
              <a:lnSpc>
                <a:spcPts val="1620"/>
              </a:lnSpc>
              <a:buNone/>
            </a:pPr>
            <a:r>
              <a:rPr lang="en-US" sz="1200" dirty="0">
                <a:solidFill>
                  <a:srgbClr val="A9BACB"/>
                </a:solidFill>
                <a:latin typeface="Calibri" pitchFamily="34" charset="0"/>
                <a:ea typeface="Calibri" pitchFamily="34" charset="-122"/>
                <a:cs typeface="Calibri" pitchFamily="34" charset="-120"/>
              </a:rPr>
              <a:t>the whole best-execution economy and the policy loop with dev keys; PE1 and PE2 reproduce to the raw unit</a:t>
            </a:r>
            <a:endParaRPr lang="en-US" sz="1200" dirty="0"/>
          </a:p>
        </p:txBody>
      </p:sp>
      <p:sp>
        <p:nvSpPr>
          <p:cNvPr id="9" name="Text 7"/>
          <p:cNvSpPr txBox="1"/>
          <p:nvPr/>
        </p:nvSpPr>
        <p:spPr>
          <a:xfrm>
            <a:off x="1041400" y="3671292"/>
            <a:ext cx="5000244" cy="182880"/>
          </a:xfrm>
          <a:prstGeom prst="rect">
            <a:avLst/>
          </a:prstGeom>
          <a:noFill/>
          <a:ln/>
        </p:spPr>
        <p:txBody>
          <a:bodyPr wrap="square" lIns="0" tIns="0" rIns="0" bIns="0" rtlCol="0" anchor="t"/>
          <a:lstStyle/>
          <a:p>
            <a:pPr algn="l" indent="0" marL="0">
              <a:lnSpc>
                <a:spcPts val="1440"/>
              </a:lnSpc>
              <a:buNone/>
            </a:pPr>
            <a:r>
              <a:rPr lang="en-US" sz="1200" dirty="0">
                <a:solidFill>
                  <a:srgbClr val="46C4B0"/>
                </a:solidFill>
                <a:latin typeface="Courier New" pitchFamily="34" charset="0"/>
                <a:ea typeface="Courier New" pitchFamily="34" charset="-122"/>
                <a:cs typeface="Courier New" pitchFamily="34" charset="-120"/>
              </a:rPr>
              <a:t>forge test · npm run test:ts</a:t>
            </a:r>
            <a:endParaRPr lang="en-US" sz="1200" dirty="0"/>
          </a:p>
        </p:txBody>
      </p:sp>
      <p:sp>
        <p:nvSpPr>
          <p:cNvPr id="10" name="Text 8"/>
          <p:cNvSpPr txBox="1"/>
          <p:nvPr/>
        </p:nvSpPr>
        <p:spPr>
          <a:xfrm>
            <a:off x="1041400" y="3944342"/>
            <a:ext cx="5000244" cy="205740"/>
          </a:xfrm>
          <a:prstGeom prst="rect">
            <a:avLst/>
          </a:prstGeom>
          <a:noFill/>
          <a:ln/>
        </p:spPr>
        <p:txBody>
          <a:bodyPr wrap="square" lIns="0" tIns="0" rIns="0" bIns="0" rtlCol="0" anchor="t"/>
          <a:lstStyle/>
          <a:p>
            <a:pPr algn="l" indent="0" marL="0">
              <a:lnSpc>
                <a:spcPts val="1620"/>
              </a:lnSpc>
              <a:buNone/>
            </a:pPr>
            <a:r>
              <a:rPr lang="en-US" sz="1200" dirty="0">
                <a:solidFill>
                  <a:srgbClr val="A9BACB"/>
                </a:solidFill>
                <a:latin typeface="Calibri" pitchFamily="34" charset="0"/>
                <a:ea typeface="Calibri" pitchFamily="34" charset="-122"/>
                <a:cs typeface="Calibri" pitchFamily="34" charset="-120"/>
              </a:rPr>
              <a:t>145 + 60 tests; 24 contracts verified on Sourcify; all of it in CI on every push</a:t>
            </a:r>
            <a:endParaRPr lang="en-US" sz="1200" dirty="0"/>
          </a:p>
        </p:txBody>
      </p:sp>
      <p:sp>
        <p:nvSpPr>
          <p:cNvPr id="11" name="Text 9"/>
          <p:cNvSpPr txBox="1"/>
          <p:nvPr/>
        </p:nvSpPr>
        <p:spPr>
          <a:xfrm>
            <a:off x="6477000" y="1870670"/>
            <a:ext cx="5000244"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What QED does not do</a:t>
            </a:r>
            <a:endParaRPr lang="en-US" sz="1500" dirty="0"/>
          </a:p>
        </p:txBody>
      </p:sp>
      <p:sp>
        <p:nvSpPr>
          <p:cNvPr id="12" name="Text 10"/>
          <p:cNvSpPr txBox="1"/>
          <p:nvPr/>
        </p:nvSpPr>
        <p:spPr>
          <a:xfrm>
            <a:off x="6477000" y="2219920"/>
            <a:ext cx="5000244" cy="42664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The proof is about the state a trade executes on: a front-run smaller than the 1% co-signed floor is not caught.</a:t>
            </a:r>
            <a:endParaRPr lang="en-US" sz="1200" dirty="0"/>
          </a:p>
        </p:txBody>
      </p:sp>
      <p:sp>
        <p:nvSpPr>
          <p:cNvPr id="13" name="Text 11"/>
          <p:cNvSpPr txBox="1"/>
          <p:nvPr/>
        </p:nvSpPr>
        <p:spPr>
          <a:xfrm>
            <a:off x="6477000" y="2760861"/>
            <a:ext cx="5000244" cy="42664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Venues must be honest constant-product pools the owner names; concentrated liquidity is not covered yet.</a:t>
            </a:r>
            <a:endParaRPr lang="en-US" sz="1200" dirty="0"/>
          </a:p>
        </p:txBody>
      </p:sp>
      <p:sp>
        <p:nvSpPr>
          <p:cNvPr id="14" name="Text 12"/>
          <p:cNvSpPr txBox="1"/>
          <p:nvPr/>
        </p:nvSpPr>
        <p:spPr>
          <a:xfrm>
            <a:off x="6477000" y="3301802"/>
            <a:ext cx="5000244" cy="42664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The policy contract enforces safety, not liveness: a slow or idle agent is not caught.</a:t>
            </a:r>
            <a:endParaRPr lang="en-US" sz="1200" dirty="0"/>
          </a:p>
        </p:txBody>
      </p:sp>
      <p:sp>
        <p:nvSpPr>
          <p:cNvPr id="15" name="Text 13"/>
          <p:cNvSpPr txBox="1"/>
          <p:nvPr/>
        </p:nvSpPr>
        <p:spPr>
          <a:xfrm>
            <a:off x="6477000" y="3842742"/>
            <a:ext cx="5000244" cy="213360"/>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Testnet, valueless tokens, not audited.</a:t>
            </a:r>
            <a:endParaRPr lang="en-US" sz="1200" dirty="0"/>
          </a:p>
        </p:txBody>
      </p:sp>
      <p:sp>
        <p:nvSpPr>
          <p:cNvPr id="16" name="Text 14"/>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docs/REPRODUCIBILITY.md · docs/KNOWN_LIMITATIONS.md · docs/SECURITY.md K1–K29</a:t>
            </a:r>
            <a:endParaRPr lang="en-US" sz="1200" dirty="0"/>
          </a:p>
        </p:txBody>
      </p:sp>
      <p:sp>
        <p:nvSpPr>
          <p:cNvPr id="17" name="Text 15"/>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Appendix A7</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PROOF 1 · AUTHORITY</a:t>
            </a:r>
            <a:endParaRPr lang="en-US" sz="1200" dirty="0"/>
          </a:p>
        </p:txBody>
      </p:sp>
      <p:sp>
        <p:nvSpPr>
          <p:cNvPr id="3" name="Text 1"/>
          <p:cNvSpPr txBox="1"/>
          <p:nvPr/>
        </p:nvSpPr>
        <p:spPr>
          <a:xfrm>
            <a:off x="812800" y="12255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The AI’s key can pay only under two signatures it doesn’t hold.</a:t>
            </a:r>
            <a:endParaRPr lang="en-US" sz="3200" dirty="0"/>
          </a:p>
        </p:txBody>
      </p:sp>
      <p:sp>
        <p:nvSpPr>
          <p:cNvPr id="4" name="Text 2"/>
          <p:cNvSpPr txBox="1"/>
          <p:nvPr/>
        </p:nvSpPr>
        <p:spPr>
          <a:xfrm>
            <a:off x="812800" y="1921470"/>
            <a:ext cx="4974336"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The owner’s mandate</a:t>
            </a:r>
            <a:endParaRPr lang="en-US" sz="1500" dirty="0"/>
          </a:p>
        </p:txBody>
      </p:sp>
      <p:sp>
        <p:nvSpPr>
          <p:cNvPr id="5" name="Text 3"/>
          <p:cNvSpPr txBox="1"/>
          <p:nvPr/>
        </p:nvSpPr>
        <p:spPr>
          <a:xfrm>
            <a:off x="812800" y="2194520"/>
            <a:ext cx="4974336" cy="42664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Signed once, off-chain, with a cold key. Names the payees, the caps and an expiry.</a:t>
            </a:r>
            <a:endParaRPr lang="en-US" sz="1200" dirty="0"/>
          </a:p>
        </p:txBody>
      </p:sp>
      <p:sp>
        <p:nvSpPr>
          <p:cNvPr id="6" name="Text 4"/>
          <p:cNvSpPr txBox="1"/>
          <p:nvPr/>
        </p:nvSpPr>
        <p:spPr>
          <a:xfrm>
            <a:off x="812800" y="2786261"/>
            <a:ext cx="4974336"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The co-signer’s certificate</a:t>
            </a:r>
            <a:endParaRPr lang="en-US" sz="1500" dirty="0"/>
          </a:p>
        </p:txBody>
      </p:sp>
      <p:sp>
        <p:nvSpPr>
          <p:cNvPr id="7" name="Text 5"/>
          <p:cNvSpPr txBox="1"/>
          <p:nvPr/>
        </p:nvSpPr>
        <p:spPr>
          <a:xfrm>
            <a:off x="812800" y="3059311"/>
            <a:ext cx="4974336" cy="42664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A separate process with its own key runs 12 checks, then signs the exact recipient, amount, date, a single-use id and the hash of its decision record.</a:t>
            </a:r>
            <a:endParaRPr lang="en-US" sz="1200" dirty="0"/>
          </a:p>
        </p:txBody>
      </p:sp>
      <p:sp>
        <p:nvSpPr>
          <p:cNvPr id="8" name="Text 6"/>
          <p:cNvSpPr txBox="1"/>
          <p:nvPr/>
        </p:nvSpPr>
        <p:spPr>
          <a:xfrm>
            <a:off x="812800" y="3651052"/>
            <a:ext cx="4974336"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The vault’s own rules</a:t>
            </a:r>
            <a:endParaRPr lang="en-US" sz="1500" dirty="0"/>
          </a:p>
        </p:txBody>
      </p:sp>
      <p:sp>
        <p:nvSpPr>
          <p:cNvPr id="9" name="Text 7"/>
          <p:cNvSpPr txBox="1"/>
          <p:nvPr/>
        </p:nvSpPr>
        <p:spPr>
          <a:xfrm>
            <a:off x="812800" y="3924102"/>
            <a:ext cx="4974336" cy="42664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Payee in the mandate, caps, no replay, solvency. Change one signed byte and the payment reverts.</a:t>
            </a:r>
            <a:endParaRPr lang="en-US" sz="1200" dirty="0"/>
          </a:p>
        </p:txBody>
      </p:sp>
      <p:sp>
        <p:nvSpPr>
          <p:cNvPr id="10" name="Shape 8"/>
          <p:cNvSpPr/>
          <p:nvPr/>
        </p:nvSpPr>
        <p:spPr>
          <a:xfrm>
            <a:off x="5994400" y="1921470"/>
            <a:ext cx="5384800" cy="2622550"/>
          </a:xfrm>
          <a:prstGeom prst="roundRect">
            <a:avLst>
              <a:gd name="adj" fmla="val 1937"/>
            </a:avLst>
          </a:prstGeom>
          <a:solidFill>
            <a:srgbClr val="13233F"/>
          </a:solidFill>
          <a:ln/>
        </p:spPr>
      </p:sp>
      <p:sp>
        <p:nvSpPr>
          <p:cNvPr id="11" name="Text 9"/>
          <p:cNvSpPr txBox="1"/>
          <p:nvPr/>
        </p:nvSpPr>
        <p:spPr>
          <a:xfrm>
            <a:off x="6248400" y="2175470"/>
            <a:ext cx="4974336" cy="184150"/>
          </a:xfrm>
          <a:prstGeom prst="rect">
            <a:avLst/>
          </a:prstGeom>
          <a:noFill/>
          <a:ln/>
        </p:spPr>
        <p:txBody>
          <a:bodyPr wrap="square" lIns="0" tIns="0" rIns="0" bIns="0" rtlCol="0" anchor="t"/>
          <a:lstStyle/>
          <a:p>
            <a:pPr algn="l" indent="0" marL="0">
              <a:lnSpc>
                <a:spcPts val="1440"/>
              </a:lnSpc>
              <a:buNone/>
            </a:pPr>
            <a:r>
              <a:rPr lang="en-US" sz="1200" b="1" spc="100" kern="0" dirty="0">
                <a:solidFill>
                  <a:srgbClr val="46C4B0"/>
                </a:solidFill>
                <a:latin typeface="Calibri" pitchFamily="34" charset="0"/>
                <a:ea typeface="Calibri" pitchFamily="34" charset="-122"/>
                <a:cs typeface="Calibri" pitchFamily="34" charset="-120"/>
              </a:rPr>
              <a:t>ON SEPOLIA · TRANSACTION L4</a:t>
            </a:r>
            <a:endParaRPr lang="en-US" sz="1200" dirty="0"/>
          </a:p>
        </p:txBody>
      </p:sp>
      <p:sp>
        <p:nvSpPr>
          <p:cNvPr id="12" name="Text 10"/>
          <p:cNvSpPr txBox="1"/>
          <p:nvPr/>
        </p:nvSpPr>
        <p:spPr>
          <a:xfrm>
            <a:off x="6248400" y="2486620"/>
            <a:ext cx="4974336" cy="228600"/>
          </a:xfrm>
          <a:prstGeom prst="rect">
            <a:avLst/>
          </a:prstGeom>
          <a:noFill/>
          <a:ln/>
        </p:spPr>
        <p:txBody>
          <a:bodyPr wrap="square" lIns="0" tIns="0" rIns="0" bIns="0" rtlCol="0" anchor="t"/>
          <a:lstStyle/>
          <a:p>
            <a:pPr algn="l" indent="0" marL="0">
              <a:lnSpc>
                <a:spcPts val="1800"/>
              </a:lnSpc>
              <a:buNone/>
            </a:pPr>
            <a:r>
              <a:rPr lang="en-US" sz="1500" dirty="0">
                <a:solidFill>
                  <a:srgbClr val="E4ECF1"/>
                </a:solidFill>
                <a:latin typeface="Courier New" pitchFamily="34" charset="0"/>
                <a:ea typeface="Courier New" pitchFamily="34" charset="-122"/>
                <a:cs typeface="Courier New" pitchFamily="34" charset="-120"/>
              </a:rPr>
              <a:t>0x56a2334e…83b6</a:t>
            </a:r>
            <a:endParaRPr lang="en-US" sz="1500" dirty="0"/>
          </a:p>
        </p:txBody>
      </p:sp>
      <p:sp>
        <p:nvSpPr>
          <p:cNvPr id="13" name="Text 11"/>
          <p:cNvSpPr txBox="1"/>
          <p:nvPr/>
        </p:nvSpPr>
        <p:spPr>
          <a:xfrm>
            <a:off x="6248400" y="2829520"/>
            <a:ext cx="16383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Sent by</a:t>
            </a:r>
            <a:endParaRPr lang="en-US" sz="1200" dirty="0"/>
          </a:p>
        </p:txBody>
      </p:sp>
      <p:sp>
        <p:nvSpPr>
          <p:cNvPr id="14" name="Text 12"/>
          <p:cNvSpPr txBox="1"/>
          <p:nvPr/>
        </p:nvSpPr>
        <p:spPr>
          <a:xfrm>
            <a:off x="7924800" y="2829520"/>
            <a:ext cx="3264408"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the AI agent’s key 0x2A10…d0Bb</a:t>
            </a:r>
            <a:endParaRPr lang="en-US" sz="1200" dirty="0"/>
          </a:p>
        </p:txBody>
      </p:sp>
      <p:sp>
        <p:nvSpPr>
          <p:cNvPr id="15" name="Text 13"/>
          <p:cNvSpPr txBox="1"/>
          <p:nvPr/>
        </p:nvSpPr>
        <p:spPr>
          <a:xfrm>
            <a:off x="6248400" y="3102570"/>
            <a:ext cx="16383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Mandate signer</a:t>
            </a:r>
            <a:endParaRPr lang="en-US" sz="1200" dirty="0"/>
          </a:p>
        </p:txBody>
      </p:sp>
      <p:sp>
        <p:nvSpPr>
          <p:cNvPr id="16" name="Text 14"/>
          <p:cNvSpPr txBox="1"/>
          <p:nvPr/>
        </p:nvSpPr>
        <p:spPr>
          <a:xfrm>
            <a:off x="7924800" y="3102570"/>
            <a:ext cx="3264408"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the owner 0xb7Ed…97f7</a:t>
            </a:r>
            <a:endParaRPr lang="en-US" sz="1200" dirty="0"/>
          </a:p>
        </p:txBody>
      </p:sp>
      <p:sp>
        <p:nvSpPr>
          <p:cNvPr id="17" name="Text 15"/>
          <p:cNvSpPr txBox="1"/>
          <p:nvPr/>
        </p:nvSpPr>
        <p:spPr>
          <a:xfrm>
            <a:off x="6248400" y="3375620"/>
            <a:ext cx="16383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Certificate signer</a:t>
            </a:r>
            <a:endParaRPr lang="en-US" sz="1200" dirty="0"/>
          </a:p>
        </p:txBody>
      </p:sp>
      <p:sp>
        <p:nvSpPr>
          <p:cNvPr id="18" name="Text 16"/>
          <p:cNvSpPr txBox="1"/>
          <p:nvPr/>
        </p:nvSpPr>
        <p:spPr>
          <a:xfrm>
            <a:off x="7924800" y="3375620"/>
            <a:ext cx="3264408"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the co-signer 0xf1F8…2402</a:t>
            </a:r>
            <a:endParaRPr lang="en-US" sz="1200" dirty="0"/>
          </a:p>
        </p:txBody>
      </p:sp>
      <p:sp>
        <p:nvSpPr>
          <p:cNvPr id="19" name="Text 17"/>
          <p:cNvSpPr txBox="1"/>
          <p:nvPr/>
        </p:nvSpPr>
        <p:spPr>
          <a:xfrm>
            <a:off x="6248400" y="3648670"/>
            <a:ext cx="1638300" cy="36830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Evidence hash</a:t>
            </a:r>
            <a:endParaRPr lang="en-US" sz="1200" dirty="0"/>
          </a:p>
        </p:txBody>
      </p:sp>
      <p:sp>
        <p:nvSpPr>
          <p:cNvPr id="20" name="Text 18"/>
          <p:cNvSpPr txBox="1"/>
          <p:nvPr/>
        </p:nvSpPr>
        <p:spPr>
          <a:xfrm>
            <a:off x="7924800" y="3648670"/>
            <a:ext cx="3264408" cy="36830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0xb0dd4c99… = keccak256 of the published record, 12 of 12 checks</a:t>
            </a:r>
            <a:endParaRPr lang="en-US" sz="1200" dirty="0"/>
          </a:p>
        </p:txBody>
      </p:sp>
      <p:sp>
        <p:nvSpPr>
          <p:cNvPr id="21" name="Text 19"/>
          <p:cNvSpPr txBox="1"/>
          <p:nvPr/>
        </p:nvSpPr>
        <p:spPr>
          <a:xfrm>
            <a:off x="6248400" y="4105870"/>
            <a:ext cx="16383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Paid</a:t>
            </a:r>
            <a:endParaRPr lang="en-US" sz="1200" dirty="0"/>
          </a:p>
        </p:txBody>
      </p:sp>
      <p:sp>
        <p:nvSpPr>
          <p:cNvPr id="22" name="Text 20"/>
          <p:cNvSpPr txBox="1"/>
          <p:nvPr/>
        </p:nvSpPr>
        <p:spPr>
          <a:xfrm>
            <a:off x="7924800" y="4105870"/>
            <a:ext cx="3264408"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6 tUSD to Helix Data for a licensed risk model</a:t>
            </a:r>
            <a:endParaRPr lang="en-US" sz="1200" dirty="0"/>
          </a:p>
        </p:txBody>
      </p:sp>
      <p:sp>
        <p:nvSpPr>
          <p:cNvPr id="23" name="Shape 21"/>
          <p:cNvSpPr/>
          <p:nvPr/>
        </p:nvSpPr>
        <p:spPr>
          <a:xfrm>
            <a:off x="11226800" y="5689600"/>
            <a:ext cx="152400" cy="152400"/>
          </a:xfrm>
          <a:prstGeom prst="rect">
            <a:avLst/>
          </a:prstGeom>
          <a:solidFill>
            <a:srgbClr val="0A7468"/>
          </a:solidFill>
          <a:ln/>
        </p:spPr>
      </p:sp>
      <p:sp>
        <p:nvSpPr>
          <p:cNvPr id="24" name="Text 22"/>
          <p:cNvSpPr txBox="1"/>
          <p:nvPr/>
        </p:nvSpPr>
        <p:spPr>
          <a:xfrm>
            <a:off x="812800" y="6267450"/>
            <a:ext cx="77724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QED before the upgrade, unchanged and still live</a:t>
            </a:r>
            <a:endParaRPr lang="en-US" sz="1200" dirty="0"/>
          </a:p>
        </p:txBody>
      </p:sp>
      <p:sp>
        <p:nvSpPr>
          <p:cNvPr id="25" name="Text 23"/>
          <p:cNvSpPr txBox="1"/>
          <p:nvPr/>
        </p:nvSpPr>
        <p:spPr>
          <a:xfrm>
            <a:off x="9423400" y="6267450"/>
            <a:ext cx="1955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Appendix A8</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PROOF 2 · SOLVENCY</a:t>
            </a:r>
            <a:endParaRPr lang="en-US" sz="1200" dirty="0"/>
          </a:p>
        </p:txBody>
      </p:sp>
      <p:sp>
        <p:nvSpPr>
          <p:cNvPr id="3" name="Text 1"/>
          <p:cNvSpPr txBox="1"/>
          <p:nvPr/>
        </p:nvSpPr>
        <p:spPr>
          <a:xfrm>
            <a:off x="812800" y="12255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Money owed to a creditor can only ever reach that creditor.</a:t>
            </a:r>
            <a:endParaRPr lang="en-US" sz="3200" dirty="0"/>
          </a:p>
        </p:txBody>
      </p:sp>
      <p:sp>
        <p:nvSpPr>
          <p:cNvPr id="4" name="Shape 2"/>
          <p:cNvSpPr/>
          <p:nvPr/>
        </p:nvSpPr>
        <p:spPr>
          <a:xfrm>
            <a:off x="812800" y="1921470"/>
            <a:ext cx="10566400" cy="711200"/>
          </a:xfrm>
          <a:prstGeom prst="roundRect">
            <a:avLst>
              <a:gd name="adj" fmla="val 5357"/>
            </a:avLst>
          </a:prstGeom>
          <a:ln w="12700">
            <a:solidFill>
              <a:srgbClr val="13233F"/>
            </a:solidFill>
            <a:prstDash val="solid"/>
          </a:ln>
        </p:spPr>
      </p:sp>
      <p:sp>
        <p:nvSpPr>
          <p:cNvPr id="5" name="Shape 3"/>
          <p:cNvSpPr/>
          <p:nvPr/>
        </p:nvSpPr>
        <p:spPr>
          <a:xfrm>
            <a:off x="825500" y="1934170"/>
            <a:ext cx="7378700" cy="685800"/>
          </a:xfrm>
          <a:prstGeom prst="rect">
            <a:avLst/>
          </a:prstGeom>
          <a:solidFill>
            <a:srgbClr val="E3E9EC"/>
          </a:solidFill>
          <a:ln/>
        </p:spPr>
      </p:sp>
      <p:sp>
        <p:nvSpPr>
          <p:cNvPr id="6" name="Shape 4"/>
          <p:cNvSpPr/>
          <p:nvPr/>
        </p:nvSpPr>
        <p:spPr>
          <a:xfrm>
            <a:off x="8194675" y="1934170"/>
            <a:ext cx="0" cy="685800"/>
          </a:xfrm>
          <a:prstGeom prst="line">
            <a:avLst/>
          </a:prstGeom>
          <a:noFill/>
          <a:ln w="19050">
            <a:solidFill>
              <a:srgbClr val="13233F"/>
            </a:solidFill>
            <a:prstDash val="solid"/>
          </a:ln>
        </p:spPr>
      </p:sp>
      <p:sp>
        <p:nvSpPr>
          <p:cNvPr id="7" name="Text 5"/>
          <p:cNvSpPr txBox="1"/>
          <p:nvPr/>
        </p:nvSpPr>
        <p:spPr>
          <a:xfrm>
            <a:off x="1028700" y="2159595"/>
            <a:ext cx="7092315"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70 tUSD ring-fenced for CloudCo’s compute bill</a:t>
            </a:r>
            <a:endParaRPr lang="en-US" sz="1500" dirty="0"/>
          </a:p>
        </p:txBody>
      </p:sp>
      <p:sp>
        <p:nvSpPr>
          <p:cNvPr id="8" name="Shape 6"/>
          <p:cNvSpPr/>
          <p:nvPr/>
        </p:nvSpPr>
        <p:spPr>
          <a:xfrm>
            <a:off x="8204200" y="1934170"/>
            <a:ext cx="3162300" cy="685800"/>
          </a:xfrm>
          <a:prstGeom prst="rect">
            <a:avLst/>
          </a:prstGeom>
          <a:solidFill>
            <a:srgbClr val="DCEEEA"/>
          </a:solidFill>
          <a:ln/>
        </p:spPr>
      </p:sp>
      <p:sp>
        <p:nvSpPr>
          <p:cNvPr id="9" name="Text 7"/>
          <p:cNvSpPr txBox="1"/>
          <p:nvPr/>
        </p:nvSpPr>
        <p:spPr>
          <a:xfrm>
            <a:off x="8407400" y="2159595"/>
            <a:ext cx="2811018" cy="234950"/>
          </a:xfrm>
          <a:prstGeom prst="rect">
            <a:avLst/>
          </a:prstGeom>
          <a:noFill/>
          <a:ln/>
        </p:spPr>
        <p:txBody>
          <a:bodyPr wrap="square" lIns="0" tIns="0" rIns="0" bIns="0" rtlCol="0" anchor="t"/>
          <a:lstStyle/>
          <a:p>
            <a:pPr algn="l" indent="0" marL="0">
              <a:lnSpc>
                <a:spcPts val="1800"/>
              </a:lnSpc>
              <a:buNone/>
            </a:pPr>
            <a:r>
              <a:rPr lang="en-US" sz="1500" b="1" dirty="0">
                <a:solidFill>
                  <a:srgbClr val="0A7468"/>
                </a:solidFill>
                <a:latin typeface="Calibri" pitchFamily="34" charset="0"/>
                <a:ea typeface="Calibri" pitchFamily="34" charset="-122"/>
                <a:cs typeface="Calibri" pitchFamily="34" charset="-120"/>
              </a:rPr>
              <a:t>30 tUSD free</a:t>
            </a:r>
            <a:endParaRPr lang="en-US" sz="1500" dirty="0"/>
          </a:p>
        </p:txBody>
      </p:sp>
      <p:sp>
        <p:nvSpPr>
          <p:cNvPr id="10" name="Text 8"/>
          <p:cNvSpPr txBox="1"/>
          <p:nvPr/>
        </p:nvSpPr>
        <p:spPr>
          <a:xfrm>
            <a:off x="812800" y="2861270"/>
            <a:ext cx="3385346" cy="447040"/>
          </a:xfrm>
          <a:prstGeom prst="rect">
            <a:avLst/>
          </a:prstGeom>
          <a:noFill/>
          <a:ln/>
        </p:spPr>
        <p:txBody>
          <a:bodyPr wrap="square" lIns="0" tIns="0" rIns="0" bIns="0" rtlCol="0" anchor="t"/>
          <a:lstStyle/>
          <a:p>
            <a:pPr algn="l" indent="0" marL="0">
              <a:lnSpc>
                <a:spcPts val="3520"/>
              </a:lnSpc>
              <a:buNone/>
            </a:pPr>
            <a:r>
              <a:rPr lang="en-US" sz="3200" i="1" dirty="0">
                <a:solidFill>
                  <a:srgbClr val="13233F"/>
                </a:solidFill>
                <a:latin typeface="Cambria" pitchFamily="34" charset="0"/>
                <a:ea typeface="Cambria" pitchFamily="34" charset="-122"/>
                <a:cs typeface="Cambria" pitchFamily="34" charset="-120"/>
              </a:rPr>
              <a:t>B</a:t>
            </a:r>
            <a:pPr algn="l" indent="0" marL="0">
              <a:lnSpc>
                <a:spcPts val="3520"/>
              </a:lnSpc>
              <a:buNone/>
            </a:pPr>
            <a:r>
              <a:rPr lang="en-US" sz="3200" dirty="0">
                <a:solidFill>
                  <a:srgbClr val="13233F"/>
                </a:solidFill>
                <a:latin typeface="Cambria" pitchFamily="34" charset="0"/>
                <a:ea typeface="Cambria" pitchFamily="34" charset="-122"/>
                <a:cs typeface="Cambria" pitchFamily="34" charset="-120"/>
              </a:rPr>
              <a:t> ≥ </a:t>
            </a:r>
            <a:pPr algn="l" indent="0" marL="0">
              <a:lnSpc>
                <a:spcPts val="3520"/>
              </a:lnSpc>
              <a:buNone/>
            </a:pPr>
            <a:r>
              <a:rPr lang="en-US" sz="3200" i="1" dirty="0">
                <a:solidFill>
                  <a:srgbClr val="13233F"/>
                </a:solidFill>
                <a:latin typeface="Cambria" pitchFamily="34" charset="0"/>
                <a:ea typeface="Cambria" pitchFamily="34" charset="-122"/>
                <a:cs typeface="Cambria" pitchFamily="34" charset="-120"/>
              </a:rPr>
              <a:t>P</a:t>
            </a:r>
            <a:endParaRPr lang="en-US" sz="3200" dirty="0"/>
          </a:p>
        </p:txBody>
      </p:sp>
      <p:sp>
        <p:nvSpPr>
          <p:cNvPr id="11" name="Text 9"/>
          <p:cNvSpPr txBox="1"/>
          <p:nvPr/>
        </p:nvSpPr>
        <p:spPr>
          <a:xfrm>
            <a:off x="812800" y="3359051"/>
            <a:ext cx="3385346" cy="63996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Balance covers every ring-fenced liability at every block. Proved by induction; fuzzed with both hot keys stolen.</a:t>
            </a:r>
            <a:endParaRPr lang="en-US" sz="1200" dirty="0"/>
          </a:p>
        </p:txBody>
      </p:sp>
      <p:sp>
        <p:nvSpPr>
          <p:cNvPr id="12" name="Text 10"/>
          <p:cNvSpPr txBox="1"/>
          <p:nvPr/>
        </p:nvSpPr>
        <p:spPr>
          <a:xfrm>
            <a:off x="4436566" y="2861270"/>
            <a:ext cx="3385346"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Who can move it?</a:t>
            </a:r>
            <a:endParaRPr lang="en-US" sz="1500" dirty="0"/>
          </a:p>
        </p:txBody>
      </p:sp>
      <p:sp>
        <p:nvSpPr>
          <p:cNvPr id="13" name="Text 11"/>
          <p:cNvSpPr txBox="1"/>
          <p:nvPr/>
        </p:nvSpPr>
        <p:spPr>
          <a:xfrm>
            <a:off x="4436566" y="3147020"/>
            <a:ext cx="3385346" cy="63996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Not the AI. Not the co-signer. Not even the owner. Only settlement to the creditor, or the creditor releasing its own claim.</a:t>
            </a:r>
            <a:endParaRPr lang="en-US" sz="1200" dirty="0"/>
          </a:p>
        </p:txBody>
      </p:sp>
      <p:sp>
        <p:nvSpPr>
          <p:cNvPr id="14" name="Text 12"/>
          <p:cNvSpPr txBox="1"/>
          <p:nvPr/>
        </p:nvSpPr>
        <p:spPr>
          <a:xfrm>
            <a:off x="8060333" y="2861270"/>
            <a:ext cx="3385346"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Pause stops the AI, not the creditors</a:t>
            </a:r>
            <a:endParaRPr lang="en-US" sz="1500" dirty="0"/>
          </a:p>
        </p:txBody>
      </p:sp>
      <p:sp>
        <p:nvSpPr>
          <p:cNvPr id="15" name="Text 13"/>
          <p:cNvSpPr txBox="1"/>
          <p:nvPr/>
        </p:nvSpPr>
        <p:spPr>
          <a:xfrm>
            <a:off x="8060333" y="3147020"/>
            <a:ext cx="3385346" cy="63996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On Sepolia the vault was paused, then the attacker’s own address called settle(). CloudCo received exactly 70 tUSD (P3).</a:t>
            </a:r>
            <a:endParaRPr lang="en-US" sz="1200" dirty="0"/>
          </a:p>
        </p:txBody>
      </p:sp>
      <p:sp>
        <p:nvSpPr>
          <p:cNvPr id="16" name="Shape 14"/>
          <p:cNvSpPr/>
          <p:nvPr/>
        </p:nvSpPr>
        <p:spPr>
          <a:xfrm>
            <a:off x="11226800" y="5689600"/>
            <a:ext cx="152400" cy="152400"/>
          </a:xfrm>
          <a:prstGeom prst="rect">
            <a:avLst/>
          </a:prstGeom>
          <a:solidFill>
            <a:srgbClr val="0A7468"/>
          </a:solidFill>
          <a:ln/>
        </p:spPr>
      </p:sp>
      <p:sp>
        <p:nvSpPr>
          <p:cNvPr id="17" name="Text 15"/>
          <p:cNvSpPr txBox="1"/>
          <p:nvPr/>
        </p:nvSpPr>
        <p:spPr>
          <a:xfrm>
            <a:off x="812800" y="6267450"/>
            <a:ext cx="77724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QED before the upgrade, unchanged and still live</a:t>
            </a:r>
            <a:endParaRPr lang="en-US" sz="1200" dirty="0"/>
          </a:p>
        </p:txBody>
      </p:sp>
      <p:sp>
        <p:nvSpPr>
          <p:cNvPr id="18" name="Text 16"/>
          <p:cNvSpPr txBox="1"/>
          <p:nvPr/>
        </p:nvSpPr>
        <p:spPr>
          <a:xfrm>
            <a:off x="9423400" y="6267450"/>
            <a:ext cx="1955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Appendix A9</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PROOF 3 · CORRECTNESS</a:t>
            </a:r>
            <a:endParaRPr lang="en-US" sz="1200" dirty="0"/>
          </a:p>
        </p:txBody>
      </p:sp>
      <p:sp>
        <p:nvSpPr>
          <p:cNvPr id="3" name="Text 1"/>
          <p:cNvSpPr txBox="1"/>
          <p:nvPr/>
        </p:nvSpPr>
        <p:spPr>
          <a:xfrm>
            <a:off x="812800" y="12001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The escrow pays for a proof, not a promise.</a:t>
            </a:r>
            <a:endParaRPr lang="en-US" sz="3200" dirty="0"/>
          </a:p>
        </p:txBody>
      </p:sp>
      <p:sp>
        <p:nvSpPr>
          <p:cNvPr id="4" name="Text 2"/>
          <p:cNvSpPr txBox="1"/>
          <p:nvPr/>
        </p:nvSpPr>
        <p:spPr>
          <a:xfrm>
            <a:off x="812800" y="1870670"/>
            <a:ext cx="4993767" cy="382984"/>
          </a:xfrm>
          <a:prstGeom prst="rect">
            <a:avLst/>
          </a:prstGeom>
          <a:noFill/>
          <a:ln/>
        </p:spPr>
        <p:txBody>
          <a:bodyPr wrap="square" lIns="0" tIns="0" rIns="0" bIns="0" rtlCol="0" anchor="t"/>
          <a:lstStyle/>
          <a:p>
            <a:pPr algn="l" indent="0" marL="0">
              <a:lnSpc>
                <a:spcPts val="2600"/>
              </a:lnSpc>
              <a:buNone/>
            </a:pPr>
            <a:r>
              <a:rPr lang="en-US" sz="2000" dirty="0">
                <a:solidFill>
                  <a:srgbClr val="13233F"/>
                </a:solidFill>
                <a:latin typeface="Cambria" pitchFamily="34" charset="0"/>
                <a:ea typeface="Cambria" pitchFamily="34" charset="-122"/>
                <a:cs typeface="Cambria" pitchFamily="34" charset="-120"/>
              </a:rPr>
              <a:t>minimise ½ </a:t>
            </a:r>
            <a:pPr algn="l" indent="0" marL="0">
              <a:lnSpc>
                <a:spcPts val="2600"/>
              </a:lnSpc>
              <a:buNone/>
            </a:pPr>
            <a:r>
              <a:rPr lang="en-US" sz="2000" i="1" dirty="0">
                <a:solidFill>
                  <a:srgbClr val="13233F"/>
                </a:solidFill>
                <a:latin typeface="Cambria" pitchFamily="34" charset="0"/>
                <a:ea typeface="Cambria" pitchFamily="34" charset="-122"/>
                <a:cs typeface="Cambria" pitchFamily="34" charset="-120"/>
              </a:rPr>
              <a:t>w</a:t>
            </a:r>
            <a:pPr algn="l" indent="0" marL="0">
              <a:lnSpc>
                <a:spcPts val="2600"/>
              </a:lnSpc>
              <a:buNone/>
            </a:pPr>
            <a:r>
              <a:rPr lang="en-US" sz="2000" dirty="0">
                <a:solidFill>
                  <a:srgbClr val="13233F"/>
                </a:solidFill>
                <a:latin typeface="Cambria" pitchFamily="34" charset="0"/>
                <a:ea typeface="Cambria" pitchFamily="34" charset="-122"/>
                <a:cs typeface="Cambria" pitchFamily="34" charset="-120"/>
              </a:rPr>
              <a:t>ᵀΣ</a:t>
            </a:r>
            <a:pPr algn="l" indent="0" marL="0">
              <a:lnSpc>
                <a:spcPts val="2600"/>
              </a:lnSpc>
              <a:buNone/>
            </a:pPr>
            <a:r>
              <a:rPr lang="en-US" sz="2000" i="1" dirty="0">
                <a:solidFill>
                  <a:srgbClr val="13233F"/>
                </a:solidFill>
                <a:latin typeface="Cambria" pitchFamily="34" charset="0"/>
                <a:ea typeface="Cambria" pitchFamily="34" charset="-122"/>
                <a:cs typeface="Cambria" pitchFamily="34" charset="-120"/>
              </a:rPr>
              <a:t>w</a:t>
            </a:r>
            <a:pPr algn="l" indent="0" marL="0">
              <a:lnSpc>
                <a:spcPts val="2600"/>
              </a:lnSpc>
              <a:buNone/>
            </a:pPr>
            <a:r>
              <a:rPr lang="en-US" sz="2000" dirty="0">
                <a:solidFill>
                  <a:srgbClr val="13233F"/>
                </a:solidFill>
                <a:latin typeface="Cambria" pitchFamily="34" charset="0"/>
                <a:ea typeface="Cambria" pitchFamily="34" charset="-122"/>
                <a:cs typeface="Cambria" pitchFamily="34" charset="-120"/>
              </a:rPr>
              <a:t> s.t. Σ</a:t>
            </a:r>
            <a:pPr algn="l" indent="0" marL="0">
              <a:lnSpc>
                <a:spcPts val="2600"/>
              </a:lnSpc>
              <a:buNone/>
            </a:pPr>
            <a:r>
              <a:rPr lang="en-US" sz="2000" i="1" dirty="0">
                <a:solidFill>
                  <a:srgbClr val="13233F"/>
                </a:solidFill>
                <a:latin typeface="Cambria" pitchFamily="34" charset="0"/>
                <a:ea typeface="Cambria" pitchFamily="34" charset="-122"/>
                <a:cs typeface="Cambria" pitchFamily="34" charset="-120"/>
              </a:rPr>
              <a:t>w</a:t>
            </a:r>
            <a:pPr algn="l" indent="0" marL="0">
              <a:lnSpc>
                <a:spcPts val="2600"/>
              </a:lnSpc>
              <a:buNone/>
            </a:pPr>
            <a:r>
              <a:rPr lang="en-US" sz="1670" baseline="-40000" dirty="0">
                <a:solidFill>
                  <a:srgbClr val="13233F"/>
                </a:solidFill>
                <a:latin typeface="Cambria" pitchFamily="34" charset="0"/>
                <a:ea typeface="Cambria" pitchFamily="34" charset="-122"/>
                <a:cs typeface="Cambria" pitchFamily="34" charset="-120"/>
              </a:rPr>
              <a:t>i</a:t>
            </a:r>
            <a:pPr algn="l" indent="0" marL="0">
              <a:lnSpc>
                <a:spcPts val="2600"/>
              </a:lnSpc>
              <a:buNone/>
            </a:pPr>
            <a:r>
              <a:rPr lang="en-US" sz="2000" dirty="0">
                <a:solidFill>
                  <a:srgbClr val="13233F"/>
                </a:solidFill>
                <a:latin typeface="Cambria" pitchFamily="34" charset="0"/>
                <a:ea typeface="Cambria" pitchFamily="34" charset="-122"/>
                <a:cs typeface="Cambria" pitchFamily="34" charset="-120"/>
              </a:rPr>
              <a:t> = 1, </a:t>
            </a:r>
            <a:pPr algn="l" indent="0" marL="0">
              <a:lnSpc>
                <a:spcPts val="2600"/>
              </a:lnSpc>
              <a:buNone/>
            </a:pPr>
            <a:r>
              <a:rPr lang="en-US" sz="2000" i="1" dirty="0">
                <a:solidFill>
                  <a:srgbClr val="13233F"/>
                </a:solidFill>
                <a:latin typeface="Cambria" pitchFamily="34" charset="0"/>
                <a:ea typeface="Cambria" pitchFamily="34" charset="-122"/>
                <a:cs typeface="Cambria" pitchFamily="34" charset="-120"/>
              </a:rPr>
              <a:t>w</a:t>
            </a:r>
            <a:pPr algn="l" indent="0" marL="0">
              <a:lnSpc>
                <a:spcPts val="2600"/>
              </a:lnSpc>
              <a:buNone/>
            </a:pPr>
            <a:r>
              <a:rPr lang="en-US" sz="2000" dirty="0">
                <a:solidFill>
                  <a:srgbClr val="13233F"/>
                </a:solidFill>
                <a:latin typeface="Cambria" pitchFamily="34" charset="0"/>
                <a:ea typeface="Cambria" pitchFamily="34" charset="-122"/>
                <a:cs typeface="Cambria" pitchFamily="34" charset="-120"/>
              </a:rPr>
              <a:t> ≥ 0</a:t>
            </a:r>
            <a:endParaRPr lang="en-US" sz="2000" dirty="0"/>
          </a:p>
        </p:txBody>
      </p:sp>
      <p:sp>
        <p:nvSpPr>
          <p:cNvPr id="5" name="Text 3"/>
          <p:cNvSpPr txBox="1"/>
          <p:nvPr/>
        </p:nvSpPr>
        <p:spPr>
          <a:xfrm>
            <a:off x="812800" y="2367955"/>
            <a:ext cx="4993767" cy="42664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The AI solves it off-chain and submits the portfolio with its multipliers and a factor L. The contract checks, in exact integers:</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812800" y="2908895"/>
          <a:ext cx="4895850" cy="914400"/>
        </p:xfrm>
        <a:graphic>
          <a:graphicData uri="http://schemas.openxmlformats.org/drawingml/2006/table">
            <a:tbl>
              <a:tblPr/>
              <a:tblGrid>
                <a:gridCol w="2545755"/>
                <a:gridCol w="2350095"/>
              </a:tblGrid>
              <a:tr h="196850">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Condition</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What it rules out</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w ≥ 0, weights sum to 1</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short selling, leverage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μ ≥ 0</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fake multipliers</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Σw = ν + μ, within τ</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any portfolio that isn’t stationary</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Σ wᵢμᵢ ≤ τ</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 duality gap: suboptimal work</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Σ = LLᵀ, within τ</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 non-convex trick</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bl>
          </a:graphicData>
        </a:graphic>
      </p:graphicFrame>
      <p:sp>
        <p:nvSpPr>
          <p:cNvPr id="7" name="Shape 4"/>
          <p:cNvSpPr/>
          <p:nvPr/>
        </p:nvSpPr>
        <p:spPr>
          <a:xfrm>
            <a:off x="6013450" y="1870670"/>
            <a:ext cx="5365750" cy="2858691"/>
          </a:xfrm>
          <a:prstGeom prst="roundRect">
            <a:avLst>
              <a:gd name="adj" fmla="val 1777"/>
            </a:avLst>
          </a:prstGeom>
          <a:solidFill>
            <a:srgbClr val="FBFCFC"/>
          </a:solidFill>
          <a:ln w="6350">
            <a:solidFill>
              <a:srgbClr val="D6DEE1"/>
            </a:solidFill>
            <a:prstDash val="solid"/>
          </a:ln>
        </p:spPr>
      </p:sp>
      <p:sp>
        <p:nvSpPr>
          <p:cNvPr id="8" name="Text 5"/>
          <p:cNvSpPr txBox="1"/>
          <p:nvPr/>
        </p:nvSpPr>
        <p:spPr>
          <a:xfrm>
            <a:off x="6248400" y="2105620"/>
            <a:ext cx="4993767" cy="184150"/>
          </a:xfrm>
          <a:prstGeom prst="rect">
            <a:avLst/>
          </a:prstGeom>
          <a:noFill/>
          <a:ln/>
        </p:spPr>
        <p:txBody>
          <a:bodyPr wrap="square" lIns="0" tIns="0" rIns="0" bIns="0" rtlCol="0" anchor="t"/>
          <a:lstStyle/>
          <a:p>
            <a:pPr algn="l" indent="0" marL="0">
              <a:lnSpc>
                <a:spcPts val="1440"/>
              </a:lnSpc>
              <a:buNone/>
            </a:pPr>
            <a:r>
              <a:rPr lang="en-US" sz="1200" b="1" spc="100" kern="0" dirty="0">
                <a:solidFill>
                  <a:srgbClr val="0A7468"/>
                </a:solidFill>
                <a:latin typeface="Calibri" pitchFamily="34" charset="0"/>
                <a:ea typeface="Calibri" pitchFamily="34" charset="-122"/>
                <a:cs typeface="Calibri" pitchFamily="34" charset="-120"/>
              </a:rPr>
              <a:t>DELIVERED AND VERIFIED ON SEPOLIA · L6</a:t>
            </a:r>
            <a:endParaRPr lang="en-US" sz="1200" dirty="0"/>
          </a:p>
        </p:txBody>
      </p:sp>
      <p:sp>
        <p:nvSpPr>
          <p:cNvPr id="9" name="Text 6"/>
          <p:cNvSpPr txBox="1"/>
          <p:nvPr/>
        </p:nvSpPr>
        <p:spPr>
          <a:xfrm>
            <a:off x="6248400" y="2404070"/>
            <a:ext cx="1638300" cy="18415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alibri" pitchFamily="34" charset="0"/>
                <a:ea typeface="Calibri" pitchFamily="34" charset="-122"/>
                <a:cs typeface="Calibri" pitchFamily="34" charset="-120"/>
              </a:rPr>
              <a:t>US Treasuries 7–10y</a:t>
            </a:r>
            <a:endParaRPr lang="en-US" sz="1200" dirty="0"/>
          </a:p>
        </p:txBody>
      </p:sp>
      <p:sp>
        <p:nvSpPr>
          <p:cNvPr id="10" name="Shape 7"/>
          <p:cNvSpPr/>
          <p:nvPr/>
        </p:nvSpPr>
        <p:spPr>
          <a:xfrm>
            <a:off x="7937500" y="2426295"/>
            <a:ext cx="2406650" cy="139700"/>
          </a:xfrm>
          <a:prstGeom prst="roundRect">
            <a:avLst>
              <a:gd name="adj" fmla="val 13636"/>
            </a:avLst>
          </a:prstGeom>
          <a:solidFill>
            <a:srgbClr val="E3E9EC"/>
          </a:solidFill>
          <a:ln/>
        </p:spPr>
      </p:sp>
      <p:sp>
        <p:nvSpPr>
          <p:cNvPr id="11" name="Shape 8"/>
          <p:cNvSpPr/>
          <p:nvPr/>
        </p:nvSpPr>
        <p:spPr>
          <a:xfrm>
            <a:off x="7937500" y="2426295"/>
            <a:ext cx="2406650" cy="139700"/>
          </a:xfrm>
          <a:prstGeom prst="roundRect">
            <a:avLst>
              <a:gd name="adj" fmla="val 13636"/>
            </a:avLst>
          </a:prstGeom>
          <a:solidFill>
            <a:srgbClr val="0A7468"/>
          </a:solidFill>
          <a:ln/>
        </p:spPr>
      </p:sp>
      <p:sp>
        <p:nvSpPr>
          <p:cNvPr id="12" name="Text 9"/>
          <p:cNvSpPr txBox="1"/>
          <p:nvPr/>
        </p:nvSpPr>
        <p:spPr>
          <a:xfrm>
            <a:off x="10394950" y="2404070"/>
            <a:ext cx="749300" cy="184150"/>
          </a:xfrm>
          <a:prstGeom prst="rect">
            <a:avLst/>
          </a:prstGeom>
          <a:noFill/>
          <a:ln/>
        </p:spPr>
        <p:txBody>
          <a:bodyPr wrap="square" lIns="0" tIns="0" rIns="0" bIns="0" rtlCol="0" anchor="t"/>
          <a:lstStyle/>
          <a:p>
            <a:pPr algn="r" indent="0" marL="0">
              <a:lnSpc>
                <a:spcPts val="1440"/>
              </a:lnSpc>
              <a:buNone/>
            </a:pPr>
            <a:r>
              <a:rPr lang="en-US" sz="1200" dirty="0">
                <a:solidFill>
                  <a:srgbClr val="13233F"/>
                </a:solidFill>
                <a:latin typeface="Calibri" pitchFamily="34" charset="0"/>
                <a:ea typeface="Calibri" pitchFamily="34" charset="-122"/>
                <a:cs typeface="Calibri" pitchFamily="34" charset="-120"/>
              </a:rPr>
              <a:t>80.81%</a:t>
            </a:r>
            <a:endParaRPr lang="en-US" sz="1200" dirty="0"/>
          </a:p>
        </p:txBody>
      </p:sp>
      <p:sp>
        <p:nvSpPr>
          <p:cNvPr id="13" name="Text 10"/>
          <p:cNvSpPr txBox="1"/>
          <p:nvPr/>
        </p:nvSpPr>
        <p:spPr>
          <a:xfrm>
            <a:off x="6248400" y="2702520"/>
            <a:ext cx="1638300" cy="18415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alibri" pitchFamily="34" charset="0"/>
                <a:ea typeface="Calibri" pitchFamily="34" charset="-122"/>
                <a:cs typeface="Calibri" pitchFamily="34" charset="-120"/>
              </a:rPr>
              <a:t>Global Equities</a:t>
            </a:r>
            <a:endParaRPr lang="en-US" sz="1200" dirty="0"/>
          </a:p>
        </p:txBody>
      </p:sp>
      <p:sp>
        <p:nvSpPr>
          <p:cNvPr id="14" name="Shape 11"/>
          <p:cNvSpPr/>
          <p:nvPr/>
        </p:nvSpPr>
        <p:spPr>
          <a:xfrm>
            <a:off x="7937500" y="2724745"/>
            <a:ext cx="2406650" cy="139700"/>
          </a:xfrm>
          <a:prstGeom prst="roundRect">
            <a:avLst>
              <a:gd name="adj" fmla="val 13636"/>
            </a:avLst>
          </a:prstGeom>
          <a:solidFill>
            <a:srgbClr val="E3E9EC"/>
          </a:solidFill>
          <a:ln/>
        </p:spPr>
      </p:sp>
      <p:sp>
        <p:nvSpPr>
          <p:cNvPr id="15" name="Shape 12"/>
          <p:cNvSpPr/>
          <p:nvPr/>
        </p:nvSpPr>
        <p:spPr>
          <a:xfrm>
            <a:off x="7937500" y="2724745"/>
            <a:ext cx="481310" cy="139700"/>
          </a:xfrm>
          <a:prstGeom prst="roundRect">
            <a:avLst>
              <a:gd name="adj" fmla="val 13636"/>
            </a:avLst>
          </a:prstGeom>
          <a:solidFill>
            <a:srgbClr val="0A7468"/>
          </a:solidFill>
          <a:ln/>
        </p:spPr>
      </p:sp>
      <p:sp>
        <p:nvSpPr>
          <p:cNvPr id="16" name="Text 13"/>
          <p:cNvSpPr txBox="1"/>
          <p:nvPr/>
        </p:nvSpPr>
        <p:spPr>
          <a:xfrm>
            <a:off x="10394950" y="2702520"/>
            <a:ext cx="749300" cy="184150"/>
          </a:xfrm>
          <a:prstGeom prst="rect">
            <a:avLst/>
          </a:prstGeom>
          <a:noFill/>
          <a:ln/>
        </p:spPr>
        <p:txBody>
          <a:bodyPr wrap="square" lIns="0" tIns="0" rIns="0" bIns="0" rtlCol="0" anchor="t"/>
          <a:lstStyle/>
          <a:p>
            <a:pPr algn="r" indent="0" marL="0">
              <a:lnSpc>
                <a:spcPts val="1440"/>
              </a:lnSpc>
              <a:buNone/>
            </a:pPr>
            <a:r>
              <a:rPr lang="en-US" sz="1200" dirty="0">
                <a:solidFill>
                  <a:srgbClr val="13233F"/>
                </a:solidFill>
                <a:latin typeface="Calibri" pitchFamily="34" charset="0"/>
                <a:ea typeface="Calibri" pitchFamily="34" charset="-122"/>
                <a:cs typeface="Calibri" pitchFamily="34" charset="-120"/>
              </a:rPr>
              <a:t>16.32%</a:t>
            </a:r>
            <a:endParaRPr lang="en-US" sz="1200" dirty="0"/>
          </a:p>
        </p:txBody>
      </p:sp>
      <p:sp>
        <p:nvSpPr>
          <p:cNvPr id="17" name="Text 14"/>
          <p:cNvSpPr txBox="1"/>
          <p:nvPr/>
        </p:nvSpPr>
        <p:spPr>
          <a:xfrm>
            <a:off x="6248400" y="3000970"/>
            <a:ext cx="1638300" cy="18415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alibri" pitchFamily="34" charset="0"/>
                <a:ea typeface="Calibri" pitchFamily="34" charset="-122"/>
                <a:cs typeface="Calibri" pitchFamily="34" charset="-120"/>
              </a:rPr>
              <a:t>Gold</a:t>
            </a:r>
            <a:endParaRPr lang="en-US" sz="1200" dirty="0"/>
          </a:p>
        </p:txBody>
      </p:sp>
      <p:sp>
        <p:nvSpPr>
          <p:cNvPr id="18" name="Shape 15"/>
          <p:cNvSpPr/>
          <p:nvPr/>
        </p:nvSpPr>
        <p:spPr>
          <a:xfrm>
            <a:off x="7937500" y="3023195"/>
            <a:ext cx="2406650" cy="139700"/>
          </a:xfrm>
          <a:prstGeom prst="roundRect">
            <a:avLst>
              <a:gd name="adj" fmla="val 13636"/>
            </a:avLst>
          </a:prstGeom>
          <a:solidFill>
            <a:srgbClr val="E3E9EC"/>
          </a:solidFill>
          <a:ln/>
        </p:spPr>
      </p:sp>
      <p:sp>
        <p:nvSpPr>
          <p:cNvPr id="19" name="Shape 16"/>
          <p:cNvSpPr/>
          <p:nvPr/>
        </p:nvSpPr>
        <p:spPr>
          <a:xfrm>
            <a:off x="7937500" y="3023195"/>
            <a:ext cx="96242" cy="139700"/>
          </a:xfrm>
          <a:prstGeom prst="roundRect">
            <a:avLst>
              <a:gd name="adj" fmla="val 19794"/>
            </a:avLst>
          </a:prstGeom>
          <a:solidFill>
            <a:srgbClr val="0A7468"/>
          </a:solidFill>
          <a:ln/>
        </p:spPr>
      </p:sp>
      <p:sp>
        <p:nvSpPr>
          <p:cNvPr id="20" name="Text 17"/>
          <p:cNvSpPr txBox="1"/>
          <p:nvPr/>
        </p:nvSpPr>
        <p:spPr>
          <a:xfrm>
            <a:off x="10394950" y="3000970"/>
            <a:ext cx="749300" cy="184150"/>
          </a:xfrm>
          <a:prstGeom prst="rect">
            <a:avLst/>
          </a:prstGeom>
          <a:noFill/>
          <a:ln/>
        </p:spPr>
        <p:txBody>
          <a:bodyPr wrap="square" lIns="0" tIns="0" rIns="0" bIns="0" rtlCol="0" anchor="t"/>
          <a:lstStyle/>
          <a:p>
            <a:pPr algn="r" indent="0" marL="0">
              <a:lnSpc>
                <a:spcPts val="1440"/>
              </a:lnSpc>
              <a:buNone/>
            </a:pPr>
            <a:r>
              <a:rPr lang="en-US" sz="1200" dirty="0">
                <a:solidFill>
                  <a:srgbClr val="13233F"/>
                </a:solidFill>
                <a:latin typeface="Calibri" pitchFamily="34" charset="0"/>
                <a:ea typeface="Calibri" pitchFamily="34" charset="-122"/>
                <a:cs typeface="Calibri" pitchFamily="34" charset="-120"/>
              </a:rPr>
              <a:t>2.87%</a:t>
            </a:r>
            <a:endParaRPr lang="en-US" sz="1200" dirty="0"/>
          </a:p>
        </p:txBody>
      </p:sp>
      <p:sp>
        <p:nvSpPr>
          <p:cNvPr id="21" name="Text 18"/>
          <p:cNvSpPr txBox="1"/>
          <p:nvPr/>
        </p:nvSpPr>
        <p:spPr>
          <a:xfrm>
            <a:off x="6248400" y="3299420"/>
            <a:ext cx="4993767" cy="42664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Bitcoin, IG credit, REITs: 0%, each with μ &gt; 0, which proves adding them would raise risk.</a:t>
            </a:r>
            <a:endParaRPr lang="en-US" sz="1200" dirty="0"/>
          </a:p>
        </p:txBody>
      </p:sp>
      <p:sp>
        <p:nvSpPr>
          <p:cNvPr id="22" name="Shape 19"/>
          <p:cNvSpPr/>
          <p:nvPr/>
        </p:nvSpPr>
        <p:spPr>
          <a:xfrm>
            <a:off x="6248400" y="3843536"/>
            <a:ext cx="4895850" cy="0"/>
          </a:xfrm>
          <a:prstGeom prst="line">
            <a:avLst/>
          </a:prstGeom>
          <a:noFill/>
          <a:ln w="6350">
            <a:solidFill>
              <a:srgbClr val="D6DEE1"/>
            </a:solidFill>
            <a:prstDash val="solid"/>
          </a:ln>
        </p:spPr>
      </p:sp>
      <p:sp>
        <p:nvSpPr>
          <p:cNvPr id="23" name="Text 20"/>
          <p:cNvSpPr txBox="1"/>
          <p:nvPr/>
        </p:nvSpPr>
        <p:spPr>
          <a:xfrm>
            <a:off x="6248400" y="3948311"/>
            <a:ext cx="4993767" cy="247650"/>
          </a:xfrm>
          <a:prstGeom prst="rect">
            <a:avLst/>
          </a:prstGeom>
          <a:noFill/>
          <a:ln/>
        </p:spPr>
        <p:txBody>
          <a:bodyPr wrap="square" lIns="0" tIns="0" rIns="0" bIns="0" rtlCol="0" anchor="t"/>
          <a:lstStyle/>
          <a:p>
            <a:pPr algn="l" indent="0" marL="0">
              <a:lnSpc>
                <a:spcPts val="1950"/>
              </a:lnSpc>
              <a:buNone/>
            </a:pPr>
            <a:r>
              <a:rPr lang="en-US" sz="1500" i="1" dirty="0">
                <a:solidFill>
                  <a:srgbClr val="13233F"/>
                </a:solidFill>
                <a:latin typeface="Cambria" pitchFamily="34" charset="0"/>
                <a:ea typeface="Cambria" pitchFamily="34" charset="-122"/>
                <a:cs typeface="Cambria" pitchFamily="34" charset="-120"/>
              </a:rPr>
              <a:t>f</a:t>
            </a:r>
            <a:pPr algn="l" indent="0" marL="0">
              <a:lnSpc>
                <a:spcPts val="1950"/>
              </a:lnSpc>
              <a:buNone/>
            </a:pPr>
            <a:r>
              <a:rPr lang="en-US" sz="1500" dirty="0">
                <a:solidFill>
                  <a:srgbClr val="13233F"/>
                </a:solidFill>
                <a:latin typeface="Cambria" pitchFamily="34" charset="0"/>
                <a:ea typeface="Cambria" pitchFamily="34" charset="-122"/>
                <a:cs typeface="Cambria" pitchFamily="34" charset="-120"/>
              </a:rPr>
              <a:t>(</a:t>
            </a:r>
            <a:pPr algn="l" indent="0" marL="0">
              <a:lnSpc>
                <a:spcPts val="1950"/>
              </a:lnSpc>
              <a:buNone/>
            </a:pPr>
            <a:r>
              <a:rPr lang="en-US" sz="1500" i="1" dirty="0">
                <a:solidFill>
                  <a:srgbClr val="13233F"/>
                </a:solidFill>
                <a:latin typeface="Cambria" pitchFamily="34" charset="0"/>
                <a:ea typeface="Cambria" pitchFamily="34" charset="-122"/>
                <a:cs typeface="Cambria" pitchFamily="34" charset="-120"/>
              </a:rPr>
              <a:t>w</a:t>
            </a:r>
            <a:pPr algn="l" indent="0" marL="0">
              <a:lnSpc>
                <a:spcPts val="1950"/>
              </a:lnSpc>
              <a:buNone/>
            </a:pPr>
            <a:r>
              <a:rPr lang="en-US" sz="1500" dirty="0">
                <a:solidFill>
                  <a:srgbClr val="13233F"/>
                </a:solidFill>
                <a:latin typeface="Cambria" pitchFamily="34" charset="0"/>
                <a:ea typeface="Cambria" pitchFamily="34" charset="-122"/>
                <a:cs typeface="Cambria" pitchFamily="34" charset="-120"/>
              </a:rPr>
              <a:t>) − </a:t>
            </a:r>
            <a:pPr algn="l" indent="0" marL="0">
              <a:lnSpc>
                <a:spcPts val="1950"/>
              </a:lnSpc>
              <a:buNone/>
            </a:pPr>
            <a:r>
              <a:rPr lang="en-US" sz="1500" i="1" dirty="0">
                <a:solidFill>
                  <a:srgbClr val="13233F"/>
                </a:solidFill>
                <a:latin typeface="Cambria" pitchFamily="34" charset="0"/>
                <a:ea typeface="Cambria" pitchFamily="34" charset="-122"/>
                <a:cs typeface="Cambria" pitchFamily="34" charset="-120"/>
              </a:rPr>
              <a:t>f</a:t>
            </a:r>
            <a:pPr algn="l" indent="0" marL="0">
              <a:lnSpc>
                <a:spcPts val="1950"/>
              </a:lnSpc>
              <a:buNone/>
            </a:pPr>
            <a:r>
              <a:rPr lang="en-US" sz="1500" dirty="0">
                <a:solidFill>
                  <a:srgbClr val="13233F"/>
                </a:solidFill>
                <a:latin typeface="Cambria" pitchFamily="34" charset="0"/>
                <a:ea typeface="Cambria" pitchFamily="34" charset="-122"/>
                <a:cs typeface="Cambria" pitchFamily="34" charset="-120"/>
              </a:rPr>
              <a:t>* ≤ (2n + 3 + |ν|)·τ ≈ 1.5 × 10⁻⁸</a:t>
            </a:r>
            <a:endParaRPr lang="en-US" sz="1500" dirty="0"/>
          </a:p>
        </p:txBody>
      </p:sp>
      <p:sp>
        <p:nvSpPr>
          <p:cNvPr id="24" name="Text 21"/>
          <p:cNvSpPr txBox="1"/>
          <p:nvPr/>
        </p:nvSpPr>
        <p:spPr>
          <a:xfrm>
            <a:off x="6248400" y="4310261"/>
            <a:ext cx="4993767"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Residual 0 · duality gap 0 · about 0.3 M gas to check</a:t>
            </a:r>
            <a:endParaRPr lang="en-US" sz="1200" dirty="0"/>
          </a:p>
        </p:txBody>
      </p:sp>
      <p:sp>
        <p:nvSpPr>
          <p:cNvPr id="25" name="Shape 22"/>
          <p:cNvSpPr/>
          <p:nvPr/>
        </p:nvSpPr>
        <p:spPr>
          <a:xfrm>
            <a:off x="11226800" y="5689600"/>
            <a:ext cx="152400" cy="152400"/>
          </a:xfrm>
          <a:prstGeom prst="rect">
            <a:avLst/>
          </a:prstGeom>
          <a:solidFill>
            <a:srgbClr val="0A7468"/>
          </a:solidFill>
          <a:ln/>
        </p:spPr>
      </p:sp>
      <p:sp>
        <p:nvSpPr>
          <p:cNvPr id="26" name="Text 23"/>
          <p:cNvSpPr txBox="1"/>
          <p:nvPr/>
        </p:nvSpPr>
        <p:spPr>
          <a:xfrm>
            <a:off x="812800" y="6267450"/>
            <a:ext cx="77724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QED before the upgrade, unchanged and still live</a:t>
            </a:r>
            <a:endParaRPr lang="en-US" sz="1200" dirty="0"/>
          </a:p>
        </p:txBody>
      </p:sp>
      <p:sp>
        <p:nvSpPr>
          <p:cNvPr id="27" name="Text 24"/>
          <p:cNvSpPr txBox="1"/>
          <p:nvPr/>
        </p:nvSpPr>
        <p:spPr>
          <a:xfrm>
            <a:off x="9423400" y="6267450"/>
            <a:ext cx="1955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Appendix A10</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OUTCOME 2 · PAID WORK, SETTLED BY PROOF</a:t>
            </a:r>
            <a:endParaRPr lang="en-US" sz="1200" dirty="0"/>
          </a:p>
        </p:txBody>
      </p:sp>
      <p:sp>
        <p:nvSpPr>
          <p:cNvPr id="3" name="Text 1"/>
          <p:cNvSpPr txBox="1"/>
          <p:nvPr/>
        </p:nvSpPr>
        <p:spPr>
          <a:xfrm>
            <a:off x="812800" y="11874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One business cycle, end to end, on Sepolia</a:t>
            </a:r>
            <a:endParaRPr lang="en-US" sz="3200" dirty="0"/>
          </a:p>
        </p:txBody>
      </p:sp>
      <p:sp>
        <p:nvSpPr>
          <p:cNvPr id="4" name="Shape 2"/>
          <p:cNvSpPr/>
          <p:nvPr/>
        </p:nvSpPr>
        <p:spPr>
          <a:xfrm>
            <a:off x="812800" y="1845270"/>
            <a:ext cx="1655167" cy="1699022"/>
          </a:xfrm>
          <a:prstGeom prst="roundRect">
            <a:avLst>
              <a:gd name="adj" fmla="val 3069"/>
            </a:avLst>
          </a:prstGeom>
          <a:solidFill>
            <a:srgbClr val="FBFCFC"/>
          </a:solidFill>
          <a:ln w="6350">
            <a:solidFill>
              <a:srgbClr val="D6DEE1"/>
            </a:solidFill>
            <a:prstDash val="solid"/>
          </a:ln>
        </p:spPr>
      </p:sp>
      <p:sp>
        <p:nvSpPr>
          <p:cNvPr id="5" name="Text 3"/>
          <p:cNvSpPr txBox="1"/>
          <p:nvPr/>
        </p:nvSpPr>
        <p:spPr>
          <a:xfrm>
            <a:off x="971550" y="2004020"/>
            <a:ext cx="1388467"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971550" y="2277070"/>
            <a:ext cx="1388467"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Request</a:t>
            </a:r>
            <a:endParaRPr lang="en-US" sz="1500" dirty="0"/>
          </a:p>
        </p:txBody>
      </p:sp>
      <p:sp>
        <p:nvSpPr>
          <p:cNvPr id="7" name="Text 5"/>
          <p:cNvSpPr txBox="1"/>
          <p:nvPr/>
        </p:nvSpPr>
        <p:spPr>
          <a:xfrm>
            <a:off x="971550" y="2562820"/>
            <a:ext cx="1388467" cy="822722"/>
          </a:xfrm>
          <a:prstGeom prst="rect">
            <a:avLst/>
          </a:prstGeom>
          <a:noFill/>
          <a:ln/>
        </p:spPr>
        <p:txBody>
          <a:bodyPr wrap="square" lIns="0" tIns="0" rIns="0" bIns="0" rtlCol="0" anchor="t"/>
          <a:lstStyle/>
          <a:p>
            <a:pPr algn="l" indent="0" marL="0">
              <a:lnSpc>
                <a:spcPts val="1620"/>
              </a:lnSpc>
              <a:buNone/>
            </a:pPr>
            <a:r>
              <a:rPr lang="en-US" sz="1200" dirty="0">
                <a:solidFill>
                  <a:srgbClr val="4E6074"/>
                </a:solidFill>
                <a:latin typeface="Calibri" pitchFamily="34" charset="0"/>
                <a:ea typeface="Calibri" pitchFamily="34" charset="-122"/>
                <a:cs typeface="Calibri" pitchFamily="34" charset="-120"/>
              </a:rPr>
              <a:t>A robo-advisor agent asks for an optimal portfolio, budget 20 tUSD</a:t>
            </a:r>
            <a:endParaRPr lang="en-US" sz="1200" dirty="0"/>
          </a:p>
        </p:txBody>
      </p:sp>
      <p:sp>
        <p:nvSpPr>
          <p:cNvPr id="8" name="Shape 6"/>
          <p:cNvSpPr/>
          <p:nvPr/>
        </p:nvSpPr>
        <p:spPr>
          <a:xfrm>
            <a:off x="2594967" y="1845270"/>
            <a:ext cx="1655266" cy="1699022"/>
          </a:xfrm>
          <a:prstGeom prst="roundRect">
            <a:avLst>
              <a:gd name="adj" fmla="val 3069"/>
            </a:avLst>
          </a:prstGeom>
          <a:solidFill>
            <a:srgbClr val="FBFCFC"/>
          </a:solidFill>
          <a:ln w="6350">
            <a:solidFill>
              <a:srgbClr val="D6DEE1"/>
            </a:solidFill>
            <a:prstDash val="solid"/>
          </a:ln>
        </p:spPr>
      </p:sp>
      <p:sp>
        <p:nvSpPr>
          <p:cNvPr id="9" name="Text 7"/>
          <p:cNvSpPr txBox="1"/>
          <p:nvPr/>
        </p:nvSpPr>
        <p:spPr>
          <a:xfrm>
            <a:off x="2753717" y="2004020"/>
            <a:ext cx="1388566"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2753717" y="2277070"/>
            <a:ext cx="1388566"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Quote</a:t>
            </a:r>
            <a:endParaRPr lang="en-US" sz="1500" dirty="0"/>
          </a:p>
        </p:txBody>
      </p:sp>
      <p:sp>
        <p:nvSpPr>
          <p:cNvPr id="11" name="Text 9"/>
          <p:cNvSpPr txBox="1"/>
          <p:nvPr/>
        </p:nvSpPr>
        <p:spPr>
          <a:xfrm>
            <a:off x="2753717" y="2562820"/>
            <a:ext cx="1388566" cy="617041"/>
          </a:xfrm>
          <a:prstGeom prst="rect">
            <a:avLst/>
          </a:prstGeom>
          <a:noFill/>
          <a:ln/>
        </p:spPr>
        <p:txBody>
          <a:bodyPr wrap="square" lIns="0" tIns="0" rIns="0" bIns="0" rtlCol="0" anchor="t"/>
          <a:lstStyle/>
          <a:p>
            <a:pPr algn="l" indent="0" marL="0">
              <a:lnSpc>
                <a:spcPts val="1620"/>
              </a:lnSpc>
              <a:buNone/>
            </a:pPr>
            <a:r>
              <a:rPr lang="en-US" sz="1200" dirty="0">
                <a:solidFill>
                  <a:srgbClr val="4E6074"/>
                </a:solidFill>
                <a:latin typeface="Calibri" pitchFamily="34" charset="0"/>
                <a:ea typeface="Calibri" pitchFamily="34" charset="-122"/>
                <a:cs typeface="Calibri" pitchFamily="34" charset="-120"/>
              </a:rPr>
              <a:t>QED prices it at 15 (cost 6) and signs the terms</a:t>
            </a:r>
            <a:endParaRPr lang="en-US" sz="1200" dirty="0"/>
          </a:p>
        </p:txBody>
      </p:sp>
      <p:sp>
        <p:nvSpPr>
          <p:cNvPr id="12" name="Shape 10"/>
          <p:cNvSpPr/>
          <p:nvPr/>
        </p:nvSpPr>
        <p:spPr>
          <a:xfrm>
            <a:off x="4377234" y="1845270"/>
            <a:ext cx="1655167" cy="1699022"/>
          </a:xfrm>
          <a:prstGeom prst="roundRect">
            <a:avLst>
              <a:gd name="adj" fmla="val 3069"/>
            </a:avLst>
          </a:prstGeom>
          <a:solidFill>
            <a:srgbClr val="FBFCFC"/>
          </a:solidFill>
          <a:ln w="6350">
            <a:solidFill>
              <a:srgbClr val="D6DEE1"/>
            </a:solidFill>
            <a:prstDash val="solid"/>
          </a:ln>
        </p:spPr>
      </p:sp>
      <p:sp>
        <p:nvSpPr>
          <p:cNvPr id="13" name="Text 11"/>
          <p:cNvSpPr txBox="1"/>
          <p:nvPr/>
        </p:nvSpPr>
        <p:spPr>
          <a:xfrm>
            <a:off x="4535984" y="2004020"/>
            <a:ext cx="1388467"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4535984" y="2277070"/>
            <a:ext cx="1388467"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Escrow</a:t>
            </a:r>
            <a:endParaRPr lang="en-US" sz="1500" dirty="0"/>
          </a:p>
        </p:txBody>
      </p:sp>
      <p:sp>
        <p:nvSpPr>
          <p:cNvPr id="15" name="Text 13"/>
          <p:cNvSpPr txBox="1"/>
          <p:nvPr/>
        </p:nvSpPr>
        <p:spPr>
          <a:xfrm>
            <a:off x="4535984" y="2562820"/>
            <a:ext cx="1388467" cy="617041"/>
          </a:xfrm>
          <a:prstGeom prst="rect">
            <a:avLst/>
          </a:prstGeom>
          <a:noFill/>
          <a:ln/>
        </p:spPr>
        <p:txBody>
          <a:bodyPr wrap="square" lIns="0" tIns="0" rIns="0" bIns="0" rtlCol="0" anchor="t"/>
          <a:lstStyle/>
          <a:p>
            <a:pPr algn="l" indent="0" marL="0">
              <a:lnSpc>
                <a:spcPts val="1620"/>
              </a:lnSpc>
              <a:buNone/>
            </a:pPr>
            <a:r>
              <a:rPr lang="en-US" sz="1200" dirty="0">
                <a:solidFill>
                  <a:srgbClr val="4E6074"/>
                </a:solidFill>
                <a:latin typeface="Calibri" pitchFamily="34" charset="0"/>
                <a:ea typeface="Calibri" pitchFamily="34" charset="-122"/>
                <a:cs typeface="Calibri" pitchFamily="34" charset="-120"/>
              </a:rPr>
              <a:t>The client locks 15 tUSD with the signed quote (L2)</a:t>
            </a:r>
            <a:endParaRPr lang="en-US" sz="1200" dirty="0"/>
          </a:p>
        </p:txBody>
      </p:sp>
      <p:sp>
        <p:nvSpPr>
          <p:cNvPr id="16" name="Shape 14"/>
          <p:cNvSpPr/>
          <p:nvPr/>
        </p:nvSpPr>
        <p:spPr>
          <a:xfrm>
            <a:off x="6159401" y="1845270"/>
            <a:ext cx="1655266" cy="1699022"/>
          </a:xfrm>
          <a:prstGeom prst="roundRect">
            <a:avLst>
              <a:gd name="adj" fmla="val 3069"/>
            </a:avLst>
          </a:prstGeom>
          <a:solidFill>
            <a:srgbClr val="FBFCFC"/>
          </a:solidFill>
          <a:ln w="6350">
            <a:solidFill>
              <a:srgbClr val="D6DEE1"/>
            </a:solidFill>
            <a:prstDash val="solid"/>
          </a:ln>
        </p:spPr>
      </p:sp>
      <p:sp>
        <p:nvSpPr>
          <p:cNvPr id="17" name="Text 15"/>
          <p:cNvSpPr txBox="1"/>
          <p:nvPr/>
        </p:nvSpPr>
        <p:spPr>
          <a:xfrm>
            <a:off x="6318151" y="2004020"/>
            <a:ext cx="1388566"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4</a:t>
            </a:r>
            <a:endParaRPr lang="en-US" sz="1500" dirty="0"/>
          </a:p>
        </p:txBody>
      </p:sp>
      <p:sp>
        <p:nvSpPr>
          <p:cNvPr id="18" name="Text 16"/>
          <p:cNvSpPr txBox="1"/>
          <p:nvPr/>
        </p:nvSpPr>
        <p:spPr>
          <a:xfrm>
            <a:off x="6318151" y="2277070"/>
            <a:ext cx="1388566"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Buy data</a:t>
            </a:r>
            <a:endParaRPr lang="en-US" sz="1500" dirty="0"/>
          </a:p>
        </p:txBody>
      </p:sp>
      <p:sp>
        <p:nvSpPr>
          <p:cNvPr id="19" name="Text 17"/>
          <p:cNvSpPr txBox="1"/>
          <p:nvPr/>
        </p:nvSpPr>
        <p:spPr>
          <a:xfrm>
            <a:off x="6318151" y="2562820"/>
            <a:ext cx="1388566" cy="617041"/>
          </a:xfrm>
          <a:prstGeom prst="rect">
            <a:avLst/>
          </a:prstGeom>
          <a:noFill/>
          <a:ln/>
        </p:spPr>
        <p:txBody>
          <a:bodyPr wrap="square" lIns="0" tIns="0" rIns="0" bIns="0" rtlCol="0" anchor="t"/>
          <a:lstStyle/>
          <a:p>
            <a:pPr algn="l" indent="0" marL="0">
              <a:lnSpc>
                <a:spcPts val="1620"/>
              </a:lnSpc>
              <a:buNone/>
            </a:pPr>
            <a:r>
              <a:rPr lang="en-US" sz="1200" dirty="0">
                <a:solidFill>
                  <a:srgbClr val="4E6074"/>
                </a:solidFill>
                <a:latin typeface="Calibri" pitchFamily="34" charset="0"/>
                <a:ea typeface="Calibri" pitchFamily="34" charset="-122"/>
                <a:cs typeface="Calibri" pitchFamily="34" charset="-120"/>
              </a:rPr>
              <a:t>The AI key pays 6 tUSD for the risk model, co-signed (L4)</a:t>
            </a:r>
            <a:endParaRPr lang="en-US" sz="1200" dirty="0"/>
          </a:p>
        </p:txBody>
      </p:sp>
      <p:sp>
        <p:nvSpPr>
          <p:cNvPr id="20" name="Shape 18"/>
          <p:cNvSpPr/>
          <p:nvPr/>
        </p:nvSpPr>
        <p:spPr>
          <a:xfrm>
            <a:off x="7941667" y="1845270"/>
            <a:ext cx="1655266" cy="1699022"/>
          </a:xfrm>
          <a:prstGeom prst="roundRect">
            <a:avLst>
              <a:gd name="adj" fmla="val 3069"/>
            </a:avLst>
          </a:prstGeom>
          <a:solidFill>
            <a:srgbClr val="FBFCFC"/>
          </a:solidFill>
          <a:ln w="6350">
            <a:solidFill>
              <a:srgbClr val="D6DEE1"/>
            </a:solidFill>
            <a:prstDash val="solid"/>
          </a:ln>
        </p:spPr>
      </p:sp>
      <p:sp>
        <p:nvSpPr>
          <p:cNvPr id="21" name="Text 19"/>
          <p:cNvSpPr txBox="1"/>
          <p:nvPr/>
        </p:nvSpPr>
        <p:spPr>
          <a:xfrm>
            <a:off x="8100417" y="2004020"/>
            <a:ext cx="1388566"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5</a:t>
            </a:r>
            <a:endParaRPr lang="en-US" sz="1500" dirty="0"/>
          </a:p>
        </p:txBody>
      </p:sp>
      <p:sp>
        <p:nvSpPr>
          <p:cNvPr id="22" name="Text 20"/>
          <p:cNvSpPr txBox="1"/>
          <p:nvPr/>
        </p:nvSpPr>
        <p:spPr>
          <a:xfrm>
            <a:off x="8100417" y="2277070"/>
            <a:ext cx="1388566"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Solve</a:t>
            </a:r>
            <a:endParaRPr lang="en-US" sz="1500" dirty="0"/>
          </a:p>
        </p:txBody>
      </p:sp>
      <p:sp>
        <p:nvSpPr>
          <p:cNvPr id="23" name="Text 21"/>
          <p:cNvSpPr txBox="1"/>
          <p:nvPr/>
        </p:nvSpPr>
        <p:spPr>
          <a:xfrm>
            <a:off x="8100417" y="2562820"/>
            <a:ext cx="1388566" cy="617041"/>
          </a:xfrm>
          <a:prstGeom prst="rect">
            <a:avLst/>
          </a:prstGeom>
          <a:noFill/>
          <a:ln/>
        </p:spPr>
        <p:txBody>
          <a:bodyPr wrap="square" lIns="0" tIns="0" rIns="0" bIns="0" rtlCol="0" anchor="t"/>
          <a:lstStyle/>
          <a:p>
            <a:pPr algn="l" indent="0" marL="0">
              <a:lnSpc>
                <a:spcPts val="1620"/>
              </a:lnSpc>
              <a:buNone/>
            </a:pPr>
            <a:r>
              <a:rPr lang="en-US" sz="1200" dirty="0">
                <a:solidFill>
                  <a:srgbClr val="4E6074"/>
                </a:solidFill>
                <a:latin typeface="Calibri" pitchFamily="34" charset="0"/>
                <a:ea typeface="Calibri" pitchFamily="34" charset="-122"/>
                <a:cs typeface="Calibri" pitchFamily="34" charset="-120"/>
              </a:rPr>
              <a:t>1.7 ms to the exact optimum and its proof</a:t>
            </a:r>
            <a:endParaRPr lang="en-US" sz="1200" dirty="0"/>
          </a:p>
        </p:txBody>
      </p:sp>
      <p:sp>
        <p:nvSpPr>
          <p:cNvPr id="24" name="Shape 22"/>
          <p:cNvSpPr/>
          <p:nvPr/>
        </p:nvSpPr>
        <p:spPr>
          <a:xfrm>
            <a:off x="9723934" y="1845270"/>
            <a:ext cx="1655167" cy="1699022"/>
          </a:xfrm>
          <a:prstGeom prst="roundRect">
            <a:avLst>
              <a:gd name="adj" fmla="val 3069"/>
            </a:avLst>
          </a:prstGeom>
          <a:solidFill>
            <a:srgbClr val="E3F0EE"/>
          </a:solidFill>
          <a:ln w="12700">
            <a:solidFill>
              <a:srgbClr val="0A7468"/>
            </a:solidFill>
            <a:prstDash val="solid"/>
          </a:ln>
        </p:spPr>
      </p:sp>
      <p:sp>
        <p:nvSpPr>
          <p:cNvPr id="25" name="Text 23"/>
          <p:cNvSpPr txBox="1"/>
          <p:nvPr/>
        </p:nvSpPr>
        <p:spPr>
          <a:xfrm>
            <a:off x="9889034" y="2010370"/>
            <a:ext cx="1375767"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6</a:t>
            </a:r>
            <a:endParaRPr lang="en-US" sz="1500" dirty="0"/>
          </a:p>
        </p:txBody>
      </p:sp>
      <p:sp>
        <p:nvSpPr>
          <p:cNvPr id="26" name="Text 24"/>
          <p:cNvSpPr txBox="1"/>
          <p:nvPr/>
        </p:nvSpPr>
        <p:spPr>
          <a:xfrm>
            <a:off x="9889034" y="2283420"/>
            <a:ext cx="1375767"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Settle</a:t>
            </a:r>
            <a:endParaRPr lang="en-US" sz="1500" dirty="0"/>
          </a:p>
        </p:txBody>
      </p:sp>
      <p:sp>
        <p:nvSpPr>
          <p:cNvPr id="27" name="Text 25"/>
          <p:cNvSpPr txBox="1"/>
          <p:nvPr/>
        </p:nvSpPr>
        <p:spPr>
          <a:xfrm>
            <a:off x="9889034" y="2569170"/>
            <a:ext cx="1375767" cy="61704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The chain checks the proof; 15 tUSD lands in the vault (L6)</a:t>
            </a:r>
            <a:endParaRPr lang="en-US" sz="1200" dirty="0"/>
          </a:p>
        </p:txBody>
      </p:sp>
      <p:sp>
        <p:nvSpPr>
          <p:cNvPr id="28" name="Shape 26"/>
          <p:cNvSpPr/>
          <p:nvPr/>
        </p:nvSpPr>
        <p:spPr>
          <a:xfrm>
            <a:off x="812800" y="3734792"/>
            <a:ext cx="10566400" cy="1103511"/>
          </a:xfrm>
          <a:prstGeom prst="roundRect">
            <a:avLst>
              <a:gd name="adj" fmla="val 4603"/>
            </a:avLst>
          </a:prstGeom>
          <a:solidFill>
            <a:srgbClr val="F8ECEC"/>
          </a:solidFill>
          <a:ln w="6350">
            <a:solidFill>
              <a:srgbClr val="E2B9BC"/>
            </a:solidFill>
            <a:prstDash val="solid"/>
          </a:ln>
        </p:spPr>
      </p:sp>
      <p:sp>
        <p:nvSpPr>
          <p:cNvPr id="29" name="Text 27"/>
          <p:cNvSpPr txBox="1"/>
          <p:nvPr/>
        </p:nvSpPr>
        <p:spPr>
          <a:xfrm>
            <a:off x="1022350" y="3918942"/>
            <a:ext cx="10350246" cy="234950"/>
          </a:xfrm>
          <a:prstGeom prst="rect">
            <a:avLst/>
          </a:prstGeom>
          <a:noFill/>
          <a:ln/>
        </p:spPr>
        <p:txBody>
          <a:bodyPr wrap="square" lIns="0" tIns="0" rIns="0" bIns="0" rtlCol="0" anchor="t"/>
          <a:lstStyle/>
          <a:p>
            <a:pPr algn="l" indent="0" marL="0">
              <a:lnSpc>
                <a:spcPts val="1800"/>
              </a:lnSpc>
              <a:buNone/>
            </a:pPr>
            <a:r>
              <a:rPr lang="en-US" sz="1500" b="1" dirty="0">
                <a:solidFill>
                  <a:srgbClr val="8E1D24"/>
                </a:solidFill>
                <a:latin typeface="Calibri" pitchFamily="34" charset="0"/>
                <a:ea typeface="Calibri" pitchFamily="34" charset="-122"/>
                <a:cs typeface="Calibri" pitchFamily="34" charset="-120"/>
              </a:rPr>
              <a:t>Meanwhile, a cheaper rival bid 9 tUSD and tried to cut corners</a:t>
            </a:r>
            <a:endParaRPr lang="en-US" sz="1500" dirty="0"/>
          </a:p>
        </p:txBody>
      </p:sp>
      <p:sp>
        <p:nvSpPr>
          <p:cNvPr id="30" name="Text 28"/>
          <p:cNvSpPr txBox="1"/>
          <p:nvPr/>
        </p:nvSpPr>
        <p:spPr>
          <a:xfrm>
            <a:off x="1022350" y="4242792"/>
            <a:ext cx="3294668"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Lazy 1/N portfolio → </a:t>
            </a:r>
            <a:pPr algn="l" indent="0" marL="0">
              <a:lnSpc>
                <a:spcPts val="1620"/>
              </a:lnSpc>
              <a:buNone/>
            </a:pPr>
            <a:r>
              <a:rPr lang="en-US" sz="1200" b="1" dirty="0">
                <a:solidFill>
                  <a:srgbClr val="13233F"/>
                </a:solidFill>
                <a:latin typeface="Calibri" pitchFamily="34" charset="0"/>
                <a:ea typeface="Calibri" pitchFamily="34" charset="-122"/>
                <a:cs typeface="Calibri" pitchFamily="34" charset="-120"/>
              </a:rPr>
              <a:t>DualityGapTooLarge</a:t>
            </a:r>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 gap 0.0191 (X17)</a:t>
            </a:r>
            <a:endParaRPr lang="en-US" sz="1200" dirty="0"/>
          </a:p>
        </p:txBody>
      </p:sp>
      <p:sp>
        <p:nvSpPr>
          <p:cNvPr id="31" name="Text 29"/>
          <p:cNvSpPr txBox="1"/>
          <p:nvPr/>
        </p:nvSpPr>
        <p:spPr>
          <a:xfrm>
            <a:off x="4481016" y="4242792"/>
            <a:ext cx="3294668"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Optimum nudged 0.01% → </a:t>
            </a:r>
            <a:pPr algn="l" indent="0" marL="0">
              <a:lnSpc>
                <a:spcPts val="1620"/>
              </a:lnSpc>
              <a:buNone/>
            </a:pPr>
            <a:r>
              <a:rPr lang="en-US" sz="1200" b="1" dirty="0">
                <a:solidFill>
                  <a:srgbClr val="13233F"/>
                </a:solidFill>
                <a:latin typeface="Calibri" pitchFamily="34" charset="0"/>
                <a:ea typeface="Calibri" pitchFamily="34" charset="-122"/>
                <a:cs typeface="Calibri" pitchFamily="34" charset="-120"/>
              </a:rPr>
              <a:t>StationarityViolated</a:t>
            </a:r>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 (X18)</a:t>
            </a:r>
            <a:endParaRPr lang="en-US" sz="1200" dirty="0"/>
          </a:p>
        </p:txBody>
      </p:sp>
      <p:sp>
        <p:nvSpPr>
          <p:cNvPr id="32" name="Text 30"/>
          <p:cNvSpPr txBox="1"/>
          <p:nvPr/>
        </p:nvSpPr>
        <p:spPr>
          <a:xfrm>
            <a:off x="7939683" y="4242792"/>
            <a:ext cx="3294668"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Deadline passed → the client got all 9 tUSD back (X19)</a:t>
            </a:r>
            <a:endParaRPr lang="en-US" sz="1200" dirty="0"/>
          </a:p>
        </p:txBody>
      </p:sp>
      <p:sp>
        <p:nvSpPr>
          <p:cNvPr id="33" name="Text 31"/>
          <p:cNvSpPr txBox="1"/>
          <p:nvPr/>
        </p:nvSpPr>
        <p:spPr>
          <a:xfrm>
            <a:off x="812800" y="5028803"/>
            <a:ext cx="10777728"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Result: +9 tUSD margin for QED, the ring-fence untouched, the dishonest provider paid nothing.</a:t>
            </a:r>
            <a:endParaRPr lang="en-US" sz="1500" dirty="0"/>
          </a:p>
        </p:txBody>
      </p:sp>
      <p:sp>
        <p:nvSpPr>
          <p:cNvPr id="34" name="Text 32"/>
          <p:cNvSpPr txBox="1"/>
          <p:nvPr/>
        </p:nvSpPr>
        <p:spPr>
          <a:xfrm>
            <a:off x="812800" y="6267450"/>
            <a:ext cx="77724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QED before the upgrade, unchanged and still live</a:t>
            </a:r>
            <a:endParaRPr lang="en-US" sz="1200" dirty="0"/>
          </a:p>
        </p:txBody>
      </p:sp>
      <p:sp>
        <p:nvSpPr>
          <p:cNvPr id="35" name="Text 33"/>
          <p:cNvSpPr txBox="1"/>
          <p:nvPr/>
        </p:nvSpPr>
        <p:spPr>
          <a:xfrm>
            <a:off x="9423400" y="6267450"/>
            <a:ext cx="1955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Appendix A11</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B1262E"/>
                </a:solidFill>
                <a:latin typeface="Calibri" pitchFamily="34" charset="0"/>
                <a:ea typeface="Calibri" pitchFamily="34" charset="-122"/>
                <a:cs typeface="Calibri" pitchFamily="34" charset="-120"/>
              </a:rPr>
              <a:t>OUTCOME 3 · ADVERSARIES</a:t>
            </a:r>
            <a:endParaRPr lang="en-US" sz="1200" dirty="0"/>
          </a:p>
        </p:txBody>
      </p:sp>
      <p:sp>
        <p:nvSpPr>
          <p:cNvPr id="3" name="Text 1"/>
          <p:cNvSpPr txBox="1"/>
          <p:nvPr/>
        </p:nvSpPr>
        <p:spPr>
          <a:xfrm>
            <a:off x="812800" y="11747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19 attacks on the public chain. 19 reverts. 0 tUSD to the attacker.</a:t>
            </a:r>
            <a:endParaRPr lang="en-US" sz="3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812800" y="1819870"/>
          <a:ext cx="5181600" cy="914400"/>
        </p:xfrm>
        <a:graphic>
          <a:graphicData uri="http://schemas.openxmlformats.org/drawingml/2006/table">
            <a:tbl>
              <a:tblPr/>
              <a:tblGrid>
                <a:gridCol w="466328"/>
                <a:gridCol w="2746177"/>
                <a:gridCol w="1969095"/>
              </a:tblGrid>
              <a:tr h="196850">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Tx</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Attempt</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Reverted with</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X2</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Edit price in signed quote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BadProviderSignature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X3</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Redirect quote’s payee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BadProviderSignature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X5</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Stolen AI key, forged co-sign</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BadCosignerSignature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X6</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Both hot keys pay attacker</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PayeeNotInMandate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X7</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Self-signed mandate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BadOwnerSignature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X8</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Real cert, amount 6 → 9</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BadCosignerSignature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X9</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Real cert, new recipient</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BadCosignerSignature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X10</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Replay a real certificate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IntentAlreadyUsed</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X11</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Both keys overdraw free funds</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SolvencyViolation</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X12</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Both keys exceed the 24 h cap</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ExceedsDailyCap</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bl>
          </a:graphicData>
        </a:graphic>
      </p:graphicFrame>
      <p:graphicFrame>
        <p:nvGraphicFramePr>
          <p:cNvPr id="47" name="Table 1"/>
          <p:cNvGraphicFramePr>
            <a:graphicFrameLocks noGrp="1"/>
          </p:cNvGraphicFramePr>
          <p:nvPr>
            <p:extLst>
              <p:ext uri="{D42A27DB-BD31-4B8C-83A1-F6EECF244321}">
                <p14:modId xmlns:p14="http://schemas.microsoft.com/office/powerpoint/2010/main" val="1579011935"/>
              </p:ext>
            </p:extLst>
          </p:nvPr>
        </p:nvGraphicFramePr>
        <p:xfrm>
          <a:off x="6197600" y="1819870"/>
          <a:ext cx="5181600" cy="914400"/>
        </p:xfrm>
        <a:graphic>
          <a:graphicData uri="http://schemas.openxmlformats.org/drawingml/2006/table">
            <a:tbl>
              <a:tblPr/>
              <a:tblGrid>
                <a:gridCol w="466328"/>
                <a:gridCol w="2746177"/>
                <a:gridCol w="1969095"/>
              </a:tblGrid>
              <a:tr h="196850">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Tx</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Attempt</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Reverted with</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X13</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AI key calls withdraw()</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NotOwner</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X14</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AI key voids creditor’s claim</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NotCreditor</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X15</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AI key lifts its own cap</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NotOwner</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X17</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Lazy 1/N portfolio</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DualityGapTooLarge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X18</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Optimum nudged 0.01%</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StationarityViolated</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H4</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Published keys pay attacker</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PayeeNotInMandate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H5</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Published keys take 50</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ExceedsPerPaymentCap</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H6</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Published keys withdraw()</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NotOwner</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P2</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Valid payment while paused</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VaultPaused</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bl>
          </a:graphicData>
        </a:graphic>
      </p:graphicFrame>
      <p:sp>
        <p:nvSpPr>
          <p:cNvPr id="6" name="Text 2"/>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Run 1 only; 29 more in runs 2–4 (48 in all): docs/EVIDENCE.md</a:t>
            </a:r>
            <a:endParaRPr lang="en-US" sz="1200" dirty="0"/>
          </a:p>
        </p:txBody>
      </p:sp>
      <p:sp>
        <p:nvSpPr>
          <p:cNvPr id="7" name="Text 3"/>
          <p:cNvSpPr txBox="1"/>
          <p:nvPr/>
        </p:nvSpPr>
        <p:spPr>
          <a:xfrm>
            <a:off x="9423400" y="6267450"/>
            <a:ext cx="1955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Appendix A12</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PROOF 4 · BOUNDED LOSS</a:t>
            </a:r>
            <a:endParaRPr lang="en-US" sz="1200" dirty="0"/>
          </a:p>
        </p:txBody>
      </p:sp>
      <p:sp>
        <p:nvSpPr>
          <p:cNvPr id="3" name="Text 1"/>
          <p:cNvSpPr txBox="1"/>
          <p:nvPr/>
        </p:nvSpPr>
        <p:spPr>
          <a:xfrm>
            <a:off x="812800" y="12255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We published the AI’s keys. The money stayed put.</a:t>
            </a:r>
            <a:endParaRPr lang="en-US" sz="3200" dirty="0"/>
          </a:p>
        </p:txBody>
      </p:sp>
      <p:sp>
        <p:nvSpPr>
          <p:cNvPr id="4" name="Text 2"/>
          <p:cNvSpPr txBox="1"/>
          <p:nvPr/>
        </p:nvSpPr>
        <p:spPr>
          <a:xfrm>
            <a:off x="812800" y="1921470"/>
            <a:ext cx="4974336" cy="184150"/>
          </a:xfrm>
          <a:prstGeom prst="rect">
            <a:avLst/>
          </a:prstGeom>
          <a:noFill/>
          <a:ln/>
        </p:spPr>
        <p:txBody>
          <a:bodyPr wrap="square" lIns="0" tIns="0" rIns="0" bIns="0" rtlCol="0" anchor="t"/>
          <a:lstStyle/>
          <a:p>
            <a:pPr algn="l" indent="0" marL="0">
              <a:lnSpc>
                <a:spcPts val="1440"/>
              </a:lnSpc>
              <a:buNone/>
            </a:pPr>
            <a:r>
              <a:rPr lang="en-US" sz="1200" b="1" spc="100" kern="0" dirty="0">
                <a:solidFill>
                  <a:srgbClr val="4E6074"/>
                </a:solidFill>
                <a:latin typeface="Calibri" pitchFamily="34" charset="0"/>
                <a:ea typeface="Calibri" pitchFamily="34" charset="-122"/>
                <a:cs typeface="Calibri" pitchFamily="34" charset="-120"/>
              </a:rPr>
              <a:t>WORST CASE IF BOTH HOT KEYS ARE STOLEN</a:t>
            </a:r>
            <a:endParaRPr lang="en-US" sz="1200" dirty="0"/>
          </a:p>
        </p:txBody>
      </p:sp>
      <p:sp>
        <p:nvSpPr>
          <p:cNvPr id="5" name="Text 3"/>
          <p:cNvSpPr txBox="1"/>
          <p:nvPr/>
        </p:nvSpPr>
        <p:spPr>
          <a:xfrm>
            <a:off x="812800" y="2232620"/>
            <a:ext cx="4974336" cy="330200"/>
          </a:xfrm>
          <a:prstGeom prst="rect">
            <a:avLst/>
          </a:prstGeom>
          <a:noFill/>
          <a:ln/>
        </p:spPr>
        <p:txBody>
          <a:bodyPr wrap="square" lIns="0" tIns="0" rIns="0" bIns="0" rtlCol="0" anchor="t"/>
          <a:lstStyle/>
          <a:p>
            <a:pPr algn="l" indent="0" marL="0">
              <a:lnSpc>
                <a:spcPts val="2600"/>
              </a:lnSpc>
              <a:buNone/>
            </a:pPr>
            <a:r>
              <a:rPr lang="en-US" sz="2000" dirty="0">
                <a:solidFill>
                  <a:srgbClr val="13233F"/>
                </a:solidFill>
                <a:latin typeface="Cambria" pitchFamily="34" charset="0"/>
                <a:ea typeface="Cambria" pitchFamily="34" charset="-122"/>
                <a:cs typeface="Cambria" pitchFamily="34" charset="-120"/>
              </a:rPr>
              <a:t>BR(</a:t>
            </a:r>
            <a:pPr algn="l" indent="0" marL="0">
              <a:lnSpc>
                <a:spcPts val="2600"/>
              </a:lnSpc>
              <a:buNone/>
            </a:pPr>
            <a:r>
              <a:rPr lang="en-US" sz="2000" i="1" dirty="0">
                <a:solidFill>
                  <a:srgbClr val="13233F"/>
                </a:solidFill>
                <a:latin typeface="Cambria" pitchFamily="34" charset="0"/>
                <a:ea typeface="Cambria" pitchFamily="34" charset="-122"/>
                <a:cs typeface="Cambria" pitchFamily="34" charset="-120"/>
              </a:rPr>
              <a:t>h</a:t>
            </a:r>
            <a:pPr algn="l" indent="0" marL="0">
              <a:lnSpc>
                <a:spcPts val="2600"/>
              </a:lnSpc>
              <a:buNone/>
            </a:pPr>
            <a:r>
              <a:rPr lang="en-US" sz="2000" dirty="0">
                <a:solidFill>
                  <a:srgbClr val="13233F"/>
                </a:solidFill>
                <a:latin typeface="Cambria" pitchFamily="34" charset="0"/>
                <a:ea typeface="Cambria" pitchFamily="34" charset="-122"/>
                <a:cs typeface="Cambria" pitchFamily="34" charset="-120"/>
              </a:rPr>
              <a:t>) = min( free, cap left + </a:t>
            </a:r>
            <a:pPr algn="l" indent="0" marL="0">
              <a:lnSpc>
                <a:spcPts val="2600"/>
              </a:lnSpc>
              <a:buNone/>
            </a:pPr>
            <a:r>
              <a:rPr lang="en-US" sz="2000" i="1" dirty="0">
                <a:solidFill>
                  <a:srgbClr val="13233F"/>
                </a:solidFill>
                <a:latin typeface="Cambria" pitchFamily="34" charset="0"/>
                <a:ea typeface="Cambria" pitchFamily="34" charset="-122"/>
                <a:cs typeface="Cambria" pitchFamily="34" charset="-120"/>
              </a:rPr>
              <a:t>k</a:t>
            </a:r>
            <a:pPr algn="l" indent="0" marL="0">
              <a:lnSpc>
                <a:spcPts val="2600"/>
              </a:lnSpc>
              <a:buNone/>
            </a:pPr>
            <a:r>
              <a:rPr lang="en-US" sz="2000" dirty="0">
                <a:solidFill>
                  <a:srgbClr val="13233F"/>
                </a:solidFill>
                <a:latin typeface="Cambria" pitchFamily="34" charset="0"/>
                <a:ea typeface="Cambria" pitchFamily="34" charset="-122"/>
                <a:cs typeface="Cambria" pitchFamily="34" charset="-120"/>
              </a:rPr>
              <a:t>·</a:t>
            </a:r>
            <a:pPr algn="l" indent="0" marL="0">
              <a:lnSpc>
                <a:spcPts val="2600"/>
              </a:lnSpc>
              <a:buNone/>
            </a:pPr>
            <a:r>
              <a:rPr lang="en-US" sz="2000" i="1" dirty="0">
                <a:solidFill>
                  <a:srgbClr val="13233F"/>
                </a:solidFill>
                <a:latin typeface="Cambria" pitchFamily="34" charset="0"/>
                <a:ea typeface="Cambria" pitchFamily="34" charset="-122"/>
                <a:cs typeface="Cambria" pitchFamily="34" charset="-120"/>
              </a:rPr>
              <a:t>D</a:t>
            </a:r>
            <a:pPr algn="l" indent="0" marL="0">
              <a:lnSpc>
                <a:spcPts val="2600"/>
              </a:lnSpc>
              <a:buNone/>
            </a:pPr>
            <a:r>
              <a:rPr lang="en-US" sz="2000" dirty="0">
                <a:solidFill>
                  <a:srgbClr val="13233F"/>
                </a:solidFill>
                <a:latin typeface="Cambria" pitchFamily="34" charset="0"/>
                <a:ea typeface="Cambria" pitchFamily="34" charset="-122"/>
                <a:cs typeface="Cambria" pitchFamily="34" charset="-120"/>
              </a:rPr>
              <a:t> )</a:t>
            </a:r>
            <a:endParaRPr lang="en-US" sz="2000" dirty="0"/>
          </a:p>
        </p:txBody>
      </p:sp>
      <p:sp>
        <p:nvSpPr>
          <p:cNvPr id="6" name="Text 4"/>
          <p:cNvSpPr txBox="1"/>
          <p:nvPr/>
        </p:nvSpPr>
        <p:spPr>
          <a:xfrm>
            <a:off x="812800" y="2689820"/>
            <a:ext cx="4974336" cy="42664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Zero while paused. Computed on-chain by QEDLens.blastRadius() at any block, and fuzzed as an upper bound.</a:t>
            </a:r>
            <a:endParaRPr lang="en-US" sz="1200" dirty="0"/>
          </a:p>
        </p:txBody>
      </p:sp>
      <p:sp>
        <p:nvSpPr>
          <p:cNvPr id="7" name="Shape 5"/>
          <p:cNvSpPr/>
          <p:nvPr/>
        </p:nvSpPr>
        <p:spPr>
          <a:xfrm>
            <a:off x="812800" y="3246636"/>
            <a:ext cx="4876800" cy="0"/>
          </a:xfrm>
          <a:prstGeom prst="line">
            <a:avLst/>
          </a:prstGeom>
          <a:noFill/>
          <a:ln w="6350">
            <a:solidFill>
              <a:srgbClr val="D6DEE1"/>
            </a:solidFill>
            <a:prstDash val="solid"/>
          </a:ln>
        </p:spPr>
      </p:sp>
      <p:sp>
        <p:nvSpPr>
          <p:cNvPr id="8" name="Text 6"/>
          <p:cNvSpPr txBox="1"/>
          <p:nvPr/>
        </p:nvSpPr>
        <p:spPr>
          <a:xfrm>
            <a:off x="812800" y="3376811"/>
            <a:ext cx="4974336" cy="635000"/>
          </a:xfrm>
          <a:prstGeom prst="rect">
            <a:avLst/>
          </a:prstGeom>
          <a:noFill/>
          <a:ln/>
        </p:spPr>
        <p:txBody>
          <a:bodyPr wrap="square" lIns="0" tIns="0" rIns="0" bIns="0" rtlCol="0" anchor="t"/>
          <a:lstStyle/>
          <a:p>
            <a:pPr algn="l" indent="0" marL="0">
              <a:lnSpc>
                <a:spcPts val="2500"/>
              </a:lnSpc>
              <a:buNone/>
            </a:pPr>
            <a:r>
              <a:rPr lang="en-US" sz="2000" dirty="0">
                <a:solidFill>
                  <a:srgbClr val="13233F"/>
                </a:solidFill>
                <a:latin typeface="Cambria" pitchFamily="34" charset="0"/>
                <a:ea typeface="Cambria" pitchFamily="34" charset="-122"/>
                <a:cs typeface="Cambria" pitchFamily="34" charset="-120"/>
              </a:rPr>
              <a:t>Loss to any address the owner didn’t approve: exactly 0.</a:t>
            </a:r>
            <a:endParaRPr lang="en-US" sz="2000" dirty="0"/>
          </a:p>
        </p:txBody>
      </p:sp>
      <p:sp>
        <p:nvSpPr>
          <p:cNvPr id="9" name="Shape 7"/>
          <p:cNvSpPr/>
          <p:nvPr/>
        </p:nvSpPr>
        <p:spPr>
          <a:xfrm>
            <a:off x="5994400" y="1921470"/>
            <a:ext cx="5384800" cy="2317750"/>
          </a:xfrm>
          <a:prstGeom prst="roundRect">
            <a:avLst>
              <a:gd name="adj" fmla="val 2192"/>
            </a:avLst>
          </a:prstGeom>
          <a:solidFill>
            <a:srgbClr val="13233F"/>
          </a:solidFill>
          <a:ln/>
        </p:spPr>
      </p:sp>
      <p:sp>
        <p:nvSpPr>
          <p:cNvPr id="10" name="Text 8"/>
          <p:cNvSpPr txBox="1"/>
          <p:nvPr/>
        </p:nvSpPr>
        <p:spPr>
          <a:xfrm>
            <a:off x="6248400" y="2175470"/>
            <a:ext cx="4974336" cy="184150"/>
          </a:xfrm>
          <a:prstGeom prst="rect">
            <a:avLst/>
          </a:prstGeom>
          <a:noFill/>
          <a:ln/>
        </p:spPr>
        <p:txBody>
          <a:bodyPr wrap="square" lIns="0" tIns="0" rIns="0" bIns="0" rtlCol="0" anchor="t"/>
          <a:lstStyle/>
          <a:p>
            <a:pPr algn="l" indent="0" marL="0">
              <a:lnSpc>
                <a:spcPts val="1440"/>
              </a:lnSpc>
              <a:buNone/>
            </a:pPr>
            <a:r>
              <a:rPr lang="en-US" sz="1200" b="1" spc="100" kern="0" dirty="0">
                <a:solidFill>
                  <a:srgbClr val="46C4B0"/>
                </a:solidFill>
                <a:latin typeface="Calibri" pitchFamily="34" charset="0"/>
                <a:ea typeface="Calibri" pitchFamily="34" charset="-122"/>
                <a:cs typeface="Calibri" pitchFamily="34" charset="-120"/>
              </a:rPr>
              <a:t>HONEYPOT VAULT 0XE5B3…7F04</a:t>
            </a:r>
            <a:endParaRPr lang="en-US" sz="1200" dirty="0"/>
          </a:p>
        </p:txBody>
      </p:sp>
      <p:sp>
        <p:nvSpPr>
          <p:cNvPr id="11" name="Text 9"/>
          <p:cNvSpPr txBox="1"/>
          <p:nvPr/>
        </p:nvSpPr>
        <p:spPr>
          <a:xfrm>
            <a:off x="6248400" y="2473920"/>
            <a:ext cx="15113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Published</a:t>
            </a:r>
            <a:endParaRPr lang="en-US" sz="1200" dirty="0"/>
          </a:p>
        </p:txBody>
      </p:sp>
      <p:sp>
        <p:nvSpPr>
          <p:cNvPr id="12" name="Text 10"/>
          <p:cNvSpPr txBox="1"/>
          <p:nvPr/>
        </p:nvSpPr>
        <p:spPr>
          <a:xfrm>
            <a:off x="7810500" y="2473920"/>
            <a:ext cx="3380994"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its AI key and co-signer key, in our repo</a:t>
            </a:r>
            <a:endParaRPr lang="en-US" sz="1200" dirty="0"/>
          </a:p>
        </p:txBody>
      </p:sp>
      <p:sp>
        <p:nvSpPr>
          <p:cNvPr id="13" name="Text 11"/>
          <p:cNvSpPr txBox="1"/>
          <p:nvPr/>
        </p:nvSpPr>
        <p:spPr>
          <a:xfrm>
            <a:off x="6248400" y="2759670"/>
            <a:ext cx="15113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Ring-fenced</a:t>
            </a:r>
            <a:endParaRPr lang="en-US" sz="1200" dirty="0"/>
          </a:p>
        </p:txBody>
      </p:sp>
      <p:sp>
        <p:nvSpPr>
          <p:cNvPr id="14" name="Text 12"/>
          <p:cNvSpPr txBox="1"/>
          <p:nvPr/>
        </p:nvSpPr>
        <p:spPr>
          <a:xfrm>
            <a:off x="7810500" y="2759670"/>
            <a:ext cx="3380994"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90 tUSD for CloudCo until 30 Jun 2027</a:t>
            </a:r>
            <a:endParaRPr lang="en-US" sz="1200" dirty="0"/>
          </a:p>
        </p:txBody>
      </p:sp>
      <p:sp>
        <p:nvSpPr>
          <p:cNvPr id="15" name="Text 13"/>
          <p:cNvSpPr txBox="1"/>
          <p:nvPr/>
        </p:nvSpPr>
        <p:spPr>
          <a:xfrm>
            <a:off x="6248400" y="3045420"/>
            <a:ext cx="15113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The keys can</a:t>
            </a:r>
            <a:endParaRPr lang="en-US" sz="1200" dirty="0"/>
          </a:p>
        </p:txBody>
      </p:sp>
      <p:sp>
        <p:nvSpPr>
          <p:cNvPr id="16" name="Text 14"/>
          <p:cNvSpPr txBox="1"/>
          <p:nvPr/>
        </p:nvSpPr>
        <p:spPr>
          <a:xfrm>
            <a:off x="7810500" y="3045420"/>
            <a:ext cx="3380994"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pay CloudCo up to 1 tUSD a day (H3)</a:t>
            </a:r>
            <a:endParaRPr lang="en-US" sz="1200" dirty="0"/>
          </a:p>
        </p:txBody>
      </p:sp>
      <p:sp>
        <p:nvSpPr>
          <p:cNvPr id="17" name="Text 15"/>
          <p:cNvSpPr txBox="1"/>
          <p:nvPr/>
        </p:nvSpPr>
        <p:spPr>
          <a:xfrm>
            <a:off x="6248400" y="3331170"/>
            <a:ext cx="1511300" cy="36830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The keys can’t</a:t>
            </a:r>
            <a:endParaRPr lang="en-US" sz="1200" dirty="0"/>
          </a:p>
        </p:txBody>
      </p:sp>
      <p:sp>
        <p:nvSpPr>
          <p:cNvPr id="18" name="Text 16"/>
          <p:cNvSpPr txBox="1"/>
          <p:nvPr/>
        </p:nvSpPr>
        <p:spPr>
          <a:xfrm>
            <a:off x="7810500" y="3331170"/>
            <a:ext cx="3380994" cy="36830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pay anyone else (H4), take more (H5) or withdraw (H6)</a:t>
            </a:r>
            <a:endParaRPr lang="en-US" sz="1200" dirty="0"/>
          </a:p>
        </p:txBody>
      </p:sp>
      <p:sp>
        <p:nvSpPr>
          <p:cNvPr id="19" name="Text 17"/>
          <p:cNvSpPr txBox="1"/>
          <p:nvPr/>
        </p:nvSpPr>
        <p:spPr>
          <a:xfrm>
            <a:off x="6248400" y="3801070"/>
            <a:ext cx="15113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Check it</a:t>
            </a:r>
            <a:endParaRPr lang="en-US" sz="1200" dirty="0"/>
          </a:p>
        </p:txBody>
      </p:sp>
      <p:sp>
        <p:nvSpPr>
          <p:cNvPr id="20" name="Text 18"/>
          <p:cNvSpPr txBox="1"/>
          <p:nvPr/>
        </p:nvSpPr>
        <p:spPr>
          <a:xfrm>
            <a:off x="7810500" y="3801070"/>
            <a:ext cx="3380994"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live on the dashboard, any block</a:t>
            </a:r>
            <a:endParaRPr lang="en-US" sz="1200" dirty="0"/>
          </a:p>
        </p:txBody>
      </p:sp>
      <p:sp>
        <p:nvSpPr>
          <p:cNvPr id="21" name="Shape 19"/>
          <p:cNvSpPr/>
          <p:nvPr/>
        </p:nvSpPr>
        <p:spPr>
          <a:xfrm>
            <a:off x="11226800" y="5689600"/>
            <a:ext cx="152400" cy="152400"/>
          </a:xfrm>
          <a:prstGeom prst="rect">
            <a:avLst/>
          </a:prstGeom>
          <a:solidFill>
            <a:srgbClr val="0A7468"/>
          </a:solidFill>
          <a:ln/>
        </p:spPr>
      </p:sp>
      <p:sp>
        <p:nvSpPr>
          <p:cNvPr id="22" name="Text 20"/>
          <p:cNvSpPr txBox="1"/>
          <p:nvPr/>
        </p:nvSpPr>
        <p:spPr>
          <a:xfrm>
            <a:off x="812800" y="6267450"/>
            <a:ext cx="77724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QED before the upgrade, unchanged and still live</a:t>
            </a:r>
            <a:endParaRPr lang="en-US" sz="1200" dirty="0"/>
          </a:p>
        </p:txBody>
      </p:sp>
      <p:sp>
        <p:nvSpPr>
          <p:cNvPr id="23" name="Text 21"/>
          <p:cNvSpPr txBox="1"/>
          <p:nvPr/>
        </p:nvSpPr>
        <p:spPr>
          <a:xfrm>
            <a:off x="9423400" y="6267450"/>
            <a:ext cx="1955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Appendix A13</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RUN 2 · CERTIFIED CLEARING</a:t>
            </a:r>
            <a:endParaRPr lang="en-US" sz="1200" dirty="0"/>
          </a:p>
        </p:txBody>
      </p:sp>
      <p:sp>
        <p:nvSpPr>
          <p:cNvPr id="3" name="Text 1"/>
          <p:cNvSpPr txBox="1"/>
          <p:nvPr/>
        </p:nvSpPr>
        <p:spPr>
          <a:xfrm>
            <a:off x="812800" y="11493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A gridlocked agent economy, cleared by proof</a:t>
            </a:r>
            <a:endParaRPr lang="en-US" sz="3200" dirty="0"/>
          </a:p>
        </p:txBody>
      </p:sp>
      <p:sp>
        <p:nvSpPr>
          <p:cNvPr id="4" name="Shape 2"/>
          <p:cNvSpPr/>
          <p:nvPr/>
        </p:nvSpPr>
        <p:spPr>
          <a:xfrm>
            <a:off x="812800" y="1769070"/>
            <a:ext cx="7124700" cy="2914650"/>
          </a:xfrm>
          <a:prstGeom prst="roundRect">
            <a:avLst>
              <a:gd name="adj" fmla="val 1743"/>
            </a:avLst>
          </a:prstGeom>
          <a:solidFill>
            <a:srgbClr val="FBFCFC"/>
          </a:solidFill>
          <a:ln w="6350">
            <a:solidFill>
              <a:srgbClr val="D6DEE1"/>
            </a:solidFill>
            <a:prstDash val="solid"/>
          </a:ln>
        </p:spPr>
      </p:sp>
      <p:sp>
        <p:nvSpPr>
          <p:cNvPr id="5" name="Text 3"/>
          <p:cNvSpPr txBox="1"/>
          <p:nvPr/>
        </p:nvSpPr>
        <p:spPr>
          <a:xfrm>
            <a:off x="996950" y="1902420"/>
            <a:ext cx="3368040" cy="184150"/>
          </a:xfrm>
          <a:prstGeom prst="rect">
            <a:avLst/>
          </a:prstGeom>
          <a:noFill/>
          <a:ln/>
        </p:spPr>
        <p:txBody>
          <a:bodyPr wrap="square" lIns="0" tIns="0" rIns="0" bIns="0" rtlCol="0" anchor="t"/>
          <a:lstStyle/>
          <a:p>
            <a:pPr algn="l" indent="0" marL="0">
              <a:lnSpc>
                <a:spcPts val="1440"/>
              </a:lnSpc>
              <a:buNone/>
            </a:pPr>
            <a:r>
              <a:rPr lang="en-US" sz="1200" b="1" dirty="0">
                <a:solidFill>
                  <a:srgbClr val="13233F"/>
                </a:solidFill>
                <a:latin typeface="Calibri" pitchFamily="34" charset="0"/>
                <a:ea typeface="Calibri" pitchFamily="34" charset="-122"/>
                <a:cs typeface="Calibri" pitchFamily="34" charset="-120"/>
              </a:rPr>
              <a:t>Before</a:t>
            </a:r>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 · 200 tUSD in 11 debts</a:t>
            </a:r>
            <a:endParaRPr lang="en-US" sz="1200" dirty="0"/>
          </a:p>
        </p:txBody>
      </p:sp>
      <p:pic>
        <p:nvPicPr>
          <p:cNvPr id="6" name="Image 0" descr="Before: 11 debts in tangled cycles between five agents">    </p:cNvPr>
          <p:cNvPicPr>
            <a:picLocks noChangeAspect="1"/>
          </p:cNvPicPr>
          <p:nvPr/>
        </p:nvPicPr>
        <p:blipFill>
          <a:blip r:embed="rId1"/>
          <a:stretch>
            <a:fillRect/>
          </a:stretch>
        </p:blipFill>
        <p:spPr>
          <a:xfrm>
            <a:off x="996950" y="2086570"/>
            <a:ext cx="3302000" cy="2540000"/>
          </a:xfrm>
          <a:prstGeom prst="rect">
            <a:avLst/>
          </a:prstGeom>
        </p:spPr>
      </p:pic>
      <p:sp>
        <p:nvSpPr>
          <p:cNvPr id="7" name="Text 4"/>
          <p:cNvSpPr txBox="1"/>
          <p:nvPr/>
        </p:nvSpPr>
        <p:spPr>
          <a:xfrm>
            <a:off x="2159000" y="2092920"/>
            <a:ext cx="984250" cy="213360"/>
          </a:xfrm>
          <a:prstGeom prst="rect">
            <a:avLst/>
          </a:prstGeom>
          <a:noFill/>
          <a:ln/>
        </p:spPr>
        <p:txBody>
          <a:bodyPr wrap="square" lIns="0" tIns="0" rIns="0" bIns="0" rtlCol="0" anchor="t"/>
          <a:lstStyle/>
          <a:p>
            <a:pPr algn="ctr" indent="0" marL="0">
              <a:lnSpc>
                <a:spcPts val="1680"/>
              </a:lnSpc>
              <a:buNone/>
            </a:pPr>
            <a:r>
              <a:rPr lang="en-US" sz="1200" b="1" dirty="0">
                <a:solidFill>
                  <a:srgbClr val="13233F"/>
                </a:solidFill>
                <a:latin typeface="Calibri" pitchFamily="34" charset="0"/>
                <a:ea typeface="Calibri" pitchFamily="34" charset="-122"/>
                <a:cs typeface="Calibri" pitchFamily="34" charset="-120"/>
              </a:rPr>
              <a:t>Northwind</a:t>
            </a:r>
            <a:endParaRPr lang="en-US" sz="1200" dirty="0"/>
          </a:p>
        </p:txBody>
      </p:sp>
      <p:sp>
        <p:nvSpPr>
          <p:cNvPr id="8" name="Text 5"/>
          <p:cNvSpPr txBox="1"/>
          <p:nvPr/>
        </p:nvSpPr>
        <p:spPr>
          <a:xfrm>
            <a:off x="3714750" y="3007320"/>
            <a:ext cx="412750" cy="213360"/>
          </a:xfrm>
          <a:prstGeom prst="rect">
            <a:avLst/>
          </a:prstGeom>
          <a:noFill/>
          <a:ln/>
        </p:spPr>
        <p:txBody>
          <a:bodyPr wrap="square" lIns="0" tIns="0" rIns="0" bIns="0" rtlCol="0" anchor="t"/>
          <a:lstStyle/>
          <a:p>
            <a:pPr algn="l" indent="0" marL="0">
              <a:lnSpc>
                <a:spcPts val="1680"/>
              </a:lnSpc>
              <a:buNone/>
            </a:pPr>
            <a:r>
              <a:rPr lang="en-US" sz="1200" b="1" dirty="0">
                <a:solidFill>
                  <a:srgbClr val="13233F"/>
                </a:solidFill>
                <a:latin typeface="Calibri" pitchFamily="34" charset="0"/>
                <a:ea typeface="Calibri" pitchFamily="34" charset="-122"/>
                <a:cs typeface="Calibri" pitchFamily="34" charset="-120"/>
              </a:rPr>
              <a:t>QED</a:t>
            </a:r>
            <a:endParaRPr lang="en-US" sz="1200" dirty="0"/>
          </a:p>
        </p:txBody>
      </p:sp>
      <p:sp>
        <p:nvSpPr>
          <p:cNvPr id="9" name="Text 6"/>
          <p:cNvSpPr txBox="1"/>
          <p:nvPr/>
        </p:nvSpPr>
        <p:spPr>
          <a:xfrm>
            <a:off x="2813050" y="4309070"/>
            <a:ext cx="793750" cy="213360"/>
          </a:xfrm>
          <a:prstGeom prst="rect">
            <a:avLst/>
          </a:prstGeom>
          <a:noFill/>
          <a:ln/>
        </p:spPr>
        <p:txBody>
          <a:bodyPr wrap="square" lIns="0" tIns="0" rIns="0" bIns="0" rtlCol="0" anchor="t"/>
          <a:lstStyle/>
          <a:p>
            <a:pPr algn="ctr" indent="0" marL="0">
              <a:lnSpc>
                <a:spcPts val="1680"/>
              </a:lnSpc>
              <a:buNone/>
            </a:pPr>
            <a:r>
              <a:rPr lang="en-US" sz="1200" b="1" dirty="0">
                <a:solidFill>
                  <a:srgbClr val="13233F"/>
                </a:solidFill>
                <a:latin typeface="Calibri" pitchFamily="34" charset="0"/>
                <a:ea typeface="Calibri" pitchFamily="34" charset="-122"/>
                <a:cs typeface="Calibri" pitchFamily="34" charset="-120"/>
              </a:rPr>
              <a:t>CloudCo</a:t>
            </a:r>
            <a:endParaRPr lang="en-US" sz="1200" dirty="0"/>
          </a:p>
        </p:txBody>
      </p:sp>
      <p:sp>
        <p:nvSpPr>
          <p:cNvPr id="10" name="Text 7"/>
          <p:cNvSpPr txBox="1"/>
          <p:nvPr/>
        </p:nvSpPr>
        <p:spPr>
          <a:xfrm>
            <a:off x="1784350" y="4309070"/>
            <a:ext cx="603250" cy="213360"/>
          </a:xfrm>
          <a:prstGeom prst="rect">
            <a:avLst/>
          </a:prstGeom>
          <a:noFill/>
          <a:ln/>
        </p:spPr>
        <p:txBody>
          <a:bodyPr wrap="square" lIns="0" tIns="0" rIns="0" bIns="0" rtlCol="0" anchor="t"/>
          <a:lstStyle/>
          <a:p>
            <a:pPr algn="ctr" indent="0" marL="0">
              <a:lnSpc>
                <a:spcPts val="1680"/>
              </a:lnSpc>
              <a:buNone/>
            </a:pPr>
            <a:r>
              <a:rPr lang="en-US" sz="1200" b="1" dirty="0">
                <a:solidFill>
                  <a:srgbClr val="13233F"/>
                </a:solidFill>
                <a:latin typeface="Calibri" pitchFamily="34" charset="0"/>
                <a:ea typeface="Calibri" pitchFamily="34" charset="-122"/>
                <a:cs typeface="Calibri" pitchFamily="34" charset="-120"/>
              </a:rPr>
              <a:t>Helix</a:t>
            </a:r>
            <a:endParaRPr lang="en-US" sz="1200" dirty="0"/>
          </a:p>
        </p:txBody>
      </p:sp>
      <p:sp>
        <p:nvSpPr>
          <p:cNvPr id="11" name="Text 8"/>
          <p:cNvSpPr txBox="1"/>
          <p:nvPr/>
        </p:nvSpPr>
        <p:spPr>
          <a:xfrm>
            <a:off x="977900" y="3007320"/>
            <a:ext cx="603250" cy="213360"/>
          </a:xfrm>
          <a:prstGeom prst="rect">
            <a:avLst/>
          </a:prstGeom>
          <a:noFill/>
          <a:ln/>
        </p:spPr>
        <p:txBody>
          <a:bodyPr wrap="square" lIns="0" tIns="0" rIns="0" bIns="0" rtlCol="0" anchor="t"/>
          <a:lstStyle/>
          <a:p>
            <a:pPr algn="r" indent="0" marL="0">
              <a:lnSpc>
                <a:spcPts val="1680"/>
              </a:lnSpc>
              <a:buNone/>
            </a:pPr>
            <a:r>
              <a:rPr lang="en-US" sz="1200" b="1" dirty="0">
                <a:solidFill>
                  <a:srgbClr val="13233F"/>
                </a:solidFill>
                <a:latin typeface="Calibri" pitchFamily="34" charset="0"/>
                <a:ea typeface="Calibri" pitchFamily="34" charset="-122"/>
                <a:cs typeface="Calibri" pitchFamily="34" charset="-120"/>
              </a:rPr>
              <a:t>Atlas</a:t>
            </a:r>
            <a:endParaRPr lang="en-US" sz="1200" dirty="0"/>
          </a:p>
        </p:txBody>
      </p:sp>
      <p:sp>
        <p:nvSpPr>
          <p:cNvPr id="12" name="Text 9"/>
          <p:cNvSpPr txBox="1"/>
          <p:nvPr/>
        </p:nvSpPr>
        <p:spPr>
          <a:xfrm>
            <a:off x="4451350" y="1902420"/>
            <a:ext cx="3368040" cy="184150"/>
          </a:xfrm>
          <a:prstGeom prst="rect">
            <a:avLst/>
          </a:prstGeom>
          <a:noFill/>
          <a:ln/>
        </p:spPr>
        <p:txBody>
          <a:bodyPr wrap="square" lIns="0" tIns="0" rIns="0" bIns="0" rtlCol="0" anchor="t"/>
          <a:lstStyle/>
          <a:p>
            <a:pPr algn="l" indent="0" marL="0">
              <a:lnSpc>
                <a:spcPts val="1440"/>
              </a:lnSpc>
              <a:buNone/>
            </a:pPr>
            <a:r>
              <a:rPr lang="en-US" sz="1200" b="1" dirty="0">
                <a:solidFill>
                  <a:srgbClr val="0A7468"/>
                </a:solidFill>
                <a:latin typeface="Calibri" pitchFamily="34" charset="0"/>
                <a:ea typeface="Calibri" pitchFamily="34" charset="-122"/>
                <a:cs typeface="Calibri" pitchFamily="34" charset="-120"/>
              </a:rPr>
              <a:t>After the proven netting</a:t>
            </a:r>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 · 31 in 4</a:t>
            </a:r>
            <a:endParaRPr lang="en-US" sz="1200" dirty="0"/>
          </a:p>
        </p:txBody>
      </p:sp>
      <p:pic>
        <p:nvPicPr>
          <p:cNvPr id="13" name="Image 1" descr="After: 4 debts left, all flowing toward QED, no cycles">    </p:cNvPr>
          <p:cNvPicPr>
            <a:picLocks noChangeAspect="1"/>
          </p:cNvPicPr>
          <p:nvPr/>
        </p:nvPicPr>
        <p:blipFill>
          <a:blip r:embed="rId2"/>
          <a:stretch>
            <a:fillRect/>
          </a:stretch>
        </p:blipFill>
        <p:spPr>
          <a:xfrm>
            <a:off x="4451350" y="2086570"/>
            <a:ext cx="3302000" cy="2540000"/>
          </a:xfrm>
          <a:prstGeom prst="rect">
            <a:avLst/>
          </a:prstGeom>
        </p:spPr>
      </p:pic>
      <p:sp>
        <p:nvSpPr>
          <p:cNvPr id="14" name="Text 10"/>
          <p:cNvSpPr txBox="1"/>
          <p:nvPr/>
        </p:nvSpPr>
        <p:spPr>
          <a:xfrm>
            <a:off x="5613400" y="2092920"/>
            <a:ext cx="984250" cy="213360"/>
          </a:xfrm>
          <a:prstGeom prst="rect">
            <a:avLst/>
          </a:prstGeom>
          <a:noFill/>
          <a:ln/>
        </p:spPr>
        <p:txBody>
          <a:bodyPr wrap="square" lIns="0" tIns="0" rIns="0" bIns="0" rtlCol="0" anchor="t"/>
          <a:lstStyle/>
          <a:p>
            <a:pPr algn="ctr" indent="0" marL="0">
              <a:lnSpc>
                <a:spcPts val="1680"/>
              </a:lnSpc>
              <a:buNone/>
            </a:pPr>
            <a:r>
              <a:rPr lang="en-US" sz="1200" b="1" dirty="0">
                <a:solidFill>
                  <a:srgbClr val="13233F"/>
                </a:solidFill>
                <a:latin typeface="Calibri" pitchFamily="34" charset="0"/>
                <a:ea typeface="Calibri" pitchFamily="34" charset="-122"/>
                <a:cs typeface="Calibri" pitchFamily="34" charset="-120"/>
              </a:rPr>
              <a:t>Northwind</a:t>
            </a:r>
            <a:endParaRPr lang="en-US" sz="1200" dirty="0"/>
          </a:p>
        </p:txBody>
      </p:sp>
      <p:sp>
        <p:nvSpPr>
          <p:cNvPr id="15" name="Text 11"/>
          <p:cNvSpPr txBox="1"/>
          <p:nvPr/>
        </p:nvSpPr>
        <p:spPr>
          <a:xfrm>
            <a:off x="7169150" y="3007320"/>
            <a:ext cx="412750" cy="213360"/>
          </a:xfrm>
          <a:prstGeom prst="rect">
            <a:avLst/>
          </a:prstGeom>
          <a:noFill/>
          <a:ln/>
        </p:spPr>
        <p:txBody>
          <a:bodyPr wrap="square" lIns="0" tIns="0" rIns="0" bIns="0" rtlCol="0" anchor="t"/>
          <a:lstStyle/>
          <a:p>
            <a:pPr algn="l" indent="0" marL="0">
              <a:lnSpc>
                <a:spcPts val="1680"/>
              </a:lnSpc>
              <a:buNone/>
            </a:pPr>
            <a:r>
              <a:rPr lang="en-US" sz="1200" b="1" dirty="0">
                <a:solidFill>
                  <a:srgbClr val="13233F"/>
                </a:solidFill>
                <a:latin typeface="Calibri" pitchFamily="34" charset="0"/>
                <a:ea typeface="Calibri" pitchFamily="34" charset="-122"/>
                <a:cs typeface="Calibri" pitchFamily="34" charset="-120"/>
              </a:rPr>
              <a:t>QED</a:t>
            </a:r>
            <a:endParaRPr lang="en-US" sz="1200" dirty="0"/>
          </a:p>
        </p:txBody>
      </p:sp>
      <p:sp>
        <p:nvSpPr>
          <p:cNvPr id="16" name="Text 12"/>
          <p:cNvSpPr txBox="1"/>
          <p:nvPr/>
        </p:nvSpPr>
        <p:spPr>
          <a:xfrm>
            <a:off x="6267450" y="4309070"/>
            <a:ext cx="793750" cy="213360"/>
          </a:xfrm>
          <a:prstGeom prst="rect">
            <a:avLst/>
          </a:prstGeom>
          <a:noFill/>
          <a:ln/>
        </p:spPr>
        <p:txBody>
          <a:bodyPr wrap="square" lIns="0" tIns="0" rIns="0" bIns="0" rtlCol="0" anchor="t"/>
          <a:lstStyle/>
          <a:p>
            <a:pPr algn="ctr" indent="0" marL="0">
              <a:lnSpc>
                <a:spcPts val="1680"/>
              </a:lnSpc>
              <a:buNone/>
            </a:pPr>
            <a:r>
              <a:rPr lang="en-US" sz="1200" b="1" dirty="0">
                <a:solidFill>
                  <a:srgbClr val="13233F"/>
                </a:solidFill>
                <a:latin typeface="Calibri" pitchFamily="34" charset="0"/>
                <a:ea typeface="Calibri" pitchFamily="34" charset="-122"/>
                <a:cs typeface="Calibri" pitchFamily="34" charset="-120"/>
              </a:rPr>
              <a:t>CloudCo</a:t>
            </a:r>
            <a:endParaRPr lang="en-US" sz="1200" dirty="0"/>
          </a:p>
        </p:txBody>
      </p:sp>
      <p:sp>
        <p:nvSpPr>
          <p:cNvPr id="17" name="Text 13"/>
          <p:cNvSpPr txBox="1"/>
          <p:nvPr/>
        </p:nvSpPr>
        <p:spPr>
          <a:xfrm>
            <a:off x="5238750" y="4309070"/>
            <a:ext cx="603250" cy="213360"/>
          </a:xfrm>
          <a:prstGeom prst="rect">
            <a:avLst/>
          </a:prstGeom>
          <a:noFill/>
          <a:ln/>
        </p:spPr>
        <p:txBody>
          <a:bodyPr wrap="square" lIns="0" tIns="0" rIns="0" bIns="0" rtlCol="0" anchor="t"/>
          <a:lstStyle/>
          <a:p>
            <a:pPr algn="ctr" indent="0" marL="0">
              <a:lnSpc>
                <a:spcPts val="1680"/>
              </a:lnSpc>
              <a:buNone/>
            </a:pPr>
            <a:r>
              <a:rPr lang="en-US" sz="1200" b="1" dirty="0">
                <a:solidFill>
                  <a:srgbClr val="13233F"/>
                </a:solidFill>
                <a:latin typeface="Calibri" pitchFamily="34" charset="0"/>
                <a:ea typeface="Calibri" pitchFamily="34" charset="-122"/>
                <a:cs typeface="Calibri" pitchFamily="34" charset="-120"/>
              </a:rPr>
              <a:t>Helix</a:t>
            </a:r>
            <a:endParaRPr lang="en-US" sz="1200" dirty="0"/>
          </a:p>
        </p:txBody>
      </p:sp>
      <p:sp>
        <p:nvSpPr>
          <p:cNvPr id="18" name="Text 14"/>
          <p:cNvSpPr txBox="1"/>
          <p:nvPr/>
        </p:nvSpPr>
        <p:spPr>
          <a:xfrm>
            <a:off x="4432300" y="3007320"/>
            <a:ext cx="603250" cy="213360"/>
          </a:xfrm>
          <a:prstGeom prst="rect">
            <a:avLst/>
          </a:prstGeom>
          <a:noFill/>
          <a:ln/>
        </p:spPr>
        <p:txBody>
          <a:bodyPr wrap="square" lIns="0" tIns="0" rIns="0" bIns="0" rtlCol="0" anchor="t"/>
          <a:lstStyle/>
          <a:p>
            <a:pPr algn="r" indent="0" marL="0">
              <a:lnSpc>
                <a:spcPts val="1680"/>
              </a:lnSpc>
              <a:buNone/>
            </a:pPr>
            <a:r>
              <a:rPr lang="en-US" sz="1200" b="1" dirty="0">
                <a:solidFill>
                  <a:srgbClr val="13233F"/>
                </a:solidFill>
                <a:latin typeface="Calibri" pitchFamily="34" charset="0"/>
                <a:ea typeface="Calibri" pitchFamily="34" charset="-122"/>
                <a:cs typeface="Calibri" pitchFamily="34" charset="-120"/>
              </a:rPr>
              <a:t>Atlas</a:t>
            </a:r>
            <a:endParaRPr lang="en-US" sz="1200" dirty="0"/>
          </a:p>
        </p:txBody>
      </p:sp>
      <p:sp>
        <p:nvSpPr>
          <p:cNvPr id="19" name="Shape 15"/>
          <p:cNvSpPr/>
          <p:nvPr/>
        </p:nvSpPr>
        <p:spPr>
          <a:xfrm>
            <a:off x="6318250" y="2740620"/>
            <a:ext cx="330200" cy="226020"/>
          </a:xfrm>
          <a:prstGeom prst="roundRect">
            <a:avLst>
              <a:gd name="adj" fmla="val 16857"/>
            </a:avLst>
          </a:prstGeom>
          <a:solidFill>
            <a:srgbClr val="FBFCFC"/>
          </a:solidFill>
          <a:ln w="6350">
            <a:solidFill>
              <a:srgbClr val="9FB0BE"/>
            </a:solidFill>
            <a:prstDash val="solid"/>
          </a:ln>
        </p:spPr>
      </p:sp>
      <p:sp>
        <p:nvSpPr>
          <p:cNvPr id="20" name="Text 16"/>
          <p:cNvSpPr txBox="1"/>
          <p:nvPr/>
        </p:nvSpPr>
        <p:spPr>
          <a:xfrm>
            <a:off x="6299200" y="2746970"/>
            <a:ext cx="368300" cy="213360"/>
          </a:xfrm>
          <a:prstGeom prst="rect">
            <a:avLst/>
          </a:prstGeom>
          <a:noFill/>
          <a:ln/>
        </p:spPr>
        <p:txBody>
          <a:bodyPr wrap="square" lIns="0" tIns="0" rIns="0" bIns="0" rtlCol="0" anchor="t"/>
          <a:lstStyle/>
          <a:p>
            <a:pPr algn="ctr" indent="0" marL="0">
              <a:lnSpc>
                <a:spcPts val="1680"/>
              </a:lnSpc>
              <a:buNone/>
            </a:pPr>
            <a:r>
              <a:rPr lang="en-US" sz="1200" b="1" dirty="0">
                <a:solidFill>
                  <a:srgbClr val="0A7468"/>
                </a:solidFill>
                <a:latin typeface="Calibri" pitchFamily="34" charset="0"/>
                <a:ea typeface="Calibri" pitchFamily="34" charset="-122"/>
                <a:cs typeface="Calibri" pitchFamily="34" charset="-120"/>
              </a:rPr>
              <a:t>18</a:t>
            </a:r>
            <a:endParaRPr lang="en-US" sz="1200" dirty="0"/>
          </a:p>
        </p:txBody>
      </p:sp>
      <p:sp>
        <p:nvSpPr>
          <p:cNvPr id="21" name="Shape 17"/>
          <p:cNvSpPr/>
          <p:nvPr/>
        </p:nvSpPr>
        <p:spPr>
          <a:xfrm>
            <a:off x="5759450" y="3864570"/>
            <a:ext cx="330200" cy="226020"/>
          </a:xfrm>
          <a:prstGeom prst="roundRect">
            <a:avLst>
              <a:gd name="adj" fmla="val 16857"/>
            </a:avLst>
          </a:prstGeom>
          <a:solidFill>
            <a:srgbClr val="FBFCFC"/>
          </a:solidFill>
          <a:ln w="6350">
            <a:solidFill>
              <a:srgbClr val="9FB0BE"/>
            </a:solidFill>
            <a:prstDash val="solid"/>
          </a:ln>
        </p:spPr>
      </p:sp>
      <p:sp>
        <p:nvSpPr>
          <p:cNvPr id="22" name="Text 18"/>
          <p:cNvSpPr txBox="1"/>
          <p:nvPr/>
        </p:nvSpPr>
        <p:spPr>
          <a:xfrm>
            <a:off x="5740400" y="3870920"/>
            <a:ext cx="368300" cy="213360"/>
          </a:xfrm>
          <a:prstGeom prst="rect">
            <a:avLst/>
          </a:prstGeom>
          <a:noFill/>
          <a:ln/>
        </p:spPr>
        <p:txBody>
          <a:bodyPr wrap="square" lIns="0" tIns="0" rIns="0" bIns="0" rtlCol="0" anchor="t"/>
          <a:lstStyle/>
          <a:p>
            <a:pPr algn="ctr" indent="0" marL="0">
              <a:lnSpc>
                <a:spcPts val="1680"/>
              </a:lnSpc>
              <a:buNone/>
            </a:pPr>
            <a:r>
              <a:rPr lang="en-US" sz="1200" b="1" dirty="0">
                <a:solidFill>
                  <a:srgbClr val="0A7468"/>
                </a:solidFill>
                <a:latin typeface="Calibri" pitchFamily="34" charset="0"/>
                <a:ea typeface="Calibri" pitchFamily="34" charset="-122"/>
                <a:cs typeface="Calibri" pitchFamily="34" charset="-120"/>
              </a:rPr>
              <a:t>4</a:t>
            </a:r>
            <a:endParaRPr lang="en-US" sz="1200" dirty="0"/>
          </a:p>
        </p:txBody>
      </p:sp>
      <p:sp>
        <p:nvSpPr>
          <p:cNvPr id="23" name="Shape 19"/>
          <p:cNvSpPr/>
          <p:nvPr/>
        </p:nvSpPr>
        <p:spPr>
          <a:xfrm>
            <a:off x="5924550" y="3102570"/>
            <a:ext cx="330200" cy="226020"/>
          </a:xfrm>
          <a:prstGeom prst="roundRect">
            <a:avLst>
              <a:gd name="adj" fmla="val 16857"/>
            </a:avLst>
          </a:prstGeom>
          <a:solidFill>
            <a:srgbClr val="FBFCFC"/>
          </a:solidFill>
          <a:ln w="6350">
            <a:solidFill>
              <a:srgbClr val="9FB0BE"/>
            </a:solidFill>
            <a:prstDash val="solid"/>
          </a:ln>
        </p:spPr>
      </p:sp>
      <p:sp>
        <p:nvSpPr>
          <p:cNvPr id="24" name="Text 20"/>
          <p:cNvSpPr txBox="1"/>
          <p:nvPr/>
        </p:nvSpPr>
        <p:spPr>
          <a:xfrm>
            <a:off x="5905500" y="3108920"/>
            <a:ext cx="368300" cy="213360"/>
          </a:xfrm>
          <a:prstGeom prst="rect">
            <a:avLst/>
          </a:prstGeom>
          <a:noFill/>
          <a:ln/>
        </p:spPr>
        <p:txBody>
          <a:bodyPr wrap="square" lIns="0" tIns="0" rIns="0" bIns="0" rtlCol="0" anchor="t"/>
          <a:lstStyle/>
          <a:p>
            <a:pPr algn="ctr" indent="0" marL="0">
              <a:lnSpc>
                <a:spcPts val="1680"/>
              </a:lnSpc>
              <a:buNone/>
            </a:pPr>
            <a:r>
              <a:rPr lang="en-US" sz="1200" b="1" dirty="0">
                <a:solidFill>
                  <a:srgbClr val="0A7468"/>
                </a:solidFill>
                <a:latin typeface="Calibri" pitchFamily="34" charset="0"/>
                <a:ea typeface="Calibri" pitchFamily="34" charset="-122"/>
                <a:cs typeface="Calibri" pitchFamily="34" charset="-120"/>
              </a:rPr>
              <a:t>6</a:t>
            </a:r>
            <a:endParaRPr lang="en-US" sz="1200" dirty="0"/>
          </a:p>
        </p:txBody>
      </p:sp>
      <p:sp>
        <p:nvSpPr>
          <p:cNvPr id="25" name="Shape 21"/>
          <p:cNvSpPr/>
          <p:nvPr/>
        </p:nvSpPr>
        <p:spPr>
          <a:xfrm>
            <a:off x="6191250" y="3750270"/>
            <a:ext cx="330200" cy="226020"/>
          </a:xfrm>
          <a:prstGeom prst="roundRect">
            <a:avLst>
              <a:gd name="adj" fmla="val 16857"/>
            </a:avLst>
          </a:prstGeom>
          <a:solidFill>
            <a:srgbClr val="FBFCFC"/>
          </a:solidFill>
          <a:ln w="6350">
            <a:solidFill>
              <a:srgbClr val="9FB0BE"/>
            </a:solidFill>
            <a:prstDash val="solid"/>
          </a:ln>
        </p:spPr>
      </p:sp>
      <p:sp>
        <p:nvSpPr>
          <p:cNvPr id="26" name="Text 22"/>
          <p:cNvSpPr txBox="1"/>
          <p:nvPr/>
        </p:nvSpPr>
        <p:spPr>
          <a:xfrm>
            <a:off x="6172200" y="3756620"/>
            <a:ext cx="368300" cy="213360"/>
          </a:xfrm>
          <a:prstGeom prst="rect">
            <a:avLst/>
          </a:prstGeom>
          <a:noFill/>
          <a:ln/>
        </p:spPr>
        <p:txBody>
          <a:bodyPr wrap="square" lIns="0" tIns="0" rIns="0" bIns="0" rtlCol="0" anchor="t"/>
          <a:lstStyle/>
          <a:p>
            <a:pPr algn="ctr" indent="0" marL="0">
              <a:lnSpc>
                <a:spcPts val="1680"/>
              </a:lnSpc>
              <a:buNone/>
            </a:pPr>
            <a:r>
              <a:rPr lang="en-US" sz="1200" b="1" dirty="0">
                <a:solidFill>
                  <a:srgbClr val="0A7468"/>
                </a:solidFill>
                <a:latin typeface="Calibri" pitchFamily="34" charset="0"/>
                <a:ea typeface="Calibri" pitchFamily="34" charset="-122"/>
                <a:cs typeface="Calibri" pitchFamily="34" charset="-120"/>
              </a:rPr>
              <a:t>3</a:t>
            </a:r>
            <a:endParaRPr lang="en-US" sz="1200" dirty="0"/>
          </a:p>
        </p:txBody>
      </p:sp>
      <p:sp>
        <p:nvSpPr>
          <p:cNvPr id="27" name="Text 23"/>
          <p:cNvSpPr txBox="1"/>
          <p:nvPr/>
        </p:nvSpPr>
        <p:spPr>
          <a:xfrm>
            <a:off x="8140700" y="1870670"/>
            <a:ext cx="2362200" cy="247650"/>
          </a:xfrm>
          <a:prstGeom prst="rect">
            <a:avLst/>
          </a:prstGeom>
          <a:noFill/>
          <a:ln/>
        </p:spPr>
        <p:txBody>
          <a:bodyPr wrap="square" lIns="0" tIns="0" rIns="0" bIns="0" rtlCol="0" anchor="t"/>
          <a:lstStyle/>
          <a:p>
            <a:pPr algn="l" indent="0" marL="0">
              <a:lnSpc>
                <a:spcPts val="1950"/>
              </a:lnSpc>
              <a:buNone/>
            </a:pPr>
            <a:r>
              <a:rPr lang="en-US" sz="1500" b="1" dirty="0">
                <a:solidFill>
                  <a:srgbClr val="13233F"/>
                </a:solidFill>
                <a:latin typeface="Calibri" pitchFamily="34" charset="0"/>
                <a:ea typeface="Calibri" pitchFamily="34" charset="-122"/>
                <a:cs typeface="Calibri" pitchFamily="34" charset="-120"/>
              </a:rPr>
              <a:t>Gross debt</a:t>
            </a:r>
            <a:endParaRPr lang="en-US" sz="1500" dirty="0"/>
          </a:p>
        </p:txBody>
      </p:sp>
      <p:sp>
        <p:nvSpPr>
          <p:cNvPr id="28" name="Text 24"/>
          <p:cNvSpPr txBox="1"/>
          <p:nvPr/>
        </p:nvSpPr>
        <p:spPr>
          <a:xfrm>
            <a:off x="8140700" y="2131020"/>
            <a:ext cx="2362200" cy="198120"/>
          </a:xfrm>
          <a:prstGeom prst="rect">
            <a:avLst/>
          </a:prstGeom>
          <a:noFill/>
          <a:ln/>
        </p:spPr>
        <p:txBody>
          <a:bodyPr wrap="square" lIns="0" tIns="0" rIns="0" bIns="0" rtlCol="0" anchor="t"/>
          <a:lstStyle/>
          <a:p>
            <a:pPr algn="l" indent="0" marL="0">
              <a:lnSpc>
                <a:spcPts val="1560"/>
              </a:lnSpc>
              <a:buNone/>
            </a:pPr>
            <a:r>
              <a:rPr lang="en-US" sz="1200" dirty="0">
                <a:solidFill>
                  <a:srgbClr val="4E6074"/>
                </a:solidFill>
                <a:latin typeface="Calibri" pitchFamily="34" charset="0"/>
                <a:ea typeface="Calibri" pitchFamily="34" charset="-122"/>
                <a:cs typeface="Calibri" pitchFamily="34" charset="-120"/>
              </a:rPr>
              <a:t>11 debts, 5 AI businesses</a:t>
            </a:r>
            <a:endParaRPr lang="en-US" sz="1200" dirty="0"/>
          </a:p>
        </p:txBody>
      </p:sp>
      <p:sp>
        <p:nvSpPr>
          <p:cNvPr id="29" name="Text 25"/>
          <p:cNvSpPr txBox="1"/>
          <p:nvPr/>
        </p:nvSpPr>
        <p:spPr>
          <a:xfrm>
            <a:off x="10502900" y="1870670"/>
            <a:ext cx="876300" cy="297180"/>
          </a:xfrm>
          <a:prstGeom prst="rect">
            <a:avLst/>
          </a:prstGeom>
          <a:noFill/>
          <a:ln/>
        </p:spPr>
        <p:txBody>
          <a:bodyPr wrap="square" lIns="0" tIns="0" rIns="0" bIns="0" rtlCol="0" anchor="t"/>
          <a:lstStyle/>
          <a:p>
            <a:pPr algn="r" indent="0" marL="0">
              <a:lnSpc>
                <a:spcPts val="2340"/>
              </a:lnSpc>
              <a:buNone/>
            </a:pPr>
            <a:r>
              <a:rPr lang="en-US" sz="1800" dirty="0">
                <a:solidFill>
                  <a:srgbClr val="13233F"/>
                </a:solidFill>
                <a:latin typeface="Calibri" pitchFamily="34" charset="0"/>
                <a:ea typeface="Calibri" pitchFamily="34" charset="-122"/>
                <a:cs typeface="Calibri" pitchFamily="34" charset="-120"/>
              </a:rPr>
              <a:t>200</a:t>
            </a:r>
            <a:endParaRPr lang="en-US" sz="1800" dirty="0"/>
          </a:p>
        </p:txBody>
      </p:sp>
      <p:sp>
        <p:nvSpPr>
          <p:cNvPr id="30" name="Shape 26"/>
          <p:cNvSpPr/>
          <p:nvPr/>
        </p:nvSpPr>
        <p:spPr>
          <a:xfrm>
            <a:off x="8140700" y="2433836"/>
            <a:ext cx="3238500" cy="0"/>
          </a:xfrm>
          <a:prstGeom prst="line">
            <a:avLst/>
          </a:prstGeom>
          <a:noFill/>
          <a:ln w="6350">
            <a:solidFill>
              <a:srgbClr val="D6DEE1"/>
            </a:solidFill>
            <a:prstDash val="solid"/>
          </a:ln>
        </p:spPr>
      </p:sp>
      <p:sp>
        <p:nvSpPr>
          <p:cNvPr id="31" name="Text 27"/>
          <p:cNvSpPr txBox="1"/>
          <p:nvPr/>
        </p:nvSpPr>
        <p:spPr>
          <a:xfrm>
            <a:off x="8140700" y="2538611"/>
            <a:ext cx="2362200" cy="247650"/>
          </a:xfrm>
          <a:prstGeom prst="rect">
            <a:avLst/>
          </a:prstGeom>
          <a:noFill/>
          <a:ln/>
        </p:spPr>
        <p:txBody>
          <a:bodyPr wrap="square" lIns="0" tIns="0" rIns="0" bIns="0" rtlCol="0" anchor="t"/>
          <a:lstStyle/>
          <a:p>
            <a:pPr algn="l" indent="0" marL="0">
              <a:lnSpc>
                <a:spcPts val="1950"/>
              </a:lnSpc>
              <a:buNone/>
            </a:pPr>
            <a:r>
              <a:rPr lang="en-US" sz="1500" b="1" dirty="0">
                <a:solidFill>
                  <a:srgbClr val="13233F"/>
                </a:solidFill>
                <a:latin typeface="Calibri" pitchFamily="34" charset="0"/>
                <a:ea typeface="Calibri" pitchFamily="34" charset="-122"/>
                <a:cs typeface="Calibri" pitchFamily="34" charset="-120"/>
              </a:rPr>
              <a:t>Cash they hold</a:t>
            </a:r>
            <a:endParaRPr lang="en-US" sz="1500" dirty="0"/>
          </a:p>
        </p:txBody>
      </p:sp>
      <p:sp>
        <p:nvSpPr>
          <p:cNvPr id="32" name="Text 28"/>
          <p:cNvSpPr txBox="1"/>
          <p:nvPr/>
        </p:nvSpPr>
        <p:spPr>
          <a:xfrm>
            <a:off x="8140700" y="2798961"/>
            <a:ext cx="2362200" cy="198120"/>
          </a:xfrm>
          <a:prstGeom prst="rect">
            <a:avLst/>
          </a:prstGeom>
          <a:noFill/>
          <a:ln/>
        </p:spPr>
        <p:txBody>
          <a:bodyPr wrap="square" lIns="0" tIns="0" rIns="0" bIns="0" rtlCol="0" anchor="t"/>
          <a:lstStyle/>
          <a:p>
            <a:pPr algn="l" indent="0" marL="0">
              <a:lnSpc>
                <a:spcPts val="1560"/>
              </a:lnSpc>
              <a:buNone/>
            </a:pPr>
            <a:r>
              <a:rPr lang="en-US" sz="1200" dirty="0">
                <a:solidFill>
                  <a:srgbClr val="4E6074"/>
                </a:solidFill>
                <a:latin typeface="Calibri" pitchFamily="34" charset="0"/>
                <a:ea typeface="Calibri" pitchFamily="34" charset="-122"/>
                <a:cs typeface="Calibri" pitchFamily="34" charset="-120"/>
              </a:rPr>
              <a:t>paying gross reverts (G1)</a:t>
            </a:r>
            <a:endParaRPr lang="en-US" sz="1200" dirty="0"/>
          </a:p>
        </p:txBody>
      </p:sp>
      <p:sp>
        <p:nvSpPr>
          <p:cNvPr id="33" name="Text 29"/>
          <p:cNvSpPr txBox="1"/>
          <p:nvPr/>
        </p:nvSpPr>
        <p:spPr>
          <a:xfrm>
            <a:off x="10502900" y="2538611"/>
            <a:ext cx="876300" cy="297180"/>
          </a:xfrm>
          <a:prstGeom prst="rect">
            <a:avLst/>
          </a:prstGeom>
          <a:noFill/>
          <a:ln/>
        </p:spPr>
        <p:txBody>
          <a:bodyPr wrap="square" lIns="0" tIns="0" rIns="0" bIns="0" rtlCol="0" anchor="t"/>
          <a:lstStyle/>
          <a:p>
            <a:pPr algn="r" indent="0" marL="0">
              <a:lnSpc>
                <a:spcPts val="2340"/>
              </a:lnSpc>
              <a:buNone/>
            </a:pPr>
            <a:r>
              <a:rPr lang="en-US" sz="1800" dirty="0">
                <a:solidFill>
                  <a:srgbClr val="13233F"/>
                </a:solidFill>
                <a:latin typeface="Calibri" pitchFamily="34" charset="0"/>
                <a:ea typeface="Calibri" pitchFamily="34" charset="-122"/>
                <a:cs typeface="Calibri" pitchFamily="34" charset="-120"/>
              </a:rPr>
              <a:t>28</a:t>
            </a:r>
            <a:endParaRPr lang="en-US" sz="1800" dirty="0"/>
          </a:p>
        </p:txBody>
      </p:sp>
      <p:sp>
        <p:nvSpPr>
          <p:cNvPr id="34" name="Shape 30"/>
          <p:cNvSpPr/>
          <p:nvPr/>
        </p:nvSpPr>
        <p:spPr>
          <a:xfrm>
            <a:off x="8140700" y="3101777"/>
            <a:ext cx="3238500" cy="0"/>
          </a:xfrm>
          <a:prstGeom prst="line">
            <a:avLst/>
          </a:prstGeom>
          <a:noFill/>
          <a:ln w="6350">
            <a:solidFill>
              <a:srgbClr val="D6DEE1"/>
            </a:solidFill>
            <a:prstDash val="solid"/>
          </a:ln>
        </p:spPr>
      </p:sp>
      <p:sp>
        <p:nvSpPr>
          <p:cNvPr id="35" name="Text 31"/>
          <p:cNvSpPr txBox="1"/>
          <p:nvPr/>
        </p:nvSpPr>
        <p:spPr>
          <a:xfrm>
            <a:off x="8140700" y="3206552"/>
            <a:ext cx="2362200" cy="247650"/>
          </a:xfrm>
          <a:prstGeom prst="rect">
            <a:avLst/>
          </a:prstGeom>
          <a:noFill/>
          <a:ln/>
        </p:spPr>
        <p:txBody>
          <a:bodyPr wrap="square" lIns="0" tIns="0" rIns="0" bIns="0" rtlCol="0" anchor="t"/>
          <a:lstStyle/>
          <a:p>
            <a:pPr algn="l" indent="0" marL="0">
              <a:lnSpc>
                <a:spcPts val="1950"/>
              </a:lnSpc>
              <a:buNone/>
            </a:pPr>
            <a:r>
              <a:rPr lang="en-US" sz="1500" b="1" dirty="0">
                <a:solidFill>
                  <a:srgbClr val="13233F"/>
                </a:solidFill>
                <a:latin typeface="Calibri" pitchFamily="34" charset="0"/>
                <a:ea typeface="Calibri" pitchFamily="34" charset="-122"/>
                <a:cs typeface="Calibri" pitchFamily="34" charset="-120"/>
              </a:rPr>
              <a:t>Naive netting</a:t>
            </a:r>
            <a:endParaRPr lang="en-US" sz="1500" dirty="0"/>
          </a:p>
        </p:txBody>
      </p:sp>
      <p:sp>
        <p:nvSpPr>
          <p:cNvPr id="36" name="Text 32"/>
          <p:cNvSpPr txBox="1"/>
          <p:nvPr/>
        </p:nvSpPr>
        <p:spPr>
          <a:xfrm>
            <a:off x="8140700" y="3466902"/>
            <a:ext cx="2362200" cy="198120"/>
          </a:xfrm>
          <a:prstGeom prst="rect">
            <a:avLst/>
          </a:prstGeom>
          <a:noFill/>
          <a:ln/>
        </p:spPr>
        <p:txBody>
          <a:bodyPr wrap="square" lIns="0" tIns="0" rIns="0" bIns="0" rtlCol="0" anchor="t"/>
          <a:lstStyle/>
          <a:p>
            <a:pPr algn="l" indent="0" marL="0">
              <a:lnSpc>
                <a:spcPts val="1560"/>
              </a:lnSpc>
              <a:buNone/>
            </a:pPr>
            <a:r>
              <a:rPr lang="en-US" sz="1200" dirty="0">
                <a:solidFill>
                  <a:srgbClr val="4E6074"/>
                </a:solidFill>
                <a:latin typeface="Calibri" pitchFamily="34" charset="0"/>
                <a:ea typeface="Calibri" pitchFamily="34" charset="-122"/>
                <a:cs typeface="Calibri" pitchFamily="34" charset="-120"/>
              </a:rPr>
              <a:t>NotProvablyMaximal (N1)</a:t>
            </a:r>
            <a:endParaRPr lang="en-US" sz="1200" dirty="0"/>
          </a:p>
        </p:txBody>
      </p:sp>
      <p:sp>
        <p:nvSpPr>
          <p:cNvPr id="37" name="Text 33"/>
          <p:cNvSpPr txBox="1"/>
          <p:nvPr/>
        </p:nvSpPr>
        <p:spPr>
          <a:xfrm>
            <a:off x="10502900" y="3206552"/>
            <a:ext cx="876300" cy="297180"/>
          </a:xfrm>
          <a:prstGeom prst="rect">
            <a:avLst/>
          </a:prstGeom>
          <a:noFill/>
          <a:ln/>
        </p:spPr>
        <p:txBody>
          <a:bodyPr wrap="square" lIns="0" tIns="0" rIns="0" bIns="0" rtlCol="0" anchor="t"/>
          <a:lstStyle/>
          <a:p>
            <a:pPr algn="r" indent="0" marL="0">
              <a:lnSpc>
                <a:spcPts val="2340"/>
              </a:lnSpc>
              <a:buNone/>
            </a:pPr>
            <a:r>
              <a:rPr lang="en-US" sz="1800" dirty="0">
                <a:solidFill>
                  <a:srgbClr val="B1262E"/>
                </a:solidFill>
                <a:latin typeface="Calibri" pitchFamily="34" charset="0"/>
                <a:ea typeface="Calibri" pitchFamily="34" charset="-122"/>
                <a:cs typeface="Calibri" pitchFamily="34" charset="-120"/>
              </a:rPr>
              <a:t>162</a:t>
            </a:r>
            <a:endParaRPr lang="en-US" sz="1800" dirty="0"/>
          </a:p>
        </p:txBody>
      </p:sp>
      <p:sp>
        <p:nvSpPr>
          <p:cNvPr id="38" name="Shape 34"/>
          <p:cNvSpPr/>
          <p:nvPr/>
        </p:nvSpPr>
        <p:spPr>
          <a:xfrm>
            <a:off x="8140700" y="3769717"/>
            <a:ext cx="3238500" cy="0"/>
          </a:xfrm>
          <a:prstGeom prst="line">
            <a:avLst/>
          </a:prstGeom>
          <a:noFill/>
          <a:ln w="6350">
            <a:solidFill>
              <a:srgbClr val="D6DEE1"/>
            </a:solidFill>
            <a:prstDash val="solid"/>
          </a:ln>
        </p:spPr>
      </p:sp>
      <p:sp>
        <p:nvSpPr>
          <p:cNvPr id="39" name="Text 35"/>
          <p:cNvSpPr txBox="1"/>
          <p:nvPr/>
        </p:nvSpPr>
        <p:spPr>
          <a:xfrm>
            <a:off x="8140700" y="3874492"/>
            <a:ext cx="2362200" cy="247650"/>
          </a:xfrm>
          <a:prstGeom prst="rect">
            <a:avLst/>
          </a:prstGeom>
          <a:noFill/>
          <a:ln/>
        </p:spPr>
        <p:txBody>
          <a:bodyPr wrap="square" lIns="0" tIns="0" rIns="0" bIns="0" rtlCol="0" anchor="t"/>
          <a:lstStyle/>
          <a:p>
            <a:pPr algn="l" indent="0" marL="0">
              <a:lnSpc>
                <a:spcPts val="1950"/>
              </a:lnSpc>
              <a:buNone/>
            </a:pPr>
            <a:r>
              <a:rPr lang="en-US" sz="1500" b="1" dirty="0">
                <a:solidFill>
                  <a:srgbClr val="13233F"/>
                </a:solidFill>
                <a:latin typeface="Calibri" pitchFamily="34" charset="0"/>
                <a:ea typeface="Calibri" pitchFamily="34" charset="-122"/>
                <a:cs typeface="Calibri" pitchFamily="34" charset="-120"/>
              </a:rPr>
              <a:t>Proven netting</a:t>
            </a:r>
            <a:endParaRPr lang="en-US" sz="1500" dirty="0"/>
          </a:p>
        </p:txBody>
      </p:sp>
      <p:sp>
        <p:nvSpPr>
          <p:cNvPr id="40" name="Text 36"/>
          <p:cNvSpPr txBox="1"/>
          <p:nvPr/>
        </p:nvSpPr>
        <p:spPr>
          <a:xfrm>
            <a:off x="8140700" y="4134842"/>
            <a:ext cx="2362200" cy="198120"/>
          </a:xfrm>
          <a:prstGeom prst="rect">
            <a:avLst/>
          </a:prstGeom>
          <a:noFill/>
          <a:ln/>
        </p:spPr>
        <p:txBody>
          <a:bodyPr wrap="square" lIns="0" tIns="0" rIns="0" bIns="0" rtlCol="0" anchor="t"/>
          <a:lstStyle/>
          <a:p>
            <a:pPr algn="l" indent="0" marL="0">
              <a:lnSpc>
                <a:spcPts val="1560"/>
              </a:lnSpc>
              <a:buNone/>
            </a:pPr>
            <a:r>
              <a:rPr lang="en-US" sz="1200" dirty="0">
                <a:solidFill>
                  <a:srgbClr val="4E6074"/>
                </a:solidFill>
                <a:latin typeface="Calibri" pitchFamily="34" charset="0"/>
                <a:ea typeface="Calibri" pitchFamily="34" charset="-122"/>
                <a:cs typeface="Calibri" pitchFamily="34" charset="-120"/>
              </a:rPr>
              <a:t>certificate holds (N6)</a:t>
            </a:r>
            <a:endParaRPr lang="en-US" sz="1200" dirty="0"/>
          </a:p>
        </p:txBody>
      </p:sp>
      <p:sp>
        <p:nvSpPr>
          <p:cNvPr id="41" name="Text 37"/>
          <p:cNvSpPr txBox="1"/>
          <p:nvPr/>
        </p:nvSpPr>
        <p:spPr>
          <a:xfrm>
            <a:off x="10502900" y="3874492"/>
            <a:ext cx="876300" cy="297180"/>
          </a:xfrm>
          <a:prstGeom prst="rect">
            <a:avLst/>
          </a:prstGeom>
          <a:noFill/>
          <a:ln/>
        </p:spPr>
        <p:txBody>
          <a:bodyPr wrap="square" lIns="0" tIns="0" rIns="0" bIns="0" rtlCol="0" anchor="t"/>
          <a:lstStyle/>
          <a:p>
            <a:pPr algn="r" indent="0" marL="0">
              <a:lnSpc>
                <a:spcPts val="2340"/>
              </a:lnSpc>
              <a:buNone/>
            </a:pPr>
            <a:r>
              <a:rPr lang="en-US" sz="1800" b="1" dirty="0">
                <a:solidFill>
                  <a:srgbClr val="0A7468"/>
                </a:solidFill>
                <a:latin typeface="Calibri" pitchFamily="34" charset="0"/>
                <a:ea typeface="Calibri" pitchFamily="34" charset="-122"/>
                <a:cs typeface="Calibri" pitchFamily="34" charset="-120"/>
              </a:rPr>
              <a:t>169</a:t>
            </a:r>
            <a:endParaRPr lang="en-US" sz="1800" dirty="0"/>
          </a:p>
        </p:txBody>
      </p:sp>
      <p:sp>
        <p:nvSpPr>
          <p:cNvPr id="42" name="Shape 38"/>
          <p:cNvSpPr/>
          <p:nvPr/>
        </p:nvSpPr>
        <p:spPr>
          <a:xfrm>
            <a:off x="8140700" y="4437658"/>
            <a:ext cx="3238500" cy="0"/>
          </a:xfrm>
          <a:prstGeom prst="line">
            <a:avLst/>
          </a:prstGeom>
          <a:noFill/>
          <a:ln w="6350">
            <a:solidFill>
              <a:srgbClr val="D6DEE1"/>
            </a:solidFill>
            <a:prstDash val="solid"/>
          </a:ln>
        </p:spPr>
      </p:sp>
      <p:sp>
        <p:nvSpPr>
          <p:cNvPr id="43" name="Text 39"/>
          <p:cNvSpPr txBox="1"/>
          <p:nvPr/>
        </p:nvSpPr>
        <p:spPr>
          <a:xfrm>
            <a:off x="8140700" y="4542433"/>
            <a:ext cx="2362200" cy="247650"/>
          </a:xfrm>
          <a:prstGeom prst="rect">
            <a:avLst/>
          </a:prstGeom>
          <a:noFill/>
          <a:ln/>
        </p:spPr>
        <p:txBody>
          <a:bodyPr wrap="square" lIns="0" tIns="0" rIns="0" bIns="0" rtlCol="0" anchor="t"/>
          <a:lstStyle/>
          <a:p>
            <a:pPr algn="l" indent="0" marL="0">
              <a:lnSpc>
                <a:spcPts val="1950"/>
              </a:lnSpc>
              <a:buNone/>
            </a:pPr>
            <a:r>
              <a:rPr lang="en-US" sz="1500" b="1" dirty="0">
                <a:solidFill>
                  <a:srgbClr val="13233F"/>
                </a:solidFill>
                <a:latin typeface="Calibri" pitchFamily="34" charset="0"/>
                <a:ea typeface="Calibri" pitchFamily="34" charset="-122"/>
                <a:cs typeface="Calibri" pitchFamily="34" charset="-120"/>
              </a:rPr>
              <a:t>Paid in tokens</a:t>
            </a:r>
            <a:endParaRPr lang="en-US" sz="1500" dirty="0"/>
          </a:p>
        </p:txBody>
      </p:sp>
      <p:sp>
        <p:nvSpPr>
          <p:cNvPr id="44" name="Text 40"/>
          <p:cNvSpPr txBox="1"/>
          <p:nvPr/>
        </p:nvSpPr>
        <p:spPr>
          <a:xfrm>
            <a:off x="8140700" y="4802783"/>
            <a:ext cx="2362200" cy="198120"/>
          </a:xfrm>
          <a:prstGeom prst="rect">
            <a:avLst/>
          </a:prstGeom>
          <a:noFill/>
          <a:ln/>
        </p:spPr>
        <p:txBody>
          <a:bodyPr wrap="square" lIns="0" tIns="0" rIns="0" bIns="0" rtlCol="0" anchor="t"/>
          <a:lstStyle/>
          <a:p>
            <a:pPr algn="l" indent="0" marL="0">
              <a:lnSpc>
                <a:spcPts val="1560"/>
              </a:lnSpc>
              <a:buNone/>
            </a:pPr>
            <a:r>
              <a:rPr lang="en-US" sz="1200" dirty="0">
                <a:solidFill>
                  <a:srgbClr val="4E6074"/>
                </a:solidFill>
                <a:latin typeface="Calibri" pitchFamily="34" charset="0"/>
                <a:ea typeface="Calibri" pitchFamily="34" charset="-122"/>
                <a:cs typeface="Calibri" pitchFamily="34" charset="-120"/>
              </a:rPr>
              <a:t>net debits only (S1–S4)</a:t>
            </a:r>
            <a:endParaRPr lang="en-US" sz="1200" dirty="0"/>
          </a:p>
        </p:txBody>
      </p:sp>
      <p:sp>
        <p:nvSpPr>
          <p:cNvPr id="45" name="Text 41"/>
          <p:cNvSpPr txBox="1"/>
          <p:nvPr/>
        </p:nvSpPr>
        <p:spPr>
          <a:xfrm>
            <a:off x="10502900" y="4542433"/>
            <a:ext cx="876300" cy="297180"/>
          </a:xfrm>
          <a:prstGeom prst="rect">
            <a:avLst/>
          </a:prstGeom>
          <a:noFill/>
          <a:ln/>
        </p:spPr>
        <p:txBody>
          <a:bodyPr wrap="square" lIns="0" tIns="0" rIns="0" bIns="0" rtlCol="0" anchor="t"/>
          <a:lstStyle/>
          <a:p>
            <a:pPr algn="r" indent="0" marL="0">
              <a:lnSpc>
                <a:spcPts val="2340"/>
              </a:lnSpc>
              <a:buNone/>
            </a:pPr>
            <a:r>
              <a:rPr lang="en-US" sz="1800" dirty="0">
                <a:solidFill>
                  <a:srgbClr val="13233F"/>
                </a:solidFill>
                <a:latin typeface="Calibri" pitchFamily="34" charset="0"/>
                <a:ea typeface="Calibri" pitchFamily="34" charset="-122"/>
                <a:cs typeface="Calibri" pitchFamily="34" charset="-120"/>
              </a:rPr>
              <a:t>31</a:t>
            </a:r>
            <a:endParaRPr lang="en-US" sz="1800" dirty="0"/>
          </a:p>
        </p:txBody>
      </p:sp>
      <p:sp>
        <p:nvSpPr>
          <p:cNvPr id="46" name="Shape 42"/>
          <p:cNvSpPr/>
          <p:nvPr/>
        </p:nvSpPr>
        <p:spPr>
          <a:xfrm>
            <a:off x="812800" y="5257998"/>
            <a:ext cx="10566400" cy="0"/>
          </a:xfrm>
          <a:prstGeom prst="line">
            <a:avLst/>
          </a:prstGeom>
          <a:noFill/>
          <a:ln w="6350">
            <a:solidFill>
              <a:srgbClr val="D6DEE1"/>
            </a:solidFill>
            <a:prstDash val="solid"/>
          </a:ln>
        </p:spPr>
      </p:sp>
      <p:sp>
        <p:nvSpPr>
          <p:cNvPr id="47" name="Text 43"/>
          <p:cNvSpPr txBox="1"/>
          <p:nvPr/>
        </p:nvSpPr>
        <p:spPr>
          <a:xfrm>
            <a:off x="812800" y="5350073"/>
            <a:ext cx="8151912" cy="264160"/>
          </a:xfrm>
          <a:prstGeom prst="rect">
            <a:avLst/>
          </a:prstGeom>
          <a:noFill/>
          <a:ln/>
        </p:spPr>
        <p:txBody>
          <a:bodyPr wrap="square" lIns="0" tIns="0" rIns="0" bIns="0" rtlCol="0" anchor="t"/>
          <a:lstStyle/>
          <a:p>
            <a:pPr algn="l" indent="0" marL="0">
              <a:lnSpc>
                <a:spcPts val="2080"/>
              </a:lnSpc>
              <a:buNone/>
            </a:pPr>
            <a:r>
              <a:rPr lang="en-US" sz="1600" dirty="0">
                <a:solidFill>
                  <a:srgbClr val="13233F"/>
                </a:solidFill>
                <a:latin typeface="Cambria" pitchFamily="34" charset="0"/>
                <a:ea typeface="Cambria" pitchFamily="34" charset="-122"/>
                <a:cs typeface="Cambria" pitchFamily="34" charset="-120"/>
              </a:rPr>
              <a:t>max Σ</a:t>
            </a:r>
            <a:pPr algn="l" indent="0" marL="0">
              <a:lnSpc>
                <a:spcPts val="2080"/>
              </a:lnSpc>
              <a:buNone/>
            </a:pPr>
            <a:r>
              <a:rPr lang="en-US" sz="1600" i="1" dirty="0">
                <a:solidFill>
                  <a:srgbClr val="13233F"/>
                </a:solidFill>
                <a:latin typeface="Cambria" pitchFamily="34" charset="0"/>
                <a:ea typeface="Cambria" pitchFamily="34" charset="-122"/>
                <a:cs typeface="Cambria" pitchFamily="34" charset="-120"/>
              </a:rPr>
              <a:t>x</a:t>
            </a:r>
            <a:pPr algn="l" indent="0" marL="0">
              <a:lnSpc>
                <a:spcPts val="2080"/>
              </a:lnSpc>
              <a:buNone/>
            </a:pPr>
            <a:r>
              <a:rPr lang="en-US" sz="1600" dirty="0">
                <a:solidFill>
                  <a:srgbClr val="13233F"/>
                </a:solidFill>
                <a:latin typeface="Cambria" pitchFamily="34" charset="0"/>
                <a:ea typeface="Cambria" pitchFamily="34" charset="-122"/>
                <a:cs typeface="Cambria" pitchFamily="34" charset="-120"/>
              </a:rPr>
              <a:t> (net positions fixed) = min Σ</a:t>
            </a:r>
            <a:pPr algn="l" indent="0" marL="0">
              <a:lnSpc>
                <a:spcPts val="2080"/>
              </a:lnSpc>
              <a:buNone/>
            </a:pPr>
            <a:r>
              <a:rPr lang="en-US" sz="1600" i="1" dirty="0">
                <a:solidFill>
                  <a:srgbClr val="13233F"/>
                </a:solidFill>
                <a:latin typeface="Cambria" pitchFamily="34" charset="0"/>
                <a:ea typeface="Cambria" pitchFamily="34" charset="-122"/>
                <a:cs typeface="Cambria" pitchFamily="34" charset="-120"/>
              </a:rPr>
              <a:t>d</a:t>
            </a:r>
            <a:pPr algn="l" indent="0" marL="0">
              <a:lnSpc>
                <a:spcPts val="2080"/>
              </a:lnSpc>
              <a:buNone/>
            </a:pPr>
            <a:r>
              <a:rPr lang="en-US" sz="1600" dirty="0">
                <a:solidFill>
                  <a:srgbClr val="13233F"/>
                </a:solidFill>
                <a:latin typeface="Cambria" pitchFamily="34" charset="0"/>
                <a:ea typeface="Cambria" pitchFamily="34" charset="-122"/>
                <a:cs typeface="Cambria" pitchFamily="34" charset="-120"/>
              </a:rPr>
              <a:t>·</a:t>
            </a:r>
            <a:pPr algn="l" indent="0" marL="0">
              <a:lnSpc>
                <a:spcPts val="2080"/>
              </a:lnSpc>
              <a:buNone/>
            </a:pPr>
            <a:r>
              <a:rPr lang="en-US" sz="1600" i="1" dirty="0">
                <a:solidFill>
                  <a:srgbClr val="13233F"/>
                </a:solidFill>
                <a:latin typeface="Cambria" pitchFamily="34" charset="0"/>
                <a:ea typeface="Cambria" pitchFamily="34" charset="-122"/>
                <a:cs typeface="Cambria" pitchFamily="34" charset="-120"/>
              </a:rPr>
              <a:t>y</a:t>
            </a:r>
            <a:pPr algn="l" indent="0" marL="0">
              <a:lnSpc>
                <a:spcPts val="2080"/>
              </a:lnSpc>
              <a:buNone/>
            </a:pPr>
            <a:r>
              <a:rPr lang="en-US" sz="1600" dirty="0">
                <a:solidFill>
                  <a:srgbClr val="13233F"/>
                </a:solidFill>
                <a:latin typeface="Cambria" pitchFamily="34" charset="0"/>
                <a:ea typeface="Cambria" pitchFamily="34" charset="-122"/>
                <a:cs typeface="Cambria" pitchFamily="34" charset="-120"/>
              </a:rPr>
              <a:t> s.t. π</a:t>
            </a:r>
            <a:pPr algn="l" indent="0" marL="0">
              <a:lnSpc>
                <a:spcPts val="2080"/>
              </a:lnSpc>
              <a:buNone/>
            </a:pPr>
            <a:r>
              <a:rPr lang="en-US" sz="1600" i="1" dirty="0">
                <a:solidFill>
                  <a:srgbClr val="13233F"/>
                </a:solidFill>
                <a:latin typeface="Cambria" pitchFamily="34" charset="0"/>
                <a:ea typeface="Cambria" pitchFamily="34" charset="-122"/>
                <a:cs typeface="Cambria" pitchFamily="34" charset="-120"/>
              </a:rPr>
              <a:t>ᵤ</a:t>
            </a:r>
            <a:pPr algn="l" indent="0" marL="0">
              <a:lnSpc>
                <a:spcPts val="2080"/>
              </a:lnSpc>
              <a:buNone/>
            </a:pPr>
            <a:r>
              <a:rPr lang="en-US" sz="1600" dirty="0">
                <a:solidFill>
                  <a:srgbClr val="13233F"/>
                </a:solidFill>
                <a:latin typeface="Cambria" pitchFamily="34" charset="0"/>
                <a:ea typeface="Cambria" pitchFamily="34" charset="-122"/>
                <a:cs typeface="Cambria" pitchFamily="34" charset="-120"/>
              </a:rPr>
              <a:t> − π</a:t>
            </a:r>
            <a:pPr algn="l" indent="0" marL="0">
              <a:lnSpc>
                <a:spcPts val="2080"/>
              </a:lnSpc>
              <a:buNone/>
            </a:pPr>
            <a:r>
              <a:rPr lang="en-US" sz="1600" i="1" dirty="0">
                <a:solidFill>
                  <a:srgbClr val="13233F"/>
                </a:solidFill>
                <a:latin typeface="Cambria" pitchFamily="34" charset="0"/>
                <a:ea typeface="Cambria" pitchFamily="34" charset="-122"/>
                <a:cs typeface="Cambria" pitchFamily="34" charset="-120"/>
              </a:rPr>
              <a:t>ᵥ</a:t>
            </a:r>
            <a:pPr algn="l" indent="0" marL="0">
              <a:lnSpc>
                <a:spcPts val="2080"/>
              </a:lnSpc>
              <a:buNone/>
            </a:pPr>
            <a:r>
              <a:rPr lang="en-US" sz="1600" dirty="0">
                <a:solidFill>
                  <a:srgbClr val="13233F"/>
                </a:solidFill>
                <a:latin typeface="Cambria" pitchFamily="34" charset="0"/>
                <a:ea typeface="Cambria" pitchFamily="34" charset="-122"/>
                <a:cs typeface="Cambria" pitchFamily="34" charset="-120"/>
              </a:rPr>
              <a:t> + </a:t>
            </a:r>
            <a:pPr algn="l" indent="0" marL="0">
              <a:lnSpc>
                <a:spcPts val="2080"/>
              </a:lnSpc>
              <a:buNone/>
            </a:pPr>
            <a:r>
              <a:rPr lang="en-US" sz="1600" i="1" dirty="0">
                <a:solidFill>
                  <a:srgbClr val="13233F"/>
                </a:solidFill>
                <a:latin typeface="Cambria" pitchFamily="34" charset="0"/>
                <a:ea typeface="Cambria" pitchFamily="34" charset="-122"/>
                <a:cs typeface="Cambria" pitchFamily="34" charset="-120"/>
              </a:rPr>
              <a:t>y</a:t>
            </a:r>
            <a:pPr algn="l" indent="0" marL="0">
              <a:lnSpc>
                <a:spcPts val="2080"/>
              </a:lnSpc>
              <a:buNone/>
            </a:pPr>
            <a:r>
              <a:rPr lang="en-US" sz="1600" dirty="0">
                <a:solidFill>
                  <a:srgbClr val="13233F"/>
                </a:solidFill>
                <a:latin typeface="Cambria" pitchFamily="34" charset="0"/>
                <a:ea typeface="Cambria" pitchFamily="34" charset="-122"/>
                <a:cs typeface="Cambria" pitchFamily="34" charset="-120"/>
              </a:rPr>
              <a:t> ≥ 1</a:t>
            </a:r>
            <a:endParaRPr lang="en-US" sz="1600" dirty="0"/>
          </a:p>
        </p:txBody>
      </p:sp>
      <p:sp>
        <p:nvSpPr>
          <p:cNvPr id="48" name="Text 44"/>
          <p:cNvSpPr txBox="1"/>
          <p:nvPr/>
        </p:nvSpPr>
        <p:spPr>
          <a:xfrm>
            <a:off x="8957270" y="5400873"/>
            <a:ext cx="2421930" cy="198120"/>
          </a:xfrm>
          <a:prstGeom prst="rect">
            <a:avLst/>
          </a:prstGeom>
          <a:noFill/>
          <a:ln/>
        </p:spPr>
        <p:txBody>
          <a:bodyPr wrap="square" lIns="0" tIns="0" rIns="0" bIns="0" rtlCol="0" anchor="t"/>
          <a:lstStyle/>
          <a:p>
            <a:pPr algn="r" indent="0" marL="0">
              <a:lnSpc>
                <a:spcPts val="1560"/>
              </a:lnSpc>
              <a:buNone/>
            </a:pPr>
            <a:r>
              <a:rPr lang="en-US" sz="1200" dirty="0">
                <a:solidFill>
                  <a:srgbClr val="4E6074"/>
                </a:solidFill>
                <a:latin typeface="Calibri" pitchFamily="34" charset="0"/>
                <a:ea typeface="Calibri" pitchFamily="34" charset="-122"/>
                <a:cs typeface="Calibri" pitchFamily="34" charset="-120"/>
              </a:rPr>
              <a:t>exact integers · 6 more attacks refused</a:t>
            </a:r>
            <a:endParaRPr lang="en-US" sz="1200" dirty="0"/>
          </a:p>
        </p:txBody>
      </p:sp>
      <p:sp>
        <p:nvSpPr>
          <p:cNvPr id="49" name="Shape 45"/>
          <p:cNvSpPr/>
          <p:nvPr/>
        </p:nvSpPr>
        <p:spPr>
          <a:xfrm>
            <a:off x="11226800" y="5689600"/>
            <a:ext cx="152400" cy="152400"/>
          </a:xfrm>
          <a:prstGeom prst="rect">
            <a:avLst/>
          </a:prstGeom>
          <a:solidFill>
            <a:srgbClr val="0A7468"/>
          </a:solidFill>
          <a:ln/>
        </p:spPr>
      </p:sp>
      <p:sp>
        <p:nvSpPr>
          <p:cNvPr id="50" name="Text 46"/>
          <p:cNvSpPr txBox="1"/>
          <p:nvPr/>
        </p:nvSpPr>
        <p:spPr>
          <a:xfrm>
            <a:off x="812800" y="6267450"/>
            <a:ext cx="77724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QED before the upgrade, unchanged and still live</a:t>
            </a:r>
            <a:endParaRPr lang="en-US" sz="1200" dirty="0"/>
          </a:p>
        </p:txBody>
      </p:sp>
      <p:sp>
        <p:nvSpPr>
          <p:cNvPr id="51" name="Text 47"/>
          <p:cNvSpPr txBox="1"/>
          <p:nvPr/>
        </p:nvSpPr>
        <p:spPr>
          <a:xfrm>
            <a:off x="9423400" y="6267450"/>
            <a:ext cx="1955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Appendix A14</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RUN 3 · ZERO-KNOWLEDGE OPTIMALITY</a:t>
            </a:r>
            <a:endParaRPr lang="en-US" sz="1200" dirty="0"/>
          </a:p>
        </p:txBody>
      </p:sp>
      <p:sp>
        <p:nvSpPr>
          <p:cNvPr id="3" name="Text 1"/>
          <p:cNvSpPr txBox="1"/>
          <p:nvPr/>
        </p:nvSpPr>
        <p:spPr>
          <a:xfrm>
            <a:off x="812800" y="11747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Paid for a proof about data nobody saw</a:t>
            </a:r>
            <a:endParaRPr lang="en-US" sz="3200" dirty="0"/>
          </a:p>
        </p:txBody>
      </p:sp>
      <p:sp>
        <p:nvSpPr>
          <p:cNvPr id="4" name="Shape 2"/>
          <p:cNvSpPr/>
          <p:nvPr/>
        </p:nvSpPr>
        <p:spPr>
          <a:xfrm>
            <a:off x="812800" y="1819870"/>
            <a:ext cx="7061200" cy="2940050"/>
          </a:xfrm>
          <a:prstGeom prst="roundRect">
            <a:avLst>
              <a:gd name="adj" fmla="val 1728"/>
            </a:avLst>
          </a:prstGeom>
          <a:solidFill>
            <a:srgbClr val="FBFCFC"/>
          </a:solidFill>
          <a:ln w="6350">
            <a:solidFill>
              <a:srgbClr val="D6DEE1"/>
            </a:solidFill>
            <a:prstDash val="solid"/>
          </a:ln>
        </p:spPr>
      </p:sp>
      <p:sp>
        <p:nvSpPr>
          <p:cNvPr id="5" name="Text 3"/>
          <p:cNvSpPr txBox="1"/>
          <p:nvPr/>
        </p:nvSpPr>
        <p:spPr>
          <a:xfrm>
            <a:off x="1047750" y="2054820"/>
            <a:ext cx="3257931" cy="184150"/>
          </a:xfrm>
          <a:prstGeom prst="rect">
            <a:avLst/>
          </a:prstGeom>
          <a:noFill/>
          <a:ln/>
        </p:spPr>
        <p:txBody>
          <a:bodyPr wrap="square" lIns="0" tIns="0" rIns="0" bIns="0" rtlCol="0" anchor="t"/>
          <a:lstStyle/>
          <a:p>
            <a:pPr algn="l" indent="0" marL="0">
              <a:lnSpc>
                <a:spcPts val="1440"/>
              </a:lnSpc>
              <a:buNone/>
            </a:pPr>
            <a:r>
              <a:rPr lang="en-US" sz="1200" b="1" spc="100" kern="0" dirty="0">
                <a:solidFill>
                  <a:srgbClr val="4E6074"/>
                </a:solidFill>
                <a:latin typeface="Calibri" pitchFamily="34" charset="0"/>
                <a:ea typeface="Calibri" pitchFamily="34" charset="-122"/>
                <a:cs typeface="Calibri" pitchFamily="34" charset="-120"/>
              </a:rPr>
              <a:t>ON-CHAIN, PUBLIC</a:t>
            </a:r>
            <a:endParaRPr lang="en-US" sz="1200" dirty="0"/>
          </a:p>
        </p:txBody>
      </p:sp>
      <p:sp>
        <p:nvSpPr>
          <p:cNvPr id="6" name="Shape 4"/>
          <p:cNvSpPr/>
          <p:nvPr/>
        </p:nvSpPr>
        <p:spPr>
          <a:xfrm>
            <a:off x="1047750" y="2343745"/>
            <a:ext cx="3194050" cy="0"/>
          </a:xfrm>
          <a:prstGeom prst="line">
            <a:avLst/>
          </a:prstGeom>
          <a:noFill/>
          <a:ln w="6350">
            <a:solidFill>
              <a:srgbClr val="D6DEE1"/>
            </a:solidFill>
            <a:prstDash val="solid"/>
          </a:ln>
        </p:spPr>
      </p:sp>
      <p:sp>
        <p:nvSpPr>
          <p:cNvPr id="7" name="Text 5"/>
          <p:cNvSpPr txBox="1"/>
          <p:nvPr/>
        </p:nvSpPr>
        <p:spPr>
          <a:xfrm>
            <a:off x="1047750" y="2423120"/>
            <a:ext cx="3257931"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Data commitment, signed by Helix</a:t>
            </a:r>
            <a:endParaRPr lang="en-US" sz="1200" dirty="0"/>
          </a:p>
        </p:txBody>
      </p:sp>
      <p:sp>
        <p:nvSpPr>
          <p:cNvPr id="8" name="Text 6"/>
          <p:cNvSpPr txBox="1"/>
          <p:nvPr/>
        </p:nvSpPr>
        <p:spPr>
          <a:xfrm>
            <a:off x="1047750" y="2619970"/>
            <a:ext cx="3257931" cy="18288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ourier New" pitchFamily="34" charset="0"/>
                <a:ea typeface="Courier New" pitchFamily="34" charset="-122"/>
                <a:cs typeface="Courier New" pitchFamily="34" charset="-120"/>
              </a:rPr>
              <a:t>0x0ec5…6983</a:t>
            </a:r>
            <a:endParaRPr lang="en-US" sz="1200" dirty="0"/>
          </a:p>
        </p:txBody>
      </p:sp>
      <p:sp>
        <p:nvSpPr>
          <p:cNvPr id="9" name="Shape 7"/>
          <p:cNvSpPr/>
          <p:nvPr/>
        </p:nvSpPr>
        <p:spPr>
          <a:xfrm>
            <a:off x="1047750" y="2896195"/>
            <a:ext cx="3194050" cy="0"/>
          </a:xfrm>
          <a:prstGeom prst="line">
            <a:avLst/>
          </a:prstGeom>
          <a:noFill/>
          <a:ln w="6350">
            <a:solidFill>
              <a:srgbClr val="D6DEE1"/>
            </a:solidFill>
            <a:prstDash val="solid"/>
          </a:ln>
        </p:spPr>
      </p:sp>
      <p:sp>
        <p:nvSpPr>
          <p:cNvPr id="10" name="Text 8"/>
          <p:cNvSpPr txBox="1"/>
          <p:nvPr/>
        </p:nvSpPr>
        <p:spPr>
          <a:xfrm>
            <a:off x="1047750" y="2975570"/>
            <a:ext cx="3257931"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Portfolio commitment</a:t>
            </a:r>
            <a:endParaRPr lang="en-US" sz="1200" dirty="0"/>
          </a:p>
        </p:txBody>
      </p:sp>
      <p:sp>
        <p:nvSpPr>
          <p:cNvPr id="11" name="Text 9"/>
          <p:cNvSpPr txBox="1"/>
          <p:nvPr/>
        </p:nvSpPr>
        <p:spPr>
          <a:xfrm>
            <a:off x="1047750" y="3172420"/>
            <a:ext cx="3257931" cy="18288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ourier New" pitchFamily="34" charset="0"/>
                <a:ea typeface="Courier New" pitchFamily="34" charset="-122"/>
                <a:cs typeface="Courier New" pitchFamily="34" charset="-120"/>
              </a:rPr>
              <a:t>0x0577…ba68</a:t>
            </a:r>
            <a:endParaRPr lang="en-US" sz="1200" dirty="0"/>
          </a:p>
        </p:txBody>
      </p:sp>
      <p:sp>
        <p:nvSpPr>
          <p:cNvPr id="12" name="Shape 10"/>
          <p:cNvSpPr/>
          <p:nvPr/>
        </p:nvSpPr>
        <p:spPr>
          <a:xfrm>
            <a:off x="1047750" y="3448645"/>
            <a:ext cx="3194050" cy="0"/>
          </a:xfrm>
          <a:prstGeom prst="line">
            <a:avLst/>
          </a:prstGeom>
          <a:noFill/>
          <a:ln w="6350">
            <a:solidFill>
              <a:srgbClr val="D6DEE1"/>
            </a:solidFill>
            <a:prstDash val="solid"/>
          </a:ln>
        </p:spPr>
      </p:sp>
      <p:sp>
        <p:nvSpPr>
          <p:cNvPr id="13" name="Text 11"/>
          <p:cNvSpPr txBox="1"/>
          <p:nvPr/>
        </p:nvSpPr>
        <p:spPr>
          <a:xfrm>
            <a:off x="1047750" y="3528020"/>
            <a:ext cx="3257931"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Certified variance</a:t>
            </a:r>
            <a:endParaRPr lang="en-US" sz="1200" dirty="0"/>
          </a:p>
        </p:txBody>
      </p:sp>
      <p:sp>
        <p:nvSpPr>
          <p:cNvPr id="14" name="Text 12"/>
          <p:cNvSpPr txBox="1"/>
          <p:nvPr/>
        </p:nvSpPr>
        <p:spPr>
          <a:xfrm>
            <a:off x="1047750" y="3724870"/>
            <a:ext cx="3257931" cy="18288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ourier New" pitchFamily="34" charset="0"/>
                <a:ea typeface="Courier New" pitchFamily="34" charset="-122"/>
                <a:cs typeface="Courier New" pitchFamily="34" charset="-120"/>
              </a:rPr>
              <a:t>0.0015702689</a:t>
            </a:r>
            <a:endParaRPr lang="en-US" sz="1200" dirty="0"/>
          </a:p>
        </p:txBody>
      </p:sp>
      <p:sp>
        <p:nvSpPr>
          <p:cNvPr id="15" name="Shape 13"/>
          <p:cNvSpPr/>
          <p:nvPr/>
        </p:nvSpPr>
        <p:spPr>
          <a:xfrm>
            <a:off x="1047750" y="4001095"/>
            <a:ext cx="3194050" cy="0"/>
          </a:xfrm>
          <a:prstGeom prst="line">
            <a:avLst/>
          </a:prstGeom>
          <a:noFill/>
          <a:ln w="6350">
            <a:solidFill>
              <a:srgbClr val="D6DEE1"/>
            </a:solidFill>
            <a:prstDash val="solid"/>
          </a:ln>
        </p:spPr>
      </p:sp>
      <p:sp>
        <p:nvSpPr>
          <p:cNvPr id="16" name="Text 14"/>
          <p:cNvSpPr txBox="1"/>
          <p:nvPr/>
        </p:nvSpPr>
        <p:spPr>
          <a:xfrm>
            <a:off x="1047750" y="4080470"/>
            <a:ext cx="3257931"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Proof bound to</a:t>
            </a:r>
            <a:endParaRPr lang="en-US" sz="1200" dirty="0"/>
          </a:p>
        </p:txBody>
      </p:sp>
      <p:sp>
        <p:nvSpPr>
          <p:cNvPr id="17" name="Text 15"/>
          <p:cNvSpPr txBox="1"/>
          <p:nvPr/>
        </p:nvSpPr>
        <p:spPr>
          <a:xfrm>
            <a:off x="1047750" y="4277320"/>
            <a:ext cx="3257931" cy="18288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ourier New" pitchFamily="34" charset="0"/>
                <a:ea typeface="Courier New" pitchFamily="34" charset="-122"/>
                <a:cs typeface="Courier New" pitchFamily="34" charset="-120"/>
              </a:rPr>
              <a:t>QED agent</a:t>
            </a:r>
            <a:endParaRPr lang="en-US" sz="1200" dirty="0"/>
          </a:p>
        </p:txBody>
      </p:sp>
      <p:sp>
        <p:nvSpPr>
          <p:cNvPr id="18" name="Text 16"/>
          <p:cNvSpPr txBox="1"/>
          <p:nvPr/>
        </p:nvSpPr>
        <p:spPr>
          <a:xfrm>
            <a:off x="4445000" y="2054820"/>
            <a:ext cx="3257931" cy="184150"/>
          </a:xfrm>
          <a:prstGeom prst="rect">
            <a:avLst/>
          </a:prstGeom>
          <a:noFill/>
          <a:ln/>
        </p:spPr>
        <p:txBody>
          <a:bodyPr wrap="square" lIns="0" tIns="0" rIns="0" bIns="0" rtlCol="0" anchor="t"/>
          <a:lstStyle/>
          <a:p>
            <a:pPr algn="l" indent="0" marL="0">
              <a:lnSpc>
                <a:spcPts val="1440"/>
              </a:lnSpc>
              <a:buNone/>
            </a:pPr>
            <a:r>
              <a:rPr lang="en-US" sz="1200" b="1" spc="100" kern="0" dirty="0">
                <a:solidFill>
                  <a:srgbClr val="4E6074"/>
                </a:solidFill>
                <a:latin typeface="Calibri" pitchFamily="34" charset="0"/>
                <a:ea typeface="Calibri" pitchFamily="34" charset="-122"/>
                <a:cs typeface="Calibri" pitchFamily="34" charset="-120"/>
              </a:rPr>
              <a:t>NEVER ON-CHAIN</a:t>
            </a:r>
            <a:endParaRPr lang="en-US" sz="1200" dirty="0"/>
          </a:p>
        </p:txBody>
      </p:sp>
      <p:sp>
        <p:nvSpPr>
          <p:cNvPr id="19" name="Shape 17"/>
          <p:cNvSpPr/>
          <p:nvPr/>
        </p:nvSpPr>
        <p:spPr>
          <a:xfrm>
            <a:off x="4445000" y="2343745"/>
            <a:ext cx="3194050" cy="0"/>
          </a:xfrm>
          <a:prstGeom prst="line">
            <a:avLst/>
          </a:prstGeom>
          <a:noFill/>
          <a:ln w="6350">
            <a:solidFill>
              <a:srgbClr val="D6DEE1"/>
            </a:solidFill>
            <a:prstDash val="solid"/>
          </a:ln>
        </p:spPr>
      </p:sp>
      <p:sp>
        <p:nvSpPr>
          <p:cNvPr id="20" name="Text 18"/>
          <p:cNvSpPr txBox="1"/>
          <p:nvPr/>
        </p:nvSpPr>
        <p:spPr>
          <a:xfrm>
            <a:off x="4445000" y="2423120"/>
            <a:ext cx="3257931" cy="184150"/>
          </a:xfrm>
          <a:prstGeom prst="rect">
            <a:avLst/>
          </a:prstGeom>
          <a:noFill/>
          <a:ln/>
        </p:spPr>
        <p:txBody>
          <a:bodyPr wrap="square" lIns="0" tIns="0" rIns="0" bIns="0" rtlCol="0" anchor="t"/>
          <a:lstStyle/>
          <a:p>
            <a:pPr algn="l" indent="0" marL="0">
              <a:lnSpc>
                <a:spcPts val="1440"/>
              </a:lnSpc>
              <a:buNone/>
            </a:pPr>
            <a:r>
              <a:rPr lang="en-US" sz="1200" b="1" dirty="0">
                <a:solidFill>
                  <a:srgbClr val="13233F"/>
                </a:solidFill>
                <a:latin typeface="Calibri" pitchFamily="34" charset="0"/>
                <a:ea typeface="Calibri" pitchFamily="34" charset="-122"/>
                <a:cs typeface="Calibri" pitchFamily="34" charset="-120"/>
              </a:rPr>
              <a:t>Covariance model, 21 entries</a:t>
            </a:r>
            <a:endParaRPr lang="en-US" sz="1200" dirty="0"/>
          </a:p>
        </p:txBody>
      </p:sp>
      <p:sp>
        <p:nvSpPr>
          <p:cNvPr id="21" name="Shape 19"/>
          <p:cNvSpPr/>
          <p:nvPr/>
        </p:nvSpPr>
        <p:spPr>
          <a:xfrm>
            <a:off x="4445000" y="2915245"/>
            <a:ext cx="3194050" cy="0"/>
          </a:xfrm>
          <a:prstGeom prst="line">
            <a:avLst/>
          </a:prstGeom>
          <a:noFill/>
          <a:ln w="6350">
            <a:solidFill>
              <a:srgbClr val="D6DEE1"/>
            </a:solidFill>
            <a:prstDash val="solid"/>
          </a:ln>
        </p:spPr>
      </p:sp>
      <p:sp>
        <p:nvSpPr>
          <p:cNvPr id="22" name="Text 20"/>
          <p:cNvSpPr txBox="1"/>
          <p:nvPr/>
        </p:nvSpPr>
        <p:spPr>
          <a:xfrm>
            <a:off x="4445000" y="2994620"/>
            <a:ext cx="3257931" cy="184150"/>
          </a:xfrm>
          <a:prstGeom prst="rect">
            <a:avLst/>
          </a:prstGeom>
          <a:noFill/>
          <a:ln/>
        </p:spPr>
        <p:txBody>
          <a:bodyPr wrap="square" lIns="0" tIns="0" rIns="0" bIns="0" rtlCol="0" anchor="t"/>
          <a:lstStyle/>
          <a:p>
            <a:pPr algn="l" indent="0" marL="0">
              <a:lnSpc>
                <a:spcPts val="1440"/>
              </a:lnSpc>
              <a:buNone/>
            </a:pPr>
            <a:r>
              <a:rPr lang="en-US" sz="1200" b="1" dirty="0">
                <a:solidFill>
                  <a:srgbClr val="13233F"/>
                </a:solidFill>
                <a:latin typeface="Calibri" pitchFamily="34" charset="0"/>
                <a:ea typeface="Calibri" pitchFamily="34" charset="-122"/>
                <a:cs typeface="Calibri" pitchFamily="34" charset="-120"/>
              </a:rPr>
              <a:t>Portfolio weights, 6 sleeves</a:t>
            </a:r>
            <a:endParaRPr lang="en-US" sz="1200" dirty="0"/>
          </a:p>
        </p:txBody>
      </p:sp>
      <p:sp>
        <p:nvSpPr>
          <p:cNvPr id="23" name="Shape 21"/>
          <p:cNvSpPr/>
          <p:nvPr/>
        </p:nvSpPr>
        <p:spPr>
          <a:xfrm>
            <a:off x="4445000" y="3486745"/>
            <a:ext cx="3194050" cy="0"/>
          </a:xfrm>
          <a:prstGeom prst="line">
            <a:avLst/>
          </a:prstGeom>
          <a:noFill/>
          <a:ln w="6350">
            <a:solidFill>
              <a:srgbClr val="D6DEE1"/>
            </a:solidFill>
            <a:prstDash val="solid"/>
          </a:ln>
        </p:spPr>
      </p:sp>
      <p:sp>
        <p:nvSpPr>
          <p:cNvPr id="24" name="Text 22"/>
          <p:cNvSpPr txBox="1"/>
          <p:nvPr/>
        </p:nvSpPr>
        <p:spPr>
          <a:xfrm>
            <a:off x="4445000" y="3566120"/>
            <a:ext cx="3257931" cy="184150"/>
          </a:xfrm>
          <a:prstGeom prst="rect">
            <a:avLst/>
          </a:prstGeom>
          <a:noFill/>
          <a:ln/>
        </p:spPr>
        <p:txBody>
          <a:bodyPr wrap="square" lIns="0" tIns="0" rIns="0" bIns="0" rtlCol="0" anchor="t"/>
          <a:lstStyle/>
          <a:p>
            <a:pPr algn="l" indent="0" marL="0">
              <a:lnSpc>
                <a:spcPts val="1440"/>
              </a:lnSpc>
              <a:buNone/>
            </a:pPr>
            <a:r>
              <a:rPr lang="en-US" sz="1200" b="1" dirty="0">
                <a:solidFill>
                  <a:srgbClr val="13233F"/>
                </a:solidFill>
                <a:latin typeface="Calibri" pitchFamily="34" charset="0"/>
                <a:ea typeface="Calibri" pitchFamily="34" charset="-122"/>
                <a:cs typeface="Calibri" pitchFamily="34" charset="-120"/>
              </a:rPr>
              <a:t>KKT multipliers ν, μ</a:t>
            </a:r>
            <a:endParaRPr lang="en-US" sz="1200" dirty="0"/>
          </a:p>
        </p:txBody>
      </p:sp>
      <p:sp>
        <p:nvSpPr>
          <p:cNvPr id="25" name="Shape 23"/>
          <p:cNvSpPr/>
          <p:nvPr/>
        </p:nvSpPr>
        <p:spPr>
          <a:xfrm>
            <a:off x="4445000" y="4058245"/>
            <a:ext cx="3194050" cy="0"/>
          </a:xfrm>
          <a:prstGeom prst="line">
            <a:avLst/>
          </a:prstGeom>
          <a:noFill/>
          <a:ln w="6350">
            <a:solidFill>
              <a:srgbClr val="D6DEE1"/>
            </a:solidFill>
            <a:prstDash val="solid"/>
          </a:ln>
        </p:spPr>
      </p:sp>
      <p:sp>
        <p:nvSpPr>
          <p:cNvPr id="26" name="Text 24"/>
          <p:cNvSpPr txBox="1"/>
          <p:nvPr/>
        </p:nvSpPr>
        <p:spPr>
          <a:xfrm>
            <a:off x="4445000" y="4137620"/>
            <a:ext cx="3257931" cy="184150"/>
          </a:xfrm>
          <a:prstGeom prst="rect">
            <a:avLst/>
          </a:prstGeom>
          <a:noFill/>
          <a:ln/>
        </p:spPr>
        <p:txBody>
          <a:bodyPr wrap="square" lIns="0" tIns="0" rIns="0" bIns="0" rtlCol="0" anchor="t"/>
          <a:lstStyle/>
          <a:p>
            <a:pPr algn="l" indent="0" marL="0">
              <a:lnSpc>
                <a:spcPts val="1440"/>
              </a:lnSpc>
              <a:buNone/>
            </a:pPr>
            <a:r>
              <a:rPr lang="en-US" sz="1200" b="1" dirty="0">
                <a:solidFill>
                  <a:srgbClr val="13233F"/>
                </a:solidFill>
                <a:latin typeface="Calibri" pitchFamily="34" charset="0"/>
                <a:ea typeface="Calibri" pitchFamily="34" charset="-122"/>
                <a:cs typeface="Calibri" pitchFamily="34" charset="-120"/>
              </a:rPr>
              <a:t>Convexity witness L</a:t>
            </a:r>
            <a:endParaRPr lang="en-US" sz="1200" dirty="0"/>
          </a:p>
        </p:txBody>
      </p:sp>
      <p:sp>
        <p:nvSpPr>
          <p:cNvPr id="27" name="Text 25"/>
          <p:cNvSpPr txBox="1"/>
          <p:nvPr/>
        </p:nvSpPr>
        <p:spPr>
          <a:xfrm>
            <a:off x="8077200" y="1819870"/>
            <a:ext cx="2615291"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Groth16 statement</a:t>
            </a:r>
            <a:endParaRPr lang="en-US" sz="1500" dirty="0"/>
          </a:p>
        </p:txBody>
      </p:sp>
      <p:sp>
        <p:nvSpPr>
          <p:cNvPr id="28" name="Text 26"/>
          <p:cNvSpPr txBox="1"/>
          <p:nvPr/>
        </p:nvSpPr>
        <p:spPr>
          <a:xfrm>
            <a:off x="8077200" y="2067520"/>
            <a:ext cx="2615291"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the full KKT certificate</a:t>
            </a:r>
            <a:endParaRPr lang="en-US" sz="1200" dirty="0"/>
          </a:p>
        </p:txBody>
      </p:sp>
      <p:sp>
        <p:nvSpPr>
          <p:cNvPr id="29" name="Text 27"/>
          <p:cNvSpPr txBox="1"/>
          <p:nvPr/>
        </p:nvSpPr>
        <p:spPr>
          <a:xfrm>
            <a:off x="10742811" y="1819870"/>
            <a:ext cx="687189" cy="279400"/>
          </a:xfrm>
          <a:prstGeom prst="rect">
            <a:avLst/>
          </a:prstGeom>
          <a:noFill/>
          <a:ln/>
        </p:spPr>
        <p:txBody>
          <a:bodyPr wrap="square" lIns="0" tIns="0" rIns="0" bIns="0" rtlCol="0" anchor="t"/>
          <a:lstStyle/>
          <a:p>
            <a:pPr algn="l" indent="0" marL="0">
              <a:lnSpc>
                <a:spcPts val="2160"/>
              </a:lnSpc>
              <a:buNone/>
            </a:pPr>
            <a:r>
              <a:rPr lang="en-US" sz="1800" dirty="0">
                <a:solidFill>
                  <a:srgbClr val="13233F"/>
                </a:solidFill>
                <a:latin typeface="Calibri" pitchFamily="34" charset="0"/>
                <a:ea typeface="Calibri" pitchFamily="34" charset="-122"/>
                <a:cs typeface="Calibri" pitchFamily="34" charset="-120"/>
              </a:rPr>
              <a:t>12,569</a:t>
            </a:r>
            <a:endParaRPr lang="en-US" sz="1800" dirty="0"/>
          </a:p>
        </p:txBody>
      </p:sp>
      <p:sp>
        <p:nvSpPr>
          <p:cNvPr id="30" name="Shape 28"/>
          <p:cNvSpPr/>
          <p:nvPr/>
        </p:nvSpPr>
        <p:spPr>
          <a:xfrm>
            <a:off x="8077200" y="2356445"/>
            <a:ext cx="3302000" cy="0"/>
          </a:xfrm>
          <a:prstGeom prst="line">
            <a:avLst/>
          </a:prstGeom>
          <a:noFill/>
          <a:ln w="6350">
            <a:solidFill>
              <a:srgbClr val="D6DEE1"/>
            </a:solidFill>
            <a:prstDash val="solid"/>
          </a:ln>
        </p:spPr>
      </p:sp>
      <p:sp>
        <p:nvSpPr>
          <p:cNvPr id="31" name="Text 29"/>
          <p:cNvSpPr txBox="1"/>
          <p:nvPr/>
        </p:nvSpPr>
        <p:spPr>
          <a:xfrm>
            <a:off x="8077200" y="2461220"/>
            <a:ext cx="2825186"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Proved in</a:t>
            </a:r>
            <a:endParaRPr lang="en-US" sz="1500" dirty="0"/>
          </a:p>
        </p:txBody>
      </p:sp>
      <p:sp>
        <p:nvSpPr>
          <p:cNvPr id="32" name="Text 30"/>
          <p:cNvSpPr txBox="1"/>
          <p:nvPr/>
        </p:nvSpPr>
        <p:spPr>
          <a:xfrm>
            <a:off x="8077200" y="2708870"/>
            <a:ext cx="2825186"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by the QED agent, one CPU</a:t>
            </a:r>
            <a:endParaRPr lang="en-US" sz="1200" dirty="0"/>
          </a:p>
        </p:txBody>
      </p:sp>
      <p:sp>
        <p:nvSpPr>
          <p:cNvPr id="33" name="Text 31"/>
          <p:cNvSpPr txBox="1"/>
          <p:nvPr/>
        </p:nvSpPr>
        <p:spPr>
          <a:xfrm>
            <a:off x="10948591" y="2461220"/>
            <a:ext cx="481409" cy="279400"/>
          </a:xfrm>
          <a:prstGeom prst="rect">
            <a:avLst/>
          </a:prstGeom>
          <a:noFill/>
          <a:ln/>
        </p:spPr>
        <p:txBody>
          <a:bodyPr wrap="square" lIns="0" tIns="0" rIns="0" bIns="0" rtlCol="0" anchor="t"/>
          <a:lstStyle/>
          <a:p>
            <a:pPr algn="l" indent="0" marL="0">
              <a:lnSpc>
                <a:spcPts val="2160"/>
              </a:lnSpc>
              <a:buNone/>
            </a:pPr>
            <a:r>
              <a:rPr lang="en-US" sz="1800" dirty="0">
                <a:solidFill>
                  <a:srgbClr val="13233F"/>
                </a:solidFill>
                <a:latin typeface="Calibri" pitchFamily="34" charset="0"/>
                <a:ea typeface="Calibri" pitchFamily="34" charset="-122"/>
                <a:cs typeface="Calibri" pitchFamily="34" charset="-120"/>
              </a:rPr>
              <a:t>1.5 s</a:t>
            </a:r>
            <a:endParaRPr lang="en-US" sz="1800" dirty="0"/>
          </a:p>
        </p:txBody>
      </p:sp>
      <p:sp>
        <p:nvSpPr>
          <p:cNvPr id="34" name="Shape 32"/>
          <p:cNvSpPr/>
          <p:nvPr/>
        </p:nvSpPr>
        <p:spPr>
          <a:xfrm>
            <a:off x="8077200" y="2997795"/>
            <a:ext cx="3302000" cy="0"/>
          </a:xfrm>
          <a:prstGeom prst="line">
            <a:avLst/>
          </a:prstGeom>
          <a:noFill/>
          <a:ln w="6350">
            <a:solidFill>
              <a:srgbClr val="D6DEE1"/>
            </a:solidFill>
            <a:prstDash val="solid"/>
          </a:ln>
        </p:spPr>
      </p:sp>
      <p:sp>
        <p:nvSpPr>
          <p:cNvPr id="35" name="Text 33"/>
          <p:cNvSpPr txBox="1"/>
          <p:nvPr/>
        </p:nvSpPr>
        <p:spPr>
          <a:xfrm>
            <a:off x="8077200" y="3102570"/>
            <a:ext cx="2487116"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Paid by job #1’s escrow</a:t>
            </a:r>
            <a:endParaRPr lang="en-US" sz="1500" dirty="0"/>
          </a:p>
        </p:txBody>
      </p:sp>
      <p:sp>
        <p:nvSpPr>
          <p:cNvPr id="36" name="Text 34"/>
          <p:cNvSpPr txBox="1"/>
          <p:nvPr/>
        </p:nvSpPr>
        <p:spPr>
          <a:xfrm>
            <a:off x="8077200" y="3350220"/>
            <a:ext cx="2487116"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unchanged contract (Z3)</a:t>
            </a:r>
            <a:endParaRPr lang="en-US" sz="1200" dirty="0"/>
          </a:p>
        </p:txBody>
      </p:sp>
      <p:sp>
        <p:nvSpPr>
          <p:cNvPr id="37" name="Text 35"/>
          <p:cNvSpPr txBox="1"/>
          <p:nvPr/>
        </p:nvSpPr>
        <p:spPr>
          <a:xfrm>
            <a:off x="10615116" y="3102570"/>
            <a:ext cx="814884" cy="279400"/>
          </a:xfrm>
          <a:prstGeom prst="rect">
            <a:avLst/>
          </a:prstGeom>
          <a:noFill/>
          <a:ln/>
        </p:spPr>
        <p:txBody>
          <a:bodyPr wrap="square" lIns="0" tIns="0" rIns="0" bIns="0" rtlCol="0" anchor="t"/>
          <a:lstStyle/>
          <a:p>
            <a:pPr algn="l" indent="0" marL="0">
              <a:lnSpc>
                <a:spcPts val="2160"/>
              </a:lnSpc>
              <a:buNone/>
            </a:pPr>
            <a:r>
              <a:rPr lang="en-US" sz="1800" b="1" dirty="0">
                <a:solidFill>
                  <a:srgbClr val="0A7468"/>
                </a:solidFill>
                <a:latin typeface="Calibri" pitchFamily="34" charset="0"/>
                <a:ea typeface="Calibri" pitchFamily="34" charset="-122"/>
                <a:cs typeface="Calibri" pitchFamily="34" charset="-120"/>
              </a:rPr>
              <a:t>12 tUSD</a:t>
            </a:r>
            <a:endParaRPr lang="en-US" sz="1800" dirty="0"/>
          </a:p>
        </p:txBody>
      </p:sp>
      <p:sp>
        <p:nvSpPr>
          <p:cNvPr id="38" name="Shape 36"/>
          <p:cNvSpPr/>
          <p:nvPr/>
        </p:nvSpPr>
        <p:spPr>
          <a:xfrm>
            <a:off x="8077200" y="3639145"/>
            <a:ext cx="3302000" cy="0"/>
          </a:xfrm>
          <a:prstGeom prst="line">
            <a:avLst/>
          </a:prstGeom>
          <a:noFill/>
          <a:ln w="6350">
            <a:solidFill>
              <a:srgbClr val="D6DEE1"/>
            </a:solidFill>
            <a:prstDash val="solid"/>
          </a:ln>
        </p:spPr>
      </p:sp>
      <p:sp>
        <p:nvSpPr>
          <p:cNvPr id="39" name="Text 37"/>
          <p:cNvSpPr txBox="1"/>
          <p:nvPr/>
        </p:nvSpPr>
        <p:spPr>
          <a:xfrm>
            <a:off x="8077200" y="3743920"/>
            <a:ext cx="2832473"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Refused</a:t>
            </a:r>
            <a:endParaRPr lang="en-US" sz="1500" dirty="0"/>
          </a:p>
        </p:txBody>
      </p:sp>
      <p:sp>
        <p:nvSpPr>
          <p:cNvPr id="40" name="Text 38"/>
          <p:cNvSpPr txBox="1"/>
          <p:nvPr/>
        </p:nvSpPr>
        <p:spPr>
          <a:xfrm>
            <a:off x="8077200" y="3991570"/>
            <a:ext cx="2832473" cy="36830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copied proof, lower variance, self-attested data (ZA1–ZA3)</a:t>
            </a:r>
            <a:endParaRPr lang="en-US" sz="1200" dirty="0"/>
          </a:p>
        </p:txBody>
      </p:sp>
      <p:sp>
        <p:nvSpPr>
          <p:cNvPr id="41" name="Text 39"/>
          <p:cNvSpPr txBox="1"/>
          <p:nvPr/>
        </p:nvSpPr>
        <p:spPr>
          <a:xfrm>
            <a:off x="10955734" y="3743920"/>
            <a:ext cx="474266" cy="279400"/>
          </a:xfrm>
          <a:prstGeom prst="rect">
            <a:avLst/>
          </a:prstGeom>
          <a:noFill/>
          <a:ln/>
        </p:spPr>
        <p:txBody>
          <a:bodyPr wrap="square" lIns="0" tIns="0" rIns="0" bIns="0" rtlCol="0" anchor="t"/>
          <a:lstStyle/>
          <a:p>
            <a:pPr algn="l" indent="0" marL="0">
              <a:lnSpc>
                <a:spcPts val="2160"/>
              </a:lnSpc>
              <a:buNone/>
            </a:pPr>
            <a:r>
              <a:rPr lang="en-US" sz="1800" dirty="0">
                <a:solidFill>
                  <a:srgbClr val="B1262E"/>
                </a:solidFill>
                <a:latin typeface="Calibri" pitchFamily="34" charset="0"/>
                <a:ea typeface="Calibri" pitchFamily="34" charset="-122"/>
                <a:cs typeface="Calibri" pitchFamily="34" charset="-120"/>
              </a:rPr>
              <a:t>3 / 3</a:t>
            </a:r>
            <a:endParaRPr lang="en-US" sz="1800" dirty="0"/>
          </a:p>
        </p:txBody>
      </p:sp>
      <p:sp>
        <p:nvSpPr>
          <p:cNvPr id="42" name="Shape 40"/>
          <p:cNvSpPr/>
          <p:nvPr/>
        </p:nvSpPr>
        <p:spPr>
          <a:xfrm>
            <a:off x="812800" y="4940895"/>
            <a:ext cx="10566400" cy="0"/>
          </a:xfrm>
          <a:prstGeom prst="line">
            <a:avLst/>
          </a:prstGeom>
          <a:noFill/>
          <a:ln w="6350">
            <a:solidFill>
              <a:srgbClr val="D6DEE1"/>
            </a:solidFill>
            <a:prstDash val="solid"/>
          </a:ln>
        </p:spPr>
      </p:sp>
      <p:sp>
        <p:nvSpPr>
          <p:cNvPr id="43" name="Text 41"/>
          <p:cNvSpPr txBox="1"/>
          <p:nvPr/>
        </p:nvSpPr>
        <p:spPr>
          <a:xfrm>
            <a:off x="812800" y="5032970"/>
            <a:ext cx="10777728" cy="264160"/>
          </a:xfrm>
          <a:prstGeom prst="rect">
            <a:avLst/>
          </a:prstGeom>
          <a:noFill/>
          <a:ln/>
        </p:spPr>
        <p:txBody>
          <a:bodyPr wrap="square" lIns="0" tIns="0" rIns="0" bIns="0" rtlCol="0" anchor="t"/>
          <a:lstStyle/>
          <a:p>
            <a:pPr algn="l" indent="0" marL="0">
              <a:lnSpc>
                <a:spcPts val="2080"/>
              </a:lnSpc>
              <a:buNone/>
            </a:pPr>
            <a:r>
              <a:rPr lang="en-US" sz="1600" dirty="0">
                <a:solidFill>
                  <a:srgbClr val="13233F"/>
                </a:solidFill>
                <a:latin typeface="Cambria" pitchFamily="34" charset="0"/>
                <a:ea typeface="Cambria" pitchFamily="34" charset="-122"/>
                <a:cs typeface="Cambria" pitchFamily="34" charset="-120"/>
              </a:rPr>
              <a:t>Accepted ⇒ ½</a:t>
            </a:r>
            <a:pPr algn="l" indent="0" marL="0">
              <a:lnSpc>
                <a:spcPts val="2080"/>
              </a:lnSpc>
              <a:buNone/>
            </a:pPr>
            <a:r>
              <a:rPr lang="en-US" sz="1600" i="1" dirty="0">
                <a:solidFill>
                  <a:srgbClr val="13233F"/>
                </a:solidFill>
                <a:latin typeface="Cambria" pitchFamily="34" charset="0"/>
                <a:ea typeface="Cambria" pitchFamily="34" charset="-122"/>
                <a:cs typeface="Cambria" pitchFamily="34" charset="-120"/>
              </a:rPr>
              <a:t>w</a:t>
            </a:r>
            <a:pPr algn="l" indent="0" marL="0">
              <a:lnSpc>
                <a:spcPts val="2080"/>
              </a:lnSpc>
              <a:buNone/>
            </a:pPr>
            <a:r>
              <a:rPr lang="en-US" sz="1600" dirty="0">
                <a:solidFill>
                  <a:srgbClr val="13233F"/>
                </a:solidFill>
                <a:latin typeface="Cambria" pitchFamily="34" charset="0"/>
                <a:ea typeface="Cambria" pitchFamily="34" charset="-122"/>
                <a:cs typeface="Cambria" pitchFamily="34" charset="-120"/>
              </a:rPr>
              <a:t>ᵀΣ</a:t>
            </a:r>
            <a:pPr algn="l" indent="0" marL="0">
              <a:lnSpc>
                <a:spcPts val="2080"/>
              </a:lnSpc>
              <a:buNone/>
            </a:pPr>
            <a:r>
              <a:rPr lang="en-US" sz="1600" i="1" dirty="0">
                <a:solidFill>
                  <a:srgbClr val="13233F"/>
                </a:solidFill>
                <a:latin typeface="Cambria" pitchFamily="34" charset="0"/>
                <a:ea typeface="Cambria" pitchFamily="34" charset="-122"/>
                <a:cs typeface="Cambria" pitchFamily="34" charset="-120"/>
              </a:rPr>
              <a:t>w</a:t>
            </a:r>
            <a:pPr algn="l" indent="0" marL="0">
              <a:lnSpc>
                <a:spcPts val="2080"/>
              </a:lnSpc>
              <a:buNone/>
            </a:pPr>
            <a:r>
              <a:rPr lang="en-US" sz="1600" dirty="0">
                <a:solidFill>
                  <a:srgbClr val="13233F"/>
                </a:solidFill>
                <a:latin typeface="Cambria" pitchFamily="34" charset="0"/>
                <a:ea typeface="Cambria" pitchFamily="34" charset="-122"/>
                <a:cs typeface="Cambria" pitchFamily="34" charset="-120"/>
              </a:rPr>
              <a:t> ≤ OPT + 1.5 × 10⁻⁹, for the model the vendor signed, and the chain learns nothing else.</a:t>
            </a:r>
            <a:endParaRPr lang="en-US" sz="1600" dirty="0"/>
          </a:p>
        </p:txBody>
      </p:sp>
      <p:sp>
        <p:nvSpPr>
          <p:cNvPr id="44" name="Shape 42"/>
          <p:cNvSpPr/>
          <p:nvPr/>
        </p:nvSpPr>
        <p:spPr>
          <a:xfrm>
            <a:off x="11226800" y="5689600"/>
            <a:ext cx="152400" cy="152400"/>
          </a:xfrm>
          <a:prstGeom prst="rect">
            <a:avLst/>
          </a:prstGeom>
          <a:solidFill>
            <a:srgbClr val="0A7468"/>
          </a:solidFill>
          <a:ln/>
        </p:spPr>
      </p:sp>
      <p:sp>
        <p:nvSpPr>
          <p:cNvPr id="45" name="Text 43"/>
          <p:cNvSpPr txBox="1"/>
          <p:nvPr/>
        </p:nvSpPr>
        <p:spPr>
          <a:xfrm>
            <a:off x="812800" y="6267450"/>
            <a:ext cx="77724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QED before the upgrade, unchanged and still live</a:t>
            </a:r>
            <a:endParaRPr lang="en-US" sz="1200" dirty="0"/>
          </a:p>
        </p:txBody>
      </p:sp>
      <p:sp>
        <p:nvSpPr>
          <p:cNvPr id="46" name="Text 44"/>
          <p:cNvSpPr txBox="1"/>
          <p:nvPr/>
        </p:nvSpPr>
        <p:spPr>
          <a:xfrm>
            <a:off x="9423400" y="6267450"/>
            <a:ext cx="1955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Appendix A15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QED — Final Pitch</dc:title>
  <dc:subject>FinTechathon 2026 · Topic F · QED</dc:subject>
  <dc:creator>QED team</dc:creator>
  <cp:lastModifiedBy>QED team</cp:lastModifiedBy>
  <cp:revision>1</cp:revision>
  <dcterms:created xsi:type="dcterms:W3CDTF">2026-10-20T14:12:37Z</dcterms:created>
  <dcterms:modified xsi:type="dcterms:W3CDTF">2026-10-20T14:12:37Z</dcterms:modified>
</cp:coreProperties>
</file>