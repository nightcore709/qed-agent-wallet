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ts convert money with unchecked discretion; a price vector can prove best execution" id="{eb2c57de-4bf5-d3c9-b121-c52cfc607d18}">
          <p14:sldIdLst>
            <p14:sldId id="256"/>
            <p14:sldId id="257"/>
            <p14:sldId id="258"/>
          </p14:sldIdLst>
        </p14:section>
        <p14:section name="The breakthrough live on Sepolia: proved trades, refused leaks, an agent that decides" id="{b4188e1f-be58-912a-90d3-736b3c847974}">
          <p14:sldIdLst>
            <p14:sldId id="259"/>
            <p14:sldId id="260"/>
            <p14:sldId id="261"/>
            <p14:sldId id="262"/>
          </p14:sldIdLst>
        </p14:section>
        <p14:section name="Why it is safe, what it buys, and why it is falsifiable and new" id="{0058da52-3c88-784f-ea1e-946a95e99497}">
          <p14:sldIdLst>
            <p14:sldId id="263"/>
            <p14:sldId id="264"/>
            <p14:sldId id="265"/>
            <p14:sldId id="266"/>
            <p14:sldId id="267"/>
          </p14:sldIdLst>
        </p14:section>
        <p14:section name="Impact, how to check every claim, and the close" id="{84983d34-26ed-f53a-f799-8c0563c28768}">
          <p14:sldIdLst>
            <p14:sldId id="268"/>
            <p14:sldId id="269"/>
            <p14:sldId id="270"/>
          </p14:sldIdLst>
        </p14:section>
        <p14:section name="Backup: QED's foundations before the upgrade, unchanged and still live" id="{c5e8d9b8-b951-76cc-dd16-234e5ef511a2}">
          <p14:sldIdLst>
            <p14:sldId id="271"/>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Median shortfall (bps)</c:v>
                </c:pt>
              </c:strCache>
            </c:strRef>
          </c:tx>
          <c:spPr>
            <a:solidFill>
              <a:srgbClr val="9FB0BE"/>
            </a:solidFill>
            <a:effectLst/>
          </c:spPr>
          <c:invertIfNegative val="0"/>
          <c:dLbls>
            <c:numFmt formatCode="0.0#" sourceLinked="0"/>
            <c:txPr>
              <a:bodyPr/>
              <a:lstStyle/>
              <a:p>
                <a:pPr>
                  <a:defRPr b="0" i="0" strike="noStrike" sz="1200" u="none">
                    <a:solidFill>
                      <a:srgbClr val="13233F"/>
                    </a:solidFill>
                    <a:latin typeface="+mn-lt"/>
                  </a:defRPr>
                </a:pPr>
              </a:p>
            </c:txPr>
            <c:showLegendKey val="0"/>
            <c:showVal val="1"/>
            <c:showCatName val="0"/>
            <c:showSerName val="0"/>
            <c:showPercent val="0"/>
            <c:showBubbleSize val="0"/>
            <c:showLeaderLines val="0"/>
          </c:dLbls>
          <c:cat>
            <c:multiLvlStrRef>
              <c:f>Sheet1!$A$2:$A$5</c:f>
              <c:multiLvlStrCache>
                <c:ptCount val="4"/>
                <c:lvl>
                  <c:pt idx="0">
                    <c:v>Best single pool</c:v>
                  </c:pt>
                  <c:pt idx="1">
                    <c:v>Equal split over direct pools</c:v>
                  </c:pt>
                  <c:pt idx="2">
                    <c:v>Direct pools only, optimally split</c:v>
                  </c:pt>
                  <c:pt idx="3">
                    <c:v>QED, certified route (≤ 0.01, enforced on-chain)</c:v>
                  </c:pt>
                </c:lvl>
              </c:multiLvlStrCache>
            </c:multiLvlStrRef>
          </c:cat>
          <c:val>
            <c:numRef>
              <c:f>Sheet1!$B$2:$B$5</c:f>
              <c:numCache>
                <c:formatCode>General</c:formatCode>
                <c:ptCount val="4"/>
                <c:pt idx="0">
                  <c:v>74.5</c:v>
                </c:pt>
                <c:pt idx="1">
                  <c:v>117.2</c:v>
                </c:pt>
                <c:pt idx="2">
                  <c:v>33.7</c:v>
                </c:pt>
                <c:pt idx="3">
                  <c:v>0.01</c:v>
                </c:pt>
              </c:numCache>
            </c:numRef>
          </c:val>
        </c:ser>
        <c:dLbls>
          <c:numFmt formatCode="0.0#" sourceLinked="0"/>
          <c:txPr>
            <a:bodyPr/>
            <a:lstStyle/>
            <a:p>
              <a:pPr>
                <a:defRPr b="0" i="0" strike="noStrike" sz="1200" u="none">
                  <a:solidFill>
                    <a:srgbClr val="13233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323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[team]. QED is an AI wallet where the AI may be wrong, manipulated or stolen, and the money is still safe, because every movement of money carries a proof Ethereum checks. Today's upgrade: our agent converts money on its own, and the chain proves, in the same transaction, that each trade came within one part per million of the best price any route could give. Otherwise it doesn't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autonomous treasury doesn't only pay; it converts: a euro invoice paid from dollars, a reserve topped up. That's where an agent has the most discretion and the least oversight. Wallets and intents accept any route above a slippage floor. On a thousand random markets, routes that still clear a one-percent floor give up a median 14 to 32 basis points, and a compromised agent keeps that on every trade. Solver auctions check best price afterwards, by governance. Brokers have a legal duty of best execution. Agents have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routing through constant-product pools is a convex problem, so it has a dual. Pick any price for each token, and the value of every possible route is bounded by this sum, one closed-form term per pool from its live reserves and fee. Three properties follow. Unforgeable: every price vector gives a valid bound, so an agent can't fake a proof, only fail to have one. Tight: at the right prices the bound equals the optimum, and our solver finds them in milliseconds. Exact: we round every step upward, so it survives the EVM. The contract checks one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on the public chain, transaction E1. The owner asked, in plain English, to move 20 test dollars into the euro reserve. The agent split it: most through the deep pool, some through the cheap thin pool, a slice through a bridge token and back. The off-market pool went unused, but it's still inside the bound. With the route came three prices. The contract computed the bound from all five venues: 18.086849. What arrived: 18.086846. That's 0.17 parts per million from the best any route could do, checked before the reserve was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transaction the contract checks the order the independent co-signer certified: recipient, the co-signer's own floor, the venue set. It computes the bound over every venue the owner allows, rounding up. Funds come through the original QED vault, so mandate, caps and solvency still apply. The agent's route runs, any shape, and nothing may be left behind. What actually arrived must clear the floor and be within tau of the bound. Whatever route the agent picks, the result is near-optimal.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attack it. A compromised agent gets a genuine co-signed order and tries every leak a slippage limit allows. The axis is distance below the bound, log scale. Orange is what a one-percent floor accepts; green is what QED accepts. A direct-pools-only route, 33 basis points short, would pass any one-percent wallet: here it reverts with NotBestExecution. A half-basis-point skim: rejected. Prices chosen to bless a bad route: rejected. Stranding the bridge token, redirecting the output, calling without the key: rejected. A front-run hit the co-signed floor, and our agent then declined to trade into the moved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owner chose the amount. Here the agent decides. The owner signed one policy: keep 45 euros free in the reserve, tranches of 2 to 25 dollars, at most 150 basis points each. Each tick the agent converts the minimum of five quantities: what covers the shortfall, the most the market takes within the limit, two caps and free funds. Over-eager, it first asked for 25; the co-signer recomputed the rule from the chain and refused. Then 19.5, limited by impact. Then 8.8, limited by need. Then it stopped. Later the policy became a contract that, with both hot keys stolen, still refused over-conversion.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can actually move money? On the left, what might be wrong or compromised: the agent, whose language model only reads the owner's words and holds no key, and an independent co-signer with its own key. On the right, what binds: the vault's mandate, caps and solvency, the best-execution check, and now the policy itself as a contract. We stole both hot keys on Sepolia and tried to over-convert, overpay and keep going after the target: the contract refused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F's four outcomes, each a transaction. One: a separate agent key under an independent certificate: L4 for a payment, E1 for a trade, PE1 for a trade the agent started itself. Two: paid work settled through escrow, on an optimality proof and on a zero-knowledge proof. Three: 48 attacks, 48 reverts, nothing to the attacker. Four: one command re-derives every claim, with no keys, daily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it matter? On a thousand seeded markets, routing policies without a proof fall a median 34 to 117 basis points short of the optimum. The security reading: among routes that still clear a one-percent floor, a hostile agent keeps a median 14 to 32 basis points per trade. Under QED, at most one part per million. Our own routes land a median 0.075 parts per million from their bound. And honestly: for small trades in deep markets a good router is already within about three basis points, so there QED adds the guarantee, not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claim like this should be falsifiable, so we put money on it. ExecutionBounty holds a thousand test dollars. Give it any route and prices: it runs your route on its own funds, compares with the deployed bound, and pays you if you beat it. No judge. On Sepolia, three attempts, including the whole pool in one trade, reverted with TheoremHolds. Six thousand fuzzed attempts never beat the bound, and a positive control shows the bounty does pay when a bound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it new? Every ingredient is known, and we cite it. Intents and aggregators enforce a minimum output. CoW checks best price after settlement. Some work computes routes on-chain for one pair, approximately, without a bound. A 2026 paper certifies a router off-chain, then protects execution with slippage. Angeris and colleagues gave us the duality. What we didn't find is a contract that accepts a trade only if its measured output is within a stated tolerance of a bound over all permitted venues, computed in the same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needs this? Any treasury run by an agent: a business, a DAO, an AI service holding one currency and owing another, say a euro invoice paid from dollars across borders. It can delegate the conversion, even its timing, without trusting the routing. Regulated firms get a per-trade best-execution record anyone can recompute. Solvers can be accepted on a proof instead of monitored afterwards. And the research question generalises: which fiduciary duties can become conditions the chain checks before money moves? No users or revenue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don't trust these slides. One command re-derives every claim from a public Sepolia node with no keys: bytecode, receipts, replayed attacks, each bound recomputed, each route replayed. Another runs the whole economy and the autonomous policy on a laptop and reproduces the Sepolia trades to the last unit. The limits, plainly: a front-run smaller than the one-percent floor isn't caught; venues must be honest constant-product pools; the policy contract enforces safety, not liveness; and this is an unaudited testnet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are going to hold real money. QED's answer is to make them prove it: who may pay, what may never be spent, whether work is optimal, and now whether every trade got the best price, all checked before money moves. You can run it yourself in the live app, a sandbox chain with the real contracts; the Sepolia evidence is on the ledger and in the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one answers the first rubric question. In transaction L4 the sender is the AI agent’s own key. The vault recovered the owner’s signature on the mandate and the co-signer’s signature on a certificate binding the exact recipient, amount and a single-use id. The certificate also carries the hash of the co-signer’s decision record, all 12 checks, which is published in our repository, so anyone can see exactly why this payment was allowed. Change any signed field and it reverts.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two covers the protected-liability question. The owner ring-fenced 70 of 100 for CloudCo’s compute bill. Those 70 can now reach CloudCo and nobody else: not the AI, not the co-signer, not even the owner. Every outflow is checked against the free balance, which we proved by induction and fuzzed with an attacker holding both hot keys. And pausing stops the AI, never the creditor: on Sepolia, during a pause, the attacker’s own address triggered settlement and the money still went to CloudCo.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Escrow today needs a human or an oracle to accept work; we replaced acceptance with a theorem. The client buys a minimum-variance portfolio. The AI solves it off-chain and must attach a Karush–Kuhn–Tucker certificate. The contract checks it in exact integers, which is cheap, while solving would be expensive. We prove that passing the check puts the portfolio within 1.5 times ten to the minus eight of the optimum. The escrow pays for a proof,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run answers the second rubric question. A robo-advisor agent asked for an optimal portfolio. QED priced it at 15, cost 6, and signed the quote; the client locked 15 in escrow. The agent bought the risk model it needed with its own key and a co-signed certificate, solved in two milliseconds and delivered the proof. The contract checked it and released 15. A cheaper rival’s lazy answer and near miss were rejected, and the client was refunded.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rubric question: can an adversary break a protected liability or tamper with signed terms? We broadcast 19 attacks to the public chain so the failures are permanent receipts. The attacker edited signed quotes and certificates, replayed them, stole the AI key and then the co-signer key, and tried to pay herself, overdraw and burst the daily cap. She tried owner powers and cancelling the creditor’s claim. Every one reverted with exactly the designed error. She received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four: risk is a number. QEDLens computes, at any block, the most that could leave if both hot keys were stolen: zero while paused, and only ever to payees the owner approved. To make it concrete, we published a second vault’s AI key and co-signer key in our repository. Anyone can try. With both keys you can pay the approved creditor one token a day, nothing else. Its 90 ring-fenced tokens are protected by the contract, not by secrecy.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two scales this to an economy of agents. Five AI businesses owe each other 200 but hold only 28, so paying gross fails: transaction G1. Our clearing contract executes a netting only if every net position is unchanged and a linear-programming duality certificate proves no larger netting exists, in exact integers. A rival’s shortest-cycles-first netting cancels 162: refused. Ours cancels the provable maximum, 169. The last 31 settles in tokens. Six more attacks, six reverts.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Proving an AI decision correct has meant showing its inputs; confidentiality has meant hiding them. QED does both. Helix signs only a commitment to its private model. Our agent proves, inside a zero-knowledge SNARK, the same optimality certificate the chain checked in public, in a second and a half. The escrow that paid job one pays this job unchanged, and never sees the data or the answer. A copied proof, a lower variance and self-attested data: all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FINTECHATHON 2026 · INTERNATIONAL TRACK · TOPIC F</a:t>
            </a:r>
            <a:endParaRPr lang="en-US" sz="1200" dirty="0"/>
          </a:p>
        </p:txBody>
      </p:sp>
      <p:sp>
        <p:nvSpPr>
          <p:cNvPr id="3" name="Text 1"/>
          <p:cNvSpPr txBox="1"/>
          <p:nvPr/>
        </p:nvSpPr>
        <p:spPr>
          <a:xfrm>
            <a:off x="812800" y="1174750"/>
            <a:ext cx="2438995" cy="1327150"/>
          </a:xfrm>
          <a:prstGeom prst="rect">
            <a:avLst/>
          </a:prstGeom>
          <a:noFill/>
          <a:ln/>
        </p:spPr>
        <p:txBody>
          <a:bodyPr wrap="square" lIns="0" tIns="0" rIns="0" bIns="0" rtlCol="0" anchor="t"/>
          <a:lstStyle/>
          <a:p>
            <a:pPr algn="l" indent="0" marL="0">
              <a:lnSpc>
                <a:spcPts val="10450"/>
              </a:lnSpc>
              <a:buNone/>
            </a:pPr>
            <a:r>
              <a:rPr lang="en-US" sz="11000" spc="-200" kern="0" dirty="0">
                <a:solidFill>
                  <a:srgbClr val="13233F"/>
                </a:solidFill>
                <a:latin typeface="Cambria" pitchFamily="34" charset="0"/>
                <a:ea typeface="Cambria" pitchFamily="34" charset="-122"/>
                <a:cs typeface="Cambria" pitchFamily="34" charset="-120"/>
              </a:rPr>
              <a:t>QED</a:t>
            </a:r>
            <a:endParaRPr lang="en-US" sz="11000" dirty="0"/>
          </a:p>
        </p:txBody>
      </p:sp>
      <p:sp>
        <p:nvSpPr>
          <p:cNvPr id="4" name="Shape 2"/>
          <p:cNvSpPr/>
          <p:nvPr/>
        </p:nvSpPr>
        <p:spPr>
          <a:xfrm>
            <a:off x="3404195" y="2095500"/>
            <a:ext cx="406400" cy="406400"/>
          </a:xfrm>
          <a:prstGeom prst="rect">
            <a:avLst/>
          </a:prstGeom>
          <a:solidFill>
            <a:srgbClr val="0A7468"/>
          </a:solidFill>
          <a:ln/>
        </p:spPr>
      </p:sp>
      <p:sp>
        <p:nvSpPr>
          <p:cNvPr id="5" name="Text 3"/>
          <p:cNvSpPr txBox="1"/>
          <p:nvPr/>
        </p:nvSpPr>
        <p:spPr>
          <a:xfrm>
            <a:off x="812800" y="2679700"/>
            <a:ext cx="9715500"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An AI treasury that proves, on-chain, that every trade got the best price any route could give.</a:t>
            </a:r>
            <a:endParaRPr lang="en-US" sz="3200" dirty="0"/>
          </a:p>
        </p:txBody>
      </p:sp>
      <p:sp>
        <p:nvSpPr>
          <p:cNvPr id="6" name="Shape 4"/>
          <p:cNvSpPr/>
          <p:nvPr/>
        </p:nvSpPr>
        <p:spPr>
          <a:xfrm>
            <a:off x="812800" y="5200650"/>
            <a:ext cx="10566400" cy="0"/>
          </a:xfrm>
          <a:prstGeom prst="line">
            <a:avLst/>
          </a:prstGeom>
          <a:noFill/>
          <a:ln w="12700">
            <a:solidFill>
              <a:srgbClr val="13233F"/>
            </a:solidFill>
            <a:prstDash val="solid"/>
          </a:ln>
        </p:spPr>
      </p:sp>
      <p:sp>
        <p:nvSpPr>
          <p:cNvPr id="7" name="Text 5"/>
          <p:cNvSpPr txBox="1"/>
          <p:nvPr/>
        </p:nvSpPr>
        <p:spPr>
          <a:xfrm>
            <a:off x="812800" y="5384800"/>
            <a:ext cx="338534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Live on Ethereum Sepolia</a:t>
            </a:r>
            <a:endParaRPr lang="en-US" sz="1500" dirty="0"/>
          </a:p>
        </p:txBody>
      </p:sp>
      <p:sp>
        <p:nvSpPr>
          <p:cNvPr id="8" name="Text 6"/>
          <p:cNvSpPr txBox="1"/>
          <p:nvPr/>
        </p:nvSpPr>
        <p:spPr>
          <a:xfrm>
            <a:off x="812800" y="5657850"/>
            <a:ext cx="338534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196 transactions · 24 verified contracts</a:t>
            </a:r>
            <a:endParaRPr lang="en-US" sz="1200" dirty="0"/>
          </a:p>
        </p:txBody>
      </p:sp>
      <p:sp>
        <p:nvSpPr>
          <p:cNvPr id="9" name="Text 7"/>
          <p:cNvSpPr txBox="1"/>
          <p:nvPr/>
        </p:nvSpPr>
        <p:spPr>
          <a:xfrm>
            <a:off x="4436566" y="5384800"/>
            <a:ext cx="338534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Within 1 ppm of the optimum</a:t>
            </a:r>
            <a:endParaRPr lang="en-US" sz="1500" dirty="0"/>
          </a:p>
        </p:txBody>
      </p:sp>
      <p:sp>
        <p:nvSpPr>
          <p:cNvPr id="10" name="Text 8"/>
          <p:cNvSpPr txBox="1"/>
          <p:nvPr/>
        </p:nvSpPr>
        <p:spPr>
          <a:xfrm>
            <a:off x="4436566" y="5657850"/>
            <a:ext cx="338534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or the chain refuses the trade</a:t>
            </a:r>
            <a:endParaRPr lang="en-US" sz="1200" dirty="0"/>
          </a:p>
        </p:txBody>
      </p:sp>
      <p:sp>
        <p:nvSpPr>
          <p:cNvPr id="11" name="Text 9"/>
          <p:cNvSpPr txBox="1"/>
          <p:nvPr/>
        </p:nvSpPr>
        <p:spPr>
          <a:xfrm>
            <a:off x="8060333" y="5384800"/>
            <a:ext cx="338534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48 attacks, 48 reverts</a:t>
            </a:r>
            <a:endParaRPr lang="en-US" sz="1500" dirty="0"/>
          </a:p>
        </p:txBody>
      </p:sp>
      <p:sp>
        <p:nvSpPr>
          <p:cNvPr id="12" name="Text 10"/>
          <p:cNvSpPr txBox="1"/>
          <p:nvPr/>
        </p:nvSpPr>
        <p:spPr>
          <a:xfrm>
            <a:off x="8060333" y="5657850"/>
            <a:ext cx="338534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3,000 tUSD of bounties unclaimed</a:t>
            </a:r>
            <a:endParaRPr lang="en-US" sz="1200" dirty="0"/>
          </a:p>
        </p:txBody>
      </p:sp>
      <p:sp>
        <p:nvSpPr>
          <p:cNvPr id="13" name="Text 11"/>
          <p:cNvSpPr txBox="1"/>
          <p:nvPr/>
        </p:nvSpPr>
        <p:spPr>
          <a:xfrm>
            <a:off x="812800" y="6267450"/>
            <a:ext cx="10777728"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[Team name] · [Member names] · [Universities]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812800" y="1250950"/>
            <a:ext cx="10777728"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An agent that converts money can leak a little on every trade, and nothing checks it.</a:t>
            </a:r>
            <a:endParaRPr lang="en-US" sz="3200" dirty="0"/>
          </a:p>
        </p:txBody>
      </p:sp>
      <p:sp>
        <p:nvSpPr>
          <p:cNvPr id="4" name="Shape 2"/>
          <p:cNvSpPr/>
          <p:nvPr/>
        </p:nvSpPr>
        <p:spPr>
          <a:xfrm>
            <a:off x="812800" y="2439591"/>
            <a:ext cx="3386634" cy="2155825"/>
          </a:xfrm>
          <a:prstGeom prst="roundRect">
            <a:avLst>
              <a:gd name="adj" fmla="val 2356"/>
            </a:avLst>
          </a:prstGeom>
          <a:solidFill>
            <a:srgbClr val="FBFCFC"/>
          </a:solidFill>
          <a:ln w="6350">
            <a:solidFill>
              <a:srgbClr val="D6DEE1"/>
            </a:solidFill>
            <a:prstDash val="solid"/>
          </a:ln>
        </p:spPr>
      </p:sp>
      <p:sp>
        <p:nvSpPr>
          <p:cNvPr id="5" name="Text 3"/>
          <p:cNvSpPr txBox="1"/>
          <p:nvPr/>
        </p:nvSpPr>
        <p:spPr>
          <a:xfrm>
            <a:off x="1073150" y="2699941"/>
            <a:ext cx="2923252"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A floor, not a proof</a:t>
            </a:r>
            <a:endParaRPr lang="en-US" sz="2000" dirty="0"/>
          </a:p>
        </p:txBody>
      </p:sp>
      <p:sp>
        <p:nvSpPr>
          <p:cNvPr id="6" name="Text 4"/>
          <p:cNvSpPr txBox="1"/>
          <p:nvPr/>
        </p:nvSpPr>
        <p:spPr>
          <a:xfrm>
            <a:off x="1073150" y="3093641"/>
            <a:ext cx="2923252" cy="77152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Wallets and intents accept any route above a slippage limit. The agent keeps the difference.</a:t>
            </a:r>
            <a:endParaRPr lang="en-US" sz="1500" dirty="0"/>
          </a:p>
        </p:txBody>
      </p:sp>
      <p:sp>
        <p:nvSpPr>
          <p:cNvPr id="7" name="Text 5"/>
          <p:cNvSpPr txBox="1"/>
          <p:nvPr/>
        </p:nvSpPr>
        <p:spPr>
          <a:xfrm>
            <a:off x="1073150" y="3966766"/>
            <a:ext cx="2923252"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Routes that clear a 1% floor still give up a median 14–32 bps (1,000 markets).</a:t>
            </a:r>
            <a:endParaRPr lang="en-US" sz="1200" dirty="0"/>
          </a:p>
        </p:txBody>
      </p:sp>
      <p:sp>
        <p:nvSpPr>
          <p:cNvPr id="8" name="Shape 6"/>
          <p:cNvSpPr/>
          <p:nvPr/>
        </p:nvSpPr>
        <p:spPr>
          <a:xfrm>
            <a:off x="4402634" y="2439591"/>
            <a:ext cx="3386634" cy="2155825"/>
          </a:xfrm>
          <a:prstGeom prst="roundRect">
            <a:avLst>
              <a:gd name="adj" fmla="val 2356"/>
            </a:avLst>
          </a:prstGeom>
          <a:solidFill>
            <a:srgbClr val="FBFCFC"/>
          </a:solidFill>
          <a:ln w="6350">
            <a:solidFill>
              <a:srgbClr val="D6DEE1"/>
            </a:solidFill>
            <a:prstDash val="solid"/>
          </a:ln>
        </p:spPr>
      </p:sp>
      <p:sp>
        <p:nvSpPr>
          <p:cNvPr id="9" name="Text 7"/>
          <p:cNvSpPr txBox="1"/>
          <p:nvPr/>
        </p:nvSpPr>
        <p:spPr>
          <a:xfrm>
            <a:off x="4662984" y="2699941"/>
            <a:ext cx="2923252"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Checked afterwards</a:t>
            </a:r>
            <a:endParaRPr lang="en-US" sz="2000" dirty="0"/>
          </a:p>
        </p:txBody>
      </p:sp>
      <p:sp>
        <p:nvSpPr>
          <p:cNvPr id="10" name="Text 8"/>
          <p:cNvSpPr txBox="1"/>
          <p:nvPr/>
        </p:nvSpPr>
        <p:spPr>
          <a:xfrm>
            <a:off x="4662984" y="3093641"/>
            <a:ext cx="2923252" cy="77152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Solver auctions compare fills with baseline pools after settlement and punish by vote.</a:t>
            </a:r>
            <a:endParaRPr lang="en-US" sz="1500" dirty="0"/>
          </a:p>
        </p:txBody>
      </p:sp>
      <p:sp>
        <p:nvSpPr>
          <p:cNvPr id="11" name="Text 9"/>
          <p:cNvSpPr txBox="1"/>
          <p:nvPr/>
        </p:nvSpPr>
        <p:spPr>
          <a:xfrm>
            <a:off x="4662984" y="3966766"/>
            <a:ext cx="2923252"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CoW's best-price rule is “not enforced by the smart contract”.</a:t>
            </a:r>
            <a:endParaRPr lang="en-US" sz="1200" dirty="0"/>
          </a:p>
        </p:txBody>
      </p:sp>
      <p:sp>
        <p:nvSpPr>
          <p:cNvPr id="12" name="Shape 10"/>
          <p:cNvSpPr/>
          <p:nvPr/>
        </p:nvSpPr>
        <p:spPr>
          <a:xfrm>
            <a:off x="7992467" y="2439591"/>
            <a:ext cx="3386634" cy="2155825"/>
          </a:xfrm>
          <a:prstGeom prst="roundRect">
            <a:avLst>
              <a:gd name="adj" fmla="val 2356"/>
            </a:avLst>
          </a:prstGeom>
          <a:solidFill>
            <a:srgbClr val="FBFCFC"/>
          </a:solidFill>
          <a:ln w="6350">
            <a:solidFill>
              <a:srgbClr val="D6DEE1"/>
            </a:solidFill>
            <a:prstDash val="solid"/>
          </a:ln>
        </p:spPr>
      </p:sp>
      <p:sp>
        <p:nvSpPr>
          <p:cNvPr id="13" name="Text 11"/>
          <p:cNvSpPr txBox="1"/>
          <p:nvPr/>
        </p:nvSpPr>
        <p:spPr>
          <a:xfrm>
            <a:off x="8252817" y="2699941"/>
            <a:ext cx="2923252"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Unseen discretion</a:t>
            </a:r>
            <a:endParaRPr lang="en-US" sz="2000" dirty="0"/>
          </a:p>
        </p:txBody>
      </p:sp>
      <p:sp>
        <p:nvSpPr>
          <p:cNvPr id="14" name="Text 12"/>
          <p:cNvSpPr txBox="1"/>
          <p:nvPr/>
        </p:nvSpPr>
        <p:spPr>
          <a:xfrm>
            <a:off x="8252817" y="3093641"/>
            <a:ext cx="2923252" cy="1028700"/>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Whether, when and how much to convert is the agent's call. Today a human approves each trade, or nobody does.</a:t>
            </a:r>
            <a:endParaRPr lang="en-US" sz="1500" dirty="0"/>
          </a:p>
        </p:txBody>
      </p:sp>
      <p:sp>
        <p:nvSpPr>
          <p:cNvPr id="15" name="Text 13"/>
          <p:cNvSpPr txBox="1"/>
          <p:nvPr/>
        </p:nvSpPr>
        <p:spPr>
          <a:xfrm>
            <a:off x="812800" y="4849416"/>
            <a:ext cx="10777728" cy="25717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Brokers owe clients </a:t>
            </a:r>
            <a:pPr algn="l" indent="0" marL="0">
              <a:lnSpc>
                <a:spcPts val="2030"/>
              </a:lnSpc>
              <a:buNone/>
            </a:pPr>
            <a:r>
              <a:rPr lang="en-US" sz="1500" b="1" dirty="0">
                <a:solidFill>
                  <a:srgbClr val="13233F"/>
                </a:solidFill>
                <a:latin typeface="Calibri" pitchFamily="34" charset="0"/>
                <a:ea typeface="Calibri" pitchFamily="34" charset="-122"/>
                <a:cs typeface="Calibri" pitchFamily="34" charset="-120"/>
              </a:rPr>
              <a:t>best execution</a:t>
            </a:r>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 by law (MiFID II art. 27, FINRA 5310). An AI agent owes it to no one.</a:t>
            </a:r>
            <a:endParaRPr lang="en-US" sz="1500" dirty="0"/>
          </a:p>
        </p:txBody>
      </p:sp>
      <p:sp>
        <p:nvSpPr>
          <p:cNvPr id="16" name="Text 14"/>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 proof-carrying autonomy for AI wallets</a:t>
            </a:r>
            <a:endParaRPr lang="en-US" sz="1200" dirty="0"/>
          </a:p>
        </p:txBody>
      </p:sp>
      <p:sp>
        <p:nvSpPr>
          <p:cNvPr id="17"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THE INSIGHT</a:t>
            </a:r>
            <a:endParaRPr lang="en-US" sz="1200" dirty="0"/>
          </a:p>
        </p:txBody>
      </p:sp>
      <p:sp>
        <p:nvSpPr>
          <p:cNvPr id="3" name="Text 1"/>
          <p:cNvSpPr txBox="1"/>
          <p:nvPr/>
        </p:nvSpPr>
        <p:spPr>
          <a:xfrm>
            <a:off x="812800" y="1174750"/>
            <a:ext cx="10777728" cy="800100"/>
          </a:xfrm>
          <a:prstGeom prst="rect">
            <a:avLst/>
          </a:prstGeom>
          <a:noFill/>
          <a:ln/>
        </p:spPr>
        <p:txBody>
          <a:bodyPr wrap="square" lIns="0" tIns="0" rIns="0" bIns="0" rtlCol="0" anchor="t"/>
          <a:lstStyle/>
          <a:p>
            <a:pPr algn="l" indent="0" marL="0">
              <a:lnSpc>
                <a:spcPts val="6300"/>
              </a:lnSpc>
              <a:buNone/>
            </a:pPr>
            <a:r>
              <a:rPr lang="en-US" sz="6000" dirty="0">
                <a:solidFill>
                  <a:srgbClr val="E4ECF1"/>
                </a:solidFill>
                <a:latin typeface="Cambria" pitchFamily="34" charset="0"/>
                <a:ea typeface="Cambria" pitchFamily="34" charset="-122"/>
                <a:cs typeface="Cambria" pitchFamily="34" charset="-120"/>
              </a:rPr>
              <a:t>A price vector is a proof.</a:t>
            </a:r>
            <a:endParaRPr lang="en-US" sz="6000" dirty="0"/>
          </a:p>
        </p:txBody>
      </p:sp>
      <p:sp>
        <p:nvSpPr>
          <p:cNvPr id="4" name="Text 2"/>
          <p:cNvSpPr txBox="1"/>
          <p:nvPr/>
        </p:nvSpPr>
        <p:spPr>
          <a:xfrm>
            <a:off x="812800" y="2152650"/>
            <a:ext cx="10777728" cy="365760"/>
          </a:xfrm>
          <a:prstGeom prst="rect">
            <a:avLst/>
          </a:prstGeom>
          <a:noFill/>
          <a:ln/>
        </p:spPr>
        <p:txBody>
          <a:bodyPr wrap="square" lIns="0" tIns="0" rIns="0" bIns="0" rtlCol="0" anchor="t"/>
          <a:lstStyle/>
          <a:p>
            <a:pPr algn="l" indent="0" marL="0">
              <a:lnSpc>
                <a:spcPts val="2880"/>
              </a:lnSpc>
              <a:buNone/>
            </a:pPr>
            <a:r>
              <a:rPr lang="en-US" sz="2400" i="1" dirty="0">
                <a:solidFill>
                  <a:srgbClr val="A9BACB"/>
                </a:solidFill>
                <a:latin typeface="Cambria" pitchFamily="34" charset="0"/>
                <a:ea typeface="Cambria" pitchFamily="34" charset="-122"/>
                <a:cs typeface="Cambria" pitchFamily="34" charset="-120"/>
              </a:rPr>
              <a:t>For any prices ν, no route through the owner's venues can return more than</a:t>
            </a:r>
            <a:endParaRPr lang="en-US" sz="2400" dirty="0"/>
          </a:p>
        </p:txBody>
      </p:sp>
      <p:sp>
        <p:nvSpPr>
          <p:cNvPr id="5" name="Text 3"/>
          <p:cNvSpPr txBox="1"/>
          <p:nvPr/>
        </p:nvSpPr>
        <p:spPr>
          <a:xfrm>
            <a:off x="812800" y="2696170"/>
            <a:ext cx="10777728" cy="416520"/>
          </a:xfrm>
          <a:prstGeom prst="rect">
            <a:avLst/>
          </a:prstGeom>
          <a:noFill/>
          <a:ln/>
        </p:spPr>
        <p:txBody>
          <a:bodyPr wrap="square" lIns="0" tIns="0" rIns="0" bIns="0" rtlCol="0" anchor="t"/>
          <a:lstStyle/>
          <a:p>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B(ν)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s</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A + Σ</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venues</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/γ))₊²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/γ))₊² ]</a:t>
            </a:r>
            <a:endParaRPr lang="en-US" sz="2400" dirty="0"/>
          </a:p>
        </p:txBody>
      </p:sp>
      <p:sp>
        <p:nvSpPr>
          <p:cNvPr id="6" name="Text 4"/>
          <p:cNvSpPr txBox="1"/>
          <p:nvPr/>
        </p:nvSpPr>
        <p:spPr>
          <a:xfrm>
            <a:off x="812800" y="3290491"/>
            <a:ext cx="10777728" cy="240010"/>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A is the input, R</a:t>
            </a:r>
            <a:pPr algn="l" indent="0" marL="0">
              <a:lnSpc>
                <a:spcPts val="1680"/>
              </a:lnSpc>
              <a:buNone/>
            </a:pPr>
            <a:r>
              <a:rPr lang="en-US" sz="1000" baseline="-40000" dirty="0">
                <a:solidFill>
                  <a:srgbClr val="A9BACB"/>
                </a:solidFill>
                <a:latin typeface="Calibri" pitchFamily="34" charset="0"/>
                <a:ea typeface="Calibri" pitchFamily="34" charset="-122"/>
                <a:cs typeface="Calibri" pitchFamily="34" charset="-120"/>
              </a:rPr>
              <a:t>a</a:t>
            </a:r>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 R</a:t>
            </a:r>
            <a:pPr algn="l" indent="0" marL="0">
              <a:lnSpc>
                <a:spcPts val="1680"/>
              </a:lnSpc>
              <a:buNone/>
            </a:pPr>
            <a:r>
              <a:rPr lang="en-US" sz="1000" baseline="-40000" dirty="0">
                <a:solidFill>
                  <a:srgbClr val="A9BACB"/>
                </a:solidFill>
                <a:latin typeface="Calibri" pitchFamily="34" charset="0"/>
                <a:ea typeface="Calibri" pitchFamily="34" charset="-122"/>
                <a:cs typeface="Calibri" pitchFamily="34" charset="-120"/>
              </a:rPr>
              <a:t>b</a:t>
            </a:r>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 a venue's live reserves, 1 − γ its fee. Each term is the most that venue can add at prices ν, in closed form.</a:t>
            </a:r>
            <a:endParaRPr lang="en-US" sz="1200" dirty="0"/>
          </a:p>
        </p:txBody>
      </p:sp>
      <p:sp>
        <p:nvSpPr>
          <p:cNvPr id="7" name="Shape 5"/>
          <p:cNvSpPr/>
          <p:nvPr/>
        </p:nvSpPr>
        <p:spPr>
          <a:xfrm>
            <a:off x="812800" y="4843264"/>
            <a:ext cx="10566400" cy="0"/>
          </a:xfrm>
          <a:prstGeom prst="line">
            <a:avLst/>
          </a:prstGeom>
          <a:noFill/>
          <a:ln w="6350">
            <a:solidFill>
              <a:srgbClr val="2E4A72"/>
            </a:solidFill>
            <a:prstDash val="solid"/>
          </a:ln>
        </p:spPr>
      </p:sp>
      <p:sp>
        <p:nvSpPr>
          <p:cNvPr id="8" name="Text 6"/>
          <p:cNvSpPr txBox="1"/>
          <p:nvPr/>
        </p:nvSpPr>
        <p:spPr>
          <a:xfrm>
            <a:off x="812800" y="5049639"/>
            <a:ext cx="3385245" cy="304800"/>
          </a:xfrm>
          <a:prstGeom prst="rect">
            <a:avLst/>
          </a:prstGeom>
          <a:noFill/>
          <a:ln/>
        </p:spPr>
        <p:txBody>
          <a:bodyPr wrap="square" lIns="0" tIns="0" rIns="0" bIns="0" rtlCol="0" anchor="t"/>
          <a:lstStyle/>
          <a:p>
            <a:pPr algn="l" indent="0" marL="0">
              <a:lnSpc>
                <a:spcPts val="2400"/>
              </a:lnSpc>
              <a:buNone/>
            </a:pPr>
            <a:r>
              <a:rPr lang="en-US" sz="2000" dirty="0">
                <a:solidFill>
                  <a:srgbClr val="46C4B0"/>
                </a:solidFill>
                <a:latin typeface="Cambria" pitchFamily="34" charset="0"/>
                <a:ea typeface="Cambria" pitchFamily="34" charset="-122"/>
                <a:cs typeface="Cambria" pitchFamily="34" charset="-120"/>
              </a:rPr>
              <a:t>Unforgeable</a:t>
            </a:r>
            <a:endParaRPr lang="en-US" sz="2000" dirty="0"/>
          </a:p>
        </p:txBody>
      </p:sp>
      <p:sp>
        <p:nvSpPr>
          <p:cNvPr id="9" name="Text 7"/>
          <p:cNvSpPr txBox="1"/>
          <p:nvPr/>
        </p:nvSpPr>
        <p:spPr>
          <a:xfrm>
            <a:off x="812800" y="5405239"/>
            <a:ext cx="3385245" cy="63996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Weak duality: every ν gives a valid upper bound. A dishonest agent cannot fake a proof; it can only fail to have one.</a:t>
            </a:r>
            <a:endParaRPr lang="en-US" sz="1200" dirty="0"/>
          </a:p>
        </p:txBody>
      </p:sp>
      <p:sp>
        <p:nvSpPr>
          <p:cNvPr id="10" name="Text 8"/>
          <p:cNvSpPr txBox="1"/>
          <p:nvPr/>
        </p:nvSpPr>
        <p:spPr>
          <a:xfrm>
            <a:off x="4436467" y="5049639"/>
            <a:ext cx="3385346" cy="304800"/>
          </a:xfrm>
          <a:prstGeom prst="rect">
            <a:avLst/>
          </a:prstGeom>
          <a:noFill/>
          <a:ln/>
        </p:spPr>
        <p:txBody>
          <a:bodyPr wrap="square" lIns="0" tIns="0" rIns="0" bIns="0" rtlCol="0" anchor="t"/>
          <a:lstStyle/>
          <a:p>
            <a:pPr algn="l" indent="0" marL="0">
              <a:lnSpc>
                <a:spcPts val="2400"/>
              </a:lnSpc>
              <a:buNone/>
            </a:pPr>
            <a:r>
              <a:rPr lang="en-US" sz="2000" dirty="0">
                <a:solidFill>
                  <a:srgbClr val="46C4B0"/>
                </a:solidFill>
                <a:latin typeface="Cambria" pitchFamily="34" charset="0"/>
                <a:ea typeface="Cambria" pitchFamily="34" charset="-122"/>
                <a:cs typeface="Cambria" pitchFamily="34" charset="-120"/>
              </a:rPr>
              <a:t>Tight</a:t>
            </a:r>
            <a:endParaRPr lang="en-US" sz="2000" dirty="0"/>
          </a:p>
        </p:txBody>
      </p:sp>
      <p:sp>
        <p:nvSpPr>
          <p:cNvPr id="11" name="Text 9"/>
          <p:cNvSpPr txBox="1"/>
          <p:nvPr/>
        </p:nvSpPr>
        <p:spPr>
          <a:xfrm>
            <a:off x="4436467" y="5405239"/>
            <a:ext cx="3385346"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Strong duality: at the right ν the bound meets the optimum. Our solver finds it in a median 3.3 ms.</a:t>
            </a:r>
            <a:endParaRPr lang="en-US" sz="1200" dirty="0"/>
          </a:p>
        </p:txBody>
      </p:sp>
      <p:sp>
        <p:nvSpPr>
          <p:cNvPr id="12" name="Text 10"/>
          <p:cNvSpPr txBox="1"/>
          <p:nvPr/>
        </p:nvSpPr>
        <p:spPr>
          <a:xfrm>
            <a:off x="8060234" y="5049639"/>
            <a:ext cx="3385346" cy="304800"/>
          </a:xfrm>
          <a:prstGeom prst="rect">
            <a:avLst/>
          </a:prstGeom>
          <a:noFill/>
          <a:ln/>
        </p:spPr>
        <p:txBody>
          <a:bodyPr wrap="square" lIns="0" tIns="0" rIns="0" bIns="0" rtlCol="0" anchor="t"/>
          <a:lstStyle/>
          <a:p>
            <a:pPr algn="l" indent="0" marL="0">
              <a:lnSpc>
                <a:spcPts val="2400"/>
              </a:lnSpc>
              <a:buNone/>
            </a:pPr>
            <a:r>
              <a:rPr lang="en-US" sz="2000" dirty="0">
                <a:solidFill>
                  <a:srgbClr val="46C4B0"/>
                </a:solidFill>
                <a:latin typeface="Cambria" pitchFamily="34" charset="0"/>
                <a:ea typeface="Cambria" pitchFamily="34" charset="-122"/>
                <a:cs typeface="Cambria" pitchFamily="34" charset="-120"/>
              </a:rPr>
              <a:t>Exact on-chain</a:t>
            </a:r>
            <a:endParaRPr lang="en-US" sz="2000" dirty="0"/>
          </a:p>
        </p:txBody>
      </p:sp>
      <p:sp>
        <p:nvSpPr>
          <p:cNvPr id="13" name="Text 11"/>
          <p:cNvSpPr txBox="1"/>
          <p:nvPr/>
        </p:nvSpPr>
        <p:spPr>
          <a:xfrm>
            <a:off x="8060234" y="5405239"/>
            <a:ext cx="3385346"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Every rounding step goes up, so the theorem survives integer arithmetic. The check costs O(venues).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BREAKTHROUGH, LIVE · SEPOLIA TRANSACTION E1</a:t>
            </a:r>
            <a:endParaRPr lang="en-US" sz="1200" dirty="0"/>
          </a:p>
        </p:txBody>
      </p:sp>
      <p:sp>
        <p:nvSpPr>
          <p:cNvPr id="3" name="Text 1"/>
          <p:cNvSpPr txBox="1"/>
          <p:nvPr/>
        </p:nvSpPr>
        <p:spPr>
          <a:xfrm>
            <a:off x="812800" y="1200150"/>
            <a:ext cx="10777728"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20 tUSD in, 18.086846 tEUR out. The chain's own bound: 18.086849.</a:t>
            </a:r>
            <a:endParaRPr lang="en-US" sz="3200" dirty="0"/>
          </a:p>
        </p:txBody>
      </p:sp>
      <p:pic>
        <p:nvPicPr>
          <p:cNvPr id="4" name="Image 0" descr="The agent's route for 20 tUSD: 11.42 through venue 0 and 3.95 through venue 1 directly to tEUR, 4.63 through venue 2 to tETH and on through venue 3 to tEUR; venue 4, an off-market 1% pool, unused but still inside the bound">    </p:cNvPr>
          <p:cNvPicPr>
            <a:picLocks noChangeAspect="1"/>
          </p:cNvPicPr>
          <p:nvPr/>
        </p:nvPicPr>
        <p:blipFill>
          <a:blip r:embed="rId1"/>
          <a:stretch>
            <a:fillRect/>
          </a:stretch>
        </p:blipFill>
        <p:spPr>
          <a:xfrm>
            <a:off x="812800" y="2337991"/>
            <a:ext cx="6350000" cy="3302000"/>
          </a:xfrm>
          <a:prstGeom prst="rect">
            <a:avLst/>
          </a:prstGeom>
        </p:spPr>
      </p:pic>
      <p:sp>
        <p:nvSpPr>
          <p:cNvPr id="5" name="Shape 2"/>
          <p:cNvSpPr/>
          <p:nvPr/>
        </p:nvSpPr>
        <p:spPr>
          <a:xfrm>
            <a:off x="7416800" y="2337991"/>
            <a:ext cx="3962400" cy="2731691"/>
          </a:xfrm>
          <a:prstGeom prst="roundRect">
            <a:avLst>
              <a:gd name="adj" fmla="val 1860"/>
            </a:avLst>
          </a:prstGeom>
          <a:solidFill>
            <a:srgbClr val="13233F"/>
          </a:solidFill>
          <a:ln/>
        </p:spPr>
      </p:sp>
      <p:sp>
        <p:nvSpPr>
          <p:cNvPr id="6" name="Text 3"/>
          <p:cNvSpPr txBox="1"/>
          <p:nvPr/>
        </p:nvSpPr>
        <p:spPr>
          <a:xfrm>
            <a:off x="7645400" y="2566591"/>
            <a:ext cx="3575304" cy="609600"/>
          </a:xfrm>
          <a:prstGeom prst="rect">
            <a:avLst/>
          </a:prstGeom>
          <a:noFill/>
          <a:ln/>
        </p:spPr>
        <p:txBody>
          <a:bodyPr wrap="square" lIns="0" tIns="0" rIns="0" bIns="0" rtlCol="0" anchor="t"/>
          <a:lstStyle/>
          <a:p>
            <a:pPr algn="l" indent="0" marL="0">
              <a:lnSpc>
                <a:spcPts val="4800"/>
              </a:lnSpc>
              <a:buNone/>
            </a:pPr>
            <a:r>
              <a:rPr lang="en-US" sz="4800" dirty="0">
                <a:solidFill>
                  <a:srgbClr val="46C4B0"/>
                </a:solidFill>
                <a:latin typeface="Cambria" pitchFamily="34" charset="0"/>
                <a:ea typeface="Cambria" pitchFamily="34" charset="-122"/>
                <a:cs typeface="Cambria" pitchFamily="34" charset="-120"/>
              </a:rPr>
              <a:t>0.17 ppm</a:t>
            </a:r>
            <a:endParaRPr lang="en-US" sz="4800" dirty="0"/>
          </a:p>
        </p:txBody>
      </p:sp>
      <p:sp>
        <p:nvSpPr>
          <p:cNvPr id="7" name="Text 4"/>
          <p:cNvSpPr txBox="1"/>
          <p:nvPr/>
        </p:nvSpPr>
        <p:spPr>
          <a:xfrm>
            <a:off x="7645400" y="3290491"/>
            <a:ext cx="3575304"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from the most any route through the owner's five venues could have returned</a:t>
            </a:r>
            <a:endParaRPr lang="en-US" sz="1200" dirty="0"/>
          </a:p>
        </p:txBody>
      </p:sp>
      <p:sp>
        <p:nvSpPr>
          <p:cNvPr id="8" name="Shape 5"/>
          <p:cNvSpPr/>
          <p:nvPr/>
        </p:nvSpPr>
        <p:spPr>
          <a:xfrm>
            <a:off x="7645400" y="3834606"/>
            <a:ext cx="3505200" cy="0"/>
          </a:xfrm>
          <a:prstGeom prst="line">
            <a:avLst/>
          </a:prstGeom>
          <a:noFill/>
          <a:ln w="6350">
            <a:solidFill>
              <a:srgbClr val="2E4A72"/>
            </a:solidFill>
            <a:prstDash val="solid"/>
          </a:ln>
        </p:spPr>
      </p:sp>
      <p:sp>
        <p:nvSpPr>
          <p:cNvPr id="9" name="Text 6"/>
          <p:cNvSpPr txBox="1"/>
          <p:nvPr/>
        </p:nvSpPr>
        <p:spPr>
          <a:xfrm>
            <a:off x="7645400" y="3952081"/>
            <a:ext cx="1257300" cy="36830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The proof</a:t>
            </a:r>
            <a:endParaRPr lang="en-US" sz="1200" dirty="0"/>
          </a:p>
        </p:txBody>
      </p:sp>
      <p:sp>
        <p:nvSpPr>
          <p:cNvPr id="10" name="Text 7"/>
          <p:cNvSpPr txBox="1"/>
          <p:nvPr/>
        </p:nvSpPr>
        <p:spPr>
          <a:xfrm>
            <a:off x="8928100" y="3952081"/>
            <a:ext cx="2273300" cy="36830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three prices: ν(tUSD) 0.891672 · ν(tETH) 2,724.50 · ν(tEUR) 1</a:t>
            </a:r>
            <a:endParaRPr lang="en-US" sz="1200" dirty="0"/>
          </a:p>
        </p:txBody>
      </p:sp>
      <p:sp>
        <p:nvSpPr>
          <p:cNvPr id="11" name="Text 8"/>
          <p:cNvSpPr txBox="1"/>
          <p:nvPr/>
        </p:nvSpPr>
        <p:spPr>
          <a:xfrm>
            <a:off x="7645400" y="4396581"/>
            <a:ext cx="1257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Checked by</a:t>
            </a:r>
            <a:endParaRPr lang="en-US" sz="1200" dirty="0"/>
          </a:p>
        </p:txBody>
      </p:sp>
      <p:sp>
        <p:nvSpPr>
          <p:cNvPr id="12" name="Text 9"/>
          <p:cNvSpPr txBox="1"/>
          <p:nvPr/>
        </p:nvSpPr>
        <p:spPr>
          <a:xfrm>
            <a:off x="8928100" y="4396581"/>
            <a:ext cx="2273300"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QEDExecution, same transaction</a:t>
            </a:r>
            <a:endParaRPr lang="en-US" sz="1200" dirty="0"/>
          </a:p>
        </p:txBody>
      </p:sp>
      <p:sp>
        <p:nvSpPr>
          <p:cNvPr id="13" name="Text 10"/>
          <p:cNvSpPr txBox="1"/>
          <p:nvPr/>
        </p:nvSpPr>
        <p:spPr>
          <a:xfrm>
            <a:off x="7645400" y="4656931"/>
            <a:ext cx="1257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Transaction</a:t>
            </a:r>
            <a:endParaRPr lang="en-US" sz="1200" dirty="0"/>
          </a:p>
        </p:txBody>
      </p:sp>
      <p:sp>
        <p:nvSpPr>
          <p:cNvPr id="14" name="Text 11"/>
          <p:cNvSpPr txBox="1"/>
          <p:nvPr/>
        </p:nvSpPr>
        <p:spPr>
          <a:xfrm>
            <a:off x="8928100" y="4656931"/>
            <a:ext cx="2273300"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ourier New" pitchFamily="34" charset="0"/>
                <a:ea typeface="Courier New" pitchFamily="34" charset="-122"/>
                <a:cs typeface="Courier New" pitchFamily="34" charset="-120"/>
              </a:rPr>
              <a:t>0x56f798cd…9690</a:t>
            </a:r>
            <a:endParaRPr lang="en-US" sz="1200" dirty="0"/>
          </a:p>
        </p:txBody>
      </p:sp>
      <p:sp>
        <p:nvSpPr>
          <p:cNvPr id="15" name="Text 1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Amounts in tUSD → tEUR · block 11,952,708 · 1,122,781 gas</a:t>
            </a:r>
            <a:endParaRPr lang="en-US" sz="1200" dirty="0"/>
          </a:p>
        </p:txBody>
      </p:sp>
      <p:sp>
        <p:nvSpPr>
          <p:cNvPr id="16" name="Text 13"/>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MECHANISM · QEDEXECUTION.TRADE</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agent routes freely. The contract checks one inequality.</a:t>
            </a:r>
            <a:endParaRPr lang="en-US" sz="3200" dirty="0"/>
          </a:p>
        </p:txBody>
      </p:sp>
      <p:sp>
        <p:nvSpPr>
          <p:cNvPr id="4" name="Shape 2"/>
          <p:cNvSpPr/>
          <p:nvPr/>
        </p:nvSpPr>
        <p:spPr>
          <a:xfrm>
            <a:off x="812800" y="1870670"/>
            <a:ext cx="3437434" cy="1232991"/>
          </a:xfrm>
          <a:prstGeom prst="roundRect">
            <a:avLst>
              <a:gd name="adj" fmla="val 4120"/>
            </a:avLst>
          </a:prstGeom>
          <a:solidFill>
            <a:srgbClr val="FBFCFC"/>
          </a:solidFill>
          <a:ln w="6350">
            <a:solidFill>
              <a:srgbClr val="D6DEE1"/>
            </a:solidFill>
            <a:prstDash val="solid"/>
          </a:ln>
        </p:spPr>
      </p:sp>
      <p:sp>
        <p:nvSpPr>
          <p:cNvPr id="5" name="Text 3"/>
          <p:cNvSpPr txBox="1"/>
          <p:nvPr/>
        </p:nvSpPr>
        <p:spPr>
          <a:xfrm>
            <a:off x="984250" y="2042120"/>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1 · Order</a:t>
            </a:r>
            <a:endParaRPr lang="en-US" sz="1500" dirty="0"/>
          </a:p>
        </p:txBody>
      </p:sp>
      <p:sp>
        <p:nvSpPr>
          <p:cNvPr id="6" name="Text 4"/>
          <p:cNvSpPr txBox="1"/>
          <p:nvPr/>
        </p:nvSpPr>
        <p:spPr>
          <a:xfrm>
            <a:off x="984250" y="2315170"/>
            <a:ext cx="3156424"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 co-signer's certificate commits to hash(order): recipient in the owner's mandate, its own floor, τ, the venue set.</a:t>
            </a:r>
            <a:endParaRPr lang="en-US" sz="1200" dirty="0"/>
          </a:p>
        </p:txBody>
      </p:sp>
      <p:sp>
        <p:nvSpPr>
          <p:cNvPr id="7" name="Shape 5"/>
          <p:cNvSpPr/>
          <p:nvPr/>
        </p:nvSpPr>
        <p:spPr>
          <a:xfrm>
            <a:off x="4377234" y="1870670"/>
            <a:ext cx="3437434" cy="1232991"/>
          </a:xfrm>
          <a:prstGeom prst="roundRect">
            <a:avLst>
              <a:gd name="adj" fmla="val 4120"/>
            </a:avLst>
          </a:prstGeom>
          <a:solidFill>
            <a:srgbClr val="FBFCFC"/>
          </a:solidFill>
          <a:ln w="6350">
            <a:solidFill>
              <a:srgbClr val="D6DEE1"/>
            </a:solidFill>
            <a:prstDash val="solid"/>
          </a:ln>
        </p:spPr>
      </p:sp>
      <p:sp>
        <p:nvSpPr>
          <p:cNvPr id="8" name="Text 6"/>
          <p:cNvSpPr txBox="1"/>
          <p:nvPr/>
        </p:nvSpPr>
        <p:spPr>
          <a:xfrm>
            <a:off x="4548684" y="2042120"/>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2 · Bound</a:t>
            </a:r>
            <a:endParaRPr lang="en-US" sz="1500" dirty="0"/>
          </a:p>
        </p:txBody>
      </p:sp>
      <p:sp>
        <p:nvSpPr>
          <p:cNvPr id="9" name="Text 7"/>
          <p:cNvSpPr txBox="1"/>
          <p:nvPr/>
        </p:nvSpPr>
        <p:spPr>
          <a:xfrm>
            <a:off x="4548684" y="2315170"/>
            <a:ext cx="3156424"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B̂(ν) from the live reserves of every owner venue, not only those used, every step rounded up.</a:t>
            </a:r>
            <a:endParaRPr lang="en-US" sz="1200" dirty="0"/>
          </a:p>
        </p:txBody>
      </p:sp>
      <p:sp>
        <p:nvSpPr>
          <p:cNvPr id="10" name="Shape 8"/>
          <p:cNvSpPr/>
          <p:nvPr/>
        </p:nvSpPr>
        <p:spPr>
          <a:xfrm>
            <a:off x="7941667" y="1870670"/>
            <a:ext cx="3437434" cy="1232991"/>
          </a:xfrm>
          <a:prstGeom prst="roundRect">
            <a:avLst>
              <a:gd name="adj" fmla="val 4120"/>
            </a:avLst>
          </a:prstGeom>
          <a:solidFill>
            <a:srgbClr val="FBFCFC"/>
          </a:solidFill>
          <a:ln w="6350">
            <a:solidFill>
              <a:srgbClr val="D6DEE1"/>
            </a:solidFill>
            <a:prstDash val="solid"/>
          </a:ln>
        </p:spPr>
      </p:sp>
      <p:sp>
        <p:nvSpPr>
          <p:cNvPr id="11" name="Text 9"/>
          <p:cNvSpPr txBox="1"/>
          <p:nvPr/>
        </p:nvSpPr>
        <p:spPr>
          <a:xfrm>
            <a:off x="8113117" y="2042120"/>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3 · Funding</a:t>
            </a:r>
            <a:endParaRPr lang="en-US" sz="1500" dirty="0"/>
          </a:p>
        </p:txBody>
      </p:sp>
      <p:sp>
        <p:nvSpPr>
          <p:cNvPr id="12" name="Text 10"/>
          <p:cNvSpPr txBox="1"/>
          <p:nvPr/>
        </p:nvSpPr>
        <p:spPr>
          <a:xfrm>
            <a:off x="8113117" y="2315170"/>
            <a:ext cx="3156424"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 unchanged QEDVault pays exactly A: mandate, co-signature, caps and solvency all still apply.</a:t>
            </a:r>
            <a:endParaRPr lang="en-US" sz="1200" dirty="0"/>
          </a:p>
        </p:txBody>
      </p:sp>
      <p:sp>
        <p:nvSpPr>
          <p:cNvPr id="13" name="Shape 11"/>
          <p:cNvSpPr/>
          <p:nvPr/>
        </p:nvSpPr>
        <p:spPr>
          <a:xfrm>
            <a:off x="812800" y="3230662"/>
            <a:ext cx="3437434" cy="1245691"/>
          </a:xfrm>
          <a:prstGeom prst="roundRect">
            <a:avLst>
              <a:gd name="adj" fmla="val 4078"/>
            </a:avLst>
          </a:prstGeom>
          <a:solidFill>
            <a:srgbClr val="FBFCFC"/>
          </a:solidFill>
          <a:ln w="6350">
            <a:solidFill>
              <a:srgbClr val="D6DEE1"/>
            </a:solidFill>
            <a:prstDash val="solid"/>
          </a:ln>
        </p:spPr>
      </p:sp>
      <p:sp>
        <p:nvSpPr>
          <p:cNvPr id="14" name="Text 12"/>
          <p:cNvSpPr txBox="1"/>
          <p:nvPr/>
        </p:nvSpPr>
        <p:spPr>
          <a:xfrm>
            <a:off x="984250" y="3402112"/>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4 · Route</a:t>
            </a:r>
            <a:endParaRPr lang="en-US" sz="1500" dirty="0"/>
          </a:p>
        </p:txBody>
      </p:sp>
      <p:sp>
        <p:nvSpPr>
          <p:cNvPr id="15" name="Text 13"/>
          <p:cNvSpPr txBox="1"/>
          <p:nvPr/>
        </p:nvSpPr>
        <p:spPr>
          <a:xfrm>
            <a:off x="984250" y="3675162"/>
            <a:ext cx="3156424"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Up to 32 hops of any shape: splits, multi-hop, the same pool twice.</a:t>
            </a:r>
            <a:endParaRPr lang="en-US" sz="1200" dirty="0"/>
          </a:p>
        </p:txBody>
      </p:sp>
      <p:sp>
        <p:nvSpPr>
          <p:cNvPr id="16" name="Shape 14"/>
          <p:cNvSpPr/>
          <p:nvPr/>
        </p:nvSpPr>
        <p:spPr>
          <a:xfrm>
            <a:off x="4377234" y="3230662"/>
            <a:ext cx="3437434" cy="1245691"/>
          </a:xfrm>
          <a:prstGeom prst="roundRect">
            <a:avLst>
              <a:gd name="adj" fmla="val 4078"/>
            </a:avLst>
          </a:prstGeom>
          <a:solidFill>
            <a:srgbClr val="FBFCFC"/>
          </a:solidFill>
          <a:ln w="6350">
            <a:solidFill>
              <a:srgbClr val="D6DEE1"/>
            </a:solidFill>
            <a:prstDash val="solid"/>
          </a:ln>
        </p:spPr>
      </p:sp>
      <p:sp>
        <p:nvSpPr>
          <p:cNvPr id="17" name="Text 15"/>
          <p:cNvSpPr txBox="1"/>
          <p:nvPr/>
        </p:nvSpPr>
        <p:spPr>
          <a:xfrm>
            <a:off x="4548684" y="3402112"/>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5 · Nothing left</a:t>
            </a:r>
            <a:endParaRPr lang="en-US" sz="1500" dirty="0"/>
          </a:p>
        </p:txBody>
      </p:sp>
      <p:sp>
        <p:nvSpPr>
          <p:cNvPr id="18" name="Text 16"/>
          <p:cNvSpPr txBox="1"/>
          <p:nvPr/>
        </p:nvSpPr>
        <p:spPr>
          <a:xfrm>
            <a:off x="4548684" y="3675162"/>
            <a:ext cx="3156424"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No intermediate token may stay behind; unspent input goes back to the vault.</a:t>
            </a:r>
            <a:endParaRPr lang="en-US" sz="1200" dirty="0"/>
          </a:p>
        </p:txBody>
      </p:sp>
      <p:sp>
        <p:nvSpPr>
          <p:cNvPr id="19" name="Shape 17"/>
          <p:cNvSpPr/>
          <p:nvPr/>
        </p:nvSpPr>
        <p:spPr>
          <a:xfrm>
            <a:off x="7941667" y="3230662"/>
            <a:ext cx="3437434" cy="1245691"/>
          </a:xfrm>
          <a:prstGeom prst="roundRect">
            <a:avLst>
              <a:gd name="adj" fmla="val 4078"/>
            </a:avLst>
          </a:prstGeom>
          <a:solidFill>
            <a:srgbClr val="E3F0EE"/>
          </a:solidFill>
          <a:ln w="12700">
            <a:solidFill>
              <a:srgbClr val="0A7468"/>
            </a:solidFill>
            <a:prstDash val="solid"/>
          </a:ln>
        </p:spPr>
      </p:sp>
      <p:sp>
        <p:nvSpPr>
          <p:cNvPr id="20" name="Text 18"/>
          <p:cNvSpPr txBox="1"/>
          <p:nvPr/>
        </p:nvSpPr>
        <p:spPr>
          <a:xfrm>
            <a:off x="8119467" y="3408462"/>
            <a:ext cx="3143470"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6 · Two checks</a:t>
            </a:r>
            <a:endParaRPr lang="en-US" sz="1500" dirty="0"/>
          </a:p>
        </p:txBody>
      </p:sp>
      <p:sp>
        <p:nvSpPr>
          <p:cNvPr id="21" name="Text 19"/>
          <p:cNvSpPr txBox="1"/>
          <p:nvPr/>
        </p:nvSpPr>
        <p:spPr>
          <a:xfrm>
            <a:off x="8119467" y="3681512"/>
            <a:ext cx="3143470"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out ≥ floor (market risk) and out·10⁶ ≥ B̂·(10⁶ − τ) (best execution), out measured as a balance change.</a:t>
            </a:r>
            <a:endParaRPr lang="en-US" sz="1200" dirty="0"/>
          </a:p>
        </p:txBody>
      </p:sp>
      <p:sp>
        <p:nvSpPr>
          <p:cNvPr id="22" name="Shape 20"/>
          <p:cNvSpPr/>
          <p:nvPr/>
        </p:nvSpPr>
        <p:spPr>
          <a:xfrm>
            <a:off x="812800" y="4682728"/>
            <a:ext cx="10566400" cy="0"/>
          </a:xfrm>
          <a:prstGeom prst="line">
            <a:avLst/>
          </a:prstGeom>
          <a:noFill/>
          <a:ln w="6350">
            <a:solidFill>
              <a:srgbClr val="D6DEE1"/>
            </a:solidFill>
            <a:prstDash val="solid"/>
          </a:ln>
        </p:spPr>
      </p:sp>
      <p:sp>
        <p:nvSpPr>
          <p:cNvPr id="23" name="Text 21"/>
          <p:cNvSpPr txBox="1"/>
          <p:nvPr/>
        </p:nvSpPr>
        <p:spPr>
          <a:xfrm>
            <a:off x="812800" y="4838303"/>
            <a:ext cx="10777728" cy="297180"/>
          </a:xfrm>
          <a:prstGeom prst="rect">
            <a:avLst/>
          </a:prstGeom>
          <a:noFill/>
          <a:ln/>
        </p:spPr>
        <p:txBody>
          <a:bodyPr wrap="square" lIns="0" tIns="0" rIns="0" bIns="0" rtlCol="0" anchor="t"/>
          <a:lstStyle/>
          <a:p>
            <a:pPr algn="l" indent="0" marL="0">
              <a:lnSpc>
                <a:spcPts val="2340"/>
              </a:lnSpc>
              <a:buNone/>
            </a:pPr>
            <a:r>
              <a:rPr lang="en-US" sz="1800" dirty="0">
                <a:solidFill>
                  <a:srgbClr val="13233F"/>
                </a:solidFill>
                <a:latin typeface="Cambria" pitchFamily="34" charset="0"/>
                <a:ea typeface="Cambria" pitchFamily="34" charset="-122"/>
                <a:cs typeface="Cambria" pitchFamily="34" charset="-120"/>
              </a:rPr>
              <a:t>Every accepted trade delivered at least (1 − τ)·OPT on the state it executed against, whatever route the agent chose.</a:t>
            </a:r>
            <a:endParaRPr lang="en-US" sz="1800" dirty="0"/>
          </a:p>
        </p:txBody>
      </p:sp>
      <p:sp>
        <p:nvSpPr>
          <p:cNvPr id="24" name="Text 2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Proof: docs/ALGORITHMS.md §12 · contract: contracts/src/QEDExecution.sol</a:t>
            </a:r>
            <a:endParaRPr lang="en-US" sz="1200" dirty="0"/>
          </a:p>
        </p:txBody>
      </p:sp>
      <p:sp>
        <p:nvSpPr>
          <p:cNvPr id="25" name="Text 23"/>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1262E"/>
                </a:solidFill>
                <a:latin typeface="Calibri" pitchFamily="34" charset="0"/>
                <a:ea typeface="Calibri" pitchFamily="34" charset="-122"/>
                <a:cs typeface="Calibri" pitchFamily="34" charset="-120"/>
              </a:rPr>
              <a:t>A COMPROMISED AGENT, ONE CO-SIGNED ORDER</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Every leak a slippage limit allows, refused on-chain</a:t>
            </a:r>
            <a:endParaRPr lang="en-US" sz="3200" dirty="0"/>
          </a:p>
        </p:txBody>
      </p:sp>
      <p:pic>
        <p:nvPicPr>
          <p:cNvPr id="4" name="Image 0" descr="Shortfall below the on-chain bound on a log scale. A 1% slippage floor accepts everything left of 100 bps; QED accepts only what is left of 0.01 bps. The honest route at 0.17 ppm was accepted; a 0.47 bp skim and a direct-only route 33 bps short were rejected with NotBestExecution although a 1% floor would accept them; a single-pool route 118 bps short was rejected by the floor">    </p:cNvPr>
          <p:cNvPicPr>
            <a:picLocks noChangeAspect="1"/>
          </p:cNvPicPr>
          <p:nvPr/>
        </p:nvPicPr>
        <p:blipFill>
          <a:blip r:embed="rId1"/>
          <a:stretch>
            <a:fillRect/>
          </a:stretch>
        </p:blipFill>
        <p:spPr>
          <a:xfrm>
            <a:off x="812800" y="1819870"/>
            <a:ext cx="10566400" cy="2413000"/>
          </a:xfrm>
          <a:prstGeom prst="rect">
            <a:avLst/>
          </a:prstGeom>
        </p:spPr>
      </p:pic>
      <p:sp>
        <p:nvSpPr>
          <p:cNvPr id="5" name="Shape 2"/>
          <p:cNvSpPr/>
          <p:nvPr/>
        </p:nvSpPr>
        <p:spPr>
          <a:xfrm>
            <a:off x="812800" y="4413845"/>
            <a:ext cx="10566400" cy="0"/>
          </a:xfrm>
          <a:prstGeom prst="line">
            <a:avLst/>
          </a:prstGeom>
          <a:noFill/>
          <a:ln w="6350">
            <a:solidFill>
              <a:srgbClr val="D6DEE1"/>
            </a:solidFill>
            <a:prstDash val="solid"/>
          </a:ln>
        </p:spPr>
      </p:sp>
      <p:sp>
        <p:nvSpPr>
          <p:cNvPr id="6" name="Text 3"/>
          <p:cNvSpPr txBox="1"/>
          <p:nvPr/>
        </p:nvSpPr>
        <p:spPr>
          <a:xfrm>
            <a:off x="812800" y="4544020"/>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“Forged” prices to bless a bad route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NotBestExecution</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(EA3)</a:t>
            </a:r>
            <a:endParaRPr lang="en-US" sz="1200" dirty="0"/>
          </a:p>
        </p:txBody>
      </p:sp>
      <p:sp>
        <p:nvSpPr>
          <p:cNvPr id="7" name="Text 4"/>
          <p:cNvSpPr txBox="1"/>
          <p:nvPr/>
        </p:nvSpPr>
        <p:spPr>
          <a:xfrm>
            <a:off x="4419600" y="4544020"/>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Strand the bridge token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Leftover</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(EA4)</a:t>
            </a:r>
            <a:endParaRPr lang="en-US" sz="1200" dirty="0"/>
          </a:p>
        </p:txBody>
      </p:sp>
      <p:sp>
        <p:nvSpPr>
          <p:cNvPr id="8" name="Text 5"/>
          <p:cNvSpPr txBox="1"/>
          <p:nvPr/>
        </p:nvSpPr>
        <p:spPr>
          <a:xfrm>
            <a:off x="8026400" y="4544020"/>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Redirect the output to Mallory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OrderMismatch</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(EA6)</a:t>
            </a:r>
            <a:endParaRPr lang="en-US" sz="1200" dirty="0"/>
          </a:p>
        </p:txBody>
      </p:sp>
      <p:sp>
        <p:nvSpPr>
          <p:cNvPr id="9" name="Text 6"/>
          <p:cNvSpPr txBox="1"/>
          <p:nvPr/>
        </p:nvSpPr>
        <p:spPr>
          <a:xfrm>
            <a:off x="812800" y="5056981"/>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Call without the agent key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NotOperator</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(EA7)</a:t>
            </a:r>
            <a:endParaRPr lang="en-US" sz="1200" dirty="0"/>
          </a:p>
        </p:txBody>
      </p:sp>
      <p:sp>
        <p:nvSpPr>
          <p:cNvPr id="10" name="Text 7"/>
          <p:cNvSpPr txBox="1"/>
          <p:nvPr/>
        </p:nvSpPr>
        <p:spPr>
          <a:xfrm>
            <a:off x="4419600" y="5056981"/>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Front-run the signed order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InsufficientOutput</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(EA8)</a:t>
            </a:r>
            <a:endParaRPr lang="en-US" sz="1200" dirty="0"/>
          </a:p>
        </p:txBody>
      </p:sp>
      <p:sp>
        <p:nvSpPr>
          <p:cNvPr id="11" name="Text 8"/>
          <p:cNvSpPr txBox="1"/>
          <p:nvPr/>
        </p:nvSpPr>
        <p:spPr>
          <a:xfrm>
            <a:off x="8026400" y="5056981"/>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Then the agent re-plans and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declines</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to trade into the moved market (A10)</a:t>
            </a:r>
            <a:endParaRPr lang="en-US" sz="1200" dirty="0"/>
          </a:p>
        </p:txBody>
      </p:sp>
      <p:sp>
        <p:nvSpPr>
          <p:cNvPr id="12" name="Text 9"/>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All on Sepolia under one genuine co-signed order; the honest route then went through with the same certificate</a:t>
            </a:r>
            <a:endParaRPr lang="en-US" sz="1200" dirty="0"/>
          </a:p>
        </p:txBody>
      </p:sp>
      <p:sp>
        <p:nvSpPr>
          <p:cNvPr id="13" name="Text 10"/>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AUTONOMY · SEPOLIA RUNS 4C AND 4D</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One signed policy. The agent decided when and how much.</a:t>
            </a:r>
            <a:endParaRPr lang="en-US" sz="3200" dirty="0"/>
          </a:p>
        </p:txBody>
      </p:sp>
      <p:sp>
        <p:nvSpPr>
          <p:cNvPr id="4" name="Shape 2"/>
          <p:cNvSpPr/>
          <p:nvPr/>
        </p:nvSpPr>
        <p:spPr>
          <a:xfrm>
            <a:off x="812800" y="1870670"/>
            <a:ext cx="3556000" cy="3121025"/>
          </a:xfrm>
          <a:prstGeom prst="roundRect">
            <a:avLst>
              <a:gd name="adj" fmla="val 1628"/>
            </a:avLst>
          </a:prstGeom>
          <a:solidFill>
            <a:srgbClr val="13233F"/>
          </a:solidFill>
          <a:ln/>
        </p:spPr>
      </p:sp>
      <p:sp>
        <p:nvSpPr>
          <p:cNvPr id="5" name="Text 3"/>
          <p:cNvSpPr txBox="1"/>
          <p:nvPr/>
        </p:nvSpPr>
        <p:spPr>
          <a:xfrm>
            <a:off x="1041400" y="2099270"/>
            <a:ext cx="316077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STANDING POLICY · SIGNED ONCE</a:t>
            </a:r>
            <a:endParaRPr lang="en-US" sz="1200" dirty="0"/>
          </a:p>
        </p:txBody>
      </p:sp>
      <p:sp>
        <p:nvSpPr>
          <p:cNvPr id="6" name="Text 4"/>
          <p:cNvSpPr txBox="1"/>
          <p:nvPr/>
        </p:nvSpPr>
        <p:spPr>
          <a:xfrm>
            <a:off x="1041400" y="2397720"/>
            <a:ext cx="3160776" cy="771525"/>
          </a:xfrm>
          <a:prstGeom prst="rect">
            <a:avLst/>
          </a:prstGeom>
          <a:noFill/>
          <a:ln/>
        </p:spPr>
        <p:txBody>
          <a:bodyPr wrap="square" lIns="0" tIns="0" rIns="0" bIns="0" rtlCol="0" anchor="t"/>
          <a:lstStyle/>
          <a:p>
            <a:pPr algn="l" indent="0" marL="0">
              <a:lnSpc>
                <a:spcPts val="2030"/>
              </a:lnSpc>
              <a:buNone/>
            </a:pPr>
            <a:r>
              <a:rPr lang="en-US" sz="1500" dirty="0">
                <a:solidFill>
                  <a:srgbClr val="E4ECF1"/>
                </a:solidFill>
                <a:latin typeface="Calibri" pitchFamily="34" charset="0"/>
                <a:ea typeface="Calibri" pitchFamily="34" charset="-122"/>
                <a:cs typeface="Calibri" pitchFamily="34" charset="-120"/>
              </a:rPr>
              <a:t>Keep at least </a:t>
            </a:r>
            <a:pPr algn="l" indent="0" marL="0">
              <a:lnSpc>
                <a:spcPts val="2030"/>
              </a:lnSpc>
              <a:buNone/>
            </a:pPr>
            <a:r>
              <a:rPr lang="en-US" sz="1500" b="1" dirty="0">
                <a:solidFill>
                  <a:srgbClr val="E4ECF1"/>
                </a:solidFill>
                <a:latin typeface="Calibri" pitchFamily="34" charset="0"/>
                <a:ea typeface="Calibri" pitchFamily="34" charset="-122"/>
                <a:cs typeface="Calibri" pitchFamily="34" charset="-120"/>
              </a:rPr>
              <a:t>45 tEUR</a:t>
            </a:r>
            <a:pPr algn="l" indent="0" marL="0">
              <a:lnSpc>
                <a:spcPts val="2030"/>
              </a:lnSpc>
              <a:buNone/>
            </a:pPr>
            <a:r>
              <a:rPr lang="en-US" sz="1500" dirty="0">
                <a:solidFill>
                  <a:srgbClr val="E4ECF1"/>
                </a:solidFill>
                <a:latin typeface="Calibri" pitchFamily="34" charset="0"/>
                <a:ea typeface="Calibri" pitchFamily="34" charset="-122"/>
                <a:cs typeface="Calibri" pitchFamily="34" charset="-120"/>
              </a:rPr>
              <a:t> free in the euro reserve. Tranches of 2–25 tUSD. At most </a:t>
            </a:r>
            <a:pPr algn="l" indent="0" marL="0">
              <a:lnSpc>
                <a:spcPts val="2030"/>
              </a:lnSpc>
              <a:buNone/>
            </a:pPr>
            <a:r>
              <a:rPr lang="en-US" sz="1500" b="1" dirty="0">
                <a:solidFill>
                  <a:srgbClr val="E4ECF1"/>
                </a:solidFill>
                <a:latin typeface="Calibri" pitchFamily="34" charset="0"/>
                <a:ea typeface="Calibri" pitchFamily="34" charset="-122"/>
                <a:cs typeface="Calibri" pitchFamily="34" charset="-120"/>
              </a:rPr>
              <a:t>150 bps</a:t>
            </a:r>
            <a:pPr algn="l" indent="0" marL="0">
              <a:lnSpc>
                <a:spcPts val="2030"/>
              </a:lnSpc>
              <a:buNone/>
            </a:pPr>
            <a:r>
              <a:rPr lang="en-US" sz="1500" dirty="0">
                <a:solidFill>
                  <a:srgbClr val="E4ECF1"/>
                </a:solidFill>
                <a:latin typeface="Calibri" pitchFamily="34" charset="0"/>
                <a:ea typeface="Calibri" pitchFamily="34" charset="-122"/>
                <a:cs typeface="Calibri" pitchFamily="34" charset="-120"/>
              </a:rPr>
              <a:t> execution cost each.</a:t>
            </a:r>
            <a:endParaRPr lang="en-US" sz="1500" dirty="0"/>
          </a:p>
        </p:txBody>
      </p:sp>
      <p:sp>
        <p:nvSpPr>
          <p:cNvPr id="7" name="Shape 5"/>
          <p:cNvSpPr/>
          <p:nvPr/>
        </p:nvSpPr>
        <p:spPr>
          <a:xfrm>
            <a:off x="1041400" y="3286720"/>
            <a:ext cx="3098800" cy="0"/>
          </a:xfrm>
          <a:prstGeom prst="line">
            <a:avLst/>
          </a:prstGeom>
          <a:noFill/>
          <a:ln w="6350">
            <a:solidFill>
              <a:srgbClr val="2E4A72"/>
            </a:solidFill>
            <a:prstDash val="solid"/>
          </a:ln>
        </p:spPr>
      </p:sp>
      <p:sp>
        <p:nvSpPr>
          <p:cNvPr id="8" name="Text 6"/>
          <p:cNvSpPr txBox="1"/>
          <p:nvPr/>
        </p:nvSpPr>
        <p:spPr>
          <a:xfrm>
            <a:off x="1041400" y="3404195"/>
            <a:ext cx="3160776"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Each tick the agent converts</a:t>
            </a:r>
            <a:endParaRPr lang="en-US" sz="1200" dirty="0"/>
          </a:p>
        </p:txBody>
      </p:sp>
      <p:sp>
        <p:nvSpPr>
          <p:cNvPr id="9" name="Text 7"/>
          <p:cNvSpPr txBox="1"/>
          <p:nvPr/>
        </p:nvSpPr>
        <p:spPr>
          <a:xfrm>
            <a:off x="1041400" y="3651845"/>
            <a:ext cx="3160776" cy="495300"/>
          </a:xfrm>
          <a:prstGeom prst="rect">
            <a:avLst/>
          </a:prstGeom>
          <a:noFill/>
          <a:ln/>
        </p:spPr>
        <p:txBody>
          <a:bodyPr wrap="square" lIns="0" tIns="0" rIns="0" bIns="0" rtlCol="0" anchor="t"/>
          <a:lstStyle/>
          <a:p>
            <a:pPr algn="l" indent="0" marL="0">
              <a:lnSpc>
                <a:spcPts val="1950"/>
              </a:lnSpc>
              <a:buNone/>
            </a:pPr>
            <a:r>
              <a:rPr lang="en-US" sz="1500" dirty="0">
                <a:solidFill>
                  <a:srgbClr val="E4ECF1"/>
                </a:solidFill>
                <a:latin typeface="Cambria" pitchFamily="34" charset="0"/>
                <a:ea typeface="Cambria" pitchFamily="34" charset="-122"/>
                <a:cs typeface="Cambria" pitchFamily="34" charset="-120"/>
              </a:rPr>
              <a:t>X = min(need, impact, policy cap, mandate cap, free funds)</a:t>
            </a:r>
            <a:endParaRPr lang="en-US" sz="1500" dirty="0"/>
          </a:p>
        </p:txBody>
      </p:sp>
      <p:sp>
        <p:nvSpPr>
          <p:cNvPr id="10" name="Text 8"/>
          <p:cNvSpPr txBox="1"/>
          <p:nvPr/>
        </p:nvSpPr>
        <p:spPr>
          <a:xfrm>
            <a:off x="1041400" y="4210645"/>
            <a:ext cx="3160776" cy="5524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and waits if X &lt; 2 tUSD. The co-signer re-derives X before it signs; since Run 4d a contract refuses any tranche the policy does not need.</a:t>
            </a:r>
            <a:endParaRPr lang="en-US" sz="1200" dirty="0"/>
          </a:p>
        </p:txBody>
      </p:sp>
      <p:sp>
        <p:nvSpPr>
          <p:cNvPr id="11" name="Shape 9"/>
          <p:cNvSpPr/>
          <p:nvPr/>
        </p:nvSpPr>
        <p:spPr>
          <a:xfrm>
            <a:off x="4622800" y="2513806"/>
            <a:ext cx="6756400" cy="0"/>
          </a:xfrm>
          <a:prstGeom prst="line">
            <a:avLst/>
          </a:prstGeom>
          <a:noFill/>
          <a:ln w="6350">
            <a:solidFill>
              <a:srgbClr val="D6DEE1"/>
            </a:solidFill>
            <a:prstDash val="solid"/>
          </a:ln>
        </p:spPr>
      </p:sp>
      <p:sp>
        <p:nvSpPr>
          <p:cNvPr id="12" name="Text 10"/>
          <p:cNvSpPr txBox="1"/>
          <p:nvPr/>
        </p:nvSpPr>
        <p:spPr>
          <a:xfrm>
            <a:off x="4622800" y="1984970"/>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B1262E"/>
                </a:solidFill>
                <a:latin typeface="Calibri" pitchFamily="34" charset="0"/>
                <a:ea typeface="Calibri" pitchFamily="34" charset="-122"/>
                <a:cs typeface="Calibri" pitchFamily="34" charset="-120"/>
              </a:rPr>
              <a:t>Tick 0</a:t>
            </a:r>
            <a:endParaRPr lang="en-US" sz="1200" dirty="0"/>
          </a:p>
        </p:txBody>
      </p:sp>
      <p:sp>
        <p:nvSpPr>
          <p:cNvPr id="13" name="Text 11"/>
          <p:cNvSpPr txBox="1"/>
          <p:nvPr/>
        </p:nvSpPr>
        <p:spPr>
          <a:xfrm>
            <a:off x="5448300" y="1984970"/>
            <a:ext cx="3329178"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An over-eager agent asks for 25 tUSD at once</a:t>
            </a:r>
            <a:endParaRPr lang="en-US" sz="1200" dirty="0"/>
          </a:p>
        </p:txBody>
      </p:sp>
      <p:sp>
        <p:nvSpPr>
          <p:cNvPr id="14" name="Text 12"/>
          <p:cNvSpPr txBox="1"/>
          <p:nvPr/>
        </p:nvSpPr>
        <p:spPr>
          <a:xfrm>
            <a:off x="8839200" y="1984970"/>
            <a:ext cx="2590800" cy="411361"/>
          </a:xfrm>
          <a:prstGeom prst="rect">
            <a:avLst/>
          </a:prstGeom>
          <a:noFill/>
          <a:ln/>
        </p:spPr>
        <p:txBody>
          <a:bodyPr wrap="square" lIns="0" tIns="0" rIns="0" bIns="0" rtlCol="0" anchor="t"/>
          <a:lstStyle/>
          <a:p>
            <a:pPr algn="l" indent="0" marL="0">
              <a:lnSpc>
                <a:spcPts val="1620"/>
              </a:lnSpc>
              <a:buNone/>
            </a:pPr>
            <a:r>
              <a:rPr lang="en-US" sz="1200" dirty="0">
                <a:solidFill>
                  <a:srgbClr val="B1262E"/>
                </a:solidFill>
                <a:latin typeface="Calibri" pitchFamily="34" charset="0"/>
                <a:ea typeface="Calibri" pitchFamily="34" charset="-122"/>
                <a:cs typeface="Calibri" pitchFamily="34" charset="-120"/>
              </a:rPr>
              <a:t>refused: co-signer allows 19.54, 180 bps &gt; 150 (PA1)</a:t>
            </a:r>
            <a:endParaRPr lang="en-US" sz="1200" dirty="0"/>
          </a:p>
        </p:txBody>
      </p:sp>
      <p:sp>
        <p:nvSpPr>
          <p:cNvPr id="15" name="Shape 13"/>
          <p:cNvSpPr/>
          <p:nvPr/>
        </p:nvSpPr>
        <p:spPr>
          <a:xfrm>
            <a:off x="4622800" y="3160117"/>
            <a:ext cx="6756400" cy="0"/>
          </a:xfrm>
          <a:prstGeom prst="line">
            <a:avLst/>
          </a:prstGeom>
          <a:noFill/>
          <a:ln w="6350">
            <a:solidFill>
              <a:srgbClr val="D6DEE1"/>
            </a:solidFill>
            <a:prstDash val="solid"/>
          </a:ln>
        </p:spPr>
      </p:sp>
      <p:sp>
        <p:nvSpPr>
          <p:cNvPr id="16" name="Text 14"/>
          <p:cNvSpPr txBox="1"/>
          <p:nvPr/>
        </p:nvSpPr>
        <p:spPr>
          <a:xfrm>
            <a:off x="4622800" y="2631281"/>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Tick 1</a:t>
            </a:r>
            <a:endParaRPr lang="en-US" sz="1200" dirty="0"/>
          </a:p>
        </p:txBody>
      </p:sp>
      <p:sp>
        <p:nvSpPr>
          <p:cNvPr id="17" name="Text 15"/>
          <p:cNvSpPr txBox="1"/>
          <p:nvPr/>
        </p:nvSpPr>
        <p:spPr>
          <a:xfrm>
            <a:off x="5448300" y="2631281"/>
            <a:ext cx="332917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Short 24.30 tEUR → convert 19.54 tUSD, limited by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market impact</a:t>
            </a:r>
            <a:endParaRPr lang="en-US" sz="1200" dirty="0"/>
          </a:p>
        </p:txBody>
      </p:sp>
      <p:sp>
        <p:nvSpPr>
          <p:cNvPr id="18" name="Text 16"/>
          <p:cNvSpPr txBox="1"/>
          <p:nvPr/>
        </p:nvSpPr>
        <p:spPr>
          <a:xfrm>
            <a:off x="8839200" y="2631281"/>
            <a:ext cx="2590800"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PE1 · 16.816098 tEUR · 0.18 ppm</a:t>
            </a:r>
            <a:endParaRPr lang="en-US" sz="1200" dirty="0"/>
          </a:p>
        </p:txBody>
      </p:sp>
      <p:sp>
        <p:nvSpPr>
          <p:cNvPr id="19" name="Shape 17"/>
          <p:cNvSpPr/>
          <p:nvPr/>
        </p:nvSpPr>
        <p:spPr>
          <a:xfrm>
            <a:off x="4622800" y="3806428"/>
            <a:ext cx="6756400" cy="0"/>
          </a:xfrm>
          <a:prstGeom prst="line">
            <a:avLst/>
          </a:prstGeom>
          <a:noFill/>
          <a:ln w="6350">
            <a:solidFill>
              <a:srgbClr val="D6DEE1"/>
            </a:solidFill>
            <a:prstDash val="solid"/>
          </a:ln>
        </p:spPr>
      </p:sp>
      <p:sp>
        <p:nvSpPr>
          <p:cNvPr id="20" name="Text 18"/>
          <p:cNvSpPr txBox="1"/>
          <p:nvPr/>
        </p:nvSpPr>
        <p:spPr>
          <a:xfrm>
            <a:off x="4622800" y="3277592"/>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Tick 2</a:t>
            </a:r>
            <a:endParaRPr lang="en-US" sz="1200" dirty="0"/>
          </a:p>
        </p:txBody>
      </p:sp>
      <p:sp>
        <p:nvSpPr>
          <p:cNvPr id="21" name="Text 19"/>
          <p:cNvSpPr txBox="1"/>
          <p:nvPr/>
        </p:nvSpPr>
        <p:spPr>
          <a:xfrm>
            <a:off x="5448300" y="3277592"/>
            <a:ext cx="332917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Short 7.48 tEUR → convert 8.84 tUSD, limited by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need</a:t>
            </a:r>
            <a:endParaRPr lang="en-US" sz="1200" dirty="0"/>
          </a:p>
        </p:txBody>
      </p:sp>
      <p:sp>
        <p:nvSpPr>
          <p:cNvPr id="22" name="Text 20"/>
          <p:cNvSpPr txBox="1"/>
          <p:nvPr/>
        </p:nvSpPr>
        <p:spPr>
          <a:xfrm>
            <a:off x="8839200" y="3277592"/>
            <a:ext cx="2590800"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PE2 · 7.484336 tEUR · 0.40 ppm</a:t>
            </a:r>
            <a:endParaRPr lang="en-US" sz="1200" dirty="0"/>
          </a:p>
        </p:txBody>
      </p:sp>
      <p:sp>
        <p:nvSpPr>
          <p:cNvPr id="23" name="Text 21"/>
          <p:cNvSpPr txBox="1"/>
          <p:nvPr/>
        </p:nvSpPr>
        <p:spPr>
          <a:xfrm>
            <a:off x="4622800" y="3923903"/>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Tick 3</a:t>
            </a:r>
            <a:endParaRPr lang="en-US" sz="1200" dirty="0"/>
          </a:p>
        </p:txBody>
      </p:sp>
      <p:sp>
        <p:nvSpPr>
          <p:cNvPr id="24" name="Text 22"/>
          <p:cNvSpPr txBox="1"/>
          <p:nvPr/>
        </p:nvSpPr>
        <p:spPr>
          <a:xfrm>
            <a:off x="5448300" y="3923903"/>
            <a:ext cx="332917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Reserve free: 20.70 → 37.52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45.00 tEUR</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Target met.</a:t>
            </a:r>
            <a:endParaRPr lang="en-US" sz="1200" dirty="0"/>
          </a:p>
        </p:txBody>
      </p:sp>
      <p:sp>
        <p:nvSpPr>
          <p:cNvPr id="25" name="Text 23"/>
          <p:cNvSpPr txBox="1"/>
          <p:nvPr/>
        </p:nvSpPr>
        <p:spPr>
          <a:xfrm>
            <a:off x="8839200" y="3923903"/>
            <a:ext cx="2590800"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nothing sent</a:t>
            </a:r>
            <a:endParaRPr lang="en-US" sz="1200" dirty="0"/>
          </a:p>
        </p:txBody>
      </p:sp>
      <p:pic>
        <p:nvPicPr>
          <p:cNvPr id="26" name="Image 0" descr="Free tEUR in the euro reserve: 20.70 before tick 1, 37.52 after PE1, 45.00 after PE2, reaching the 45 tEUR target">    </p:cNvPr>
          <p:cNvPicPr>
            <a:picLocks noChangeAspect="1"/>
          </p:cNvPicPr>
          <p:nvPr/>
        </p:nvPicPr>
        <p:blipFill>
          <a:blip r:embed="rId1"/>
          <a:stretch>
            <a:fillRect/>
          </a:stretch>
        </p:blipFill>
        <p:spPr>
          <a:xfrm>
            <a:off x="4622800" y="4449564"/>
            <a:ext cx="6731000" cy="952500"/>
          </a:xfrm>
          <a:prstGeom prst="rect">
            <a:avLst/>
          </a:prstGeom>
        </p:spPr>
      </p:pic>
      <p:sp>
        <p:nvSpPr>
          <p:cNvPr id="27" name="Text 2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Runs with dev keys too: npm run local:execute reproduces PE1 and PE2 to the raw unit</a:t>
            </a:r>
            <a:endParaRPr lang="en-US" sz="1200" dirty="0"/>
          </a:p>
        </p:txBody>
      </p:sp>
      <p:sp>
        <p:nvSpPr>
          <p:cNvPr id="28" name="Text 2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SECURITY ARCHITECTURE</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AI is never the sole authority over funds.</a:t>
            </a:r>
            <a:endParaRPr lang="en-US" sz="3200" dirty="0"/>
          </a:p>
        </p:txBody>
      </p:sp>
      <p:sp>
        <p:nvSpPr>
          <p:cNvPr id="4" name="Shape 2"/>
          <p:cNvSpPr/>
          <p:nvPr/>
        </p:nvSpPr>
        <p:spPr>
          <a:xfrm>
            <a:off x="812800" y="2124670"/>
            <a:ext cx="5194300" cy="0"/>
          </a:xfrm>
          <a:prstGeom prst="line">
            <a:avLst/>
          </a:prstGeom>
          <a:noFill/>
          <a:ln w="12700">
            <a:solidFill>
              <a:srgbClr val="9FB0BE"/>
            </a:solidFill>
            <a:prstDash val="dash"/>
          </a:ln>
        </p:spPr>
      </p:sp>
      <p:sp>
        <p:nvSpPr>
          <p:cNvPr id="5" name="Text 3"/>
          <p:cNvSpPr txBox="1"/>
          <p:nvPr/>
        </p:nvSpPr>
        <p:spPr>
          <a:xfrm>
            <a:off x="812800" y="1870670"/>
            <a:ext cx="529818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OFF-CHAIN · MAY BE WRONG OR COMPROMISED</a:t>
            </a:r>
            <a:endParaRPr lang="en-US" sz="1200" dirty="0"/>
          </a:p>
        </p:txBody>
      </p:sp>
      <p:sp>
        <p:nvSpPr>
          <p:cNvPr id="6" name="Shape 4"/>
          <p:cNvSpPr/>
          <p:nvPr/>
        </p:nvSpPr>
        <p:spPr>
          <a:xfrm>
            <a:off x="812800" y="2232620"/>
            <a:ext cx="2533650" cy="1489472"/>
          </a:xfrm>
          <a:prstGeom prst="roundRect">
            <a:avLst>
              <a:gd name="adj" fmla="val 3411"/>
            </a:avLst>
          </a:prstGeom>
          <a:solidFill>
            <a:srgbClr val="FBFCFC"/>
          </a:solidFill>
          <a:ln w="6350">
            <a:solidFill>
              <a:srgbClr val="D6DEE1"/>
            </a:solidFill>
            <a:prstDash val="solid"/>
          </a:ln>
        </p:spPr>
      </p:sp>
      <p:sp>
        <p:nvSpPr>
          <p:cNvPr id="7" name="Text 5"/>
          <p:cNvSpPr txBox="1"/>
          <p:nvPr/>
        </p:nvSpPr>
        <p:spPr>
          <a:xfrm>
            <a:off x="996950" y="2416770"/>
            <a:ext cx="2216150"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Agent</a:t>
            </a:r>
            <a:endParaRPr lang="en-US" sz="1500" dirty="0"/>
          </a:p>
        </p:txBody>
      </p:sp>
      <p:sp>
        <p:nvSpPr>
          <p:cNvPr id="8" name="Text 6"/>
          <p:cNvSpPr txBox="1"/>
          <p:nvPr/>
        </p:nvSpPr>
        <p:spPr>
          <a:xfrm>
            <a:off x="996950" y="2715220"/>
            <a:ext cx="2216150" cy="822722"/>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Observes, decides, routes. The language model only reads the owner's words and holds no key. One hot key, one function.</a:t>
            </a:r>
            <a:endParaRPr lang="en-US" sz="1200" dirty="0"/>
          </a:p>
        </p:txBody>
      </p:sp>
      <p:sp>
        <p:nvSpPr>
          <p:cNvPr id="9" name="Shape 7"/>
          <p:cNvSpPr/>
          <p:nvPr/>
        </p:nvSpPr>
        <p:spPr>
          <a:xfrm>
            <a:off x="3473450" y="2232620"/>
            <a:ext cx="2533650" cy="1489472"/>
          </a:xfrm>
          <a:prstGeom prst="roundRect">
            <a:avLst>
              <a:gd name="adj" fmla="val 3411"/>
            </a:avLst>
          </a:prstGeom>
          <a:solidFill>
            <a:srgbClr val="FBFCFC"/>
          </a:solidFill>
          <a:ln w="6350">
            <a:solidFill>
              <a:srgbClr val="D6DEE1"/>
            </a:solidFill>
            <a:prstDash val="solid"/>
          </a:ln>
        </p:spPr>
      </p:sp>
      <p:sp>
        <p:nvSpPr>
          <p:cNvPr id="10" name="Text 8"/>
          <p:cNvSpPr txBox="1"/>
          <p:nvPr/>
        </p:nvSpPr>
        <p:spPr>
          <a:xfrm>
            <a:off x="3657600" y="2416770"/>
            <a:ext cx="2216150"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Co-signer</a:t>
            </a:r>
            <a:endParaRPr lang="en-US" sz="1500" dirty="0"/>
          </a:p>
        </p:txBody>
      </p:sp>
      <p:sp>
        <p:nvSpPr>
          <p:cNvPr id="11" name="Text 9"/>
          <p:cNvSpPr txBox="1"/>
          <p:nvPr/>
        </p:nvSpPr>
        <p:spPr>
          <a:xfrm>
            <a:off x="3657600" y="2715220"/>
            <a:ext cx="2216150" cy="822722"/>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Own process, own key. Re-derives the decision from the chain, re-quotes the trade, writes its own floor into the order.</a:t>
            </a:r>
            <a:endParaRPr lang="en-US" sz="1200" dirty="0"/>
          </a:p>
        </p:txBody>
      </p:sp>
      <p:sp>
        <p:nvSpPr>
          <p:cNvPr id="12" name="Shape 10"/>
          <p:cNvSpPr/>
          <p:nvPr/>
        </p:nvSpPr>
        <p:spPr>
          <a:xfrm>
            <a:off x="6184900" y="2124670"/>
            <a:ext cx="5194300" cy="0"/>
          </a:xfrm>
          <a:prstGeom prst="line">
            <a:avLst/>
          </a:prstGeom>
          <a:noFill/>
          <a:ln w="12700">
            <a:solidFill>
              <a:srgbClr val="0A7468"/>
            </a:solidFill>
            <a:prstDash val="solid"/>
          </a:ln>
        </p:spPr>
      </p:sp>
      <p:sp>
        <p:nvSpPr>
          <p:cNvPr id="13" name="Text 11"/>
          <p:cNvSpPr txBox="1"/>
          <p:nvPr/>
        </p:nvSpPr>
        <p:spPr>
          <a:xfrm>
            <a:off x="6184900" y="1870670"/>
            <a:ext cx="529818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0A7468"/>
                </a:solidFill>
                <a:latin typeface="Calibri" pitchFamily="34" charset="0"/>
                <a:ea typeface="Calibri" pitchFamily="34" charset="-122"/>
                <a:cs typeface="Calibri" pitchFamily="34" charset="-120"/>
              </a:rPr>
              <a:t>ON-CHAIN · BINDING</a:t>
            </a:r>
            <a:endParaRPr lang="en-US" sz="1200" dirty="0"/>
          </a:p>
        </p:txBody>
      </p:sp>
      <p:sp>
        <p:nvSpPr>
          <p:cNvPr id="14" name="Shape 12"/>
          <p:cNvSpPr/>
          <p:nvPr/>
        </p:nvSpPr>
        <p:spPr>
          <a:xfrm>
            <a:off x="6184900" y="2232620"/>
            <a:ext cx="2533650" cy="1476772"/>
          </a:xfrm>
          <a:prstGeom prst="roundRect">
            <a:avLst>
              <a:gd name="adj" fmla="val 3440"/>
            </a:avLst>
          </a:prstGeom>
          <a:solidFill>
            <a:srgbClr val="13233F"/>
          </a:solidFill>
          <a:ln/>
        </p:spPr>
      </p:sp>
      <p:sp>
        <p:nvSpPr>
          <p:cNvPr id="15" name="Text 13"/>
          <p:cNvSpPr txBox="1"/>
          <p:nvPr/>
        </p:nvSpPr>
        <p:spPr>
          <a:xfrm>
            <a:off x="6362700" y="2410420"/>
            <a:ext cx="2228850" cy="234950"/>
          </a:xfrm>
          <a:prstGeom prst="rect">
            <a:avLst/>
          </a:prstGeom>
          <a:noFill/>
          <a:ln/>
        </p:spPr>
        <p:txBody>
          <a:bodyPr wrap="square" lIns="0" tIns="0" rIns="0" bIns="0" rtlCol="0" anchor="t"/>
          <a:lstStyle/>
          <a:p>
            <a:pPr algn="l" indent="0" marL="0">
              <a:lnSpc>
                <a:spcPts val="1800"/>
              </a:lnSpc>
              <a:buNone/>
            </a:pPr>
            <a:r>
              <a:rPr lang="en-US" sz="1500" b="1" dirty="0">
                <a:solidFill>
                  <a:srgbClr val="E4ECF1"/>
                </a:solidFill>
                <a:latin typeface="Calibri" pitchFamily="34" charset="0"/>
                <a:ea typeface="Calibri" pitchFamily="34" charset="-122"/>
                <a:cs typeface="Calibri" pitchFamily="34" charset="-120"/>
              </a:rPr>
              <a:t>QEDVault</a:t>
            </a:r>
            <a:endParaRPr lang="en-US" sz="1500" dirty="0"/>
          </a:p>
        </p:txBody>
      </p:sp>
      <p:sp>
        <p:nvSpPr>
          <p:cNvPr id="16" name="Text 14"/>
          <p:cNvSpPr txBox="1"/>
          <p:nvPr/>
        </p:nvSpPr>
        <p:spPr>
          <a:xfrm>
            <a:off x="6362700" y="2708870"/>
            <a:ext cx="2228850" cy="822722"/>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The owner's mandate, caps and solvency. Money owed to a creditor can reach only that creditor.</a:t>
            </a:r>
            <a:endParaRPr lang="en-US" sz="1200" dirty="0"/>
          </a:p>
        </p:txBody>
      </p:sp>
      <p:sp>
        <p:nvSpPr>
          <p:cNvPr id="17" name="Shape 15"/>
          <p:cNvSpPr/>
          <p:nvPr/>
        </p:nvSpPr>
        <p:spPr>
          <a:xfrm>
            <a:off x="8845550" y="2232620"/>
            <a:ext cx="2533650" cy="1476772"/>
          </a:xfrm>
          <a:prstGeom prst="roundRect">
            <a:avLst>
              <a:gd name="adj" fmla="val 3440"/>
            </a:avLst>
          </a:prstGeom>
          <a:solidFill>
            <a:srgbClr val="13233F"/>
          </a:solidFill>
          <a:ln/>
        </p:spPr>
      </p:sp>
      <p:sp>
        <p:nvSpPr>
          <p:cNvPr id="18" name="Text 16"/>
          <p:cNvSpPr txBox="1"/>
          <p:nvPr/>
        </p:nvSpPr>
        <p:spPr>
          <a:xfrm>
            <a:off x="9023350" y="2410420"/>
            <a:ext cx="2228850" cy="234950"/>
          </a:xfrm>
          <a:prstGeom prst="rect">
            <a:avLst/>
          </a:prstGeom>
          <a:noFill/>
          <a:ln/>
        </p:spPr>
        <p:txBody>
          <a:bodyPr wrap="square" lIns="0" tIns="0" rIns="0" bIns="0" rtlCol="0" anchor="t"/>
          <a:lstStyle/>
          <a:p>
            <a:pPr algn="l" indent="0" marL="0">
              <a:lnSpc>
                <a:spcPts val="1800"/>
              </a:lnSpc>
              <a:buNone/>
            </a:pPr>
            <a:r>
              <a:rPr lang="en-US" sz="1500" b="1" dirty="0">
                <a:solidFill>
                  <a:srgbClr val="E4ECF1"/>
                </a:solidFill>
                <a:latin typeface="Calibri" pitchFamily="34" charset="0"/>
                <a:ea typeface="Calibri" pitchFamily="34" charset="-122"/>
                <a:cs typeface="Calibri" pitchFamily="34" charset="-120"/>
              </a:rPr>
              <a:t>QEDExecution</a:t>
            </a:r>
            <a:endParaRPr lang="en-US" sz="1500" dirty="0"/>
          </a:p>
        </p:txBody>
      </p:sp>
      <p:sp>
        <p:nvSpPr>
          <p:cNvPr id="19" name="Text 17"/>
          <p:cNvSpPr txBox="1"/>
          <p:nvPr/>
        </p:nvSpPr>
        <p:spPr>
          <a:xfrm>
            <a:off x="9023350" y="2708870"/>
            <a:ext cx="2228850" cy="822722"/>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Within τ of the bound over every owner venue; reached only through QEDTreasuryPolicy, which refuses unneeded tranches.</a:t>
            </a:r>
            <a:endParaRPr lang="en-US" sz="1200" dirty="0"/>
          </a:p>
        </p:txBody>
      </p:sp>
      <p:sp>
        <p:nvSpPr>
          <p:cNvPr id="20" name="Shape 18"/>
          <p:cNvSpPr/>
          <p:nvPr/>
        </p:nvSpPr>
        <p:spPr>
          <a:xfrm>
            <a:off x="812800" y="3928467"/>
            <a:ext cx="10566400" cy="0"/>
          </a:xfrm>
          <a:prstGeom prst="line">
            <a:avLst/>
          </a:prstGeom>
          <a:noFill/>
          <a:ln w="6350">
            <a:solidFill>
              <a:srgbClr val="D6DEE1"/>
            </a:solidFill>
            <a:prstDash val="solid"/>
          </a:ln>
        </p:spPr>
      </p:sp>
      <p:sp>
        <p:nvSpPr>
          <p:cNvPr id="21" name="Text 19"/>
          <p:cNvSpPr txBox="1"/>
          <p:nvPr/>
        </p:nvSpPr>
        <p:spPr>
          <a:xfrm>
            <a:off x="812800" y="4084042"/>
            <a:ext cx="3419856" cy="304800"/>
          </a:xfrm>
          <a:prstGeom prst="rect">
            <a:avLst/>
          </a:prstGeom>
          <a:noFill/>
          <a:ln/>
        </p:spPr>
        <p:txBody>
          <a:bodyPr wrap="square" lIns="0" tIns="0" rIns="0" bIns="0" rtlCol="0" anchor="t"/>
          <a:lstStyle/>
          <a:p>
            <a:pPr algn="l" indent="0" marL="0">
              <a:lnSpc>
                <a:spcPts val="2400"/>
              </a:lnSpc>
              <a:buNone/>
            </a:pPr>
            <a:r>
              <a:rPr lang="en-US" sz="2000" dirty="0">
                <a:solidFill>
                  <a:srgbClr val="0A7468"/>
                </a:solidFill>
                <a:latin typeface="Cambria" pitchFamily="34" charset="0"/>
                <a:ea typeface="Cambria" pitchFamily="34" charset="-122"/>
                <a:cs typeface="Cambria" pitchFamily="34" charset="-120"/>
              </a:rPr>
              <a:t>Both hot keys stolen</a:t>
            </a:r>
            <a:endParaRPr lang="en-US" sz="2000" dirty="0"/>
          </a:p>
        </p:txBody>
      </p:sp>
      <p:sp>
        <p:nvSpPr>
          <p:cNvPr id="22" name="Text 20"/>
          <p:cNvSpPr txBox="1"/>
          <p:nvPr/>
        </p:nvSpPr>
        <p:spPr>
          <a:xfrm>
            <a:off x="812800" y="4414242"/>
            <a:ext cx="341985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The policy contract still refuses tranches the owner's objective does not need (QA1–QA4); loss to unapproved addresses is exactly 0.</a:t>
            </a:r>
            <a:endParaRPr lang="en-US" sz="1200" dirty="0"/>
          </a:p>
        </p:txBody>
      </p:sp>
      <p:sp>
        <p:nvSpPr>
          <p:cNvPr id="23" name="Text 21"/>
          <p:cNvSpPr txBox="1"/>
          <p:nvPr/>
        </p:nvSpPr>
        <p:spPr>
          <a:xfrm>
            <a:off x="4419600" y="4084042"/>
            <a:ext cx="3419856" cy="304800"/>
          </a:xfrm>
          <a:prstGeom prst="rect">
            <a:avLst/>
          </a:prstGeom>
          <a:noFill/>
          <a:ln/>
        </p:spPr>
        <p:txBody>
          <a:bodyPr wrap="square" lIns="0" tIns="0" rIns="0" bIns="0" rtlCol="0" anchor="t"/>
          <a:lstStyle/>
          <a:p>
            <a:pPr algn="l" indent="0" marL="0">
              <a:lnSpc>
                <a:spcPts val="2400"/>
              </a:lnSpc>
              <a:buNone/>
            </a:pPr>
            <a:r>
              <a:rPr lang="en-US" sz="2000" dirty="0">
                <a:solidFill>
                  <a:srgbClr val="0A7468"/>
                </a:solidFill>
                <a:latin typeface="Cambria" pitchFamily="34" charset="0"/>
                <a:ea typeface="Cambria" pitchFamily="34" charset="-122"/>
                <a:cs typeface="Cambria" pitchFamily="34" charset="-120"/>
              </a:rPr>
              <a:t>Keys published</a:t>
            </a:r>
            <a:endParaRPr lang="en-US" sz="2000" dirty="0"/>
          </a:p>
        </p:txBody>
      </p:sp>
      <p:sp>
        <p:nvSpPr>
          <p:cNvPr id="24" name="Text 22"/>
          <p:cNvSpPr txBox="1"/>
          <p:nvPr/>
        </p:nvSpPr>
        <p:spPr>
          <a:xfrm>
            <a:off x="4419600" y="4414242"/>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A honeypot vault's agent and co-signer keys are in our repository. Its 90 tUSD ring-fence is intact.</a:t>
            </a:r>
            <a:endParaRPr lang="en-US" sz="1200" dirty="0"/>
          </a:p>
        </p:txBody>
      </p:sp>
      <p:sp>
        <p:nvSpPr>
          <p:cNvPr id="25" name="Text 23"/>
          <p:cNvSpPr txBox="1"/>
          <p:nvPr/>
        </p:nvSpPr>
        <p:spPr>
          <a:xfrm>
            <a:off x="8026400" y="4084042"/>
            <a:ext cx="3419856" cy="304800"/>
          </a:xfrm>
          <a:prstGeom prst="rect">
            <a:avLst/>
          </a:prstGeom>
          <a:noFill/>
          <a:ln/>
        </p:spPr>
        <p:txBody>
          <a:bodyPr wrap="square" lIns="0" tIns="0" rIns="0" bIns="0" rtlCol="0" anchor="t"/>
          <a:lstStyle/>
          <a:p>
            <a:pPr algn="l" indent="0" marL="0">
              <a:lnSpc>
                <a:spcPts val="2400"/>
              </a:lnSpc>
              <a:buNone/>
            </a:pPr>
            <a:r>
              <a:rPr lang="en-US" sz="2000" dirty="0">
                <a:solidFill>
                  <a:srgbClr val="0A7468"/>
                </a:solidFill>
                <a:latin typeface="Cambria" pitchFamily="34" charset="0"/>
                <a:ea typeface="Cambria" pitchFamily="34" charset="-122"/>
                <a:cs typeface="Cambria" pitchFamily="34" charset="-120"/>
              </a:rPr>
              <a:t>48 of 48</a:t>
            </a:r>
            <a:endParaRPr lang="en-US" sz="2000" dirty="0"/>
          </a:p>
        </p:txBody>
      </p:sp>
      <p:sp>
        <p:nvSpPr>
          <p:cNvPr id="26" name="Text 24"/>
          <p:cNvSpPr txBox="1"/>
          <p:nvPr/>
        </p:nvSpPr>
        <p:spPr>
          <a:xfrm>
            <a:off x="8026400" y="4414242"/>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attacks on Sepolia, each reverted by the layer built for it, with its designed error.</a:t>
            </a:r>
            <a:endParaRPr lang="en-US" sz="1200" dirty="0"/>
          </a:p>
        </p:txBody>
      </p:sp>
      <p:sp>
        <p:nvSpPr>
          <p:cNvPr id="27" name="Text 25"/>
          <p:cNvSpPr txBox="1"/>
          <p:nvPr/>
        </p:nvSpPr>
        <p:spPr>
          <a:xfrm>
            <a:off x="812800" y="5234484"/>
            <a:ext cx="10777728" cy="594320"/>
          </a:xfrm>
          <a:prstGeom prst="rect">
            <a:avLst/>
          </a:prstGeom>
          <a:noFill/>
          <a:ln/>
        </p:spPr>
        <p:txBody>
          <a:bodyPr wrap="square" lIns="0" tIns="0" rIns="0" bIns="0" rtlCol="0" anchor="t"/>
          <a:lstStyle/>
          <a:p>
            <a:pPr algn="l" indent="0" marL="0">
              <a:lnSpc>
                <a:spcPts val="2340"/>
              </a:lnSpc>
              <a:buNone/>
            </a:pPr>
            <a:r>
              <a:rPr lang="en-US" sz="1800" dirty="0">
                <a:solidFill>
                  <a:srgbClr val="13233F"/>
                </a:solidFill>
                <a:latin typeface="Cambria" pitchFamily="34" charset="0"/>
                <a:ea typeface="Cambria" pitchFamily="34" charset="-122"/>
                <a:cs typeface="Cambria" pitchFamily="34" charset="-120"/>
              </a:rPr>
              <a:t>No probabilistic reasoning on the path that moves money: a policy runs as deterministic code that a second process re-derives, and the chain has the last word.</a:t>
            </a:r>
            <a:endParaRPr lang="en-US" sz="1800" dirty="0"/>
          </a:p>
        </p:txBody>
      </p:sp>
      <p:sp>
        <p:nvSpPr>
          <p:cNvPr id="28" name="Text 26"/>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Threat model, 27 proven properties, 29 known risks: docs/SECURITY.md</a:t>
            </a:r>
            <a:endParaRPr lang="en-US" sz="1200" dirty="0"/>
          </a:p>
        </p:txBody>
      </p:sp>
      <p:sp>
        <p:nvSpPr>
          <p:cNvPr id="29" name="Text 27"/>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TOPIC F · THE FOUR REQUIRED OUTCOMES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Each outcome is a public transaction you can open.</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2800" y="1870670"/>
          <a:ext cx="10566400" cy="914400"/>
        </p:xfrm>
        <a:graphic>
          <a:graphicData uri="http://schemas.openxmlformats.org/drawingml/2006/table">
            <a:tbl>
              <a:tblPr/>
              <a:tblGrid>
                <a:gridCol w="633909"/>
                <a:gridCol w="3592513"/>
                <a:gridCol w="6339979"/>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Evidence on Ethereum Sepolia</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9370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separate AI-agent key acts under an independent policy certificate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ourier New" pitchFamily="34" charset="0"/>
                          <a:ea typeface="Courier New" pitchFamily="34" charset="-122"/>
                          <a:cs typeface="Courier New" pitchFamily="34" charset="-120"/>
                        </a:rPr>
                        <a:t>L4 0x56a2334e…</a:t>
                      </a:r>
                      <a:pPr algn="l" indent="0" marL="0">
                        <a:buNone/>
                      </a:pPr>
                      <a:r>
                        <a:rPr lang="en-US" sz="1200" dirty="0">
                          <a:solidFill>
                            <a:srgbClr val="13233F"/>
                          </a:solidFill>
                          <a:latin typeface="Calibri" pitchFamily="34" charset="0"/>
                          <a:ea typeface="Calibri" pitchFamily="34" charset="-122"/>
                          <a:cs typeface="Calibri" pitchFamily="34" charset="-120"/>
                        </a:rPr>
                        <a:t> payment · </a:t>
                      </a:r>
                      <a:pPr algn="l" indent="0" marL="0">
                        <a:buNone/>
                      </a:pPr>
                      <a:r>
                        <a:rPr lang="en-US" sz="1200" dirty="0">
                          <a:solidFill>
                            <a:srgbClr val="13233F"/>
                          </a:solidFill>
                          <a:latin typeface="Courier New" pitchFamily="34" charset="0"/>
                          <a:ea typeface="Courier New" pitchFamily="34" charset="-122"/>
                          <a:cs typeface="Courier New" pitchFamily="34" charset="-120"/>
                        </a:rPr>
                        <a:t>E1 0x56f798cd…</a:t>
                      </a:r>
                      <a:pPr algn="l" indent="0" marL="0">
                        <a:buNone/>
                      </a:pPr>
                      <a:r>
                        <a:rPr lang="en-US" sz="1200" dirty="0">
                          <a:solidFill>
                            <a:srgbClr val="13233F"/>
                          </a:solidFill>
                          <a:latin typeface="Calibri" pitchFamily="34" charset="0"/>
                          <a:ea typeface="Calibri" pitchFamily="34" charset="-122"/>
                          <a:cs typeface="Calibri" pitchFamily="34" charset="-120"/>
                        </a:rPr>
                        <a:t> trade · </a:t>
                      </a:r>
                      <a:pPr algn="l" indent="0" marL="0">
                        <a:buNone/>
                      </a:pPr>
                      <a:r>
                        <a:rPr lang="en-US" sz="1200" dirty="0">
                          <a:solidFill>
                            <a:srgbClr val="13233F"/>
                          </a:solidFill>
                          <a:latin typeface="Courier New" pitchFamily="34" charset="0"/>
                          <a:ea typeface="Courier New" pitchFamily="34" charset="-122"/>
                          <a:cs typeface="Courier New" pitchFamily="34" charset="-120"/>
                        </a:rPr>
                        <a:t>PE1 0xaaa0bacd…</a:t>
                      </a:r>
                      <a:pPr algn="l" indent="0" marL="0">
                        <a:buNone/>
                      </a:pPr>
                      <a:r>
                        <a:rPr lang="en-US" sz="1200" dirty="0">
                          <a:solidFill>
                            <a:srgbClr val="13233F"/>
                          </a:solidFill>
                          <a:latin typeface="Calibri" pitchFamily="34" charset="0"/>
                          <a:ea typeface="Calibri" pitchFamily="34" charset="-122"/>
                          <a:cs typeface="Calibri" pitchFamily="34" charset="-120"/>
                        </a:rPr>
                        <a:t> and </a:t>
                      </a:r>
                      <a:pPr algn="l" indent="0" marL="0">
                        <a:buNone/>
                      </a:pPr>
                      <a:r>
                        <a:rPr lang="en-US" sz="1200" dirty="0">
                          <a:solidFill>
                            <a:srgbClr val="13233F"/>
                          </a:solidFill>
                          <a:latin typeface="Courier New" pitchFamily="34" charset="0"/>
                          <a:ea typeface="Courier New" pitchFamily="34" charset="-122"/>
                          <a:cs typeface="Courier New" pitchFamily="34" charset="-120"/>
                        </a:rPr>
                        <a:t>QE1 0x12739525…</a:t>
                      </a:r>
                      <a:pPr algn="l" indent="0" marL="0">
                        <a:buNone/>
                      </a:pPr>
                      <a:r>
                        <a:rPr lang="en-US" sz="1200" dirty="0">
                          <a:solidFill>
                            <a:srgbClr val="13233F"/>
                          </a:solidFill>
                          <a:latin typeface="Calibri" pitchFamily="34" charset="0"/>
                          <a:ea typeface="Calibri" pitchFamily="34" charset="-122"/>
                          <a:cs typeface="Calibri" pitchFamily="34" charset="-120"/>
                        </a:rPr>
                        <a:t> agent-initiated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735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Paid work ends in a real escrow settlement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ourier New" pitchFamily="34" charset="0"/>
                          <a:ea typeface="Courier New" pitchFamily="34" charset="-122"/>
                          <a:cs typeface="Courier New" pitchFamily="34" charset="-120"/>
                        </a:rPr>
                        <a:t>L6 0x4166253f…</a:t>
                      </a:r>
                      <a:pPr algn="l" indent="0" marL="0">
                        <a:buNone/>
                      </a:pPr>
                      <a:r>
                        <a:rPr lang="en-US" sz="1200" dirty="0">
                          <a:solidFill>
                            <a:srgbClr val="13233F"/>
                          </a:solidFill>
                          <a:latin typeface="Calibri" pitchFamily="34" charset="0"/>
                          <a:ea typeface="Calibri" pitchFamily="34" charset="-122"/>
                          <a:cs typeface="Calibri" pitchFamily="34" charset="-120"/>
                        </a:rPr>
                        <a:t> 15 tUSD on an optimality proof · </a:t>
                      </a:r>
                      <a:pPr algn="l" indent="0" marL="0">
                        <a:buNone/>
                      </a:pPr>
                      <a:r>
                        <a:rPr lang="en-US" sz="1200" dirty="0">
                          <a:solidFill>
                            <a:srgbClr val="13233F"/>
                          </a:solidFill>
                          <a:latin typeface="Courier New" pitchFamily="34" charset="0"/>
                          <a:ea typeface="Courier New" pitchFamily="34" charset="-122"/>
                          <a:cs typeface="Courier New" pitchFamily="34" charset="-120"/>
                        </a:rPr>
                        <a:t>Z3 0xbb619bf0…</a:t>
                      </a:r>
                      <a:pPr algn="l" indent="0" marL="0">
                        <a:buNone/>
                      </a:pPr>
                      <a:r>
                        <a:rPr lang="en-US" sz="1200" dirty="0">
                          <a:solidFill>
                            <a:srgbClr val="13233F"/>
                          </a:solidFill>
                          <a:latin typeface="Calibri" pitchFamily="34" charset="0"/>
                          <a:ea typeface="Calibri" pitchFamily="34" charset="-122"/>
                          <a:cs typeface="Calibri" pitchFamily="34" charset="-120"/>
                        </a:rPr>
                        <a:t> 12 tUSD on a zero-knowledge proof</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735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An adversary cannot breach a liability or tamper with signed terms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48 attacks, 48 reverts, 0 tUSD to the attacker; e.g. </a:t>
                      </a:r>
                      <a:pPr algn="l" indent="0" marL="0">
                        <a:buNone/>
                      </a:pPr>
                      <a:r>
                        <a:rPr lang="en-US" sz="1200" dirty="0">
                          <a:solidFill>
                            <a:srgbClr val="13233F"/>
                          </a:solidFill>
                          <a:latin typeface="Courier New" pitchFamily="34" charset="0"/>
                          <a:ea typeface="Courier New" pitchFamily="34" charset="-122"/>
                          <a:cs typeface="Courier New" pitchFamily="34" charset="-120"/>
                        </a:rPr>
                        <a:t>EA1 0xccd07d17…</a:t>
                      </a:r>
                      <a:pPr algn="l" indent="0" marL="0">
                        <a:buNone/>
                      </a:pPr>
                      <a:r>
                        <a:rPr lang="en-US" sz="1200" dirty="0">
                          <a:solidFill>
                            <a:srgbClr val="13233F"/>
                          </a:solidFill>
                          <a:latin typeface="Calibri" pitchFamily="34" charset="0"/>
                          <a:ea typeface="Calibri" pitchFamily="34" charset="-122"/>
                          <a:cs typeface="Calibri" pitchFamily="34" charset="-120"/>
                        </a:rPr>
                        <a:t>, and </a:t>
                      </a:r>
                      <a:pPr algn="l" indent="0" marL="0">
                        <a:buNone/>
                      </a:pPr>
                      <a:r>
                        <a:rPr lang="en-US" sz="1200" dirty="0">
                          <a:solidFill>
                            <a:srgbClr val="13233F"/>
                          </a:solidFill>
                          <a:latin typeface="Courier New" pitchFamily="34" charset="0"/>
                          <a:ea typeface="Courier New" pitchFamily="34" charset="-122"/>
                          <a:cs typeface="Courier New" pitchFamily="34" charset="-120"/>
                        </a:rPr>
                        <a:t>P3 0x9f4a753c…</a:t>
                      </a:r>
                      <a:pPr algn="l" indent="0" marL="0">
                        <a:buNone/>
                      </a:pPr>
                      <a:r>
                        <a:rPr lang="en-US" sz="1200" dirty="0">
                          <a:solidFill>
                            <a:srgbClr val="13233F"/>
                          </a:solidFill>
                          <a:latin typeface="Calibri" pitchFamily="34" charset="0"/>
                          <a:ea typeface="Calibri" pitchFamily="34" charset="-122"/>
                          <a:cs typeface="Calibri" pitchFamily="34" charset="-120"/>
                        </a:rPr>
                        <a:t>: the creditor paid during a pause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735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O4</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reviewer can reproduce everything</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ourier New" pitchFamily="34" charset="0"/>
                          <a:ea typeface="Courier New" pitchFamily="34" charset="-122"/>
                          <a:cs typeface="Courier New" pitchFamily="34" charset="-120"/>
                        </a:rPr>
                        <a:t>npm run verify</a:t>
                      </a:r>
                      <a:pPr algn="l" indent="0" marL="0">
                        <a:buNone/>
                      </a:pPr>
                      <a:r>
                        <a:rPr lang="en-US" sz="1200" dirty="0">
                          <a:solidFill>
                            <a:srgbClr val="13233F"/>
                          </a:solidFill>
                          <a:latin typeface="Calibri" pitchFamily="34" charset="0"/>
                          <a:ea typeface="Calibri" pitchFamily="34" charset="-122"/>
                          <a:cs typeface="Calibri" pitchFamily="34" charset="-120"/>
                        </a:rPr>
                        <a:t>: every claim re-derived from a public RPC, no keys, in CI daily; 24 contracts verified on Sourcify</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5" name="Text 2"/>
          <p:cNvSpPr txBox="1"/>
          <p:nvPr/>
        </p:nvSpPr>
        <p:spPr>
          <a:xfrm>
            <a:off x="812800" y="3864570"/>
            <a:ext cx="25908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Built on QED's earlier proofs, unchanged:</a:t>
            </a:r>
            <a:endParaRPr lang="en-US" sz="1200" dirty="0"/>
          </a:p>
        </p:txBody>
      </p:sp>
      <p:sp>
        <p:nvSpPr>
          <p:cNvPr id="6" name="Shape 3"/>
          <p:cNvSpPr/>
          <p:nvPr/>
        </p:nvSpPr>
        <p:spPr>
          <a:xfrm>
            <a:off x="3454400" y="3826470"/>
            <a:ext cx="1872059" cy="260350"/>
          </a:xfrm>
          <a:prstGeom prst="roundRect">
            <a:avLst>
              <a:gd name="adj" fmla="val 14634"/>
            </a:avLst>
          </a:prstGeom>
          <a:solidFill>
            <a:srgbClr val="E3E9EC"/>
          </a:solidFill>
          <a:ln/>
        </p:spPr>
      </p:sp>
      <p:sp>
        <p:nvSpPr>
          <p:cNvPr id="7" name="Text 4"/>
          <p:cNvSpPr txBox="1"/>
          <p:nvPr/>
        </p:nvSpPr>
        <p:spPr>
          <a:xfrm>
            <a:off x="3543300" y="3864570"/>
            <a:ext cx="1745059"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owner mandate × co-signer</a:t>
            </a:r>
            <a:endParaRPr lang="en-US" sz="1200" dirty="0"/>
          </a:p>
        </p:txBody>
      </p:sp>
      <p:sp>
        <p:nvSpPr>
          <p:cNvPr id="8" name="Shape 5"/>
          <p:cNvSpPr/>
          <p:nvPr/>
        </p:nvSpPr>
        <p:spPr>
          <a:xfrm>
            <a:off x="5428059" y="3826470"/>
            <a:ext cx="1448098" cy="260350"/>
          </a:xfrm>
          <a:prstGeom prst="roundRect">
            <a:avLst>
              <a:gd name="adj" fmla="val 14634"/>
            </a:avLst>
          </a:prstGeom>
          <a:solidFill>
            <a:srgbClr val="E3E9EC"/>
          </a:solidFill>
          <a:ln/>
        </p:spPr>
      </p:sp>
      <p:sp>
        <p:nvSpPr>
          <p:cNvPr id="9" name="Text 6"/>
          <p:cNvSpPr txBox="1"/>
          <p:nvPr/>
        </p:nvSpPr>
        <p:spPr>
          <a:xfrm>
            <a:off x="5516959" y="3864570"/>
            <a:ext cx="1321098"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ring-fenced solvency</a:t>
            </a:r>
            <a:endParaRPr lang="en-US" sz="1200" dirty="0"/>
          </a:p>
        </p:txBody>
      </p:sp>
      <p:sp>
        <p:nvSpPr>
          <p:cNvPr id="10" name="Shape 7"/>
          <p:cNvSpPr/>
          <p:nvPr/>
        </p:nvSpPr>
        <p:spPr>
          <a:xfrm>
            <a:off x="6977757" y="3826470"/>
            <a:ext cx="1732558" cy="260350"/>
          </a:xfrm>
          <a:prstGeom prst="roundRect">
            <a:avLst>
              <a:gd name="adj" fmla="val 14634"/>
            </a:avLst>
          </a:prstGeom>
          <a:solidFill>
            <a:srgbClr val="E3E9EC"/>
          </a:solidFill>
          <a:ln/>
        </p:spPr>
      </p:sp>
      <p:sp>
        <p:nvSpPr>
          <p:cNvPr id="11" name="Text 8"/>
          <p:cNvSpPr txBox="1"/>
          <p:nvPr/>
        </p:nvSpPr>
        <p:spPr>
          <a:xfrm>
            <a:off x="7066657" y="3864570"/>
            <a:ext cx="1605558"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paid work on a KKT proof</a:t>
            </a:r>
            <a:endParaRPr lang="en-US" sz="1200" dirty="0"/>
          </a:p>
        </p:txBody>
      </p:sp>
      <p:sp>
        <p:nvSpPr>
          <p:cNvPr id="12" name="Shape 9"/>
          <p:cNvSpPr/>
          <p:nvPr/>
        </p:nvSpPr>
        <p:spPr>
          <a:xfrm>
            <a:off x="8811915" y="3826470"/>
            <a:ext cx="1003399" cy="260350"/>
          </a:xfrm>
          <a:prstGeom prst="roundRect">
            <a:avLst>
              <a:gd name="adj" fmla="val 14634"/>
            </a:avLst>
          </a:prstGeom>
          <a:solidFill>
            <a:srgbClr val="E3E9EC"/>
          </a:solidFill>
          <a:ln/>
        </p:spPr>
      </p:sp>
      <p:sp>
        <p:nvSpPr>
          <p:cNvPr id="13" name="Text 10"/>
          <p:cNvSpPr txBox="1"/>
          <p:nvPr/>
        </p:nvSpPr>
        <p:spPr>
          <a:xfrm>
            <a:off x="8900815" y="3864570"/>
            <a:ext cx="876399"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bounded loss</a:t>
            </a:r>
            <a:endParaRPr lang="en-US" sz="1200" dirty="0"/>
          </a:p>
        </p:txBody>
      </p:sp>
      <p:sp>
        <p:nvSpPr>
          <p:cNvPr id="14" name="Shape 11"/>
          <p:cNvSpPr/>
          <p:nvPr/>
        </p:nvSpPr>
        <p:spPr>
          <a:xfrm>
            <a:off x="9916914" y="3826470"/>
            <a:ext cx="1134170" cy="260350"/>
          </a:xfrm>
          <a:prstGeom prst="roundRect">
            <a:avLst>
              <a:gd name="adj" fmla="val 14634"/>
            </a:avLst>
          </a:prstGeom>
          <a:solidFill>
            <a:srgbClr val="E3E9EC"/>
          </a:solidFill>
          <a:ln/>
        </p:spPr>
      </p:sp>
      <p:sp>
        <p:nvSpPr>
          <p:cNvPr id="15" name="Text 12"/>
          <p:cNvSpPr txBox="1"/>
          <p:nvPr/>
        </p:nvSpPr>
        <p:spPr>
          <a:xfrm>
            <a:off x="10005814" y="3864570"/>
            <a:ext cx="100717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proven clearing</a:t>
            </a:r>
            <a:endParaRPr lang="en-US" sz="1200" dirty="0"/>
          </a:p>
        </p:txBody>
      </p:sp>
      <p:sp>
        <p:nvSpPr>
          <p:cNvPr id="16" name="Shape 13"/>
          <p:cNvSpPr/>
          <p:nvPr/>
        </p:nvSpPr>
        <p:spPr>
          <a:xfrm>
            <a:off x="812800" y="4188420"/>
            <a:ext cx="1827213" cy="260350"/>
          </a:xfrm>
          <a:prstGeom prst="roundRect">
            <a:avLst>
              <a:gd name="adj" fmla="val 14634"/>
            </a:avLst>
          </a:prstGeom>
          <a:solidFill>
            <a:srgbClr val="E3E9EC"/>
          </a:solidFill>
          <a:ln/>
        </p:spPr>
      </p:sp>
      <p:sp>
        <p:nvSpPr>
          <p:cNvPr id="17" name="Text 14"/>
          <p:cNvSpPr txBox="1"/>
          <p:nvPr/>
        </p:nvSpPr>
        <p:spPr>
          <a:xfrm>
            <a:off x="901700" y="4226520"/>
            <a:ext cx="1700213"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zero-knowledge optimality</a:t>
            </a:r>
            <a:endParaRPr lang="en-US" sz="1200" dirty="0"/>
          </a:p>
        </p:txBody>
      </p:sp>
      <p:sp>
        <p:nvSpPr>
          <p:cNvPr id="18" name="Text 15"/>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All 196 transactions with blocks and errors: docs/EVIDENCE.md · backup slides B1–B8</a:t>
            </a:r>
            <a:endParaRPr lang="en-US" sz="1200" dirty="0"/>
          </a:p>
        </p:txBody>
      </p:sp>
      <p:sp>
        <p:nvSpPr>
          <p:cNvPr id="19" name="Text 16"/>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EVALUATION · 1,000 SEEDED MARKETS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What the proof buys, including where it buys little</a:t>
            </a:r>
            <a:endParaRPr lang="en-US" sz="3200" dirty="0"/>
          </a:p>
        </p:txBody>
      </p:sp>
      <p:sp>
        <p:nvSpPr>
          <p:cNvPr id="4" name="Text 2"/>
          <p:cNvSpPr txBox="1"/>
          <p:nvPr/>
        </p:nvSpPr>
        <p:spPr>
          <a:xfrm>
            <a:off x="812800" y="1870670"/>
            <a:ext cx="5829300" cy="184150"/>
          </a:xfrm>
          <a:prstGeom prst="rect">
            <a:avLst/>
          </a:prstGeom>
          <a:noFill/>
          <a:ln/>
        </p:spPr>
        <p:txBody>
          <a:bodyPr wrap="square" lIns="0" tIns="0" rIns="0" bIns="0" rtlCol="0" anchor="t"/>
          <a:lstStyle/>
          <a:p>
            <a:pPr algn="l" indent="0" marL="0">
              <a:lnSpc>
                <a:spcPts val="1440"/>
              </a:lnSpc>
              <a:buNone/>
            </a:pPr>
            <a:r>
              <a:rPr lang="en-US" sz="1200" b="1" dirty="0">
                <a:solidFill>
                  <a:srgbClr val="4E6074"/>
                </a:solidFill>
                <a:latin typeface="Calibri" pitchFamily="34" charset="0"/>
                <a:ea typeface="Calibri" pitchFamily="34" charset="-122"/>
                <a:cs typeface="Calibri" pitchFamily="34" charset="-120"/>
              </a:rPr>
              <a:t>Median shortfall below the optimum, bps</a:t>
            </a:r>
            <a:endParaRPr lang="en-US" sz="1200" dirty="0"/>
          </a:p>
        </p:txBody>
      </p:sp>
      <p:graphicFrame>
        <p:nvGraphicFramePr>
          <p:cNvPr id="5" name="Chart 0" descr="Median shortfall below the optimum: best single pool 74.5 bps, equal split over direct pools 117.2 bps, optimal split over direct pools only 33.7 bps, QED's certified route at most 0.01 bps by construction"/>
          <p:cNvGraphicFramePr/>
          <p:nvPr/>
        </p:nvGraphicFramePr>
        <p:xfrm>
          <a:off x="812800" y="2143720"/>
          <a:ext cx="5715000" cy="2540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832600" y="1870670"/>
            <a:ext cx="4637532" cy="373380"/>
          </a:xfrm>
          <a:prstGeom prst="rect">
            <a:avLst/>
          </a:prstGeom>
          <a:noFill/>
          <a:ln/>
        </p:spPr>
        <p:txBody>
          <a:bodyPr wrap="square" lIns="0" tIns="0" rIns="0" bIns="0" rtlCol="0" anchor="t"/>
          <a:lstStyle/>
          <a:p>
            <a:pPr algn="l" indent="0" marL="0">
              <a:lnSpc>
                <a:spcPts val="2940"/>
              </a:lnSpc>
              <a:buNone/>
            </a:pPr>
            <a:r>
              <a:rPr lang="en-US" sz="2800" dirty="0">
                <a:solidFill>
                  <a:srgbClr val="B1262E"/>
                </a:solidFill>
                <a:latin typeface="Cambria" pitchFamily="34" charset="0"/>
                <a:ea typeface="Cambria" pitchFamily="34" charset="-122"/>
                <a:cs typeface="Cambria" pitchFamily="34" charset="-120"/>
              </a:rPr>
              <a:t>14–32 bps</a:t>
            </a:r>
            <a:endParaRPr lang="en-US" sz="2800" dirty="0"/>
          </a:p>
        </p:txBody>
      </p:sp>
      <p:sp>
        <p:nvSpPr>
          <p:cNvPr id="7" name="Text 4"/>
          <p:cNvSpPr txBox="1"/>
          <p:nvPr/>
        </p:nvSpPr>
        <p:spPr>
          <a:xfrm>
            <a:off x="6832600" y="2269430"/>
            <a:ext cx="4637532"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median a hostile agent keeps per trade while still clearing a 1% floor (max 99.9). With QED: ≤ 0.01.</a:t>
            </a:r>
            <a:endParaRPr lang="en-US" sz="1200" dirty="0"/>
          </a:p>
        </p:txBody>
      </p:sp>
      <p:sp>
        <p:nvSpPr>
          <p:cNvPr id="8" name="Text 5"/>
          <p:cNvSpPr txBox="1"/>
          <p:nvPr/>
        </p:nvSpPr>
        <p:spPr>
          <a:xfrm>
            <a:off x="6832600" y="2845891"/>
            <a:ext cx="4637532" cy="373380"/>
          </a:xfrm>
          <a:prstGeom prst="rect">
            <a:avLst/>
          </a:prstGeom>
          <a:noFill/>
          <a:ln/>
        </p:spPr>
        <p:txBody>
          <a:bodyPr wrap="square" lIns="0" tIns="0" rIns="0" bIns="0" rtlCol="0" anchor="t"/>
          <a:lstStyle/>
          <a:p>
            <a:pPr algn="l" indent="0" marL="0">
              <a:lnSpc>
                <a:spcPts val="2940"/>
              </a:lnSpc>
              <a:buNone/>
            </a:pPr>
            <a:r>
              <a:rPr lang="en-US" sz="2800" dirty="0">
                <a:solidFill>
                  <a:srgbClr val="0A7468"/>
                </a:solidFill>
                <a:latin typeface="Cambria" pitchFamily="34" charset="0"/>
                <a:ea typeface="Cambria" pitchFamily="34" charset="-122"/>
                <a:cs typeface="Cambria" pitchFamily="34" charset="-120"/>
              </a:rPr>
              <a:t>0.075 ppm</a:t>
            </a:r>
            <a:endParaRPr lang="en-US" sz="2800" dirty="0"/>
          </a:p>
        </p:txBody>
      </p:sp>
      <p:sp>
        <p:nvSpPr>
          <p:cNvPr id="9" name="Text 6"/>
          <p:cNvSpPr txBox="1"/>
          <p:nvPr/>
        </p:nvSpPr>
        <p:spPr>
          <a:xfrm>
            <a:off x="6832600" y="3244652"/>
            <a:ext cx="4637532"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median gap between our route and its own bound; 92.3% within 1 ppm; solver 3.3 ms median.</a:t>
            </a:r>
            <a:endParaRPr lang="en-US" sz="1200" dirty="0"/>
          </a:p>
        </p:txBody>
      </p:sp>
      <p:sp>
        <p:nvSpPr>
          <p:cNvPr id="10" name="Text 7"/>
          <p:cNvSpPr txBox="1"/>
          <p:nvPr/>
        </p:nvSpPr>
        <p:spPr>
          <a:xfrm>
            <a:off x="6832600" y="3821113"/>
            <a:ext cx="4637532" cy="373380"/>
          </a:xfrm>
          <a:prstGeom prst="rect">
            <a:avLst/>
          </a:prstGeom>
          <a:noFill/>
          <a:ln/>
        </p:spPr>
        <p:txBody>
          <a:bodyPr wrap="square" lIns="0" tIns="0" rIns="0" bIns="0" rtlCol="0" anchor="t"/>
          <a:lstStyle/>
          <a:p>
            <a:pPr algn="l" indent="0" marL="0">
              <a:lnSpc>
                <a:spcPts val="2940"/>
              </a:lnSpc>
              <a:buNone/>
            </a:pPr>
            <a:r>
              <a:rPr lang="en-US" sz="2800" dirty="0">
                <a:solidFill>
                  <a:srgbClr val="13233F"/>
                </a:solidFill>
                <a:latin typeface="Cambria" pitchFamily="34" charset="0"/>
                <a:ea typeface="Cambria" pitchFamily="34" charset="-122"/>
                <a:cs typeface="Cambria" pitchFamily="34" charset="-120"/>
              </a:rPr>
              <a:t>3.2 bps</a:t>
            </a:r>
            <a:endParaRPr lang="en-US" sz="2800" dirty="0"/>
          </a:p>
        </p:txBody>
      </p:sp>
      <p:sp>
        <p:nvSpPr>
          <p:cNvPr id="11" name="Text 8"/>
          <p:cNvSpPr txBox="1"/>
          <p:nvPr/>
        </p:nvSpPr>
        <p:spPr>
          <a:xfrm>
            <a:off x="6832600" y="4219873"/>
            <a:ext cx="4637532"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Honest limit: for trades under 0.5% of depth a good router is already this close. There the proof buys the guarantee, not the average.</a:t>
            </a:r>
            <a:endParaRPr lang="en-US" sz="1200" dirty="0"/>
          </a:p>
        </p:txBody>
      </p:sp>
      <p:sp>
        <p:nvSpPr>
          <p:cNvPr id="12" name="Text 9"/>
          <p:cNvSpPr txBox="1"/>
          <p:nvPr/>
        </p:nvSpPr>
        <p:spPr>
          <a:xfrm>
            <a:off x="812800" y="6267450"/>
            <a:ext cx="90678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benchmarks/run.ts · fixed seeds, re-run and diffed in CI · baselines are simple policies, not production aggregators</a:t>
            </a:r>
            <a:endParaRPr lang="en-US" sz="1200" dirty="0"/>
          </a:p>
        </p:txBody>
      </p:sp>
      <p:sp>
        <p:nvSpPr>
          <p:cNvPr id="13" name="Text 10"/>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FALSIFIABLE, FOR MONEY</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E4ECF1"/>
                </a:solidFill>
                <a:latin typeface="Cambria" pitchFamily="34" charset="0"/>
                <a:ea typeface="Cambria" pitchFamily="34" charset="-122"/>
                <a:cs typeface="Cambria" pitchFamily="34" charset="-120"/>
              </a:rPr>
              <a:t>Beat the bound and the contract pays you 1,000 tUSD.</a:t>
            </a:r>
            <a:endParaRPr lang="en-US" sz="3200" dirty="0"/>
          </a:p>
        </p:txBody>
      </p:sp>
      <p:sp>
        <p:nvSpPr>
          <p:cNvPr id="4" name="Shape 2"/>
          <p:cNvSpPr/>
          <p:nvPr/>
        </p:nvSpPr>
        <p:spPr>
          <a:xfrm>
            <a:off x="812800" y="1870670"/>
            <a:ext cx="5365750" cy="2134791"/>
          </a:xfrm>
          <a:prstGeom prst="roundRect">
            <a:avLst>
              <a:gd name="adj" fmla="val 2380"/>
            </a:avLst>
          </a:prstGeom>
          <a:solidFill>
            <a:srgbClr val="1D3152"/>
          </a:solidFill>
          <a:ln w="6350">
            <a:solidFill>
              <a:srgbClr val="2E4A72"/>
            </a:solidFill>
            <a:prstDash val="solid"/>
          </a:ln>
        </p:spPr>
      </p:sp>
      <p:sp>
        <p:nvSpPr>
          <p:cNvPr id="5" name="Text 3"/>
          <p:cNvSpPr txBox="1"/>
          <p:nvPr/>
        </p:nvSpPr>
        <p:spPr>
          <a:xfrm>
            <a:off x="1047750" y="2105620"/>
            <a:ext cx="4993767"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EXECUTIONBOUNTY · 0X3148…19C4</a:t>
            </a:r>
            <a:endParaRPr lang="en-US" sz="1200" dirty="0"/>
          </a:p>
        </p:txBody>
      </p:sp>
      <p:sp>
        <p:nvSpPr>
          <p:cNvPr id="6" name="Text 4"/>
          <p:cNvSpPr txBox="1"/>
          <p:nvPr/>
        </p:nvSpPr>
        <p:spPr>
          <a:xfrm>
            <a:off x="1047750" y="2404070"/>
            <a:ext cx="4993767"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Runs your route on its own funds and compares the output with the deployed QEDExecution's bound. No judge, no owner, no withdrawal.</a:t>
            </a:r>
            <a:endParaRPr lang="en-US" sz="1200" dirty="0"/>
          </a:p>
        </p:txBody>
      </p:sp>
      <p:sp>
        <p:nvSpPr>
          <p:cNvPr id="7" name="Shape 5"/>
          <p:cNvSpPr/>
          <p:nvPr/>
        </p:nvSpPr>
        <p:spPr>
          <a:xfrm>
            <a:off x="1047750" y="2948186"/>
            <a:ext cx="4895850" cy="0"/>
          </a:xfrm>
          <a:prstGeom prst="line">
            <a:avLst/>
          </a:prstGeom>
          <a:noFill/>
          <a:ln w="6350">
            <a:solidFill>
              <a:srgbClr val="2E4A72"/>
            </a:solidFill>
            <a:prstDash val="solid"/>
          </a:ln>
        </p:spPr>
      </p:sp>
      <p:sp>
        <p:nvSpPr>
          <p:cNvPr id="8" name="Text 6"/>
          <p:cNvSpPr txBox="1"/>
          <p:nvPr/>
        </p:nvSpPr>
        <p:spPr>
          <a:xfrm>
            <a:off x="1047750" y="3065661"/>
            <a:ext cx="622300"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XA1</a:t>
            </a:r>
            <a:endParaRPr lang="en-US" sz="1200" dirty="0"/>
          </a:p>
        </p:txBody>
      </p:sp>
      <p:sp>
        <p:nvSpPr>
          <p:cNvPr id="9" name="Text 7"/>
          <p:cNvSpPr txBox="1"/>
          <p:nvPr/>
        </p:nvSpPr>
        <p:spPr>
          <a:xfrm>
            <a:off x="1695450" y="3065661"/>
            <a:ext cx="4333113"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optimal route itself → TheoremHolds</a:t>
            </a:r>
            <a:endParaRPr lang="en-US" sz="1200" dirty="0"/>
          </a:p>
        </p:txBody>
      </p:sp>
      <p:sp>
        <p:nvSpPr>
          <p:cNvPr id="10" name="Text 8"/>
          <p:cNvSpPr txBox="1"/>
          <p:nvPr/>
        </p:nvSpPr>
        <p:spPr>
          <a:xfrm>
            <a:off x="1047750" y="3326011"/>
            <a:ext cx="622300"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XA2</a:t>
            </a:r>
            <a:endParaRPr lang="en-US" sz="1200" dirty="0"/>
          </a:p>
        </p:txBody>
      </p:sp>
      <p:sp>
        <p:nvSpPr>
          <p:cNvPr id="11" name="Text 9"/>
          <p:cNvSpPr txBox="1"/>
          <p:nvPr/>
        </p:nvSpPr>
        <p:spPr>
          <a:xfrm>
            <a:off x="1695450" y="3326011"/>
            <a:ext cx="4333113"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prices lowered 3% to shrink the bound → TheoremHolds</a:t>
            </a:r>
            <a:endParaRPr lang="en-US" sz="1200" dirty="0"/>
          </a:p>
        </p:txBody>
      </p:sp>
      <p:sp>
        <p:nvSpPr>
          <p:cNvPr id="12" name="Text 10"/>
          <p:cNvSpPr txBox="1"/>
          <p:nvPr/>
        </p:nvSpPr>
        <p:spPr>
          <a:xfrm>
            <a:off x="1047750" y="3586361"/>
            <a:ext cx="622300"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XA3</a:t>
            </a:r>
            <a:endParaRPr lang="en-US" sz="1200" dirty="0"/>
          </a:p>
        </p:txBody>
      </p:sp>
      <p:sp>
        <p:nvSpPr>
          <p:cNvPr id="13" name="Text 11"/>
          <p:cNvSpPr txBox="1"/>
          <p:nvPr/>
        </p:nvSpPr>
        <p:spPr>
          <a:xfrm>
            <a:off x="1695450" y="3586361"/>
            <a:ext cx="4333113"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whole 1,000 tUSD in one trade → TheoremHolds</a:t>
            </a:r>
            <a:endParaRPr lang="en-US" sz="1200" dirty="0"/>
          </a:p>
        </p:txBody>
      </p:sp>
      <p:sp>
        <p:nvSpPr>
          <p:cNvPr id="14" name="Text 12"/>
          <p:cNvSpPr txBox="1"/>
          <p:nvPr/>
        </p:nvSpPr>
        <p:spPr>
          <a:xfrm>
            <a:off x="6483350" y="1870670"/>
            <a:ext cx="4993767" cy="373380"/>
          </a:xfrm>
          <a:prstGeom prst="rect">
            <a:avLst/>
          </a:prstGeom>
          <a:noFill/>
          <a:ln/>
        </p:spPr>
        <p:txBody>
          <a:bodyPr wrap="square" lIns="0" tIns="0" rIns="0" bIns="0" rtlCol="0" anchor="t"/>
          <a:lstStyle/>
          <a:p>
            <a:pPr algn="l" indent="0" marL="0">
              <a:lnSpc>
                <a:spcPts val="2940"/>
              </a:lnSpc>
              <a:buNone/>
            </a:pPr>
            <a:r>
              <a:rPr lang="en-US" sz="2800" dirty="0">
                <a:solidFill>
                  <a:srgbClr val="46C4B0"/>
                </a:solidFill>
                <a:latin typeface="Cambria" pitchFamily="34" charset="0"/>
                <a:ea typeface="Cambria" pitchFamily="34" charset="-122"/>
                <a:cs typeface="Cambria" pitchFamily="34" charset="-120"/>
              </a:rPr>
              <a:t>3,000 tUSD</a:t>
            </a:r>
            <a:endParaRPr lang="en-US" sz="2800" dirty="0"/>
          </a:p>
        </p:txBody>
      </p:sp>
      <p:sp>
        <p:nvSpPr>
          <p:cNvPr id="15" name="Text 13"/>
          <p:cNvSpPr txBox="1"/>
          <p:nvPr/>
        </p:nvSpPr>
        <p:spPr>
          <a:xfrm>
            <a:off x="6483350" y="2282130"/>
            <a:ext cx="4993767"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unclaimed across three theorems: best execution, portfolio optimality, clearing maximality. Checked daily in CI.</a:t>
            </a:r>
            <a:endParaRPr lang="en-US" sz="1200" dirty="0"/>
          </a:p>
        </p:txBody>
      </p:sp>
      <p:sp>
        <p:nvSpPr>
          <p:cNvPr id="16" name="Text 14"/>
          <p:cNvSpPr txBox="1"/>
          <p:nvPr/>
        </p:nvSpPr>
        <p:spPr>
          <a:xfrm>
            <a:off x="6483350" y="2845891"/>
            <a:ext cx="4993767" cy="373380"/>
          </a:xfrm>
          <a:prstGeom prst="rect">
            <a:avLst/>
          </a:prstGeom>
          <a:noFill/>
          <a:ln/>
        </p:spPr>
        <p:txBody>
          <a:bodyPr wrap="square" lIns="0" tIns="0" rIns="0" bIns="0" rtlCol="0" anchor="t"/>
          <a:lstStyle/>
          <a:p>
            <a:pPr algn="l" indent="0" marL="0">
              <a:lnSpc>
                <a:spcPts val="2940"/>
              </a:lnSpc>
              <a:buNone/>
            </a:pPr>
            <a:r>
              <a:rPr lang="en-US" sz="2800" dirty="0">
                <a:solidFill>
                  <a:srgbClr val="46C4B0"/>
                </a:solidFill>
                <a:latin typeface="Cambria" pitchFamily="34" charset="0"/>
                <a:ea typeface="Cambria" pitchFamily="34" charset="-122"/>
                <a:cs typeface="Cambria" pitchFamily="34" charset="-120"/>
              </a:rPr>
              <a:t>6,000</a:t>
            </a:r>
            <a:endParaRPr lang="en-US" sz="2800" dirty="0"/>
          </a:p>
        </p:txBody>
      </p:sp>
      <p:sp>
        <p:nvSpPr>
          <p:cNvPr id="17" name="Text 15"/>
          <p:cNvSpPr txBox="1"/>
          <p:nvPr/>
        </p:nvSpPr>
        <p:spPr>
          <a:xfrm>
            <a:off x="6483350" y="3257352"/>
            <a:ext cx="4993767"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fuzzed routes, prices and claims never beat the bound; weak duality also holds on 12,000 route–price pairs off-chain.</a:t>
            </a:r>
            <a:endParaRPr lang="en-US" sz="1200" dirty="0"/>
          </a:p>
        </p:txBody>
      </p:sp>
      <p:sp>
        <p:nvSpPr>
          <p:cNvPr id="18" name="Text 16"/>
          <p:cNvSpPr txBox="1"/>
          <p:nvPr/>
        </p:nvSpPr>
        <p:spPr>
          <a:xfrm>
            <a:off x="6483350" y="3821113"/>
            <a:ext cx="4993767" cy="373380"/>
          </a:xfrm>
          <a:prstGeom prst="rect">
            <a:avLst/>
          </a:prstGeom>
          <a:noFill/>
          <a:ln/>
        </p:spPr>
        <p:txBody>
          <a:bodyPr wrap="square" lIns="0" tIns="0" rIns="0" bIns="0" rtlCol="0" anchor="t"/>
          <a:lstStyle/>
          <a:p>
            <a:pPr algn="l" indent="0" marL="0">
              <a:lnSpc>
                <a:spcPts val="2940"/>
              </a:lnSpc>
              <a:buNone/>
            </a:pPr>
            <a:r>
              <a:rPr lang="en-US" sz="2800" dirty="0">
                <a:solidFill>
                  <a:srgbClr val="46C4B0"/>
                </a:solidFill>
                <a:latin typeface="Cambria" pitchFamily="34" charset="0"/>
                <a:ea typeface="Cambria" pitchFamily="34" charset="-122"/>
                <a:cs typeface="Cambria" pitchFamily="34" charset="-120"/>
              </a:rPr>
              <a:t>Positive control</a:t>
            </a:r>
            <a:endParaRPr lang="en-US" sz="2800" dirty="0"/>
          </a:p>
        </p:txBody>
      </p:sp>
      <p:sp>
        <p:nvSpPr>
          <p:cNvPr id="19" name="Text 17"/>
          <p:cNvSpPr txBox="1"/>
          <p:nvPr/>
        </p:nvSpPr>
        <p:spPr>
          <a:xfrm>
            <a:off x="6483350" y="4232573"/>
            <a:ext cx="4993767"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against a bound understated by 0.1%, the bounty pays the first real refutation, so the check is not vacuous.</a:t>
            </a:r>
            <a:endParaRPr lang="en-US" sz="1200" dirty="0"/>
          </a:p>
        </p:txBody>
      </p:sp>
      <p:sp>
        <p:nvSpPr>
          <p:cNvPr id="20" name="Text 18"/>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145 Solidity + 60 TypeScript tests · contracts/test/QEDExecution.t.sol</a:t>
            </a:r>
            <a:endParaRPr lang="en-US" sz="1200" dirty="0"/>
          </a:p>
        </p:txBody>
      </p:sp>
      <p:sp>
        <p:nvSpPr>
          <p:cNvPr id="21" name="Text 19"/>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A9BACB"/>
                </a:solidFill>
                <a:latin typeface="Calibri" pitchFamily="34" charset="0"/>
                <a:ea typeface="Calibri" pitchFamily="34" charset="-122"/>
                <a:cs typeface="Calibri"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DEFENSIBILITY · PRIOR ART</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Every ingredient is known. The guarantee is not.</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1870670"/>
          <a:ext cx="10566400" cy="914400"/>
        </p:xfrm>
        <a:graphic>
          <a:graphicData uri="http://schemas.openxmlformats.org/drawingml/2006/table">
            <a:tbl>
              <a:tblPr/>
              <a:tblGrid>
                <a:gridCol w="3169841"/>
                <a:gridCol w="4226520"/>
                <a:gridCol w="3170039"/>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Closest work</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What it leaves open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100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Intents and aggregators: UniswapX, 1inch Fusion, ERC-7683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Enforce a minimum output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Leak up to the tolerance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CoW Protocol, EBBO rule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Compare fills with baseline pools after settlement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Social, after the fact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A²MM (2021); on-chain one-hop routing (FC 2026)</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Compute a split on-chain for parallel pools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Approximate, one pair, no bound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Certified routing (arXiv 2607.22540)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Off-chain KKT certificate for a router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Execution guarded by slippage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Angeris et al., EC 2022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CFMM routing is convex; duality</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Theory; routes solved off-chain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100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QED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Verifies any route over any owner venues, in the trade's transaction, to 1 ppm</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Inside an agent's mandate, money on it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5" name="Text 2"/>
          <p:cNvSpPr txBox="1"/>
          <p:nvPr/>
        </p:nvSpPr>
        <p:spPr>
          <a:xfrm>
            <a:off x="812800" y="3820120"/>
            <a:ext cx="10777728" cy="25717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We found no prior system that makes the optimality of an executed route an on-chain condition of the trade.</a:t>
            </a:r>
            <a:endParaRPr lang="en-US" sz="1500" dirty="0"/>
          </a:p>
        </p:txBody>
      </p:sp>
      <p:sp>
        <p:nvSpPr>
          <p:cNvPr id="6" name="Text 3"/>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Sources and the full comparison: docs/PRIOR_ART.md §0 · searched 20 Oct 2026</a:t>
            </a:r>
            <a:endParaRPr lang="en-US" sz="1200" dirty="0"/>
          </a:p>
        </p:txBody>
      </p:sp>
      <p:sp>
        <p:nvSpPr>
          <p:cNvPr id="7" name="Text 4"/>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IMPACT</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Best execution becomes a precondition, not a quarterly report.</a:t>
            </a:r>
            <a:endParaRPr lang="en-US" sz="3200" dirty="0"/>
          </a:p>
        </p:txBody>
      </p:sp>
      <p:sp>
        <p:nvSpPr>
          <p:cNvPr id="4" name="Shape 2"/>
          <p:cNvSpPr/>
          <p:nvPr/>
        </p:nvSpPr>
        <p:spPr>
          <a:xfrm>
            <a:off x="812800" y="1921470"/>
            <a:ext cx="3386634" cy="1704181"/>
          </a:xfrm>
          <a:prstGeom prst="roundRect">
            <a:avLst>
              <a:gd name="adj" fmla="val 2981"/>
            </a:avLst>
          </a:prstGeom>
          <a:solidFill>
            <a:srgbClr val="FBFCFC"/>
          </a:solidFill>
          <a:ln w="6350">
            <a:solidFill>
              <a:srgbClr val="D6DEE1"/>
            </a:solidFill>
            <a:prstDash val="solid"/>
          </a:ln>
        </p:spPr>
      </p:sp>
      <p:sp>
        <p:nvSpPr>
          <p:cNvPr id="5" name="Text 3"/>
          <p:cNvSpPr txBox="1"/>
          <p:nvPr/>
        </p:nvSpPr>
        <p:spPr>
          <a:xfrm>
            <a:off x="1047750" y="2156420"/>
            <a:ext cx="2975068"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Agent treasuries</a:t>
            </a:r>
            <a:endParaRPr lang="en-US" sz="2000" dirty="0"/>
          </a:p>
        </p:txBody>
      </p:sp>
      <p:sp>
        <p:nvSpPr>
          <p:cNvPr id="6" name="Text 4"/>
          <p:cNvSpPr txBox="1"/>
          <p:nvPr/>
        </p:nvSpPr>
        <p:spPr>
          <a:xfrm>
            <a:off x="1047750" y="2537420"/>
            <a:ext cx="2975068" cy="85328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Businesses, DAOs and AI services that hold one currency and owe another can delegate conversion, including when and how much, without trusting the agent's routing.</a:t>
            </a:r>
            <a:endParaRPr lang="en-US" sz="1200" dirty="0"/>
          </a:p>
        </p:txBody>
      </p:sp>
      <p:sp>
        <p:nvSpPr>
          <p:cNvPr id="7" name="Shape 5"/>
          <p:cNvSpPr/>
          <p:nvPr/>
        </p:nvSpPr>
        <p:spPr>
          <a:xfrm>
            <a:off x="4402634" y="1921470"/>
            <a:ext cx="3386634" cy="1704181"/>
          </a:xfrm>
          <a:prstGeom prst="roundRect">
            <a:avLst>
              <a:gd name="adj" fmla="val 2981"/>
            </a:avLst>
          </a:prstGeom>
          <a:solidFill>
            <a:srgbClr val="FBFCFC"/>
          </a:solidFill>
          <a:ln w="6350">
            <a:solidFill>
              <a:srgbClr val="D6DEE1"/>
            </a:solidFill>
            <a:prstDash val="solid"/>
          </a:ln>
        </p:spPr>
      </p:sp>
      <p:sp>
        <p:nvSpPr>
          <p:cNvPr id="8" name="Text 6"/>
          <p:cNvSpPr txBox="1"/>
          <p:nvPr/>
        </p:nvSpPr>
        <p:spPr>
          <a:xfrm>
            <a:off x="4637584" y="2156420"/>
            <a:ext cx="2975068"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Regulated firms</a:t>
            </a:r>
            <a:endParaRPr lang="en-US" sz="2000" dirty="0"/>
          </a:p>
        </p:txBody>
      </p:sp>
      <p:sp>
        <p:nvSpPr>
          <p:cNvPr id="9" name="Text 7"/>
          <p:cNvSpPr txBox="1"/>
          <p:nvPr/>
        </p:nvSpPr>
        <p:spPr>
          <a:xfrm>
            <a:off x="4637584" y="2537420"/>
            <a:ext cx="2975068" cy="85328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A per-trade record anyone can recompute from public state, for the best-execution duty firms already carry under MiFID II and FINRA rules.</a:t>
            </a:r>
            <a:endParaRPr lang="en-US" sz="1200" dirty="0"/>
          </a:p>
        </p:txBody>
      </p:sp>
      <p:sp>
        <p:nvSpPr>
          <p:cNvPr id="10" name="Shape 8"/>
          <p:cNvSpPr/>
          <p:nvPr/>
        </p:nvSpPr>
        <p:spPr>
          <a:xfrm>
            <a:off x="7992467" y="1921470"/>
            <a:ext cx="3386634" cy="1704181"/>
          </a:xfrm>
          <a:prstGeom prst="roundRect">
            <a:avLst>
              <a:gd name="adj" fmla="val 2981"/>
            </a:avLst>
          </a:prstGeom>
          <a:solidFill>
            <a:srgbClr val="FBFCFC"/>
          </a:solidFill>
          <a:ln w="6350">
            <a:solidFill>
              <a:srgbClr val="D6DEE1"/>
            </a:solidFill>
            <a:prstDash val="solid"/>
          </a:ln>
        </p:spPr>
      </p:sp>
      <p:sp>
        <p:nvSpPr>
          <p:cNvPr id="11" name="Text 9"/>
          <p:cNvSpPr txBox="1"/>
          <p:nvPr/>
        </p:nvSpPr>
        <p:spPr>
          <a:xfrm>
            <a:off x="8227417" y="2156420"/>
            <a:ext cx="2975068"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Solvers and intents</a:t>
            </a:r>
            <a:endParaRPr lang="en-US" sz="2000" dirty="0"/>
          </a:p>
        </p:txBody>
      </p:sp>
      <p:sp>
        <p:nvSpPr>
          <p:cNvPr id="12" name="Text 10"/>
          <p:cNvSpPr txBox="1"/>
          <p:nvPr/>
        </p:nvSpPr>
        <p:spPr>
          <a:xfrm>
            <a:off x="8227417" y="2537420"/>
            <a:ext cx="2975068"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A filler can attach the proof and be accepted on it; a protocol can settle on the proof instead of after-the-fact monitoring.</a:t>
            </a:r>
            <a:endParaRPr lang="en-US" sz="1200" dirty="0"/>
          </a:p>
        </p:txBody>
      </p:sp>
      <p:sp>
        <p:nvSpPr>
          <p:cNvPr id="13" name="Shape 11"/>
          <p:cNvSpPr/>
          <p:nvPr/>
        </p:nvSpPr>
        <p:spPr>
          <a:xfrm>
            <a:off x="825500" y="3854252"/>
            <a:ext cx="0" cy="880070"/>
          </a:xfrm>
          <a:prstGeom prst="line">
            <a:avLst/>
          </a:prstGeom>
          <a:noFill/>
          <a:ln w="25400">
            <a:solidFill>
              <a:srgbClr val="0A7468"/>
            </a:solidFill>
            <a:prstDash val="solid"/>
          </a:ln>
        </p:spPr>
      </p:sp>
      <p:sp>
        <p:nvSpPr>
          <p:cNvPr id="14" name="Text 12"/>
          <p:cNvSpPr txBox="1"/>
          <p:nvPr/>
        </p:nvSpPr>
        <p:spPr>
          <a:xfrm>
            <a:off x="1016000" y="3879652"/>
            <a:ext cx="10570464"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0A7468"/>
                </a:solidFill>
                <a:latin typeface="Calibri" pitchFamily="34" charset="0"/>
                <a:ea typeface="Calibri" pitchFamily="34" charset="-122"/>
                <a:cs typeface="Calibri" pitchFamily="34" charset="-120"/>
              </a:rPr>
              <a:t>RESEARCH QUESTION</a:t>
            </a:r>
            <a:endParaRPr lang="en-US" sz="1200" dirty="0"/>
          </a:p>
        </p:txBody>
      </p:sp>
      <p:sp>
        <p:nvSpPr>
          <p:cNvPr id="15" name="Text 13"/>
          <p:cNvSpPr txBox="1"/>
          <p:nvPr/>
        </p:nvSpPr>
        <p:spPr>
          <a:xfrm>
            <a:off x="1016000" y="4114602"/>
            <a:ext cx="10570464" cy="594320"/>
          </a:xfrm>
          <a:prstGeom prst="rect">
            <a:avLst/>
          </a:prstGeom>
          <a:noFill/>
          <a:ln/>
        </p:spPr>
        <p:txBody>
          <a:bodyPr wrap="square" lIns="0" tIns="0" rIns="0" bIns="0" rtlCol="0" anchor="t"/>
          <a:lstStyle/>
          <a:p>
            <a:pPr algn="l" indent="0" marL="0">
              <a:lnSpc>
                <a:spcPts val="2340"/>
              </a:lnSpc>
              <a:buNone/>
            </a:pPr>
            <a:r>
              <a:rPr lang="en-US" sz="1800" dirty="0">
                <a:solidFill>
                  <a:srgbClr val="13233F"/>
                </a:solidFill>
                <a:latin typeface="Cambria" pitchFamily="34" charset="0"/>
                <a:ea typeface="Cambria" pitchFamily="34" charset="-122"/>
                <a:cs typeface="Cambria" pitchFamily="34" charset="-120"/>
              </a:rPr>
              <a:t>Which fiduciary duties can be turned from audits after the fact into conditions the chain checks before money moves?</a:t>
            </a:r>
            <a:endParaRPr lang="en-US" sz="1800" dirty="0"/>
          </a:p>
        </p:txBody>
      </p:sp>
      <p:sp>
        <p:nvSpPr>
          <p:cNvPr id="16" name="Text 1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No users or revenue claimed: this is a testnet prototype</a:t>
            </a:r>
            <a:endParaRPr lang="en-US" sz="1200" dirty="0"/>
          </a:p>
        </p:txBody>
      </p:sp>
      <p:sp>
        <p:nvSpPr>
          <p:cNvPr id="17"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CHECK US · AND OUR LIMITS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Don't trust the slides. Re-derive them.</a:t>
            </a:r>
            <a:endParaRPr lang="en-US" sz="3200" dirty="0"/>
          </a:p>
        </p:txBody>
      </p:sp>
      <p:sp>
        <p:nvSpPr>
          <p:cNvPr id="4" name="Shape 2"/>
          <p:cNvSpPr/>
          <p:nvPr/>
        </p:nvSpPr>
        <p:spPr>
          <a:xfrm>
            <a:off x="812800" y="1870670"/>
            <a:ext cx="5359400" cy="2507952"/>
          </a:xfrm>
          <a:prstGeom prst="roundRect">
            <a:avLst>
              <a:gd name="adj" fmla="val 2026"/>
            </a:avLst>
          </a:prstGeom>
          <a:solidFill>
            <a:srgbClr val="13233F"/>
          </a:solidFill>
          <a:ln/>
        </p:spPr>
      </p:sp>
      <p:sp>
        <p:nvSpPr>
          <p:cNvPr id="5" name="Text 3"/>
          <p:cNvSpPr txBox="1"/>
          <p:nvPr/>
        </p:nvSpPr>
        <p:spPr>
          <a:xfrm>
            <a:off x="1041400" y="2099270"/>
            <a:ext cx="5000244" cy="18288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ourier New" pitchFamily="34" charset="0"/>
                <a:ea typeface="Courier New" pitchFamily="34" charset="-122"/>
                <a:cs typeface="Courier New" pitchFamily="34" charset="-120"/>
              </a:rPr>
              <a:t>npm run verify</a:t>
            </a:r>
            <a:endParaRPr lang="en-US" sz="1200" dirty="0"/>
          </a:p>
        </p:txBody>
      </p:sp>
      <p:sp>
        <p:nvSpPr>
          <p:cNvPr id="6" name="Text 4"/>
          <p:cNvSpPr txBox="1"/>
          <p:nvPr/>
        </p:nvSpPr>
        <p:spPr>
          <a:xfrm>
            <a:off x="1041400" y="2372320"/>
            <a:ext cx="5000244"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every claim from a public Sepolia node, no keys: bytecode, receipts, replayed reverts, each bound recomputed, routes replayed</a:t>
            </a:r>
            <a:endParaRPr lang="en-US" sz="1200" dirty="0"/>
          </a:p>
        </p:txBody>
      </p:sp>
      <p:sp>
        <p:nvSpPr>
          <p:cNvPr id="7" name="Text 5"/>
          <p:cNvSpPr txBox="1"/>
          <p:nvPr/>
        </p:nvSpPr>
        <p:spPr>
          <a:xfrm>
            <a:off x="1041400" y="2885281"/>
            <a:ext cx="5000244" cy="18288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ourier New" pitchFamily="34" charset="0"/>
                <a:ea typeface="Courier New" pitchFamily="34" charset="-122"/>
                <a:cs typeface="Courier New" pitchFamily="34" charset="-120"/>
              </a:rPr>
              <a:t>QED_OFFLINE=1 npm run local:execute</a:t>
            </a:r>
            <a:endParaRPr lang="en-US" sz="1200" dirty="0"/>
          </a:p>
        </p:txBody>
      </p:sp>
      <p:sp>
        <p:nvSpPr>
          <p:cNvPr id="8" name="Text 6"/>
          <p:cNvSpPr txBox="1"/>
          <p:nvPr/>
        </p:nvSpPr>
        <p:spPr>
          <a:xfrm>
            <a:off x="1041400" y="3158331"/>
            <a:ext cx="5000244"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the whole best-execution economy and the policy loop with dev keys; PE1 and PE2 reproduce to the raw unit</a:t>
            </a:r>
            <a:endParaRPr lang="en-US" sz="1200" dirty="0"/>
          </a:p>
        </p:txBody>
      </p:sp>
      <p:sp>
        <p:nvSpPr>
          <p:cNvPr id="9" name="Text 7"/>
          <p:cNvSpPr txBox="1"/>
          <p:nvPr/>
        </p:nvSpPr>
        <p:spPr>
          <a:xfrm>
            <a:off x="1041400" y="3671292"/>
            <a:ext cx="5000244" cy="18288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ourier New" pitchFamily="34" charset="0"/>
                <a:ea typeface="Courier New" pitchFamily="34" charset="-122"/>
                <a:cs typeface="Courier New" pitchFamily="34" charset="-120"/>
              </a:rPr>
              <a:t>forge test · npm run test:ts</a:t>
            </a:r>
            <a:endParaRPr lang="en-US" sz="1200" dirty="0"/>
          </a:p>
        </p:txBody>
      </p:sp>
      <p:sp>
        <p:nvSpPr>
          <p:cNvPr id="10" name="Text 8"/>
          <p:cNvSpPr txBox="1"/>
          <p:nvPr/>
        </p:nvSpPr>
        <p:spPr>
          <a:xfrm>
            <a:off x="1041400" y="3944342"/>
            <a:ext cx="5000244" cy="205740"/>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145 + 60 tests; 24 contracts verified on Sourcify; all of it in CI on every push</a:t>
            </a:r>
            <a:endParaRPr lang="en-US" sz="1200" dirty="0"/>
          </a:p>
        </p:txBody>
      </p:sp>
      <p:sp>
        <p:nvSpPr>
          <p:cNvPr id="11" name="Text 9"/>
          <p:cNvSpPr txBox="1"/>
          <p:nvPr/>
        </p:nvSpPr>
        <p:spPr>
          <a:xfrm>
            <a:off x="6477000" y="1870670"/>
            <a:ext cx="5000244"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What QED does not do</a:t>
            </a:r>
            <a:endParaRPr lang="en-US" sz="1500" dirty="0"/>
          </a:p>
        </p:txBody>
      </p:sp>
      <p:sp>
        <p:nvSpPr>
          <p:cNvPr id="12" name="Text 10"/>
          <p:cNvSpPr txBox="1"/>
          <p:nvPr/>
        </p:nvSpPr>
        <p:spPr>
          <a:xfrm>
            <a:off x="6477000" y="2219920"/>
            <a:ext cx="5000244"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The proof is about the state a trade executes on: a front-run smaller than the 1% co-signed floor is not caught.</a:t>
            </a:r>
            <a:endParaRPr lang="en-US" sz="1200" dirty="0"/>
          </a:p>
        </p:txBody>
      </p:sp>
      <p:sp>
        <p:nvSpPr>
          <p:cNvPr id="13" name="Text 11"/>
          <p:cNvSpPr txBox="1"/>
          <p:nvPr/>
        </p:nvSpPr>
        <p:spPr>
          <a:xfrm>
            <a:off x="6477000" y="2760861"/>
            <a:ext cx="5000244"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Venues must be honest constant-product pools the owner names; concentrated liquidity is not covered yet.</a:t>
            </a:r>
            <a:endParaRPr lang="en-US" sz="1200" dirty="0"/>
          </a:p>
        </p:txBody>
      </p:sp>
      <p:sp>
        <p:nvSpPr>
          <p:cNvPr id="14" name="Text 12"/>
          <p:cNvSpPr txBox="1"/>
          <p:nvPr/>
        </p:nvSpPr>
        <p:spPr>
          <a:xfrm>
            <a:off x="6477000" y="3301802"/>
            <a:ext cx="5000244"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The policy contract enforces safety, not liveness: a slow or idle agent is not caught.</a:t>
            </a:r>
            <a:endParaRPr lang="en-US" sz="1200" dirty="0"/>
          </a:p>
        </p:txBody>
      </p:sp>
      <p:sp>
        <p:nvSpPr>
          <p:cNvPr id="15" name="Text 13"/>
          <p:cNvSpPr txBox="1"/>
          <p:nvPr/>
        </p:nvSpPr>
        <p:spPr>
          <a:xfrm>
            <a:off x="6477000" y="3842742"/>
            <a:ext cx="5000244" cy="213360"/>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Testnet, valueless tokens, not audited.</a:t>
            </a:r>
            <a:endParaRPr lang="en-US" sz="1200" dirty="0"/>
          </a:p>
        </p:txBody>
      </p:sp>
      <p:sp>
        <p:nvSpPr>
          <p:cNvPr id="16" name="Text 1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docs/REPRODUCIBILITY.md · docs/KNOWN_LIMITATIONS.md · docs/SECURITY.md K1–K29</a:t>
            </a:r>
            <a:endParaRPr lang="en-US" sz="1200" dirty="0"/>
          </a:p>
        </p:txBody>
      </p:sp>
      <p:sp>
        <p:nvSpPr>
          <p:cNvPr id="17"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QED</a:t>
            </a:r>
            <a:endParaRPr lang="en-US" sz="1200" dirty="0"/>
          </a:p>
        </p:txBody>
      </p:sp>
      <p:sp>
        <p:nvSpPr>
          <p:cNvPr id="3" name="Text 1"/>
          <p:cNvSpPr txBox="1"/>
          <p:nvPr/>
        </p:nvSpPr>
        <p:spPr>
          <a:xfrm>
            <a:off x="812800" y="1200150"/>
            <a:ext cx="10777728" cy="1466850"/>
          </a:xfrm>
          <a:prstGeom prst="rect">
            <a:avLst/>
          </a:prstGeom>
          <a:noFill/>
          <a:ln/>
        </p:spPr>
        <p:txBody>
          <a:bodyPr wrap="square" lIns="0" tIns="0" rIns="0" bIns="0" rtlCol="0" anchor="t"/>
          <a:lstStyle/>
          <a:p>
            <a:pPr algn="l" indent="0" marL="0">
              <a:lnSpc>
                <a:spcPts val="5780"/>
              </a:lnSpc>
              <a:buNone/>
            </a:pPr>
            <a:r>
              <a:rPr lang="en-US" sz="5500" dirty="0">
                <a:solidFill>
                  <a:srgbClr val="E4ECF1"/>
                </a:solidFill>
                <a:latin typeface="Cambria" pitchFamily="34" charset="0"/>
                <a:ea typeface="Cambria" pitchFamily="34" charset="-122"/>
                <a:cs typeface="Cambria" pitchFamily="34" charset="-120"/>
              </a:rPr>
              <a:t>Agents will hold the money. Make them prove it.</a:t>
            </a:r>
            <a:endParaRPr lang="en-US" sz="5500" dirty="0"/>
          </a:p>
        </p:txBody>
      </p:sp>
      <p:sp>
        <p:nvSpPr>
          <p:cNvPr id="4" name="Text 2"/>
          <p:cNvSpPr txBox="1"/>
          <p:nvPr/>
        </p:nvSpPr>
        <p:spPr>
          <a:xfrm>
            <a:off x="812800" y="2870200"/>
            <a:ext cx="10777728" cy="731441"/>
          </a:xfrm>
          <a:prstGeom prst="rect">
            <a:avLst/>
          </a:prstGeom>
          <a:noFill/>
          <a:ln/>
        </p:spPr>
        <p:txBody>
          <a:bodyPr wrap="square" lIns="0" tIns="0" rIns="0" bIns="0" rtlCol="0" anchor="t"/>
          <a:lstStyle/>
          <a:p>
            <a:pPr algn="l" indent="0" marL="0">
              <a:lnSpc>
                <a:spcPts val="2880"/>
              </a:lnSpc>
              <a:buNone/>
            </a:pPr>
            <a:r>
              <a:rPr lang="en-US" sz="2400" i="1" dirty="0">
                <a:solidFill>
                  <a:srgbClr val="A9BACB"/>
                </a:solidFill>
                <a:latin typeface="Cambria" pitchFamily="34" charset="0"/>
                <a:ea typeface="Cambria" pitchFamily="34" charset="-122"/>
                <a:cs typeface="Cambria" pitchFamily="34" charset="-120"/>
              </a:rPr>
              <a:t>Who may pay, what may never be spent, whether work is optimal, whether a trade got the best price: each one checked by the chain.</a:t>
            </a:r>
            <a:endParaRPr lang="en-US" sz="2400" dirty="0"/>
          </a:p>
        </p:txBody>
      </p:sp>
      <p:sp>
        <p:nvSpPr>
          <p:cNvPr id="5" name="Shape 3"/>
          <p:cNvSpPr/>
          <p:nvPr/>
        </p:nvSpPr>
        <p:spPr>
          <a:xfrm>
            <a:off x="812800" y="4651375"/>
            <a:ext cx="10566400" cy="0"/>
          </a:xfrm>
          <a:prstGeom prst="line">
            <a:avLst/>
          </a:prstGeom>
          <a:noFill/>
          <a:ln w="6350">
            <a:solidFill>
              <a:srgbClr val="2E4A72"/>
            </a:solidFill>
            <a:prstDash val="solid"/>
          </a:ln>
        </p:spPr>
      </p:sp>
      <p:sp>
        <p:nvSpPr>
          <p:cNvPr id="6" name="Text 4"/>
          <p:cNvSpPr txBox="1"/>
          <p:nvPr/>
        </p:nvSpPr>
        <p:spPr>
          <a:xfrm>
            <a:off x="812800" y="4832350"/>
            <a:ext cx="10777728"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Try it: the live app, on a testnet sandbox chain (no wallet, no keys)</a:t>
            </a:r>
            <a:endParaRPr lang="en-US" sz="1200" dirty="0"/>
          </a:p>
        </p:txBody>
      </p:sp>
      <p:sp>
        <p:nvSpPr>
          <p:cNvPr id="7" name="Text 5"/>
          <p:cNvSpPr txBox="1"/>
          <p:nvPr/>
        </p:nvSpPr>
        <p:spPr>
          <a:xfrm>
            <a:off x="812800" y="5054600"/>
            <a:ext cx="10777728" cy="228600"/>
          </a:xfrm>
          <a:prstGeom prst="rect">
            <a:avLst/>
          </a:prstGeom>
          <a:noFill/>
          <a:ln/>
        </p:spPr>
        <p:txBody>
          <a:bodyPr wrap="square" lIns="0" tIns="0" rIns="0" bIns="0" rtlCol="0" anchor="t"/>
          <a:lstStyle/>
          <a:p>
            <a:pPr algn="l" indent="0" marL="0">
              <a:lnSpc>
                <a:spcPts val="1800"/>
              </a:lnSpc>
              <a:buNone/>
            </a:pPr>
            <a:r>
              <a:rPr lang="en-US" sz="1500" dirty="0">
                <a:solidFill>
                  <a:srgbClr val="E4ECF1"/>
                </a:solidFill>
                <a:latin typeface="Courier New" pitchFamily="34" charset="0"/>
                <a:ea typeface="Courier New" pitchFamily="34" charset="-122"/>
                <a:cs typeface="Courier New" pitchFamily="34" charset="-120"/>
              </a:rPr>
              <a:t>qed-judges-preview-production.up.railway.app</a:t>
            </a:r>
            <a:endParaRPr lang="en-US" sz="1500" dirty="0"/>
          </a:p>
        </p:txBody>
      </p:sp>
      <p:sp>
        <p:nvSpPr>
          <p:cNvPr id="8" name="Text 6"/>
          <p:cNvSpPr txBox="1"/>
          <p:nvPr/>
        </p:nvSpPr>
        <p:spPr>
          <a:xfrm>
            <a:off x="812800" y="5448300"/>
            <a:ext cx="5233416"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Sepolia proof ledger</a:t>
            </a:r>
            <a:endParaRPr lang="en-US" sz="1200" dirty="0"/>
          </a:p>
        </p:txBody>
      </p:sp>
      <p:sp>
        <p:nvSpPr>
          <p:cNvPr id="9" name="Text 7"/>
          <p:cNvSpPr txBox="1"/>
          <p:nvPr/>
        </p:nvSpPr>
        <p:spPr>
          <a:xfrm>
            <a:off x="812800" y="5670550"/>
            <a:ext cx="5233416" cy="18288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ourier New" pitchFamily="34" charset="0"/>
                <a:ea typeface="Courier New" pitchFamily="34" charset="-122"/>
                <a:cs typeface="Courier New" pitchFamily="34" charset="-120"/>
              </a:rPr>
              <a:t>nightcore709.github.io/qed-agent-wallet</a:t>
            </a:r>
            <a:endParaRPr lang="en-US" sz="1200" dirty="0"/>
          </a:p>
        </p:txBody>
      </p:sp>
      <p:sp>
        <p:nvSpPr>
          <p:cNvPr id="10" name="Text 8"/>
          <p:cNvSpPr txBox="1"/>
          <p:nvPr/>
        </p:nvSpPr>
        <p:spPr>
          <a:xfrm>
            <a:off x="6248400" y="5448300"/>
            <a:ext cx="5233416"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Code, evidence, docs</a:t>
            </a:r>
            <a:endParaRPr lang="en-US" sz="1200" dirty="0"/>
          </a:p>
        </p:txBody>
      </p:sp>
      <p:sp>
        <p:nvSpPr>
          <p:cNvPr id="11" name="Text 9"/>
          <p:cNvSpPr txBox="1"/>
          <p:nvPr/>
        </p:nvSpPr>
        <p:spPr>
          <a:xfrm>
            <a:off x="6248400" y="5670550"/>
            <a:ext cx="5233416" cy="18288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ourier New" pitchFamily="34" charset="0"/>
                <a:ea typeface="Courier New" pitchFamily="34" charset="-122"/>
                <a:cs typeface="Courier New" pitchFamily="34" charset="-120"/>
              </a:rPr>
              <a:t>github.com/Nightcore709/qed-agent-wallet</a:t>
            </a:r>
            <a:endParaRPr lang="en-US" sz="1200" dirty="0"/>
          </a:p>
        </p:txBody>
      </p:sp>
      <p:sp>
        <p:nvSpPr>
          <p:cNvPr id="12" name="Text 10"/>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[Team name] · [Member names] · [Universities]</a:t>
            </a:r>
            <a:endParaRPr lang="en-US" sz="1200" dirty="0"/>
          </a:p>
        </p:txBody>
      </p:sp>
      <p:sp>
        <p:nvSpPr>
          <p:cNvPr id="13" name="Text 11"/>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A9BACB"/>
                </a:solidFill>
                <a:latin typeface="Calibri" pitchFamily="34" charset="0"/>
                <a:ea typeface="Calibri" pitchFamily="34" charset="-122"/>
                <a:cs typeface="Calibri" pitchFamily="34" charset="-120"/>
              </a:rPr>
              <a:t>15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1 · AUTHORITY</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AI’s key can pay only under two signatures it doesn’t hold.</a:t>
            </a:r>
            <a:endParaRPr lang="en-US" sz="3200" dirty="0"/>
          </a:p>
        </p:txBody>
      </p:sp>
      <p:sp>
        <p:nvSpPr>
          <p:cNvPr id="4" name="Text 2"/>
          <p:cNvSpPr txBox="1"/>
          <p:nvPr/>
        </p:nvSpPr>
        <p:spPr>
          <a:xfrm>
            <a:off x="812800" y="1921470"/>
            <a:ext cx="497433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The owner’s mandate</a:t>
            </a:r>
            <a:endParaRPr lang="en-US" sz="1500" dirty="0"/>
          </a:p>
        </p:txBody>
      </p:sp>
      <p:sp>
        <p:nvSpPr>
          <p:cNvPr id="5" name="Text 3"/>
          <p:cNvSpPr txBox="1"/>
          <p:nvPr/>
        </p:nvSpPr>
        <p:spPr>
          <a:xfrm>
            <a:off x="812800" y="2194520"/>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Signed once, off-chain, with a cold key. Names the payees, the caps and an expiry.</a:t>
            </a:r>
            <a:endParaRPr lang="en-US" sz="1200" dirty="0"/>
          </a:p>
        </p:txBody>
      </p:sp>
      <p:sp>
        <p:nvSpPr>
          <p:cNvPr id="6" name="Text 4"/>
          <p:cNvSpPr txBox="1"/>
          <p:nvPr/>
        </p:nvSpPr>
        <p:spPr>
          <a:xfrm>
            <a:off x="812800" y="2786261"/>
            <a:ext cx="497433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The co-signer’s certificate</a:t>
            </a:r>
            <a:endParaRPr lang="en-US" sz="1500" dirty="0"/>
          </a:p>
        </p:txBody>
      </p:sp>
      <p:sp>
        <p:nvSpPr>
          <p:cNvPr id="7" name="Text 5"/>
          <p:cNvSpPr txBox="1"/>
          <p:nvPr/>
        </p:nvSpPr>
        <p:spPr>
          <a:xfrm>
            <a:off x="812800" y="3059311"/>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A separate process with its own key runs 12 checks, then signs the exact recipient, amount, date, a single-use id and the hash of its decision record.</a:t>
            </a:r>
            <a:endParaRPr lang="en-US" sz="1200" dirty="0"/>
          </a:p>
        </p:txBody>
      </p:sp>
      <p:sp>
        <p:nvSpPr>
          <p:cNvPr id="8" name="Text 6"/>
          <p:cNvSpPr txBox="1"/>
          <p:nvPr/>
        </p:nvSpPr>
        <p:spPr>
          <a:xfrm>
            <a:off x="812800" y="3651052"/>
            <a:ext cx="497433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The vault’s own rules</a:t>
            </a:r>
            <a:endParaRPr lang="en-US" sz="1500" dirty="0"/>
          </a:p>
        </p:txBody>
      </p:sp>
      <p:sp>
        <p:nvSpPr>
          <p:cNvPr id="9" name="Text 7"/>
          <p:cNvSpPr txBox="1"/>
          <p:nvPr/>
        </p:nvSpPr>
        <p:spPr>
          <a:xfrm>
            <a:off x="812800" y="3924102"/>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Payee in the mandate, caps, no replay, solvency. Change one signed byte and the payment reverts.</a:t>
            </a:r>
            <a:endParaRPr lang="en-US" sz="1200" dirty="0"/>
          </a:p>
        </p:txBody>
      </p:sp>
      <p:sp>
        <p:nvSpPr>
          <p:cNvPr id="10" name="Shape 8"/>
          <p:cNvSpPr/>
          <p:nvPr/>
        </p:nvSpPr>
        <p:spPr>
          <a:xfrm>
            <a:off x="5994400" y="1921470"/>
            <a:ext cx="5384800" cy="2622550"/>
          </a:xfrm>
          <a:prstGeom prst="roundRect">
            <a:avLst>
              <a:gd name="adj" fmla="val 1937"/>
            </a:avLst>
          </a:prstGeom>
          <a:solidFill>
            <a:srgbClr val="13233F"/>
          </a:solidFill>
          <a:ln/>
        </p:spPr>
      </p:sp>
      <p:sp>
        <p:nvSpPr>
          <p:cNvPr id="11" name="Text 9"/>
          <p:cNvSpPr txBox="1"/>
          <p:nvPr/>
        </p:nvSpPr>
        <p:spPr>
          <a:xfrm>
            <a:off x="6248400" y="2175470"/>
            <a:ext cx="497433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ON SEPOLIA · TRANSACTION L4</a:t>
            </a:r>
            <a:endParaRPr lang="en-US" sz="1200" dirty="0"/>
          </a:p>
        </p:txBody>
      </p:sp>
      <p:sp>
        <p:nvSpPr>
          <p:cNvPr id="12" name="Text 10"/>
          <p:cNvSpPr txBox="1"/>
          <p:nvPr/>
        </p:nvSpPr>
        <p:spPr>
          <a:xfrm>
            <a:off x="6248400" y="2486620"/>
            <a:ext cx="4974336" cy="228600"/>
          </a:xfrm>
          <a:prstGeom prst="rect">
            <a:avLst/>
          </a:prstGeom>
          <a:noFill/>
          <a:ln/>
        </p:spPr>
        <p:txBody>
          <a:bodyPr wrap="square" lIns="0" tIns="0" rIns="0" bIns="0" rtlCol="0" anchor="t"/>
          <a:lstStyle/>
          <a:p>
            <a:pPr algn="l" indent="0" marL="0">
              <a:lnSpc>
                <a:spcPts val="1800"/>
              </a:lnSpc>
              <a:buNone/>
            </a:pPr>
            <a:r>
              <a:rPr lang="en-US" sz="1500" dirty="0">
                <a:solidFill>
                  <a:srgbClr val="E4ECF1"/>
                </a:solidFill>
                <a:latin typeface="Courier New" pitchFamily="34" charset="0"/>
                <a:ea typeface="Courier New" pitchFamily="34" charset="-122"/>
                <a:cs typeface="Courier New" pitchFamily="34" charset="-120"/>
              </a:rPr>
              <a:t>0x56a2334e…83b6</a:t>
            </a:r>
            <a:endParaRPr lang="en-US" sz="1500" dirty="0"/>
          </a:p>
        </p:txBody>
      </p:sp>
      <p:sp>
        <p:nvSpPr>
          <p:cNvPr id="13" name="Text 11"/>
          <p:cNvSpPr txBox="1"/>
          <p:nvPr/>
        </p:nvSpPr>
        <p:spPr>
          <a:xfrm>
            <a:off x="6248400" y="282952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Sent by</a:t>
            </a:r>
            <a:endParaRPr lang="en-US" sz="1200" dirty="0"/>
          </a:p>
        </p:txBody>
      </p:sp>
      <p:sp>
        <p:nvSpPr>
          <p:cNvPr id="14" name="Text 12"/>
          <p:cNvSpPr txBox="1"/>
          <p:nvPr/>
        </p:nvSpPr>
        <p:spPr>
          <a:xfrm>
            <a:off x="7924800" y="282952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AI agent’s key 0x2A10…d0Bb</a:t>
            </a:r>
            <a:endParaRPr lang="en-US" sz="1200" dirty="0"/>
          </a:p>
        </p:txBody>
      </p:sp>
      <p:sp>
        <p:nvSpPr>
          <p:cNvPr id="15" name="Text 13"/>
          <p:cNvSpPr txBox="1"/>
          <p:nvPr/>
        </p:nvSpPr>
        <p:spPr>
          <a:xfrm>
            <a:off x="6248400" y="31025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Mandate signer</a:t>
            </a:r>
            <a:endParaRPr lang="en-US" sz="1200" dirty="0"/>
          </a:p>
        </p:txBody>
      </p:sp>
      <p:sp>
        <p:nvSpPr>
          <p:cNvPr id="16" name="Text 14"/>
          <p:cNvSpPr txBox="1"/>
          <p:nvPr/>
        </p:nvSpPr>
        <p:spPr>
          <a:xfrm>
            <a:off x="7924800" y="310257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owner 0xb7Ed…97f7</a:t>
            </a:r>
            <a:endParaRPr lang="en-US" sz="1200" dirty="0"/>
          </a:p>
        </p:txBody>
      </p:sp>
      <p:sp>
        <p:nvSpPr>
          <p:cNvPr id="17" name="Text 15"/>
          <p:cNvSpPr txBox="1"/>
          <p:nvPr/>
        </p:nvSpPr>
        <p:spPr>
          <a:xfrm>
            <a:off x="6248400" y="337562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Certificate signer</a:t>
            </a:r>
            <a:endParaRPr lang="en-US" sz="1200" dirty="0"/>
          </a:p>
        </p:txBody>
      </p:sp>
      <p:sp>
        <p:nvSpPr>
          <p:cNvPr id="18" name="Text 16"/>
          <p:cNvSpPr txBox="1"/>
          <p:nvPr/>
        </p:nvSpPr>
        <p:spPr>
          <a:xfrm>
            <a:off x="7924800" y="337562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co-signer 0xf1F8…2402</a:t>
            </a:r>
            <a:endParaRPr lang="en-US" sz="1200" dirty="0"/>
          </a:p>
        </p:txBody>
      </p:sp>
      <p:sp>
        <p:nvSpPr>
          <p:cNvPr id="19" name="Text 17"/>
          <p:cNvSpPr txBox="1"/>
          <p:nvPr/>
        </p:nvSpPr>
        <p:spPr>
          <a:xfrm>
            <a:off x="6248400" y="3648670"/>
            <a:ext cx="1638300" cy="36830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Evidence hash</a:t>
            </a:r>
            <a:endParaRPr lang="en-US" sz="1200" dirty="0"/>
          </a:p>
        </p:txBody>
      </p:sp>
      <p:sp>
        <p:nvSpPr>
          <p:cNvPr id="20" name="Text 18"/>
          <p:cNvSpPr txBox="1"/>
          <p:nvPr/>
        </p:nvSpPr>
        <p:spPr>
          <a:xfrm>
            <a:off x="7924800" y="3648670"/>
            <a:ext cx="3264408" cy="36830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0xb0dd4c99… = keccak256 of the published record, 12 of 12 checks</a:t>
            </a:r>
            <a:endParaRPr lang="en-US" sz="1200" dirty="0"/>
          </a:p>
        </p:txBody>
      </p:sp>
      <p:sp>
        <p:nvSpPr>
          <p:cNvPr id="21" name="Text 19"/>
          <p:cNvSpPr txBox="1"/>
          <p:nvPr/>
        </p:nvSpPr>
        <p:spPr>
          <a:xfrm>
            <a:off x="6248400" y="41058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Paid</a:t>
            </a:r>
            <a:endParaRPr lang="en-US" sz="1200" dirty="0"/>
          </a:p>
        </p:txBody>
      </p:sp>
      <p:sp>
        <p:nvSpPr>
          <p:cNvPr id="22" name="Text 20"/>
          <p:cNvSpPr txBox="1"/>
          <p:nvPr/>
        </p:nvSpPr>
        <p:spPr>
          <a:xfrm>
            <a:off x="7924800" y="410587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6 tUSD to Helix Data for a licensed risk model</a:t>
            </a:r>
            <a:endParaRPr lang="en-US" sz="1200" dirty="0"/>
          </a:p>
        </p:txBody>
      </p:sp>
      <p:sp>
        <p:nvSpPr>
          <p:cNvPr id="23" name="Shape 21"/>
          <p:cNvSpPr/>
          <p:nvPr/>
        </p:nvSpPr>
        <p:spPr>
          <a:xfrm>
            <a:off x="11226800" y="5689600"/>
            <a:ext cx="152400" cy="152400"/>
          </a:xfrm>
          <a:prstGeom prst="rect">
            <a:avLst/>
          </a:prstGeom>
          <a:solidFill>
            <a:srgbClr val="0A7468"/>
          </a:solidFill>
          <a:ln/>
        </p:spPr>
      </p:sp>
      <p:sp>
        <p:nvSpPr>
          <p:cNvPr id="24" name="Text 2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25" name="Text 23"/>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Backup B1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2 · SOLVENCY</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Money owed to a creditor can only ever reach that creditor.</a:t>
            </a:r>
            <a:endParaRPr lang="en-US" sz="3200" dirty="0"/>
          </a:p>
        </p:txBody>
      </p:sp>
      <p:sp>
        <p:nvSpPr>
          <p:cNvPr id="4" name="Shape 2"/>
          <p:cNvSpPr/>
          <p:nvPr/>
        </p:nvSpPr>
        <p:spPr>
          <a:xfrm>
            <a:off x="812800" y="1921470"/>
            <a:ext cx="10566400" cy="711200"/>
          </a:xfrm>
          <a:prstGeom prst="roundRect">
            <a:avLst>
              <a:gd name="adj" fmla="val 5357"/>
            </a:avLst>
          </a:prstGeom>
          <a:ln w="12700">
            <a:solidFill>
              <a:srgbClr val="13233F"/>
            </a:solidFill>
            <a:prstDash val="solid"/>
          </a:ln>
        </p:spPr>
      </p:sp>
      <p:sp>
        <p:nvSpPr>
          <p:cNvPr id="5" name="Shape 3"/>
          <p:cNvSpPr/>
          <p:nvPr/>
        </p:nvSpPr>
        <p:spPr>
          <a:xfrm>
            <a:off x="825500" y="1934170"/>
            <a:ext cx="7378700" cy="685800"/>
          </a:xfrm>
          <a:prstGeom prst="rect">
            <a:avLst/>
          </a:prstGeom>
          <a:solidFill>
            <a:srgbClr val="E3E9EC"/>
          </a:solidFill>
          <a:ln/>
        </p:spPr>
      </p:sp>
      <p:sp>
        <p:nvSpPr>
          <p:cNvPr id="6" name="Shape 4"/>
          <p:cNvSpPr/>
          <p:nvPr/>
        </p:nvSpPr>
        <p:spPr>
          <a:xfrm>
            <a:off x="8194675" y="1934170"/>
            <a:ext cx="0" cy="685800"/>
          </a:xfrm>
          <a:prstGeom prst="line">
            <a:avLst/>
          </a:prstGeom>
          <a:noFill/>
          <a:ln w="19050">
            <a:solidFill>
              <a:srgbClr val="13233F"/>
            </a:solidFill>
            <a:prstDash val="solid"/>
          </a:ln>
        </p:spPr>
      </p:sp>
      <p:sp>
        <p:nvSpPr>
          <p:cNvPr id="7" name="Text 5"/>
          <p:cNvSpPr txBox="1"/>
          <p:nvPr/>
        </p:nvSpPr>
        <p:spPr>
          <a:xfrm>
            <a:off x="1028700" y="2159595"/>
            <a:ext cx="7092315"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70 tUSD ring-fenced for CloudCo’s compute bill</a:t>
            </a:r>
            <a:endParaRPr lang="en-US" sz="1500" dirty="0"/>
          </a:p>
        </p:txBody>
      </p:sp>
      <p:sp>
        <p:nvSpPr>
          <p:cNvPr id="8" name="Shape 6"/>
          <p:cNvSpPr/>
          <p:nvPr/>
        </p:nvSpPr>
        <p:spPr>
          <a:xfrm>
            <a:off x="8204200" y="1934170"/>
            <a:ext cx="3162300" cy="685800"/>
          </a:xfrm>
          <a:prstGeom prst="rect">
            <a:avLst/>
          </a:prstGeom>
          <a:solidFill>
            <a:srgbClr val="DCEEEA"/>
          </a:solidFill>
          <a:ln/>
        </p:spPr>
      </p:sp>
      <p:sp>
        <p:nvSpPr>
          <p:cNvPr id="9" name="Text 7"/>
          <p:cNvSpPr txBox="1"/>
          <p:nvPr/>
        </p:nvSpPr>
        <p:spPr>
          <a:xfrm>
            <a:off x="8407400" y="2159595"/>
            <a:ext cx="2811018" cy="234950"/>
          </a:xfrm>
          <a:prstGeom prst="rect">
            <a:avLst/>
          </a:prstGeom>
          <a:noFill/>
          <a:ln/>
        </p:spPr>
        <p:txBody>
          <a:bodyPr wrap="square" lIns="0" tIns="0" rIns="0" bIns="0" rtlCol="0" anchor="t"/>
          <a:lstStyle/>
          <a:p>
            <a:pPr algn="l" indent="0" marL="0">
              <a:lnSpc>
                <a:spcPts val="1800"/>
              </a:lnSpc>
              <a:buNone/>
            </a:pPr>
            <a:r>
              <a:rPr lang="en-US" sz="1500" b="1" dirty="0">
                <a:solidFill>
                  <a:srgbClr val="0A7468"/>
                </a:solidFill>
                <a:latin typeface="Calibri" pitchFamily="34" charset="0"/>
                <a:ea typeface="Calibri" pitchFamily="34" charset="-122"/>
                <a:cs typeface="Calibri" pitchFamily="34" charset="-120"/>
              </a:rPr>
              <a:t>30 tUSD free</a:t>
            </a:r>
            <a:endParaRPr lang="en-US" sz="1500" dirty="0"/>
          </a:p>
        </p:txBody>
      </p:sp>
      <p:sp>
        <p:nvSpPr>
          <p:cNvPr id="10" name="Text 8"/>
          <p:cNvSpPr txBox="1"/>
          <p:nvPr/>
        </p:nvSpPr>
        <p:spPr>
          <a:xfrm>
            <a:off x="812800" y="2861270"/>
            <a:ext cx="3385346" cy="447040"/>
          </a:xfrm>
          <a:prstGeom prst="rect">
            <a:avLst/>
          </a:prstGeom>
          <a:noFill/>
          <a:ln/>
        </p:spPr>
        <p:txBody>
          <a:bodyPr wrap="square" lIns="0" tIns="0" rIns="0" bIns="0" rtlCol="0" anchor="t"/>
          <a:lstStyle/>
          <a:p>
            <a:pPr algn="l" indent="0" marL="0">
              <a:lnSpc>
                <a:spcPts val="3520"/>
              </a:lnSpc>
              <a:buNone/>
            </a:pPr>
            <a:r>
              <a:rPr lang="en-US" sz="3200" i="1" dirty="0">
                <a:solidFill>
                  <a:srgbClr val="13233F"/>
                </a:solidFill>
                <a:latin typeface="Cambria" pitchFamily="34" charset="0"/>
                <a:ea typeface="Cambria" pitchFamily="34" charset="-122"/>
                <a:cs typeface="Cambria" pitchFamily="34" charset="-120"/>
              </a:rPr>
              <a:t>B</a:t>
            </a:r>
            <a:pPr algn="l" indent="0" marL="0">
              <a:lnSpc>
                <a:spcPts val="3520"/>
              </a:lnSpc>
              <a:buNone/>
            </a:pPr>
            <a:r>
              <a:rPr lang="en-US" sz="3200" dirty="0">
                <a:solidFill>
                  <a:srgbClr val="13233F"/>
                </a:solidFill>
                <a:latin typeface="Cambria" pitchFamily="34" charset="0"/>
                <a:ea typeface="Cambria" pitchFamily="34" charset="-122"/>
                <a:cs typeface="Cambria" pitchFamily="34" charset="-120"/>
              </a:rPr>
              <a:t> ≥ </a:t>
            </a:r>
            <a:pPr algn="l" indent="0" marL="0">
              <a:lnSpc>
                <a:spcPts val="3520"/>
              </a:lnSpc>
              <a:buNone/>
            </a:pPr>
            <a:r>
              <a:rPr lang="en-US" sz="3200" i="1" dirty="0">
                <a:solidFill>
                  <a:srgbClr val="13233F"/>
                </a:solidFill>
                <a:latin typeface="Cambria" pitchFamily="34" charset="0"/>
                <a:ea typeface="Cambria" pitchFamily="34" charset="-122"/>
                <a:cs typeface="Cambria" pitchFamily="34" charset="-120"/>
              </a:rPr>
              <a:t>P</a:t>
            </a:r>
            <a:endParaRPr lang="en-US" sz="3200" dirty="0"/>
          </a:p>
        </p:txBody>
      </p:sp>
      <p:sp>
        <p:nvSpPr>
          <p:cNvPr id="11" name="Text 9"/>
          <p:cNvSpPr txBox="1"/>
          <p:nvPr/>
        </p:nvSpPr>
        <p:spPr>
          <a:xfrm>
            <a:off x="812800" y="3359051"/>
            <a:ext cx="3385346"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Balance covers every ring-fenced liability at every block. Proved by induction; fuzzed with both hot keys stolen.</a:t>
            </a:r>
            <a:endParaRPr lang="en-US" sz="1200" dirty="0"/>
          </a:p>
        </p:txBody>
      </p:sp>
      <p:sp>
        <p:nvSpPr>
          <p:cNvPr id="12" name="Text 10"/>
          <p:cNvSpPr txBox="1"/>
          <p:nvPr/>
        </p:nvSpPr>
        <p:spPr>
          <a:xfrm>
            <a:off x="4436566" y="2861270"/>
            <a:ext cx="338534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Who can move it?</a:t>
            </a:r>
            <a:endParaRPr lang="en-US" sz="1500" dirty="0"/>
          </a:p>
        </p:txBody>
      </p:sp>
      <p:sp>
        <p:nvSpPr>
          <p:cNvPr id="13" name="Text 11"/>
          <p:cNvSpPr txBox="1"/>
          <p:nvPr/>
        </p:nvSpPr>
        <p:spPr>
          <a:xfrm>
            <a:off x="4436566" y="3147020"/>
            <a:ext cx="3385346"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Not the AI. Not the co-signer. Not even the owner. Only settlement to the creditor, or the creditor releasing its own claim.</a:t>
            </a:r>
            <a:endParaRPr lang="en-US" sz="1200" dirty="0"/>
          </a:p>
        </p:txBody>
      </p:sp>
      <p:sp>
        <p:nvSpPr>
          <p:cNvPr id="14" name="Text 12"/>
          <p:cNvSpPr txBox="1"/>
          <p:nvPr/>
        </p:nvSpPr>
        <p:spPr>
          <a:xfrm>
            <a:off x="8060333" y="2861270"/>
            <a:ext cx="338534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Pause stops the AI, not the creditors</a:t>
            </a:r>
            <a:endParaRPr lang="en-US" sz="1500" dirty="0"/>
          </a:p>
        </p:txBody>
      </p:sp>
      <p:sp>
        <p:nvSpPr>
          <p:cNvPr id="15" name="Text 13"/>
          <p:cNvSpPr txBox="1"/>
          <p:nvPr/>
        </p:nvSpPr>
        <p:spPr>
          <a:xfrm>
            <a:off x="8060333" y="3147020"/>
            <a:ext cx="3385346"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On Sepolia the vault was paused, then the attacker’s own address called settle(). CloudCo received exactly 70 tUSD (P3).</a:t>
            </a:r>
            <a:endParaRPr lang="en-US" sz="1200" dirty="0"/>
          </a:p>
        </p:txBody>
      </p:sp>
      <p:sp>
        <p:nvSpPr>
          <p:cNvPr id="16" name="Shape 14"/>
          <p:cNvSpPr/>
          <p:nvPr/>
        </p:nvSpPr>
        <p:spPr>
          <a:xfrm>
            <a:off x="11226800" y="5689600"/>
            <a:ext cx="152400" cy="152400"/>
          </a:xfrm>
          <a:prstGeom prst="rect">
            <a:avLst/>
          </a:prstGeom>
          <a:solidFill>
            <a:srgbClr val="0A7468"/>
          </a:solidFill>
          <a:ln/>
        </p:spPr>
      </p:sp>
      <p:sp>
        <p:nvSpPr>
          <p:cNvPr id="17" name="Text 15"/>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18" name="Text 16"/>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Backup B2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3 · CORRECTNESS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escrow pays for a proof, not a promise.</a:t>
            </a:r>
            <a:endParaRPr lang="en-US" sz="3200" dirty="0"/>
          </a:p>
        </p:txBody>
      </p:sp>
      <p:sp>
        <p:nvSpPr>
          <p:cNvPr id="4" name="Text 2"/>
          <p:cNvSpPr txBox="1"/>
          <p:nvPr/>
        </p:nvSpPr>
        <p:spPr>
          <a:xfrm>
            <a:off x="812800" y="1870670"/>
            <a:ext cx="4993767" cy="382984"/>
          </a:xfrm>
          <a:prstGeom prst="rect">
            <a:avLst/>
          </a:prstGeom>
          <a:noFill/>
          <a:ln/>
        </p:spPr>
        <p:txBody>
          <a:bodyPr wrap="square" lIns="0" tIns="0" rIns="0" bIns="0" rtlCol="0" anchor="t"/>
          <a:lstStyle/>
          <a:p>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minimise ½ </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ᵀΣ</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s.t. Σ</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1670" baseline="-40000" dirty="0">
                <a:solidFill>
                  <a:srgbClr val="13233F"/>
                </a:solidFill>
                <a:latin typeface="Cambria" pitchFamily="34" charset="0"/>
                <a:ea typeface="Cambria" pitchFamily="34" charset="-122"/>
                <a:cs typeface="Cambria" pitchFamily="34" charset="-120"/>
              </a:rPr>
              <a:t>i</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 1, </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 0</a:t>
            </a:r>
            <a:endParaRPr lang="en-US" sz="2000" dirty="0"/>
          </a:p>
        </p:txBody>
      </p:sp>
      <p:sp>
        <p:nvSpPr>
          <p:cNvPr id="5" name="Text 3"/>
          <p:cNvSpPr txBox="1"/>
          <p:nvPr/>
        </p:nvSpPr>
        <p:spPr>
          <a:xfrm>
            <a:off x="812800" y="2367955"/>
            <a:ext cx="4993767"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The AI solves it off-chain and submits the portfolio with its multipliers and a factor L. The contract checks, in exact integers: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12800" y="2908895"/>
          <a:ext cx="4895850" cy="914400"/>
        </p:xfrm>
        <a:graphic>
          <a:graphicData uri="http://schemas.openxmlformats.org/drawingml/2006/table">
            <a:tbl>
              <a:tblPr/>
              <a:tblGrid>
                <a:gridCol w="2545755"/>
                <a:gridCol w="2350095"/>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What it rules out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w ≥ 0, weights sum to 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short selling, leverage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μ ≥ 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fake multipliers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Σw = ν + μ, within τ</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any portfolio that isn’t stationary</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Σ wᵢμᵢ ≤ τ</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duality gap: suboptimal work</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Σ = LLᵀ, within τ</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non-convex trick</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7" name="Shape 4"/>
          <p:cNvSpPr/>
          <p:nvPr/>
        </p:nvSpPr>
        <p:spPr>
          <a:xfrm>
            <a:off x="6013450" y="1870670"/>
            <a:ext cx="5365750" cy="2858691"/>
          </a:xfrm>
          <a:prstGeom prst="roundRect">
            <a:avLst>
              <a:gd name="adj" fmla="val 1777"/>
            </a:avLst>
          </a:prstGeom>
          <a:solidFill>
            <a:srgbClr val="FBFCFC"/>
          </a:solidFill>
          <a:ln w="6350">
            <a:solidFill>
              <a:srgbClr val="D6DEE1"/>
            </a:solidFill>
            <a:prstDash val="solid"/>
          </a:ln>
        </p:spPr>
      </p:sp>
      <p:sp>
        <p:nvSpPr>
          <p:cNvPr id="8" name="Text 5"/>
          <p:cNvSpPr txBox="1"/>
          <p:nvPr/>
        </p:nvSpPr>
        <p:spPr>
          <a:xfrm>
            <a:off x="6248400" y="2105620"/>
            <a:ext cx="4993767"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0A7468"/>
                </a:solidFill>
                <a:latin typeface="Calibri" pitchFamily="34" charset="0"/>
                <a:ea typeface="Calibri" pitchFamily="34" charset="-122"/>
                <a:cs typeface="Calibri" pitchFamily="34" charset="-120"/>
              </a:rPr>
              <a:t>DELIVERED AND VERIFIED ON SEPOLIA · L6</a:t>
            </a:r>
            <a:endParaRPr lang="en-US" sz="1200" dirty="0"/>
          </a:p>
        </p:txBody>
      </p:sp>
      <p:sp>
        <p:nvSpPr>
          <p:cNvPr id="9" name="Text 6"/>
          <p:cNvSpPr txBox="1"/>
          <p:nvPr/>
        </p:nvSpPr>
        <p:spPr>
          <a:xfrm>
            <a:off x="6248400" y="24040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US Treasuries 7–10y</a:t>
            </a:r>
            <a:endParaRPr lang="en-US" sz="1200" dirty="0"/>
          </a:p>
        </p:txBody>
      </p:sp>
      <p:sp>
        <p:nvSpPr>
          <p:cNvPr id="10" name="Shape 7"/>
          <p:cNvSpPr/>
          <p:nvPr/>
        </p:nvSpPr>
        <p:spPr>
          <a:xfrm>
            <a:off x="7937500" y="2426295"/>
            <a:ext cx="2406650" cy="139700"/>
          </a:xfrm>
          <a:prstGeom prst="roundRect">
            <a:avLst>
              <a:gd name="adj" fmla="val 13636"/>
            </a:avLst>
          </a:prstGeom>
          <a:solidFill>
            <a:srgbClr val="E3E9EC"/>
          </a:solidFill>
          <a:ln/>
        </p:spPr>
      </p:sp>
      <p:sp>
        <p:nvSpPr>
          <p:cNvPr id="11" name="Shape 8"/>
          <p:cNvSpPr/>
          <p:nvPr/>
        </p:nvSpPr>
        <p:spPr>
          <a:xfrm>
            <a:off x="7937500" y="2426295"/>
            <a:ext cx="2406650" cy="139700"/>
          </a:xfrm>
          <a:prstGeom prst="roundRect">
            <a:avLst>
              <a:gd name="adj" fmla="val 13636"/>
            </a:avLst>
          </a:prstGeom>
          <a:solidFill>
            <a:srgbClr val="0A7468"/>
          </a:solidFill>
          <a:ln/>
        </p:spPr>
      </p:sp>
      <p:sp>
        <p:nvSpPr>
          <p:cNvPr id="12" name="Text 9"/>
          <p:cNvSpPr txBox="1"/>
          <p:nvPr/>
        </p:nvSpPr>
        <p:spPr>
          <a:xfrm>
            <a:off x="10394950" y="2404070"/>
            <a:ext cx="749300" cy="184150"/>
          </a:xfrm>
          <a:prstGeom prst="rect">
            <a:avLst/>
          </a:prstGeom>
          <a:noFill/>
          <a:ln/>
        </p:spPr>
        <p:txBody>
          <a:bodyPr wrap="square" lIns="0" tIns="0" rIns="0" bIns="0" rtlCol="0" anchor="t"/>
          <a:lstStyle/>
          <a:p>
            <a:pPr algn="r" indent="0" marL="0">
              <a:lnSpc>
                <a:spcPts val="1440"/>
              </a:lnSpc>
              <a:buNone/>
            </a:pPr>
            <a:r>
              <a:rPr lang="en-US" sz="1200" dirty="0">
                <a:solidFill>
                  <a:srgbClr val="13233F"/>
                </a:solidFill>
                <a:latin typeface="Calibri" pitchFamily="34" charset="0"/>
                <a:ea typeface="Calibri" pitchFamily="34" charset="-122"/>
                <a:cs typeface="Calibri" pitchFamily="34" charset="-120"/>
              </a:rPr>
              <a:t>80.81%</a:t>
            </a:r>
            <a:endParaRPr lang="en-US" sz="1200" dirty="0"/>
          </a:p>
        </p:txBody>
      </p:sp>
      <p:sp>
        <p:nvSpPr>
          <p:cNvPr id="13" name="Text 10"/>
          <p:cNvSpPr txBox="1"/>
          <p:nvPr/>
        </p:nvSpPr>
        <p:spPr>
          <a:xfrm>
            <a:off x="6248400" y="270252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Global Equities</a:t>
            </a:r>
            <a:endParaRPr lang="en-US" sz="1200" dirty="0"/>
          </a:p>
        </p:txBody>
      </p:sp>
      <p:sp>
        <p:nvSpPr>
          <p:cNvPr id="14" name="Shape 11"/>
          <p:cNvSpPr/>
          <p:nvPr/>
        </p:nvSpPr>
        <p:spPr>
          <a:xfrm>
            <a:off x="7937500" y="2724745"/>
            <a:ext cx="2406650" cy="139700"/>
          </a:xfrm>
          <a:prstGeom prst="roundRect">
            <a:avLst>
              <a:gd name="adj" fmla="val 13636"/>
            </a:avLst>
          </a:prstGeom>
          <a:solidFill>
            <a:srgbClr val="E3E9EC"/>
          </a:solidFill>
          <a:ln/>
        </p:spPr>
      </p:sp>
      <p:sp>
        <p:nvSpPr>
          <p:cNvPr id="15" name="Shape 12"/>
          <p:cNvSpPr/>
          <p:nvPr/>
        </p:nvSpPr>
        <p:spPr>
          <a:xfrm>
            <a:off x="7937500" y="2724745"/>
            <a:ext cx="481310" cy="139700"/>
          </a:xfrm>
          <a:prstGeom prst="roundRect">
            <a:avLst>
              <a:gd name="adj" fmla="val 13636"/>
            </a:avLst>
          </a:prstGeom>
          <a:solidFill>
            <a:srgbClr val="0A7468"/>
          </a:solidFill>
          <a:ln/>
        </p:spPr>
      </p:sp>
      <p:sp>
        <p:nvSpPr>
          <p:cNvPr id="16" name="Text 13"/>
          <p:cNvSpPr txBox="1"/>
          <p:nvPr/>
        </p:nvSpPr>
        <p:spPr>
          <a:xfrm>
            <a:off x="10394950" y="2702520"/>
            <a:ext cx="749300" cy="184150"/>
          </a:xfrm>
          <a:prstGeom prst="rect">
            <a:avLst/>
          </a:prstGeom>
          <a:noFill/>
          <a:ln/>
        </p:spPr>
        <p:txBody>
          <a:bodyPr wrap="square" lIns="0" tIns="0" rIns="0" bIns="0" rtlCol="0" anchor="t"/>
          <a:lstStyle/>
          <a:p>
            <a:pPr algn="r" indent="0" marL="0">
              <a:lnSpc>
                <a:spcPts val="1440"/>
              </a:lnSpc>
              <a:buNone/>
            </a:pPr>
            <a:r>
              <a:rPr lang="en-US" sz="1200" dirty="0">
                <a:solidFill>
                  <a:srgbClr val="13233F"/>
                </a:solidFill>
                <a:latin typeface="Calibri" pitchFamily="34" charset="0"/>
                <a:ea typeface="Calibri" pitchFamily="34" charset="-122"/>
                <a:cs typeface="Calibri" pitchFamily="34" charset="-120"/>
              </a:rPr>
              <a:t>16.32%</a:t>
            </a:r>
            <a:endParaRPr lang="en-US" sz="1200" dirty="0"/>
          </a:p>
        </p:txBody>
      </p:sp>
      <p:sp>
        <p:nvSpPr>
          <p:cNvPr id="17" name="Text 14"/>
          <p:cNvSpPr txBox="1"/>
          <p:nvPr/>
        </p:nvSpPr>
        <p:spPr>
          <a:xfrm>
            <a:off x="6248400" y="30009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Gold</a:t>
            </a:r>
            <a:endParaRPr lang="en-US" sz="1200" dirty="0"/>
          </a:p>
        </p:txBody>
      </p:sp>
      <p:sp>
        <p:nvSpPr>
          <p:cNvPr id="18" name="Shape 15"/>
          <p:cNvSpPr/>
          <p:nvPr/>
        </p:nvSpPr>
        <p:spPr>
          <a:xfrm>
            <a:off x="7937500" y="3023195"/>
            <a:ext cx="2406650" cy="139700"/>
          </a:xfrm>
          <a:prstGeom prst="roundRect">
            <a:avLst>
              <a:gd name="adj" fmla="val 13636"/>
            </a:avLst>
          </a:prstGeom>
          <a:solidFill>
            <a:srgbClr val="E3E9EC"/>
          </a:solidFill>
          <a:ln/>
        </p:spPr>
      </p:sp>
      <p:sp>
        <p:nvSpPr>
          <p:cNvPr id="19" name="Shape 16"/>
          <p:cNvSpPr/>
          <p:nvPr/>
        </p:nvSpPr>
        <p:spPr>
          <a:xfrm>
            <a:off x="7937500" y="3023195"/>
            <a:ext cx="96242" cy="139700"/>
          </a:xfrm>
          <a:prstGeom prst="roundRect">
            <a:avLst>
              <a:gd name="adj" fmla="val 19794"/>
            </a:avLst>
          </a:prstGeom>
          <a:solidFill>
            <a:srgbClr val="0A7468"/>
          </a:solidFill>
          <a:ln/>
        </p:spPr>
      </p:sp>
      <p:sp>
        <p:nvSpPr>
          <p:cNvPr id="20" name="Text 17"/>
          <p:cNvSpPr txBox="1"/>
          <p:nvPr/>
        </p:nvSpPr>
        <p:spPr>
          <a:xfrm>
            <a:off x="10394950" y="3000970"/>
            <a:ext cx="749300" cy="184150"/>
          </a:xfrm>
          <a:prstGeom prst="rect">
            <a:avLst/>
          </a:prstGeom>
          <a:noFill/>
          <a:ln/>
        </p:spPr>
        <p:txBody>
          <a:bodyPr wrap="square" lIns="0" tIns="0" rIns="0" bIns="0" rtlCol="0" anchor="t"/>
          <a:lstStyle/>
          <a:p>
            <a:pPr algn="r" indent="0" marL="0">
              <a:lnSpc>
                <a:spcPts val="1440"/>
              </a:lnSpc>
              <a:buNone/>
            </a:pPr>
            <a:r>
              <a:rPr lang="en-US" sz="1200" dirty="0">
                <a:solidFill>
                  <a:srgbClr val="13233F"/>
                </a:solidFill>
                <a:latin typeface="Calibri" pitchFamily="34" charset="0"/>
                <a:ea typeface="Calibri" pitchFamily="34" charset="-122"/>
                <a:cs typeface="Calibri" pitchFamily="34" charset="-120"/>
              </a:rPr>
              <a:t>2.87%</a:t>
            </a:r>
            <a:endParaRPr lang="en-US" sz="1200" dirty="0"/>
          </a:p>
        </p:txBody>
      </p:sp>
      <p:sp>
        <p:nvSpPr>
          <p:cNvPr id="21" name="Text 18"/>
          <p:cNvSpPr txBox="1"/>
          <p:nvPr/>
        </p:nvSpPr>
        <p:spPr>
          <a:xfrm>
            <a:off x="6248400" y="3299420"/>
            <a:ext cx="4993767"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Bitcoin, IG credit, REITs: 0%, each with μ &gt; 0, which proves adding them would raise risk.</a:t>
            </a:r>
            <a:endParaRPr lang="en-US" sz="1200" dirty="0"/>
          </a:p>
        </p:txBody>
      </p:sp>
      <p:sp>
        <p:nvSpPr>
          <p:cNvPr id="22" name="Shape 19"/>
          <p:cNvSpPr/>
          <p:nvPr/>
        </p:nvSpPr>
        <p:spPr>
          <a:xfrm>
            <a:off x="6248400" y="3843536"/>
            <a:ext cx="4895850" cy="0"/>
          </a:xfrm>
          <a:prstGeom prst="line">
            <a:avLst/>
          </a:prstGeom>
          <a:noFill/>
          <a:ln w="6350">
            <a:solidFill>
              <a:srgbClr val="D6DEE1"/>
            </a:solidFill>
            <a:prstDash val="solid"/>
          </a:ln>
        </p:spPr>
      </p:sp>
      <p:sp>
        <p:nvSpPr>
          <p:cNvPr id="23" name="Text 20"/>
          <p:cNvSpPr txBox="1"/>
          <p:nvPr/>
        </p:nvSpPr>
        <p:spPr>
          <a:xfrm>
            <a:off x="6248400" y="3948311"/>
            <a:ext cx="4993767" cy="247650"/>
          </a:xfrm>
          <a:prstGeom prst="rect">
            <a:avLst/>
          </a:prstGeom>
          <a:noFill/>
          <a:ln/>
        </p:spPr>
        <p:txBody>
          <a:bodyPr wrap="square" lIns="0" tIns="0" rIns="0" bIns="0" rtlCol="0" anchor="t"/>
          <a:lstStyle/>
          <a:p>
            <a:pPr algn="l" indent="0" marL="0">
              <a:lnSpc>
                <a:spcPts val="1950"/>
              </a:lnSpc>
              <a:buNone/>
            </a:pPr>
            <a:r>
              <a:rPr lang="en-US" sz="1500" i="1" dirty="0">
                <a:solidFill>
                  <a:srgbClr val="13233F"/>
                </a:solidFill>
                <a:latin typeface="Cambria" pitchFamily="34" charset="0"/>
                <a:ea typeface="Cambria" pitchFamily="34" charset="-122"/>
                <a:cs typeface="Cambria" pitchFamily="34" charset="-120"/>
              </a:rPr>
              <a:t>f</a:t>
            </a:r>
            <a:pPr algn="l" indent="0" marL="0">
              <a:lnSpc>
                <a:spcPts val="1950"/>
              </a:lnSpc>
              <a:buNone/>
            </a:pPr>
            <a:r>
              <a:rPr lang="en-US" sz="1500" dirty="0">
                <a:solidFill>
                  <a:srgbClr val="13233F"/>
                </a:solidFill>
                <a:latin typeface="Cambria" pitchFamily="34" charset="0"/>
                <a:ea typeface="Cambria" pitchFamily="34" charset="-122"/>
                <a:cs typeface="Cambria" pitchFamily="34" charset="-120"/>
              </a:rPr>
              <a:t>(</a:t>
            </a:r>
            <a:pPr algn="l" indent="0" marL="0">
              <a:lnSpc>
                <a:spcPts val="1950"/>
              </a:lnSpc>
              <a:buNone/>
            </a:pPr>
            <a:r>
              <a:rPr lang="en-US" sz="1500" i="1" dirty="0">
                <a:solidFill>
                  <a:srgbClr val="13233F"/>
                </a:solidFill>
                <a:latin typeface="Cambria" pitchFamily="34" charset="0"/>
                <a:ea typeface="Cambria" pitchFamily="34" charset="-122"/>
                <a:cs typeface="Cambria" pitchFamily="34" charset="-120"/>
              </a:rPr>
              <a:t>w</a:t>
            </a:r>
            <a:pPr algn="l" indent="0" marL="0">
              <a:lnSpc>
                <a:spcPts val="1950"/>
              </a:lnSpc>
              <a:buNone/>
            </a:pPr>
            <a:r>
              <a:rPr lang="en-US" sz="1500" dirty="0">
                <a:solidFill>
                  <a:srgbClr val="13233F"/>
                </a:solidFill>
                <a:latin typeface="Cambria" pitchFamily="34" charset="0"/>
                <a:ea typeface="Cambria" pitchFamily="34" charset="-122"/>
                <a:cs typeface="Cambria" pitchFamily="34" charset="-120"/>
              </a:rPr>
              <a:t>) − </a:t>
            </a:r>
            <a:pPr algn="l" indent="0" marL="0">
              <a:lnSpc>
                <a:spcPts val="1950"/>
              </a:lnSpc>
              <a:buNone/>
            </a:pPr>
            <a:r>
              <a:rPr lang="en-US" sz="1500" i="1" dirty="0">
                <a:solidFill>
                  <a:srgbClr val="13233F"/>
                </a:solidFill>
                <a:latin typeface="Cambria" pitchFamily="34" charset="0"/>
                <a:ea typeface="Cambria" pitchFamily="34" charset="-122"/>
                <a:cs typeface="Cambria" pitchFamily="34" charset="-120"/>
              </a:rPr>
              <a:t>f</a:t>
            </a:r>
            <a:pPr algn="l" indent="0" marL="0">
              <a:lnSpc>
                <a:spcPts val="1950"/>
              </a:lnSpc>
              <a:buNone/>
            </a:pPr>
            <a:r>
              <a:rPr lang="en-US" sz="1500" dirty="0">
                <a:solidFill>
                  <a:srgbClr val="13233F"/>
                </a:solidFill>
                <a:latin typeface="Cambria" pitchFamily="34" charset="0"/>
                <a:ea typeface="Cambria" pitchFamily="34" charset="-122"/>
                <a:cs typeface="Cambria" pitchFamily="34" charset="-120"/>
              </a:rPr>
              <a:t>* ≤ (2n + 3 + |ν|)·τ ≈ 1.5 × 10⁻⁸</a:t>
            </a:r>
            <a:endParaRPr lang="en-US" sz="1500" dirty="0"/>
          </a:p>
        </p:txBody>
      </p:sp>
      <p:sp>
        <p:nvSpPr>
          <p:cNvPr id="24" name="Text 21"/>
          <p:cNvSpPr txBox="1"/>
          <p:nvPr/>
        </p:nvSpPr>
        <p:spPr>
          <a:xfrm>
            <a:off x="6248400" y="4310261"/>
            <a:ext cx="4993767"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Residual 0 · duality gap 0 · about 0.3 M gas to check</a:t>
            </a:r>
            <a:endParaRPr lang="en-US" sz="1200" dirty="0"/>
          </a:p>
        </p:txBody>
      </p:sp>
      <p:sp>
        <p:nvSpPr>
          <p:cNvPr id="25" name="Shape 22"/>
          <p:cNvSpPr/>
          <p:nvPr/>
        </p:nvSpPr>
        <p:spPr>
          <a:xfrm>
            <a:off x="11226800" y="5689600"/>
            <a:ext cx="152400" cy="152400"/>
          </a:xfrm>
          <a:prstGeom prst="rect">
            <a:avLst/>
          </a:prstGeom>
          <a:solidFill>
            <a:srgbClr val="0A7468"/>
          </a:solidFill>
          <a:ln/>
        </p:spPr>
      </p:sp>
      <p:sp>
        <p:nvSpPr>
          <p:cNvPr id="26" name="Text 23"/>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27" name="Text 24"/>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Backup B3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OUTCOME 2 · PAID WORK, SETTLED BY PROOF</a:t>
            </a:r>
            <a:endParaRPr lang="en-US" sz="1200" dirty="0"/>
          </a:p>
        </p:txBody>
      </p:sp>
      <p:sp>
        <p:nvSpPr>
          <p:cNvPr id="3" name="Text 1"/>
          <p:cNvSpPr txBox="1"/>
          <p:nvPr/>
        </p:nvSpPr>
        <p:spPr>
          <a:xfrm>
            <a:off x="812800" y="11874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One business cycle, end to end, on Sepolia</a:t>
            </a:r>
            <a:endParaRPr lang="en-US" sz="3200" dirty="0"/>
          </a:p>
        </p:txBody>
      </p:sp>
      <p:sp>
        <p:nvSpPr>
          <p:cNvPr id="4" name="Shape 2"/>
          <p:cNvSpPr/>
          <p:nvPr/>
        </p:nvSpPr>
        <p:spPr>
          <a:xfrm>
            <a:off x="812800" y="1845270"/>
            <a:ext cx="1655167" cy="1699022"/>
          </a:xfrm>
          <a:prstGeom prst="roundRect">
            <a:avLst>
              <a:gd name="adj" fmla="val 3069"/>
            </a:avLst>
          </a:prstGeom>
          <a:solidFill>
            <a:srgbClr val="FBFCFC"/>
          </a:solidFill>
          <a:ln w="6350">
            <a:solidFill>
              <a:srgbClr val="D6DEE1"/>
            </a:solidFill>
            <a:prstDash val="solid"/>
          </a:ln>
        </p:spPr>
      </p:sp>
      <p:sp>
        <p:nvSpPr>
          <p:cNvPr id="5" name="Text 3"/>
          <p:cNvSpPr txBox="1"/>
          <p:nvPr/>
        </p:nvSpPr>
        <p:spPr>
          <a:xfrm>
            <a:off x="971550" y="2004020"/>
            <a:ext cx="1388467"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971550" y="2277070"/>
            <a:ext cx="1388467"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Request</a:t>
            </a:r>
            <a:endParaRPr lang="en-US" sz="1500" dirty="0"/>
          </a:p>
        </p:txBody>
      </p:sp>
      <p:sp>
        <p:nvSpPr>
          <p:cNvPr id="7" name="Text 5"/>
          <p:cNvSpPr txBox="1"/>
          <p:nvPr/>
        </p:nvSpPr>
        <p:spPr>
          <a:xfrm>
            <a:off x="971550" y="2562820"/>
            <a:ext cx="1388467" cy="822722"/>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A robo-advisor agent asks for an optimal portfolio, budget 20 tUSD</a:t>
            </a:r>
            <a:endParaRPr lang="en-US" sz="1200" dirty="0"/>
          </a:p>
        </p:txBody>
      </p:sp>
      <p:sp>
        <p:nvSpPr>
          <p:cNvPr id="8" name="Shape 6"/>
          <p:cNvSpPr/>
          <p:nvPr/>
        </p:nvSpPr>
        <p:spPr>
          <a:xfrm>
            <a:off x="2594967" y="1845270"/>
            <a:ext cx="1655266" cy="1699022"/>
          </a:xfrm>
          <a:prstGeom prst="roundRect">
            <a:avLst>
              <a:gd name="adj" fmla="val 3069"/>
            </a:avLst>
          </a:prstGeom>
          <a:solidFill>
            <a:srgbClr val="FBFCFC"/>
          </a:solidFill>
          <a:ln w="6350">
            <a:solidFill>
              <a:srgbClr val="D6DEE1"/>
            </a:solidFill>
            <a:prstDash val="solid"/>
          </a:ln>
        </p:spPr>
      </p:sp>
      <p:sp>
        <p:nvSpPr>
          <p:cNvPr id="9" name="Text 7"/>
          <p:cNvSpPr txBox="1"/>
          <p:nvPr/>
        </p:nvSpPr>
        <p:spPr>
          <a:xfrm>
            <a:off x="2753717" y="2004020"/>
            <a:ext cx="1388566"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2753717" y="2277070"/>
            <a:ext cx="138856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Quote</a:t>
            </a:r>
            <a:endParaRPr lang="en-US" sz="1500" dirty="0"/>
          </a:p>
        </p:txBody>
      </p:sp>
      <p:sp>
        <p:nvSpPr>
          <p:cNvPr id="11" name="Text 9"/>
          <p:cNvSpPr txBox="1"/>
          <p:nvPr/>
        </p:nvSpPr>
        <p:spPr>
          <a:xfrm>
            <a:off x="2753717" y="2562820"/>
            <a:ext cx="138856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QED prices it at 15 (cost 6) and signs the terms</a:t>
            </a:r>
            <a:endParaRPr lang="en-US" sz="1200" dirty="0"/>
          </a:p>
        </p:txBody>
      </p:sp>
      <p:sp>
        <p:nvSpPr>
          <p:cNvPr id="12" name="Shape 10"/>
          <p:cNvSpPr/>
          <p:nvPr/>
        </p:nvSpPr>
        <p:spPr>
          <a:xfrm>
            <a:off x="4377234" y="1845270"/>
            <a:ext cx="1655167" cy="1699022"/>
          </a:xfrm>
          <a:prstGeom prst="roundRect">
            <a:avLst>
              <a:gd name="adj" fmla="val 3069"/>
            </a:avLst>
          </a:prstGeom>
          <a:solidFill>
            <a:srgbClr val="FBFCFC"/>
          </a:solidFill>
          <a:ln w="6350">
            <a:solidFill>
              <a:srgbClr val="D6DEE1"/>
            </a:solidFill>
            <a:prstDash val="solid"/>
          </a:ln>
        </p:spPr>
      </p:sp>
      <p:sp>
        <p:nvSpPr>
          <p:cNvPr id="13" name="Text 11"/>
          <p:cNvSpPr txBox="1"/>
          <p:nvPr/>
        </p:nvSpPr>
        <p:spPr>
          <a:xfrm>
            <a:off x="4535984" y="2004020"/>
            <a:ext cx="1388467"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4535984" y="2277070"/>
            <a:ext cx="1388467"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Escrow</a:t>
            </a:r>
            <a:endParaRPr lang="en-US" sz="1500" dirty="0"/>
          </a:p>
        </p:txBody>
      </p:sp>
      <p:sp>
        <p:nvSpPr>
          <p:cNvPr id="15" name="Text 13"/>
          <p:cNvSpPr txBox="1"/>
          <p:nvPr/>
        </p:nvSpPr>
        <p:spPr>
          <a:xfrm>
            <a:off x="4535984" y="2562820"/>
            <a:ext cx="1388467"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The client locks 15 tUSD with the signed quote (L2)</a:t>
            </a:r>
            <a:endParaRPr lang="en-US" sz="1200" dirty="0"/>
          </a:p>
        </p:txBody>
      </p:sp>
      <p:sp>
        <p:nvSpPr>
          <p:cNvPr id="16" name="Shape 14"/>
          <p:cNvSpPr/>
          <p:nvPr/>
        </p:nvSpPr>
        <p:spPr>
          <a:xfrm>
            <a:off x="6159401" y="1845270"/>
            <a:ext cx="1655266" cy="1699022"/>
          </a:xfrm>
          <a:prstGeom prst="roundRect">
            <a:avLst>
              <a:gd name="adj" fmla="val 3069"/>
            </a:avLst>
          </a:prstGeom>
          <a:solidFill>
            <a:srgbClr val="FBFCFC"/>
          </a:solidFill>
          <a:ln w="6350">
            <a:solidFill>
              <a:srgbClr val="D6DEE1"/>
            </a:solidFill>
            <a:prstDash val="solid"/>
          </a:ln>
        </p:spPr>
      </p:sp>
      <p:sp>
        <p:nvSpPr>
          <p:cNvPr id="17" name="Text 15"/>
          <p:cNvSpPr txBox="1"/>
          <p:nvPr/>
        </p:nvSpPr>
        <p:spPr>
          <a:xfrm>
            <a:off x="6318151" y="2004020"/>
            <a:ext cx="1388566"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6318151" y="2277070"/>
            <a:ext cx="138856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Buy data</a:t>
            </a:r>
            <a:endParaRPr lang="en-US" sz="1500" dirty="0"/>
          </a:p>
        </p:txBody>
      </p:sp>
      <p:sp>
        <p:nvSpPr>
          <p:cNvPr id="19" name="Text 17"/>
          <p:cNvSpPr txBox="1"/>
          <p:nvPr/>
        </p:nvSpPr>
        <p:spPr>
          <a:xfrm>
            <a:off x="6318151" y="2562820"/>
            <a:ext cx="138856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The AI key pays 6 tUSD for the risk model, co-signed (L4)</a:t>
            </a:r>
            <a:endParaRPr lang="en-US" sz="1200" dirty="0"/>
          </a:p>
        </p:txBody>
      </p:sp>
      <p:sp>
        <p:nvSpPr>
          <p:cNvPr id="20" name="Shape 18"/>
          <p:cNvSpPr/>
          <p:nvPr/>
        </p:nvSpPr>
        <p:spPr>
          <a:xfrm>
            <a:off x="7941667" y="1845270"/>
            <a:ext cx="1655266" cy="1699022"/>
          </a:xfrm>
          <a:prstGeom prst="roundRect">
            <a:avLst>
              <a:gd name="adj" fmla="val 3069"/>
            </a:avLst>
          </a:prstGeom>
          <a:solidFill>
            <a:srgbClr val="FBFCFC"/>
          </a:solidFill>
          <a:ln w="6350">
            <a:solidFill>
              <a:srgbClr val="D6DEE1"/>
            </a:solidFill>
            <a:prstDash val="solid"/>
          </a:ln>
        </p:spPr>
      </p:sp>
      <p:sp>
        <p:nvSpPr>
          <p:cNvPr id="21" name="Text 19"/>
          <p:cNvSpPr txBox="1"/>
          <p:nvPr/>
        </p:nvSpPr>
        <p:spPr>
          <a:xfrm>
            <a:off x="8100417" y="2004020"/>
            <a:ext cx="1388566"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8100417" y="2277070"/>
            <a:ext cx="138856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Solve</a:t>
            </a:r>
            <a:endParaRPr lang="en-US" sz="1500" dirty="0"/>
          </a:p>
        </p:txBody>
      </p:sp>
      <p:sp>
        <p:nvSpPr>
          <p:cNvPr id="23" name="Text 21"/>
          <p:cNvSpPr txBox="1"/>
          <p:nvPr/>
        </p:nvSpPr>
        <p:spPr>
          <a:xfrm>
            <a:off x="8100417" y="2562820"/>
            <a:ext cx="138856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1.7 ms to the exact optimum and its proof</a:t>
            </a:r>
            <a:endParaRPr lang="en-US" sz="1200" dirty="0"/>
          </a:p>
        </p:txBody>
      </p:sp>
      <p:sp>
        <p:nvSpPr>
          <p:cNvPr id="24" name="Shape 22"/>
          <p:cNvSpPr/>
          <p:nvPr/>
        </p:nvSpPr>
        <p:spPr>
          <a:xfrm>
            <a:off x="9723934" y="1845270"/>
            <a:ext cx="1655167" cy="1699022"/>
          </a:xfrm>
          <a:prstGeom prst="roundRect">
            <a:avLst>
              <a:gd name="adj" fmla="val 3069"/>
            </a:avLst>
          </a:prstGeom>
          <a:solidFill>
            <a:srgbClr val="E3F0EE"/>
          </a:solidFill>
          <a:ln w="12700">
            <a:solidFill>
              <a:srgbClr val="0A7468"/>
            </a:solidFill>
            <a:prstDash val="solid"/>
          </a:ln>
        </p:spPr>
      </p:sp>
      <p:sp>
        <p:nvSpPr>
          <p:cNvPr id="25" name="Text 23"/>
          <p:cNvSpPr txBox="1"/>
          <p:nvPr/>
        </p:nvSpPr>
        <p:spPr>
          <a:xfrm>
            <a:off x="9889034" y="2010370"/>
            <a:ext cx="1375767"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9889034" y="2283420"/>
            <a:ext cx="1375767"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Settle</a:t>
            </a:r>
            <a:endParaRPr lang="en-US" sz="1500" dirty="0"/>
          </a:p>
        </p:txBody>
      </p:sp>
      <p:sp>
        <p:nvSpPr>
          <p:cNvPr id="27" name="Text 25"/>
          <p:cNvSpPr txBox="1"/>
          <p:nvPr/>
        </p:nvSpPr>
        <p:spPr>
          <a:xfrm>
            <a:off x="9889034" y="2569170"/>
            <a:ext cx="1375767"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 chain checks the proof; 15 tUSD lands in the vault (L6)</a:t>
            </a:r>
            <a:endParaRPr lang="en-US" sz="1200" dirty="0"/>
          </a:p>
        </p:txBody>
      </p:sp>
      <p:sp>
        <p:nvSpPr>
          <p:cNvPr id="28" name="Shape 26"/>
          <p:cNvSpPr/>
          <p:nvPr/>
        </p:nvSpPr>
        <p:spPr>
          <a:xfrm>
            <a:off x="812800" y="3734792"/>
            <a:ext cx="10566400" cy="1103511"/>
          </a:xfrm>
          <a:prstGeom prst="roundRect">
            <a:avLst>
              <a:gd name="adj" fmla="val 4603"/>
            </a:avLst>
          </a:prstGeom>
          <a:solidFill>
            <a:srgbClr val="F8ECEC"/>
          </a:solidFill>
          <a:ln w="6350">
            <a:solidFill>
              <a:srgbClr val="E2B9BC"/>
            </a:solidFill>
            <a:prstDash val="solid"/>
          </a:ln>
        </p:spPr>
      </p:sp>
      <p:sp>
        <p:nvSpPr>
          <p:cNvPr id="29" name="Text 27"/>
          <p:cNvSpPr txBox="1"/>
          <p:nvPr/>
        </p:nvSpPr>
        <p:spPr>
          <a:xfrm>
            <a:off x="1022350" y="3918942"/>
            <a:ext cx="10350246" cy="234950"/>
          </a:xfrm>
          <a:prstGeom prst="rect">
            <a:avLst/>
          </a:prstGeom>
          <a:noFill/>
          <a:ln/>
        </p:spPr>
        <p:txBody>
          <a:bodyPr wrap="square" lIns="0" tIns="0" rIns="0" bIns="0" rtlCol="0" anchor="t"/>
          <a:lstStyle/>
          <a:p>
            <a:pPr algn="l" indent="0" marL="0">
              <a:lnSpc>
                <a:spcPts val="1800"/>
              </a:lnSpc>
              <a:buNone/>
            </a:pPr>
            <a:r>
              <a:rPr lang="en-US" sz="1500" b="1" dirty="0">
                <a:solidFill>
                  <a:srgbClr val="8E1D24"/>
                </a:solidFill>
                <a:latin typeface="Calibri" pitchFamily="34" charset="0"/>
                <a:ea typeface="Calibri" pitchFamily="34" charset="-122"/>
                <a:cs typeface="Calibri" pitchFamily="34" charset="-120"/>
              </a:rPr>
              <a:t>Meanwhile, a cheaper rival bid 9 tUSD and tried to cut corners</a:t>
            </a:r>
            <a:endParaRPr lang="en-US" sz="1500" dirty="0"/>
          </a:p>
        </p:txBody>
      </p:sp>
      <p:sp>
        <p:nvSpPr>
          <p:cNvPr id="30" name="Text 28"/>
          <p:cNvSpPr txBox="1"/>
          <p:nvPr/>
        </p:nvSpPr>
        <p:spPr>
          <a:xfrm>
            <a:off x="1022350" y="4242792"/>
            <a:ext cx="329466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Lazy 1/N portfolio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DualityGapTooLarge</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gap 0.0191 (X17)</a:t>
            </a:r>
            <a:endParaRPr lang="en-US" sz="1200" dirty="0"/>
          </a:p>
        </p:txBody>
      </p:sp>
      <p:sp>
        <p:nvSpPr>
          <p:cNvPr id="31" name="Text 29"/>
          <p:cNvSpPr txBox="1"/>
          <p:nvPr/>
        </p:nvSpPr>
        <p:spPr>
          <a:xfrm>
            <a:off x="4481016" y="4242792"/>
            <a:ext cx="329466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Optimum nudged 0.01%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StationarityViolated</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(X18)</a:t>
            </a:r>
            <a:endParaRPr lang="en-US" sz="1200" dirty="0"/>
          </a:p>
        </p:txBody>
      </p:sp>
      <p:sp>
        <p:nvSpPr>
          <p:cNvPr id="32" name="Text 30"/>
          <p:cNvSpPr txBox="1"/>
          <p:nvPr/>
        </p:nvSpPr>
        <p:spPr>
          <a:xfrm>
            <a:off x="7939683" y="4242792"/>
            <a:ext cx="329466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Deadline passed → the client got all 9 tUSD back (X19)</a:t>
            </a:r>
            <a:endParaRPr lang="en-US" sz="1200" dirty="0"/>
          </a:p>
        </p:txBody>
      </p:sp>
      <p:sp>
        <p:nvSpPr>
          <p:cNvPr id="33" name="Text 31"/>
          <p:cNvSpPr txBox="1"/>
          <p:nvPr/>
        </p:nvSpPr>
        <p:spPr>
          <a:xfrm>
            <a:off x="812800" y="5028803"/>
            <a:ext cx="10777728"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Result: +9 tUSD margin for QED, the ring-fence untouched, the dishonest provider paid nothing.</a:t>
            </a:r>
            <a:endParaRPr lang="en-US" sz="1500" dirty="0"/>
          </a:p>
        </p:txBody>
      </p:sp>
      <p:sp>
        <p:nvSpPr>
          <p:cNvPr id="34" name="Text 3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35" name="Text 33"/>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Backup B4</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1262E"/>
                </a:solidFill>
                <a:latin typeface="Calibri" pitchFamily="34" charset="0"/>
                <a:ea typeface="Calibri" pitchFamily="34" charset="-122"/>
                <a:cs typeface="Calibri" pitchFamily="34" charset="-120"/>
              </a:rPr>
              <a:t>OUTCOME 3 · ADVERSARIES</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19 attacks on the public chain. 19 reverts. 0 tUSD to the attacker.</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12800" y="1819870"/>
          <a:ext cx="5181600" cy="914400"/>
        </p:xfrm>
        <a:graphic>
          <a:graphicData uri="http://schemas.openxmlformats.org/drawingml/2006/table">
            <a:tbl>
              <a:tblPr/>
              <a:tblGrid>
                <a:gridCol w="466328"/>
                <a:gridCol w="2746177"/>
                <a:gridCol w="1969095"/>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Tx</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Attempt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Reverted with</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Edit price in signed quote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BadProviderSignature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Redirect quote’s payee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BadProviderSignature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X5</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Stolen AI key, forged co-sign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BadCosignerSignature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X6</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Both hot keys pay attacker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PayeeNotInMandate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X7</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Self-signed mandate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BadOwnerSignature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X8</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Real cert, amount 6 → 9</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BadCosignerSignature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X9</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Real cert, new recipient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BadCosignerSignature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Replay a real certificate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IntentAlreadyUsed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Both keys overdraw free funds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SolvencyViolation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Both keys exceed the 24 h 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ExceedsDailyCap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197600" y="1819870"/>
          <a:ext cx="5181600" cy="914400"/>
        </p:xfrm>
        <a:graphic>
          <a:graphicData uri="http://schemas.openxmlformats.org/drawingml/2006/table">
            <a:tbl>
              <a:tblPr/>
              <a:tblGrid>
                <a:gridCol w="466328"/>
                <a:gridCol w="2746177"/>
                <a:gridCol w="1969095"/>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Tx</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Attempt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Reverted with</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AI key calls withdraw()</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NotOwner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X14</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AI key voids creditor’s claim</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NotCreditor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X15</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AI key lifts its own 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NotOwner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X17</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Lazy 1/N portfolio</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DualityGapTooLarge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X18</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Optimum nudged 0.01%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StationarityViolated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H4</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Published keys pay attacker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PayeeNotInMandate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H5</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Published keys take 50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ExceedsPerPaymentCap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H6</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Published keys withdraw()</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NotOwner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Valid payment while paused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VaultPaused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6" name="Text 2"/>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Run 1 only; 29 more in runs 2–4 (48 in all): docs/EVIDENCE.md</a:t>
            </a:r>
            <a:endParaRPr lang="en-US" sz="1200" dirty="0"/>
          </a:p>
        </p:txBody>
      </p:sp>
      <p:sp>
        <p:nvSpPr>
          <p:cNvPr id="7" name="Text 3"/>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Backup B5</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4 · BOUNDED LOSS</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We published the AI’s keys. The money stayed put.</a:t>
            </a:r>
            <a:endParaRPr lang="en-US" sz="3200" dirty="0"/>
          </a:p>
        </p:txBody>
      </p:sp>
      <p:sp>
        <p:nvSpPr>
          <p:cNvPr id="4" name="Text 2"/>
          <p:cNvSpPr txBox="1"/>
          <p:nvPr/>
        </p:nvSpPr>
        <p:spPr>
          <a:xfrm>
            <a:off x="812800" y="1921470"/>
            <a:ext cx="497433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WORST CASE IF BOTH HOT KEYS ARE STOLEN</a:t>
            </a:r>
            <a:endParaRPr lang="en-US" sz="1200" dirty="0"/>
          </a:p>
        </p:txBody>
      </p:sp>
      <p:sp>
        <p:nvSpPr>
          <p:cNvPr id="5" name="Text 3"/>
          <p:cNvSpPr txBox="1"/>
          <p:nvPr/>
        </p:nvSpPr>
        <p:spPr>
          <a:xfrm>
            <a:off x="812800" y="2232620"/>
            <a:ext cx="4974336" cy="330200"/>
          </a:xfrm>
          <a:prstGeom prst="rect">
            <a:avLst/>
          </a:prstGeom>
          <a:noFill/>
          <a:ln/>
        </p:spPr>
        <p:txBody>
          <a:bodyPr wrap="square" lIns="0" tIns="0" rIns="0" bIns="0" rtlCol="0" anchor="t"/>
          <a:lstStyle/>
          <a:p>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BR(</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h</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 min( free, cap left + </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k</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D</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a:t>
            </a:r>
            <a:endParaRPr lang="en-US" sz="2000" dirty="0"/>
          </a:p>
        </p:txBody>
      </p:sp>
      <p:sp>
        <p:nvSpPr>
          <p:cNvPr id="6" name="Text 4"/>
          <p:cNvSpPr txBox="1"/>
          <p:nvPr/>
        </p:nvSpPr>
        <p:spPr>
          <a:xfrm>
            <a:off x="812800" y="2689820"/>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Zero while paused. Computed on-chain by QEDLens.blastRadius() at any block, and fuzzed as an upper bound.</a:t>
            </a:r>
            <a:endParaRPr lang="en-US" sz="1200" dirty="0"/>
          </a:p>
        </p:txBody>
      </p:sp>
      <p:sp>
        <p:nvSpPr>
          <p:cNvPr id="7" name="Shape 5"/>
          <p:cNvSpPr/>
          <p:nvPr/>
        </p:nvSpPr>
        <p:spPr>
          <a:xfrm>
            <a:off x="812800" y="3246636"/>
            <a:ext cx="4876800" cy="0"/>
          </a:xfrm>
          <a:prstGeom prst="line">
            <a:avLst/>
          </a:prstGeom>
          <a:noFill/>
          <a:ln w="6350">
            <a:solidFill>
              <a:srgbClr val="D6DEE1"/>
            </a:solidFill>
            <a:prstDash val="solid"/>
          </a:ln>
        </p:spPr>
      </p:sp>
      <p:sp>
        <p:nvSpPr>
          <p:cNvPr id="8" name="Text 6"/>
          <p:cNvSpPr txBox="1"/>
          <p:nvPr/>
        </p:nvSpPr>
        <p:spPr>
          <a:xfrm>
            <a:off x="812800" y="3376811"/>
            <a:ext cx="4974336" cy="635000"/>
          </a:xfrm>
          <a:prstGeom prst="rect">
            <a:avLst/>
          </a:prstGeom>
          <a:noFill/>
          <a:ln/>
        </p:spPr>
        <p:txBody>
          <a:bodyPr wrap="square" lIns="0" tIns="0" rIns="0" bIns="0" rtlCol="0" anchor="t"/>
          <a:lstStyle/>
          <a:p>
            <a:pPr algn="l" indent="0" marL="0">
              <a:lnSpc>
                <a:spcPts val="2500"/>
              </a:lnSpc>
              <a:buNone/>
            </a:pPr>
            <a:r>
              <a:rPr lang="en-US" sz="2000" dirty="0">
                <a:solidFill>
                  <a:srgbClr val="13233F"/>
                </a:solidFill>
                <a:latin typeface="Cambria" pitchFamily="34" charset="0"/>
                <a:ea typeface="Cambria" pitchFamily="34" charset="-122"/>
                <a:cs typeface="Cambria" pitchFamily="34" charset="-120"/>
              </a:rPr>
              <a:t>Loss to any address the owner didn’t approve: exactly 0.</a:t>
            </a:r>
            <a:endParaRPr lang="en-US" sz="2000" dirty="0"/>
          </a:p>
        </p:txBody>
      </p:sp>
      <p:sp>
        <p:nvSpPr>
          <p:cNvPr id="9" name="Shape 7"/>
          <p:cNvSpPr/>
          <p:nvPr/>
        </p:nvSpPr>
        <p:spPr>
          <a:xfrm>
            <a:off x="5994400" y="1921470"/>
            <a:ext cx="5384800" cy="2317750"/>
          </a:xfrm>
          <a:prstGeom prst="roundRect">
            <a:avLst>
              <a:gd name="adj" fmla="val 2192"/>
            </a:avLst>
          </a:prstGeom>
          <a:solidFill>
            <a:srgbClr val="13233F"/>
          </a:solidFill>
          <a:ln/>
        </p:spPr>
      </p:sp>
      <p:sp>
        <p:nvSpPr>
          <p:cNvPr id="10" name="Text 8"/>
          <p:cNvSpPr txBox="1"/>
          <p:nvPr/>
        </p:nvSpPr>
        <p:spPr>
          <a:xfrm>
            <a:off x="6248400" y="2175470"/>
            <a:ext cx="497433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HONEYPOT VAULT 0XE5B3…7F04</a:t>
            </a:r>
            <a:endParaRPr lang="en-US" sz="1200" dirty="0"/>
          </a:p>
        </p:txBody>
      </p:sp>
      <p:sp>
        <p:nvSpPr>
          <p:cNvPr id="11" name="Text 9"/>
          <p:cNvSpPr txBox="1"/>
          <p:nvPr/>
        </p:nvSpPr>
        <p:spPr>
          <a:xfrm>
            <a:off x="6248400" y="247392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Published</a:t>
            </a:r>
            <a:endParaRPr lang="en-US" sz="1200" dirty="0"/>
          </a:p>
        </p:txBody>
      </p:sp>
      <p:sp>
        <p:nvSpPr>
          <p:cNvPr id="12" name="Text 10"/>
          <p:cNvSpPr txBox="1"/>
          <p:nvPr/>
        </p:nvSpPr>
        <p:spPr>
          <a:xfrm>
            <a:off x="7810500" y="247392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its AI key and co-signer key, in our repo</a:t>
            </a:r>
            <a:endParaRPr lang="en-US" sz="1200" dirty="0"/>
          </a:p>
        </p:txBody>
      </p:sp>
      <p:sp>
        <p:nvSpPr>
          <p:cNvPr id="13" name="Text 11"/>
          <p:cNvSpPr txBox="1"/>
          <p:nvPr/>
        </p:nvSpPr>
        <p:spPr>
          <a:xfrm>
            <a:off x="6248400" y="275967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Ring-fenced</a:t>
            </a:r>
            <a:endParaRPr lang="en-US" sz="1200" dirty="0"/>
          </a:p>
        </p:txBody>
      </p:sp>
      <p:sp>
        <p:nvSpPr>
          <p:cNvPr id="14" name="Text 12"/>
          <p:cNvSpPr txBox="1"/>
          <p:nvPr/>
        </p:nvSpPr>
        <p:spPr>
          <a:xfrm>
            <a:off x="7810500" y="275967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90 tUSD for CloudCo until 30 Jun 2027</a:t>
            </a:r>
            <a:endParaRPr lang="en-US" sz="1200" dirty="0"/>
          </a:p>
        </p:txBody>
      </p:sp>
      <p:sp>
        <p:nvSpPr>
          <p:cNvPr id="15" name="Text 13"/>
          <p:cNvSpPr txBox="1"/>
          <p:nvPr/>
        </p:nvSpPr>
        <p:spPr>
          <a:xfrm>
            <a:off x="6248400" y="304542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The keys can</a:t>
            </a:r>
            <a:endParaRPr lang="en-US" sz="1200" dirty="0"/>
          </a:p>
        </p:txBody>
      </p:sp>
      <p:sp>
        <p:nvSpPr>
          <p:cNvPr id="16" name="Text 14"/>
          <p:cNvSpPr txBox="1"/>
          <p:nvPr/>
        </p:nvSpPr>
        <p:spPr>
          <a:xfrm>
            <a:off x="7810500" y="304542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pay CloudCo up to 1 tUSD a day (H3)</a:t>
            </a:r>
            <a:endParaRPr lang="en-US" sz="1200" dirty="0"/>
          </a:p>
        </p:txBody>
      </p:sp>
      <p:sp>
        <p:nvSpPr>
          <p:cNvPr id="17" name="Text 15"/>
          <p:cNvSpPr txBox="1"/>
          <p:nvPr/>
        </p:nvSpPr>
        <p:spPr>
          <a:xfrm>
            <a:off x="6248400" y="3331170"/>
            <a:ext cx="1511300" cy="36830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The keys can’t</a:t>
            </a:r>
            <a:endParaRPr lang="en-US" sz="1200" dirty="0"/>
          </a:p>
        </p:txBody>
      </p:sp>
      <p:sp>
        <p:nvSpPr>
          <p:cNvPr id="18" name="Text 16"/>
          <p:cNvSpPr txBox="1"/>
          <p:nvPr/>
        </p:nvSpPr>
        <p:spPr>
          <a:xfrm>
            <a:off x="7810500" y="3331170"/>
            <a:ext cx="3380994" cy="36830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pay anyone else (H4), take more (H5) or withdraw (H6)</a:t>
            </a:r>
            <a:endParaRPr lang="en-US" sz="1200" dirty="0"/>
          </a:p>
        </p:txBody>
      </p:sp>
      <p:sp>
        <p:nvSpPr>
          <p:cNvPr id="19" name="Text 17"/>
          <p:cNvSpPr txBox="1"/>
          <p:nvPr/>
        </p:nvSpPr>
        <p:spPr>
          <a:xfrm>
            <a:off x="6248400" y="380107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Check it</a:t>
            </a:r>
            <a:endParaRPr lang="en-US" sz="1200" dirty="0"/>
          </a:p>
        </p:txBody>
      </p:sp>
      <p:sp>
        <p:nvSpPr>
          <p:cNvPr id="20" name="Text 18"/>
          <p:cNvSpPr txBox="1"/>
          <p:nvPr/>
        </p:nvSpPr>
        <p:spPr>
          <a:xfrm>
            <a:off x="7810500" y="380107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live on the dashboard, any block</a:t>
            </a:r>
            <a:endParaRPr lang="en-US" sz="1200" dirty="0"/>
          </a:p>
        </p:txBody>
      </p:sp>
      <p:sp>
        <p:nvSpPr>
          <p:cNvPr id="21" name="Shape 19"/>
          <p:cNvSpPr/>
          <p:nvPr/>
        </p:nvSpPr>
        <p:spPr>
          <a:xfrm>
            <a:off x="11226800" y="5689600"/>
            <a:ext cx="152400" cy="152400"/>
          </a:xfrm>
          <a:prstGeom prst="rect">
            <a:avLst/>
          </a:prstGeom>
          <a:solidFill>
            <a:srgbClr val="0A7468"/>
          </a:solidFill>
          <a:ln/>
        </p:spPr>
      </p:sp>
      <p:sp>
        <p:nvSpPr>
          <p:cNvPr id="22" name="Text 20"/>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23" name="Text 21"/>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Backup B6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RUN 2 · CERTIFIED CLEARING</a:t>
            </a:r>
            <a:endParaRPr lang="en-US" sz="1200" dirty="0"/>
          </a:p>
        </p:txBody>
      </p:sp>
      <p:sp>
        <p:nvSpPr>
          <p:cNvPr id="3" name="Text 1"/>
          <p:cNvSpPr txBox="1"/>
          <p:nvPr/>
        </p:nvSpPr>
        <p:spPr>
          <a:xfrm>
            <a:off x="812800" y="11493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A gridlocked agent economy, cleared by proof</a:t>
            </a:r>
            <a:endParaRPr lang="en-US" sz="3200" dirty="0"/>
          </a:p>
        </p:txBody>
      </p:sp>
      <p:sp>
        <p:nvSpPr>
          <p:cNvPr id="4" name="Shape 2"/>
          <p:cNvSpPr/>
          <p:nvPr/>
        </p:nvSpPr>
        <p:spPr>
          <a:xfrm>
            <a:off x="812800" y="1769070"/>
            <a:ext cx="7124700" cy="2914650"/>
          </a:xfrm>
          <a:prstGeom prst="roundRect">
            <a:avLst>
              <a:gd name="adj" fmla="val 1743"/>
            </a:avLst>
          </a:prstGeom>
          <a:solidFill>
            <a:srgbClr val="FBFCFC"/>
          </a:solidFill>
          <a:ln w="6350">
            <a:solidFill>
              <a:srgbClr val="D6DEE1"/>
            </a:solidFill>
            <a:prstDash val="solid"/>
          </a:ln>
        </p:spPr>
      </p:sp>
      <p:sp>
        <p:nvSpPr>
          <p:cNvPr id="5" name="Text 3"/>
          <p:cNvSpPr txBox="1"/>
          <p:nvPr/>
        </p:nvSpPr>
        <p:spPr>
          <a:xfrm>
            <a:off x="996950" y="1902420"/>
            <a:ext cx="3368040"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Before</a:t>
            </a:r>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 · 200 tUSD in 11 debts</a:t>
            </a:r>
            <a:endParaRPr lang="en-US" sz="1200" dirty="0"/>
          </a:p>
        </p:txBody>
      </p:sp>
      <p:pic>
        <p:nvPicPr>
          <p:cNvPr id="6" name="Image 0" descr="Before: 11 debts in tangled cycles between five agents">    </p:cNvPr>
          <p:cNvPicPr>
            <a:picLocks noChangeAspect="1"/>
          </p:cNvPicPr>
          <p:nvPr/>
        </p:nvPicPr>
        <p:blipFill>
          <a:blip r:embed="rId1"/>
          <a:stretch>
            <a:fillRect/>
          </a:stretch>
        </p:blipFill>
        <p:spPr>
          <a:xfrm>
            <a:off x="996950" y="2086570"/>
            <a:ext cx="3302000" cy="2540000"/>
          </a:xfrm>
          <a:prstGeom prst="rect">
            <a:avLst/>
          </a:prstGeom>
        </p:spPr>
      </p:pic>
      <p:sp>
        <p:nvSpPr>
          <p:cNvPr id="7" name="Text 4"/>
          <p:cNvSpPr txBox="1"/>
          <p:nvPr/>
        </p:nvSpPr>
        <p:spPr>
          <a:xfrm>
            <a:off x="2159000" y="2092920"/>
            <a:ext cx="984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Northwind</a:t>
            </a:r>
            <a:endParaRPr lang="en-US" sz="1200" dirty="0"/>
          </a:p>
        </p:txBody>
      </p:sp>
      <p:sp>
        <p:nvSpPr>
          <p:cNvPr id="8" name="Text 5"/>
          <p:cNvSpPr txBox="1"/>
          <p:nvPr/>
        </p:nvSpPr>
        <p:spPr>
          <a:xfrm>
            <a:off x="3714750" y="3007320"/>
            <a:ext cx="412750" cy="213360"/>
          </a:xfrm>
          <a:prstGeom prst="rect">
            <a:avLst/>
          </a:prstGeom>
          <a:noFill/>
          <a:ln/>
        </p:spPr>
        <p:txBody>
          <a:bodyPr wrap="square" lIns="0" tIns="0" rIns="0" bIns="0" rtlCol="0" anchor="t"/>
          <a:lstStyle/>
          <a:p>
            <a:pPr algn="l" indent="0" marL="0">
              <a:lnSpc>
                <a:spcPts val="1680"/>
              </a:lnSpc>
              <a:buNone/>
            </a:pPr>
            <a:r>
              <a:rPr lang="en-US" sz="1200" b="1" dirty="0">
                <a:solidFill>
                  <a:srgbClr val="13233F"/>
                </a:solidFill>
                <a:latin typeface="Calibri" pitchFamily="34" charset="0"/>
                <a:ea typeface="Calibri" pitchFamily="34" charset="-122"/>
                <a:cs typeface="Calibri" pitchFamily="34" charset="-120"/>
              </a:rPr>
              <a:t>QED</a:t>
            </a:r>
            <a:endParaRPr lang="en-US" sz="1200" dirty="0"/>
          </a:p>
        </p:txBody>
      </p:sp>
      <p:sp>
        <p:nvSpPr>
          <p:cNvPr id="9" name="Text 6"/>
          <p:cNvSpPr txBox="1"/>
          <p:nvPr/>
        </p:nvSpPr>
        <p:spPr>
          <a:xfrm>
            <a:off x="2813050" y="4309070"/>
            <a:ext cx="7937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CloudCo</a:t>
            </a:r>
            <a:endParaRPr lang="en-US" sz="1200" dirty="0"/>
          </a:p>
        </p:txBody>
      </p:sp>
      <p:sp>
        <p:nvSpPr>
          <p:cNvPr id="10" name="Text 7"/>
          <p:cNvSpPr txBox="1"/>
          <p:nvPr/>
        </p:nvSpPr>
        <p:spPr>
          <a:xfrm>
            <a:off x="1784350" y="4309070"/>
            <a:ext cx="603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Helix</a:t>
            </a:r>
            <a:endParaRPr lang="en-US" sz="1200" dirty="0"/>
          </a:p>
        </p:txBody>
      </p:sp>
      <p:sp>
        <p:nvSpPr>
          <p:cNvPr id="11" name="Text 8"/>
          <p:cNvSpPr txBox="1"/>
          <p:nvPr/>
        </p:nvSpPr>
        <p:spPr>
          <a:xfrm>
            <a:off x="977900" y="3007320"/>
            <a:ext cx="603250" cy="213360"/>
          </a:xfrm>
          <a:prstGeom prst="rect">
            <a:avLst/>
          </a:prstGeom>
          <a:noFill/>
          <a:ln/>
        </p:spPr>
        <p:txBody>
          <a:bodyPr wrap="square" lIns="0" tIns="0" rIns="0" bIns="0" rtlCol="0" anchor="t"/>
          <a:lstStyle/>
          <a:p>
            <a:pPr algn="r" indent="0" marL="0">
              <a:lnSpc>
                <a:spcPts val="1680"/>
              </a:lnSpc>
              <a:buNone/>
            </a:pPr>
            <a:r>
              <a:rPr lang="en-US" sz="1200" b="1" dirty="0">
                <a:solidFill>
                  <a:srgbClr val="13233F"/>
                </a:solidFill>
                <a:latin typeface="Calibri" pitchFamily="34" charset="0"/>
                <a:ea typeface="Calibri" pitchFamily="34" charset="-122"/>
                <a:cs typeface="Calibri" pitchFamily="34" charset="-120"/>
              </a:rPr>
              <a:t>Atlas</a:t>
            </a:r>
            <a:endParaRPr lang="en-US" sz="1200" dirty="0"/>
          </a:p>
        </p:txBody>
      </p:sp>
      <p:sp>
        <p:nvSpPr>
          <p:cNvPr id="12" name="Text 9"/>
          <p:cNvSpPr txBox="1"/>
          <p:nvPr/>
        </p:nvSpPr>
        <p:spPr>
          <a:xfrm>
            <a:off x="4451350" y="1902420"/>
            <a:ext cx="336804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After the proven netting</a:t>
            </a:r>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 · 31 in 4</a:t>
            </a:r>
            <a:endParaRPr lang="en-US" sz="1200" dirty="0"/>
          </a:p>
        </p:txBody>
      </p:sp>
      <p:pic>
        <p:nvPicPr>
          <p:cNvPr id="13" name="Image 1" descr="After: 4 debts left, all flowing toward QED, no cycles">    </p:cNvPr>
          <p:cNvPicPr>
            <a:picLocks noChangeAspect="1"/>
          </p:cNvPicPr>
          <p:nvPr/>
        </p:nvPicPr>
        <p:blipFill>
          <a:blip r:embed="rId2"/>
          <a:stretch>
            <a:fillRect/>
          </a:stretch>
        </p:blipFill>
        <p:spPr>
          <a:xfrm>
            <a:off x="4451350" y="2086570"/>
            <a:ext cx="3302000" cy="2540000"/>
          </a:xfrm>
          <a:prstGeom prst="rect">
            <a:avLst/>
          </a:prstGeom>
        </p:spPr>
      </p:pic>
      <p:sp>
        <p:nvSpPr>
          <p:cNvPr id="14" name="Text 10"/>
          <p:cNvSpPr txBox="1"/>
          <p:nvPr/>
        </p:nvSpPr>
        <p:spPr>
          <a:xfrm>
            <a:off x="5613400" y="2092920"/>
            <a:ext cx="984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Northwind</a:t>
            </a:r>
            <a:endParaRPr lang="en-US" sz="1200" dirty="0"/>
          </a:p>
        </p:txBody>
      </p:sp>
      <p:sp>
        <p:nvSpPr>
          <p:cNvPr id="15" name="Text 11"/>
          <p:cNvSpPr txBox="1"/>
          <p:nvPr/>
        </p:nvSpPr>
        <p:spPr>
          <a:xfrm>
            <a:off x="7169150" y="3007320"/>
            <a:ext cx="412750" cy="213360"/>
          </a:xfrm>
          <a:prstGeom prst="rect">
            <a:avLst/>
          </a:prstGeom>
          <a:noFill/>
          <a:ln/>
        </p:spPr>
        <p:txBody>
          <a:bodyPr wrap="square" lIns="0" tIns="0" rIns="0" bIns="0" rtlCol="0" anchor="t"/>
          <a:lstStyle/>
          <a:p>
            <a:pPr algn="l" indent="0" marL="0">
              <a:lnSpc>
                <a:spcPts val="1680"/>
              </a:lnSpc>
              <a:buNone/>
            </a:pPr>
            <a:r>
              <a:rPr lang="en-US" sz="1200" b="1" dirty="0">
                <a:solidFill>
                  <a:srgbClr val="13233F"/>
                </a:solidFill>
                <a:latin typeface="Calibri" pitchFamily="34" charset="0"/>
                <a:ea typeface="Calibri" pitchFamily="34" charset="-122"/>
                <a:cs typeface="Calibri" pitchFamily="34" charset="-120"/>
              </a:rPr>
              <a:t>QED</a:t>
            </a:r>
            <a:endParaRPr lang="en-US" sz="1200" dirty="0"/>
          </a:p>
        </p:txBody>
      </p:sp>
      <p:sp>
        <p:nvSpPr>
          <p:cNvPr id="16" name="Text 12"/>
          <p:cNvSpPr txBox="1"/>
          <p:nvPr/>
        </p:nvSpPr>
        <p:spPr>
          <a:xfrm>
            <a:off x="6267450" y="4309070"/>
            <a:ext cx="7937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CloudCo</a:t>
            </a:r>
            <a:endParaRPr lang="en-US" sz="1200" dirty="0"/>
          </a:p>
        </p:txBody>
      </p:sp>
      <p:sp>
        <p:nvSpPr>
          <p:cNvPr id="17" name="Text 13"/>
          <p:cNvSpPr txBox="1"/>
          <p:nvPr/>
        </p:nvSpPr>
        <p:spPr>
          <a:xfrm>
            <a:off x="5238750" y="4309070"/>
            <a:ext cx="603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Helix</a:t>
            </a:r>
            <a:endParaRPr lang="en-US" sz="1200" dirty="0"/>
          </a:p>
        </p:txBody>
      </p:sp>
      <p:sp>
        <p:nvSpPr>
          <p:cNvPr id="18" name="Text 14"/>
          <p:cNvSpPr txBox="1"/>
          <p:nvPr/>
        </p:nvSpPr>
        <p:spPr>
          <a:xfrm>
            <a:off x="4432300" y="3007320"/>
            <a:ext cx="603250" cy="213360"/>
          </a:xfrm>
          <a:prstGeom prst="rect">
            <a:avLst/>
          </a:prstGeom>
          <a:noFill/>
          <a:ln/>
        </p:spPr>
        <p:txBody>
          <a:bodyPr wrap="square" lIns="0" tIns="0" rIns="0" bIns="0" rtlCol="0" anchor="t"/>
          <a:lstStyle/>
          <a:p>
            <a:pPr algn="r" indent="0" marL="0">
              <a:lnSpc>
                <a:spcPts val="1680"/>
              </a:lnSpc>
              <a:buNone/>
            </a:pPr>
            <a:r>
              <a:rPr lang="en-US" sz="1200" b="1" dirty="0">
                <a:solidFill>
                  <a:srgbClr val="13233F"/>
                </a:solidFill>
                <a:latin typeface="Calibri" pitchFamily="34" charset="0"/>
                <a:ea typeface="Calibri" pitchFamily="34" charset="-122"/>
                <a:cs typeface="Calibri" pitchFamily="34" charset="-120"/>
              </a:rPr>
              <a:t>Atlas</a:t>
            </a:r>
            <a:endParaRPr lang="en-US" sz="1200" dirty="0"/>
          </a:p>
        </p:txBody>
      </p:sp>
      <p:sp>
        <p:nvSpPr>
          <p:cNvPr id="19" name="Shape 15"/>
          <p:cNvSpPr/>
          <p:nvPr/>
        </p:nvSpPr>
        <p:spPr>
          <a:xfrm>
            <a:off x="6318250" y="2740620"/>
            <a:ext cx="330200" cy="226020"/>
          </a:xfrm>
          <a:prstGeom prst="roundRect">
            <a:avLst>
              <a:gd name="adj" fmla="val 16857"/>
            </a:avLst>
          </a:prstGeom>
          <a:solidFill>
            <a:srgbClr val="FBFCFC"/>
          </a:solidFill>
          <a:ln w="6350">
            <a:solidFill>
              <a:srgbClr val="9FB0BE"/>
            </a:solidFill>
            <a:prstDash val="solid"/>
          </a:ln>
        </p:spPr>
      </p:sp>
      <p:sp>
        <p:nvSpPr>
          <p:cNvPr id="20" name="Text 16"/>
          <p:cNvSpPr txBox="1"/>
          <p:nvPr/>
        </p:nvSpPr>
        <p:spPr>
          <a:xfrm>
            <a:off x="6299200" y="274697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18</a:t>
            </a:r>
            <a:endParaRPr lang="en-US" sz="1200" dirty="0"/>
          </a:p>
        </p:txBody>
      </p:sp>
      <p:sp>
        <p:nvSpPr>
          <p:cNvPr id="21" name="Shape 17"/>
          <p:cNvSpPr/>
          <p:nvPr/>
        </p:nvSpPr>
        <p:spPr>
          <a:xfrm>
            <a:off x="5759450" y="3864570"/>
            <a:ext cx="330200" cy="226020"/>
          </a:xfrm>
          <a:prstGeom prst="roundRect">
            <a:avLst>
              <a:gd name="adj" fmla="val 16857"/>
            </a:avLst>
          </a:prstGeom>
          <a:solidFill>
            <a:srgbClr val="FBFCFC"/>
          </a:solidFill>
          <a:ln w="6350">
            <a:solidFill>
              <a:srgbClr val="9FB0BE"/>
            </a:solidFill>
            <a:prstDash val="solid"/>
          </a:ln>
        </p:spPr>
      </p:sp>
      <p:sp>
        <p:nvSpPr>
          <p:cNvPr id="22" name="Text 18"/>
          <p:cNvSpPr txBox="1"/>
          <p:nvPr/>
        </p:nvSpPr>
        <p:spPr>
          <a:xfrm>
            <a:off x="5740400" y="387092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4</a:t>
            </a:r>
            <a:endParaRPr lang="en-US" sz="1200" dirty="0"/>
          </a:p>
        </p:txBody>
      </p:sp>
      <p:sp>
        <p:nvSpPr>
          <p:cNvPr id="23" name="Shape 19"/>
          <p:cNvSpPr/>
          <p:nvPr/>
        </p:nvSpPr>
        <p:spPr>
          <a:xfrm>
            <a:off x="5924550" y="3102570"/>
            <a:ext cx="330200" cy="226020"/>
          </a:xfrm>
          <a:prstGeom prst="roundRect">
            <a:avLst>
              <a:gd name="adj" fmla="val 16857"/>
            </a:avLst>
          </a:prstGeom>
          <a:solidFill>
            <a:srgbClr val="FBFCFC"/>
          </a:solidFill>
          <a:ln w="6350">
            <a:solidFill>
              <a:srgbClr val="9FB0BE"/>
            </a:solidFill>
            <a:prstDash val="solid"/>
          </a:ln>
        </p:spPr>
      </p:sp>
      <p:sp>
        <p:nvSpPr>
          <p:cNvPr id="24" name="Text 20"/>
          <p:cNvSpPr txBox="1"/>
          <p:nvPr/>
        </p:nvSpPr>
        <p:spPr>
          <a:xfrm>
            <a:off x="5905500" y="310892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6</a:t>
            </a:r>
            <a:endParaRPr lang="en-US" sz="1200" dirty="0"/>
          </a:p>
        </p:txBody>
      </p:sp>
      <p:sp>
        <p:nvSpPr>
          <p:cNvPr id="25" name="Shape 21"/>
          <p:cNvSpPr/>
          <p:nvPr/>
        </p:nvSpPr>
        <p:spPr>
          <a:xfrm>
            <a:off x="6191250" y="3750270"/>
            <a:ext cx="330200" cy="226020"/>
          </a:xfrm>
          <a:prstGeom prst="roundRect">
            <a:avLst>
              <a:gd name="adj" fmla="val 16857"/>
            </a:avLst>
          </a:prstGeom>
          <a:solidFill>
            <a:srgbClr val="FBFCFC"/>
          </a:solidFill>
          <a:ln w="6350">
            <a:solidFill>
              <a:srgbClr val="9FB0BE"/>
            </a:solidFill>
            <a:prstDash val="solid"/>
          </a:ln>
        </p:spPr>
      </p:sp>
      <p:sp>
        <p:nvSpPr>
          <p:cNvPr id="26" name="Text 22"/>
          <p:cNvSpPr txBox="1"/>
          <p:nvPr/>
        </p:nvSpPr>
        <p:spPr>
          <a:xfrm>
            <a:off x="6172200" y="375662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3</a:t>
            </a:r>
            <a:endParaRPr lang="en-US" sz="1200" dirty="0"/>
          </a:p>
        </p:txBody>
      </p:sp>
      <p:sp>
        <p:nvSpPr>
          <p:cNvPr id="27" name="Text 23"/>
          <p:cNvSpPr txBox="1"/>
          <p:nvPr/>
        </p:nvSpPr>
        <p:spPr>
          <a:xfrm>
            <a:off x="8140700" y="1870670"/>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Gross debt</a:t>
            </a:r>
            <a:endParaRPr lang="en-US" sz="1500" dirty="0"/>
          </a:p>
        </p:txBody>
      </p:sp>
      <p:sp>
        <p:nvSpPr>
          <p:cNvPr id="28" name="Text 24"/>
          <p:cNvSpPr txBox="1"/>
          <p:nvPr/>
        </p:nvSpPr>
        <p:spPr>
          <a:xfrm>
            <a:off x="8140700" y="2131020"/>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11 debts, 5 AI businesses</a:t>
            </a:r>
            <a:endParaRPr lang="en-US" sz="1200" dirty="0"/>
          </a:p>
        </p:txBody>
      </p:sp>
      <p:sp>
        <p:nvSpPr>
          <p:cNvPr id="29" name="Text 25"/>
          <p:cNvSpPr txBox="1"/>
          <p:nvPr/>
        </p:nvSpPr>
        <p:spPr>
          <a:xfrm>
            <a:off x="10502900" y="1870670"/>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13233F"/>
                </a:solidFill>
                <a:latin typeface="Calibri" pitchFamily="34" charset="0"/>
                <a:ea typeface="Calibri" pitchFamily="34" charset="-122"/>
                <a:cs typeface="Calibri" pitchFamily="34" charset="-120"/>
              </a:rPr>
              <a:t>200</a:t>
            </a:r>
            <a:endParaRPr lang="en-US" sz="1800" dirty="0"/>
          </a:p>
        </p:txBody>
      </p:sp>
      <p:sp>
        <p:nvSpPr>
          <p:cNvPr id="30" name="Shape 26"/>
          <p:cNvSpPr/>
          <p:nvPr/>
        </p:nvSpPr>
        <p:spPr>
          <a:xfrm>
            <a:off x="8140700" y="2433836"/>
            <a:ext cx="3238500" cy="0"/>
          </a:xfrm>
          <a:prstGeom prst="line">
            <a:avLst/>
          </a:prstGeom>
          <a:noFill/>
          <a:ln w="6350">
            <a:solidFill>
              <a:srgbClr val="D6DEE1"/>
            </a:solidFill>
            <a:prstDash val="solid"/>
          </a:ln>
        </p:spPr>
      </p:sp>
      <p:sp>
        <p:nvSpPr>
          <p:cNvPr id="31" name="Text 27"/>
          <p:cNvSpPr txBox="1"/>
          <p:nvPr/>
        </p:nvSpPr>
        <p:spPr>
          <a:xfrm>
            <a:off x="8140700" y="2538611"/>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Cash they hold</a:t>
            </a:r>
            <a:endParaRPr lang="en-US" sz="1500" dirty="0"/>
          </a:p>
        </p:txBody>
      </p:sp>
      <p:sp>
        <p:nvSpPr>
          <p:cNvPr id="32" name="Text 28"/>
          <p:cNvSpPr txBox="1"/>
          <p:nvPr/>
        </p:nvSpPr>
        <p:spPr>
          <a:xfrm>
            <a:off x="8140700" y="2798961"/>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paying gross reverts (G1)</a:t>
            </a:r>
            <a:endParaRPr lang="en-US" sz="1200" dirty="0"/>
          </a:p>
        </p:txBody>
      </p:sp>
      <p:sp>
        <p:nvSpPr>
          <p:cNvPr id="33" name="Text 29"/>
          <p:cNvSpPr txBox="1"/>
          <p:nvPr/>
        </p:nvSpPr>
        <p:spPr>
          <a:xfrm>
            <a:off x="10502900" y="2538611"/>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13233F"/>
                </a:solidFill>
                <a:latin typeface="Calibri" pitchFamily="34" charset="0"/>
                <a:ea typeface="Calibri" pitchFamily="34" charset="-122"/>
                <a:cs typeface="Calibri" pitchFamily="34" charset="-120"/>
              </a:rPr>
              <a:t>28</a:t>
            </a:r>
            <a:endParaRPr lang="en-US" sz="1800" dirty="0"/>
          </a:p>
        </p:txBody>
      </p:sp>
      <p:sp>
        <p:nvSpPr>
          <p:cNvPr id="34" name="Shape 30"/>
          <p:cNvSpPr/>
          <p:nvPr/>
        </p:nvSpPr>
        <p:spPr>
          <a:xfrm>
            <a:off x="8140700" y="3101777"/>
            <a:ext cx="3238500" cy="0"/>
          </a:xfrm>
          <a:prstGeom prst="line">
            <a:avLst/>
          </a:prstGeom>
          <a:noFill/>
          <a:ln w="6350">
            <a:solidFill>
              <a:srgbClr val="D6DEE1"/>
            </a:solidFill>
            <a:prstDash val="solid"/>
          </a:ln>
        </p:spPr>
      </p:sp>
      <p:sp>
        <p:nvSpPr>
          <p:cNvPr id="35" name="Text 31"/>
          <p:cNvSpPr txBox="1"/>
          <p:nvPr/>
        </p:nvSpPr>
        <p:spPr>
          <a:xfrm>
            <a:off x="8140700" y="3206552"/>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Naive netting</a:t>
            </a:r>
            <a:endParaRPr lang="en-US" sz="1500" dirty="0"/>
          </a:p>
        </p:txBody>
      </p:sp>
      <p:sp>
        <p:nvSpPr>
          <p:cNvPr id="36" name="Text 32"/>
          <p:cNvSpPr txBox="1"/>
          <p:nvPr/>
        </p:nvSpPr>
        <p:spPr>
          <a:xfrm>
            <a:off x="8140700" y="3466902"/>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NotProvablyMaximal (N1)</a:t>
            </a:r>
            <a:endParaRPr lang="en-US" sz="1200" dirty="0"/>
          </a:p>
        </p:txBody>
      </p:sp>
      <p:sp>
        <p:nvSpPr>
          <p:cNvPr id="37" name="Text 33"/>
          <p:cNvSpPr txBox="1"/>
          <p:nvPr/>
        </p:nvSpPr>
        <p:spPr>
          <a:xfrm>
            <a:off x="10502900" y="3206552"/>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B1262E"/>
                </a:solidFill>
                <a:latin typeface="Calibri" pitchFamily="34" charset="0"/>
                <a:ea typeface="Calibri" pitchFamily="34" charset="-122"/>
                <a:cs typeface="Calibri" pitchFamily="34" charset="-120"/>
              </a:rPr>
              <a:t>162</a:t>
            </a:r>
            <a:endParaRPr lang="en-US" sz="1800" dirty="0"/>
          </a:p>
        </p:txBody>
      </p:sp>
      <p:sp>
        <p:nvSpPr>
          <p:cNvPr id="38" name="Shape 34"/>
          <p:cNvSpPr/>
          <p:nvPr/>
        </p:nvSpPr>
        <p:spPr>
          <a:xfrm>
            <a:off x="8140700" y="3769717"/>
            <a:ext cx="3238500" cy="0"/>
          </a:xfrm>
          <a:prstGeom prst="line">
            <a:avLst/>
          </a:prstGeom>
          <a:noFill/>
          <a:ln w="6350">
            <a:solidFill>
              <a:srgbClr val="D6DEE1"/>
            </a:solidFill>
            <a:prstDash val="solid"/>
          </a:ln>
        </p:spPr>
      </p:sp>
      <p:sp>
        <p:nvSpPr>
          <p:cNvPr id="39" name="Text 35"/>
          <p:cNvSpPr txBox="1"/>
          <p:nvPr/>
        </p:nvSpPr>
        <p:spPr>
          <a:xfrm>
            <a:off x="8140700" y="3874492"/>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Proven netting</a:t>
            </a:r>
            <a:endParaRPr lang="en-US" sz="1500" dirty="0"/>
          </a:p>
        </p:txBody>
      </p:sp>
      <p:sp>
        <p:nvSpPr>
          <p:cNvPr id="40" name="Text 36"/>
          <p:cNvSpPr txBox="1"/>
          <p:nvPr/>
        </p:nvSpPr>
        <p:spPr>
          <a:xfrm>
            <a:off x="8140700" y="4134842"/>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certificate holds (N6)</a:t>
            </a:r>
            <a:endParaRPr lang="en-US" sz="1200" dirty="0"/>
          </a:p>
        </p:txBody>
      </p:sp>
      <p:sp>
        <p:nvSpPr>
          <p:cNvPr id="41" name="Text 37"/>
          <p:cNvSpPr txBox="1"/>
          <p:nvPr/>
        </p:nvSpPr>
        <p:spPr>
          <a:xfrm>
            <a:off x="10502900" y="3874492"/>
            <a:ext cx="876300" cy="297180"/>
          </a:xfrm>
          <a:prstGeom prst="rect">
            <a:avLst/>
          </a:prstGeom>
          <a:noFill/>
          <a:ln/>
        </p:spPr>
        <p:txBody>
          <a:bodyPr wrap="square" lIns="0" tIns="0" rIns="0" bIns="0" rtlCol="0" anchor="t"/>
          <a:lstStyle/>
          <a:p>
            <a:pPr algn="r" indent="0" marL="0">
              <a:lnSpc>
                <a:spcPts val="2340"/>
              </a:lnSpc>
              <a:buNone/>
            </a:pPr>
            <a:r>
              <a:rPr lang="en-US" sz="1800" b="1" dirty="0">
                <a:solidFill>
                  <a:srgbClr val="0A7468"/>
                </a:solidFill>
                <a:latin typeface="Calibri" pitchFamily="34" charset="0"/>
                <a:ea typeface="Calibri" pitchFamily="34" charset="-122"/>
                <a:cs typeface="Calibri" pitchFamily="34" charset="-120"/>
              </a:rPr>
              <a:t>169</a:t>
            </a:r>
            <a:endParaRPr lang="en-US" sz="1800" dirty="0"/>
          </a:p>
        </p:txBody>
      </p:sp>
      <p:sp>
        <p:nvSpPr>
          <p:cNvPr id="42" name="Shape 38"/>
          <p:cNvSpPr/>
          <p:nvPr/>
        </p:nvSpPr>
        <p:spPr>
          <a:xfrm>
            <a:off x="8140700" y="4437658"/>
            <a:ext cx="3238500" cy="0"/>
          </a:xfrm>
          <a:prstGeom prst="line">
            <a:avLst/>
          </a:prstGeom>
          <a:noFill/>
          <a:ln w="6350">
            <a:solidFill>
              <a:srgbClr val="D6DEE1"/>
            </a:solidFill>
            <a:prstDash val="solid"/>
          </a:ln>
        </p:spPr>
      </p:sp>
      <p:sp>
        <p:nvSpPr>
          <p:cNvPr id="43" name="Text 39"/>
          <p:cNvSpPr txBox="1"/>
          <p:nvPr/>
        </p:nvSpPr>
        <p:spPr>
          <a:xfrm>
            <a:off x="8140700" y="4542433"/>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Paid in tokens</a:t>
            </a:r>
            <a:endParaRPr lang="en-US" sz="1500" dirty="0"/>
          </a:p>
        </p:txBody>
      </p:sp>
      <p:sp>
        <p:nvSpPr>
          <p:cNvPr id="44" name="Text 40"/>
          <p:cNvSpPr txBox="1"/>
          <p:nvPr/>
        </p:nvSpPr>
        <p:spPr>
          <a:xfrm>
            <a:off x="8140700" y="4802783"/>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net debits only (S1–S4)</a:t>
            </a:r>
            <a:endParaRPr lang="en-US" sz="1200" dirty="0"/>
          </a:p>
        </p:txBody>
      </p:sp>
      <p:sp>
        <p:nvSpPr>
          <p:cNvPr id="45" name="Text 41"/>
          <p:cNvSpPr txBox="1"/>
          <p:nvPr/>
        </p:nvSpPr>
        <p:spPr>
          <a:xfrm>
            <a:off x="10502900" y="4542433"/>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13233F"/>
                </a:solidFill>
                <a:latin typeface="Calibri" pitchFamily="34" charset="0"/>
                <a:ea typeface="Calibri" pitchFamily="34" charset="-122"/>
                <a:cs typeface="Calibri" pitchFamily="34" charset="-120"/>
              </a:rPr>
              <a:t>31</a:t>
            </a:r>
            <a:endParaRPr lang="en-US" sz="1800" dirty="0"/>
          </a:p>
        </p:txBody>
      </p:sp>
      <p:sp>
        <p:nvSpPr>
          <p:cNvPr id="46" name="Shape 42"/>
          <p:cNvSpPr/>
          <p:nvPr/>
        </p:nvSpPr>
        <p:spPr>
          <a:xfrm>
            <a:off x="812800" y="5257998"/>
            <a:ext cx="10566400" cy="0"/>
          </a:xfrm>
          <a:prstGeom prst="line">
            <a:avLst/>
          </a:prstGeom>
          <a:noFill/>
          <a:ln w="6350">
            <a:solidFill>
              <a:srgbClr val="D6DEE1"/>
            </a:solidFill>
            <a:prstDash val="solid"/>
          </a:ln>
        </p:spPr>
      </p:sp>
      <p:sp>
        <p:nvSpPr>
          <p:cNvPr id="47" name="Text 43"/>
          <p:cNvSpPr txBox="1"/>
          <p:nvPr/>
        </p:nvSpPr>
        <p:spPr>
          <a:xfrm>
            <a:off x="812800" y="5350073"/>
            <a:ext cx="8151912" cy="264160"/>
          </a:xfrm>
          <a:prstGeom prst="rect">
            <a:avLst/>
          </a:prstGeom>
          <a:noFill/>
          <a:ln/>
        </p:spPr>
        <p:txBody>
          <a:bodyPr wrap="square" lIns="0" tIns="0" rIns="0" bIns="0" rtlCol="0" anchor="t"/>
          <a:lstStyle/>
          <a:p>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max Σ</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x</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(net positions fixed) = min Σ</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d</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y</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s.t. π</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ᵤ</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π</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ᵥ</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y</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1</a:t>
            </a:r>
            <a:endParaRPr lang="en-US" sz="1600" dirty="0"/>
          </a:p>
        </p:txBody>
      </p:sp>
      <p:sp>
        <p:nvSpPr>
          <p:cNvPr id="48" name="Text 44"/>
          <p:cNvSpPr txBox="1"/>
          <p:nvPr/>
        </p:nvSpPr>
        <p:spPr>
          <a:xfrm>
            <a:off x="8957270" y="5400873"/>
            <a:ext cx="2421930" cy="198120"/>
          </a:xfrm>
          <a:prstGeom prst="rect">
            <a:avLst/>
          </a:prstGeom>
          <a:noFill/>
          <a:ln/>
        </p:spPr>
        <p:txBody>
          <a:bodyPr wrap="square" lIns="0" tIns="0" rIns="0" bIns="0" rtlCol="0" anchor="t"/>
          <a:lstStyle/>
          <a:p>
            <a:pPr algn="r" indent="0" marL="0">
              <a:lnSpc>
                <a:spcPts val="1560"/>
              </a:lnSpc>
              <a:buNone/>
            </a:pPr>
            <a:r>
              <a:rPr lang="en-US" sz="1200" dirty="0">
                <a:solidFill>
                  <a:srgbClr val="4E6074"/>
                </a:solidFill>
                <a:latin typeface="Calibri" pitchFamily="34" charset="0"/>
                <a:ea typeface="Calibri" pitchFamily="34" charset="-122"/>
                <a:cs typeface="Calibri" pitchFamily="34" charset="-120"/>
              </a:rPr>
              <a:t>exact integers · 6 more attacks refused</a:t>
            </a:r>
            <a:endParaRPr lang="en-US" sz="1200" dirty="0"/>
          </a:p>
        </p:txBody>
      </p:sp>
      <p:sp>
        <p:nvSpPr>
          <p:cNvPr id="49" name="Shape 45"/>
          <p:cNvSpPr/>
          <p:nvPr/>
        </p:nvSpPr>
        <p:spPr>
          <a:xfrm>
            <a:off x="11226800" y="5689600"/>
            <a:ext cx="152400" cy="152400"/>
          </a:xfrm>
          <a:prstGeom prst="rect">
            <a:avLst/>
          </a:prstGeom>
          <a:solidFill>
            <a:srgbClr val="0A7468"/>
          </a:solidFill>
          <a:ln/>
        </p:spPr>
      </p:sp>
      <p:sp>
        <p:nvSpPr>
          <p:cNvPr id="50" name="Text 46"/>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51" name="Text 47"/>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Backup B7</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RUN 3 · ZERO-KNOWLEDGE OPTIMALITY</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Paid for a proof about data nobody saw</a:t>
            </a:r>
            <a:endParaRPr lang="en-US" sz="3200" dirty="0"/>
          </a:p>
        </p:txBody>
      </p:sp>
      <p:sp>
        <p:nvSpPr>
          <p:cNvPr id="4" name="Shape 2"/>
          <p:cNvSpPr/>
          <p:nvPr/>
        </p:nvSpPr>
        <p:spPr>
          <a:xfrm>
            <a:off x="812800" y="1819870"/>
            <a:ext cx="7061200" cy="2940050"/>
          </a:xfrm>
          <a:prstGeom prst="roundRect">
            <a:avLst>
              <a:gd name="adj" fmla="val 1728"/>
            </a:avLst>
          </a:prstGeom>
          <a:solidFill>
            <a:srgbClr val="FBFCFC"/>
          </a:solidFill>
          <a:ln w="6350">
            <a:solidFill>
              <a:srgbClr val="D6DEE1"/>
            </a:solidFill>
            <a:prstDash val="solid"/>
          </a:ln>
        </p:spPr>
      </p:sp>
      <p:sp>
        <p:nvSpPr>
          <p:cNvPr id="5" name="Text 3"/>
          <p:cNvSpPr txBox="1"/>
          <p:nvPr/>
        </p:nvSpPr>
        <p:spPr>
          <a:xfrm>
            <a:off x="1047750" y="2054820"/>
            <a:ext cx="3257931"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ON-CHAIN, PUBLIC</a:t>
            </a:r>
            <a:endParaRPr lang="en-US" sz="1200" dirty="0"/>
          </a:p>
        </p:txBody>
      </p:sp>
      <p:sp>
        <p:nvSpPr>
          <p:cNvPr id="6" name="Shape 4"/>
          <p:cNvSpPr/>
          <p:nvPr/>
        </p:nvSpPr>
        <p:spPr>
          <a:xfrm>
            <a:off x="1047750" y="2343745"/>
            <a:ext cx="3194050" cy="0"/>
          </a:xfrm>
          <a:prstGeom prst="line">
            <a:avLst/>
          </a:prstGeom>
          <a:noFill/>
          <a:ln w="6350">
            <a:solidFill>
              <a:srgbClr val="D6DEE1"/>
            </a:solidFill>
            <a:prstDash val="solid"/>
          </a:ln>
        </p:spPr>
      </p:sp>
      <p:sp>
        <p:nvSpPr>
          <p:cNvPr id="7" name="Text 5"/>
          <p:cNvSpPr txBox="1"/>
          <p:nvPr/>
        </p:nvSpPr>
        <p:spPr>
          <a:xfrm>
            <a:off x="1047750" y="242312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Data commitment, signed by Helix</a:t>
            </a:r>
            <a:endParaRPr lang="en-US" sz="1200" dirty="0"/>
          </a:p>
        </p:txBody>
      </p:sp>
      <p:sp>
        <p:nvSpPr>
          <p:cNvPr id="8" name="Text 6"/>
          <p:cNvSpPr txBox="1"/>
          <p:nvPr/>
        </p:nvSpPr>
        <p:spPr>
          <a:xfrm>
            <a:off x="1047750" y="261997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0x0ec5…6983</a:t>
            </a:r>
            <a:endParaRPr lang="en-US" sz="1200" dirty="0"/>
          </a:p>
        </p:txBody>
      </p:sp>
      <p:sp>
        <p:nvSpPr>
          <p:cNvPr id="9" name="Shape 7"/>
          <p:cNvSpPr/>
          <p:nvPr/>
        </p:nvSpPr>
        <p:spPr>
          <a:xfrm>
            <a:off x="1047750" y="2896195"/>
            <a:ext cx="3194050" cy="0"/>
          </a:xfrm>
          <a:prstGeom prst="line">
            <a:avLst/>
          </a:prstGeom>
          <a:noFill/>
          <a:ln w="6350">
            <a:solidFill>
              <a:srgbClr val="D6DEE1"/>
            </a:solidFill>
            <a:prstDash val="solid"/>
          </a:ln>
        </p:spPr>
      </p:sp>
      <p:sp>
        <p:nvSpPr>
          <p:cNvPr id="10" name="Text 8"/>
          <p:cNvSpPr txBox="1"/>
          <p:nvPr/>
        </p:nvSpPr>
        <p:spPr>
          <a:xfrm>
            <a:off x="1047750" y="297557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Portfolio commitment</a:t>
            </a:r>
            <a:endParaRPr lang="en-US" sz="1200" dirty="0"/>
          </a:p>
        </p:txBody>
      </p:sp>
      <p:sp>
        <p:nvSpPr>
          <p:cNvPr id="11" name="Text 9"/>
          <p:cNvSpPr txBox="1"/>
          <p:nvPr/>
        </p:nvSpPr>
        <p:spPr>
          <a:xfrm>
            <a:off x="1047750" y="317242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0x0577…ba68</a:t>
            </a:r>
            <a:endParaRPr lang="en-US" sz="1200" dirty="0"/>
          </a:p>
        </p:txBody>
      </p:sp>
      <p:sp>
        <p:nvSpPr>
          <p:cNvPr id="12" name="Shape 10"/>
          <p:cNvSpPr/>
          <p:nvPr/>
        </p:nvSpPr>
        <p:spPr>
          <a:xfrm>
            <a:off x="1047750" y="3448645"/>
            <a:ext cx="3194050" cy="0"/>
          </a:xfrm>
          <a:prstGeom prst="line">
            <a:avLst/>
          </a:prstGeom>
          <a:noFill/>
          <a:ln w="6350">
            <a:solidFill>
              <a:srgbClr val="D6DEE1"/>
            </a:solidFill>
            <a:prstDash val="solid"/>
          </a:ln>
        </p:spPr>
      </p:sp>
      <p:sp>
        <p:nvSpPr>
          <p:cNvPr id="13" name="Text 11"/>
          <p:cNvSpPr txBox="1"/>
          <p:nvPr/>
        </p:nvSpPr>
        <p:spPr>
          <a:xfrm>
            <a:off x="1047750" y="352802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Certified variance</a:t>
            </a:r>
            <a:endParaRPr lang="en-US" sz="1200" dirty="0"/>
          </a:p>
        </p:txBody>
      </p:sp>
      <p:sp>
        <p:nvSpPr>
          <p:cNvPr id="14" name="Text 12"/>
          <p:cNvSpPr txBox="1"/>
          <p:nvPr/>
        </p:nvSpPr>
        <p:spPr>
          <a:xfrm>
            <a:off x="1047750" y="372487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0.0015702689</a:t>
            </a:r>
            <a:endParaRPr lang="en-US" sz="1200" dirty="0"/>
          </a:p>
        </p:txBody>
      </p:sp>
      <p:sp>
        <p:nvSpPr>
          <p:cNvPr id="15" name="Shape 13"/>
          <p:cNvSpPr/>
          <p:nvPr/>
        </p:nvSpPr>
        <p:spPr>
          <a:xfrm>
            <a:off x="1047750" y="4001095"/>
            <a:ext cx="3194050" cy="0"/>
          </a:xfrm>
          <a:prstGeom prst="line">
            <a:avLst/>
          </a:prstGeom>
          <a:noFill/>
          <a:ln w="6350">
            <a:solidFill>
              <a:srgbClr val="D6DEE1"/>
            </a:solidFill>
            <a:prstDash val="solid"/>
          </a:ln>
        </p:spPr>
      </p:sp>
      <p:sp>
        <p:nvSpPr>
          <p:cNvPr id="16" name="Text 14"/>
          <p:cNvSpPr txBox="1"/>
          <p:nvPr/>
        </p:nvSpPr>
        <p:spPr>
          <a:xfrm>
            <a:off x="1047750" y="408047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Proof bound to</a:t>
            </a:r>
            <a:endParaRPr lang="en-US" sz="1200" dirty="0"/>
          </a:p>
        </p:txBody>
      </p:sp>
      <p:sp>
        <p:nvSpPr>
          <p:cNvPr id="17" name="Text 15"/>
          <p:cNvSpPr txBox="1"/>
          <p:nvPr/>
        </p:nvSpPr>
        <p:spPr>
          <a:xfrm>
            <a:off x="1047750" y="427732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QED agent</a:t>
            </a:r>
            <a:endParaRPr lang="en-US" sz="1200" dirty="0"/>
          </a:p>
        </p:txBody>
      </p:sp>
      <p:sp>
        <p:nvSpPr>
          <p:cNvPr id="18" name="Text 16"/>
          <p:cNvSpPr txBox="1"/>
          <p:nvPr/>
        </p:nvSpPr>
        <p:spPr>
          <a:xfrm>
            <a:off x="4445000" y="2054820"/>
            <a:ext cx="3257931"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NEVER ON-CHAIN</a:t>
            </a:r>
            <a:endParaRPr lang="en-US" sz="1200" dirty="0"/>
          </a:p>
        </p:txBody>
      </p:sp>
      <p:sp>
        <p:nvSpPr>
          <p:cNvPr id="19" name="Shape 17"/>
          <p:cNvSpPr/>
          <p:nvPr/>
        </p:nvSpPr>
        <p:spPr>
          <a:xfrm>
            <a:off x="4445000" y="2343745"/>
            <a:ext cx="3194050" cy="0"/>
          </a:xfrm>
          <a:prstGeom prst="line">
            <a:avLst/>
          </a:prstGeom>
          <a:noFill/>
          <a:ln w="6350">
            <a:solidFill>
              <a:srgbClr val="D6DEE1"/>
            </a:solidFill>
            <a:prstDash val="solid"/>
          </a:ln>
        </p:spPr>
      </p:sp>
      <p:sp>
        <p:nvSpPr>
          <p:cNvPr id="20" name="Text 18"/>
          <p:cNvSpPr txBox="1"/>
          <p:nvPr/>
        </p:nvSpPr>
        <p:spPr>
          <a:xfrm>
            <a:off x="4445000" y="24231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Covariance model, 21 entries</a:t>
            </a:r>
            <a:endParaRPr lang="en-US" sz="1200" dirty="0"/>
          </a:p>
        </p:txBody>
      </p:sp>
      <p:sp>
        <p:nvSpPr>
          <p:cNvPr id="21" name="Shape 19"/>
          <p:cNvSpPr/>
          <p:nvPr/>
        </p:nvSpPr>
        <p:spPr>
          <a:xfrm>
            <a:off x="4445000" y="2915245"/>
            <a:ext cx="3194050" cy="0"/>
          </a:xfrm>
          <a:prstGeom prst="line">
            <a:avLst/>
          </a:prstGeom>
          <a:noFill/>
          <a:ln w="6350">
            <a:solidFill>
              <a:srgbClr val="D6DEE1"/>
            </a:solidFill>
            <a:prstDash val="solid"/>
          </a:ln>
        </p:spPr>
      </p:sp>
      <p:sp>
        <p:nvSpPr>
          <p:cNvPr id="22" name="Text 20"/>
          <p:cNvSpPr txBox="1"/>
          <p:nvPr/>
        </p:nvSpPr>
        <p:spPr>
          <a:xfrm>
            <a:off x="4445000" y="29946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Portfolio weights, 6 sleeves</a:t>
            </a:r>
            <a:endParaRPr lang="en-US" sz="1200" dirty="0"/>
          </a:p>
        </p:txBody>
      </p:sp>
      <p:sp>
        <p:nvSpPr>
          <p:cNvPr id="23" name="Shape 21"/>
          <p:cNvSpPr/>
          <p:nvPr/>
        </p:nvSpPr>
        <p:spPr>
          <a:xfrm>
            <a:off x="4445000" y="3486745"/>
            <a:ext cx="3194050" cy="0"/>
          </a:xfrm>
          <a:prstGeom prst="line">
            <a:avLst/>
          </a:prstGeom>
          <a:noFill/>
          <a:ln w="6350">
            <a:solidFill>
              <a:srgbClr val="D6DEE1"/>
            </a:solidFill>
            <a:prstDash val="solid"/>
          </a:ln>
        </p:spPr>
      </p:sp>
      <p:sp>
        <p:nvSpPr>
          <p:cNvPr id="24" name="Text 22"/>
          <p:cNvSpPr txBox="1"/>
          <p:nvPr/>
        </p:nvSpPr>
        <p:spPr>
          <a:xfrm>
            <a:off x="4445000" y="35661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KKT multipliers ν, μ</a:t>
            </a:r>
            <a:endParaRPr lang="en-US" sz="1200" dirty="0"/>
          </a:p>
        </p:txBody>
      </p:sp>
      <p:sp>
        <p:nvSpPr>
          <p:cNvPr id="25" name="Shape 23"/>
          <p:cNvSpPr/>
          <p:nvPr/>
        </p:nvSpPr>
        <p:spPr>
          <a:xfrm>
            <a:off x="4445000" y="4058245"/>
            <a:ext cx="3194050" cy="0"/>
          </a:xfrm>
          <a:prstGeom prst="line">
            <a:avLst/>
          </a:prstGeom>
          <a:noFill/>
          <a:ln w="6350">
            <a:solidFill>
              <a:srgbClr val="D6DEE1"/>
            </a:solidFill>
            <a:prstDash val="solid"/>
          </a:ln>
        </p:spPr>
      </p:sp>
      <p:sp>
        <p:nvSpPr>
          <p:cNvPr id="26" name="Text 24"/>
          <p:cNvSpPr txBox="1"/>
          <p:nvPr/>
        </p:nvSpPr>
        <p:spPr>
          <a:xfrm>
            <a:off x="4445000" y="41376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Convexity witness L</a:t>
            </a:r>
            <a:endParaRPr lang="en-US" sz="1200" dirty="0"/>
          </a:p>
        </p:txBody>
      </p:sp>
      <p:sp>
        <p:nvSpPr>
          <p:cNvPr id="27" name="Text 25"/>
          <p:cNvSpPr txBox="1"/>
          <p:nvPr/>
        </p:nvSpPr>
        <p:spPr>
          <a:xfrm>
            <a:off x="8077200" y="1819870"/>
            <a:ext cx="2615291"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Groth16 statement</a:t>
            </a:r>
            <a:endParaRPr lang="en-US" sz="1500" dirty="0"/>
          </a:p>
        </p:txBody>
      </p:sp>
      <p:sp>
        <p:nvSpPr>
          <p:cNvPr id="28" name="Text 26"/>
          <p:cNvSpPr txBox="1"/>
          <p:nvPr/>
        </p:nvSpPr>
        <p:spPr>
          <a:xfrm>
            <a:off x="8077200" y="2067520"/>
            <a:ext cx="261529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the full KKT certificate</a:t>
            </a:r>
            <a:endParaRPr lang="en-US" sz="1200" dirty="0"/>
          </a:p>
        </p:txBody>
      </p:sp>
      <p:sp>
        <p:nvSpPr>
          <p:cNvPr id="29" name="Text 27"/>
          <p:cNvSpPr txBox="1"/>
          <p:nvPr/>
        </p:nvSpPr>
        <p:spPr>
          <a:xfrm>
            <a:off x="10742811" y="1819870"/>
            <a:ext cx="687189" cy="279400"/>
          </a:xfrm>
          <a:prstGeom prst="rect">
            <a:avLst/>
          </a:prstGeom>
          <a:noFill/>
          <a:ln/>
        </p:spPr>
        <p:txBody>
          <a:bodyPr wrap="square" lIns="0" tIns="0" rIns="0" bIns="0" rtlCol="0" anchor="t"/>
          <a:lstStyle/>
          <a:p>
            <a:pPr algn="l" indent="0" marL="0">
              <a:lnSpc>
                <a:spcPts val="2160"/>
              </a:lnSpc>
              <a:buNone/>
            </a:pPr>
            <a:r>
              <a:rPr lang="en-US" sz="1800" dirty="0">
                <a:solidFill>
                  <a:srgbClr val="13233F"/>
                </a:solidFill>
                <a:latin typeface="Calibri" pitchFamily="34" charset="0"/>
                <a:ea typeface="Calibri" pitchFamily="34" charset="-122"/>
                <a:cs typeface="Calibri" pitchFamily="34" charset="-120"/>
              </a:rPr>
              <a:t>12,569</a:t>
            </a:r>
            <a:endParaRPr lang="en-US" sz="1800" dirty="0"/>
          </a:p>
        </p:txBody>
      </p:sp>
      <p:sp>
        <p:nvSpPr>
          <p:cNvPr id="30" name="Shape 28"/>
          <p:cNvSpPr/>
          <p:nvPr/>
        </p:nvSpPr>
        <p:spPr>
          <a:xfrm>
            <a:off x="8077200" y="2356445"/>
            <a:ext cx="3302000" cy="0"/>
          </a:xfrm>
          <a:prstGeom prst="line">
            <a:avLst/>
          </a:prstGeom>
          <a:noFill/>
          <a:ln w="6350">
            <a:solidFill>
              <a:srgbClr val="D6DEE1"/>
            </a:solidFill>
            <a:prstDash val="solid"/>
          </a:ln>
        </p:spPr>
      </p:sp>
      <p:sp>
        <p:nvSpPr>
          <p:cNvPr id="31" name="Text 29"/>
          <p:cNvSpPr txBox="1"/>
          <p:nvPr/>
        </p:nvSpPr>
        <p:spPr>
          <a:xfrm>
            <a:off x="8077200" y="2461220"/>
            <a:ext cx="282518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Proved in</a:t>
            </a:r>
            <a:endParaRPr lang="en-US" sz="1500" dirty="0"/>
          </a:p>
        </p:txBody>
      </p:sp>
      <p:sp>
        <p:nvSpPr>
          <p:cNvPr id="32" name="Text 30"/>
          <p:cNvSpPr txBox="1"/>
          <p:nvPr/>
        </p:nvSpPr>
        <p:spPr>
          <a:xfrm>
            <a:off x="8077200" y="2708870"/>
            <a:ext cx="282518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by the QED agent, one CPU</a:t>
            </a:r>
            <a:endParaRPr lang="en-US" sz="1200" dirty="0"/>
          </a:p>
        </p:txBody>
      </p:sp>
      <p:sp>
        <p:nvSpPr>
          <p:cNvPr id="33" name="Text 31"/>
          <p:cNvSpPr txBox="1"/>
          <p:nvPr/>
        </p:nvSpPr>
        <p:spPr>
          <a:xfrm>
            <a:off x="10948591" y="2461220"/>
            <a:ext cx="481409" cy="279400"/>
          </a:xfrm>
          <a:prstGeom prst="rect">
            <a:avLst/>
          </a:prstGeom>
          <a:noFill/>
          <a:ln/>
        </p:spPr>
        <p:txBody>
          <a:bodyPr wrap="square" lIns="0" tIns="0" rIns="0" bIns="0" rtlCol="0" anchor="t"/>
          <a:lstStyle/>
          <a:p>
            <a:pPr algn="l" indent="0" marL="0">
              <a:lnSpc>
                <a:spcPts val="2160"/>
              </a:lnSpc>
              <a:buNone/>
            </a:pPr>
            <a:r>
              <a:rPr lang="en-US" sz="1800" dirty="0">
                <a:solidFill>
                  <a:srgbClr val="13233F"/>
                </a:solidFill>
                <a:latin typeface="Calibri" pitchFamily="34" charset="0"/>
                <a:ea typeface="Calibri" pitchFamily="34" charset="-122"/>
                <a:cs typeface="Calibri" pitchFamily="34" charset="-120"/>
              </a:rPr>
              <a:t>1.5 s</a:t>
            </a:r>
            <a:endParaRPr lang="en-US" sz="1800" dirty="0"/>
          </a:p>
        </p:txBody>
      </p:sp>
      <p:sp>
        <p:nvSpPr>
          <p:cNvPr id="34" name="Shape 32"/>
          <p:cNvSpPr/>
          <p:nvPr/>
        </p:nvSpPr>
        <p:spPr>
          <a:xfrm>
            <a:off x="8077200" y="2997795"/>
            <a:ext cx="3302000" cy="0"/>
          </a:xfrm>
          <a:prstGeom prst="line">
            <a:avLst/>
          </a:prstGeom>
          <a:noFill/>
          <a:ln w="6350">
            <a:solidFill>
              <a:srgbClr val="D6DEE1"/>
            </a:solidFill>
            <a:prstDash val="solid"/>
          </a:ln>
        </p:spPr>
      </p:sp>
      <p:sp>
        <p:nvSpPr>
          <p:cNvPr id="35" name="Text 33"/>
          <p:cNvSpPr txBox="1"/>
          <p:nvPr/>
        </p:nvSpPr>
        <p:spPr>
          <a:xfrm>
            <a:off x="8077200" y="3102570"/>
            <a:ext cx="248711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Paid by job #1’s escrow</a:t>
            </a:r>
            <a:endParaRPr lang="en-US" sz="1500" dirty="0"/>
          </a:p>
        </p:txBody>
      </p:sp>
      <p:sp>
        <p:nvSpPr>
          <p:cNvPr id="36" name="Text 34"/>
          <p:cNvSpPr txBox="1"/>
          <p:nvPr/>
        </p:nvSpPr>
        <p:spPr>
          <a:xfrm>
            <a:off x="8077200" y="3350220"/>
            <a:ext cx="248711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unchanged contract (Z3)</a:t>
            </a:r>
            <a:endParaRPr lang="en-US" sz="1200" dirty="0"/>
          </a:p>
        </p:txBody>
      </p:sp>
      <p:sp>
        <p:nvSpPr>
          <p:cNvPr id="37" name="Text 35"/>
          <p:cNvSpPr txBox="1"/>
          <p:nvPr/>
        </p:nvSpPr>
        <p:spPr>
          <a:xfrm>
            <a:off x="10615116" y="3102570"/>
            <a:ext cx="814884" cy="279400"/>
          </a:xfrm>
          <a:prstGeom prst="rect">
            <a:avLst/>
          </a:prstGeom>
          <a:noFill/>
          <a:ln/>
        </p:spPr>
        <p:txBody>
          <a:bodyPr wrap="square" lIns="0" tIns="0" rIns="0" bIns="0" rtlCol="0" anchor="t"/>
          <a:lstStyle/>
          <a:p>
            <a:pPr algn="l" indent="0" marL="0">
              <a:lnSpc>
                <a:spcPts val="2160"/>
              </a:lnSpc>
              <a:buNone/>
            </a:pPr>
            <a:r>
              <a:rPr lang="en-US" sz="1800" b="1" dirty="0">
                <a:solidFill>
                  <a:srgbClr val="0A7468"/>
                </a:solidFill>
                <a:latin typeface="Calibri" pitchFamily="34" charset="0"/>
                <a:ea typeface="Calibri" pitchFamily="34" charset="-122"/>
                <a:cs typeface="Calibri" pitchFamily="34" charset="-120"/>
              </a:rPr>
              <a:t>12 tUSD</a:t>
            </a:r>
            <a:endParaRPr lang="en-US" sz="1800" dirty="0"/>
          </a:p>
        </p:txBody>
      </p:sp>
      <p:sp>
        <p:nvSpPr>
          <p:cNvPr id="38" name="Shape 36"/>
          <p:cNvSpPr/>
          <p:nvPr/>
        </p:nvSpPr>
        <p:spPr>
          <a:xfrm>
            <a:off x="8077200" y="3639145"/>
            <a:ext cx="3302000" cy="0"/>
          </a:xfrm>
          <a:prstGeom prst="line">
            <a:avLst/>
          </a:prstGeom>
          <a:noFill/>
          <a:ln w="6350">
            <a:solidFill>
              <a:srgbClr val="D6DEE1"/>
            </a:solidFill>
            <a:prstDash val="solid"/>
          </a:ln>
        </p:spPr>
      </p:sp>
      <p:sp>
        <p:nvSpPr>
          <p:cNvPr id="39" name="Text 37"/>
          <p:cNvSpPr txBox="1"/>
          <p:nvPr/>
        </p:nvSpPr>
        <p:spPr>
          <a:xfrm>
            <a:off x="8077200" y="3743920"/>
            <a:ext cx="2832473"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Refused</a:t>
            </a:r>
            <a:endParaRPr lang="en-US" sz="1500" dirty="0"/>
          </a:p>
        </p:txBody>
      </p:sp>
      <p:sp>
        <p:nvSpPr>
          <p:cNvPr id="40" name="Text 38"/>
          <p:cNvSpPr txBox="1"/>
          <p:nvPr/>
        </p:nvSpPr>
        <p:spPr>
          <a:xfrm>
            <a:off x="8077200" y="3991570"/>
            <a:ext cx="2832473"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copied proof, lower variance, self-attested data (ZA1–ZA3)</a:t>
            </a:r>
            <a:endParaRPr lang="en-US" sz="1200" dirty="0"/>
          </a:p>
        </p:txBody>
      </p:sp>
      <p:sp>
        <p:nvSpPr>
          <p:cNvPr id="41" name="Text 39"/>
          <p:cNvSpPr txBox="1"/>
          <p:nvPr/>
        </p:nvSpPr>
        <p:spPr>
          <a:xfrm>
            <a:off x="10955734" y="3743920"/>
            <a:ext cx="474266" cy="279400"/>
          </a:xfrm>
          <a:prstGeom prst="rect">
            <a:avLst/>
          </a:prstGeom>
          <a:noFill/>
          <a:ln/>
        </p:spPr>
        <p:txBody>
          <a:bodyPr wrap="square" lIns="0" tIns="0" rIns="0" bIns="0" rtlCol="0" anchor="t"/>
          <a:lstStyle/>
          <a:p>
            <a:pPr algn="l" indent="0" marL="0">
              <a:lnSpc>
                <a:spcPts val="2160"/>
              </a:lnSpc>
              <a:buNone/>
            </a:pPr>
            <a:r>
              <a:rPr lang="en-US" sz="1800" dirty="0">
                <a:solidFill>
                  <a:srgbClr val="B1262E"/>
                </a:solidFill>
                <a:latin typeface="Calibri" pitchFamily="34" charset="0"/>
                <a:ea typeface="Calibri" pitchFamily="34" charset="-122"/>
                <a:cs typeface="Calibri" pitchFamily="34" charset="-120"/>
              </a:rPr>
              <a:t>3 / 3</a:t>
            </a:r>
            <a:endParaRPr lang="en-US" sz="1800" dirty="0"/>
          </a:p>
        </p:txBody>
      </p:sp>
      <p:sp>
        <p:nvSpPr>
          <p:cNvPr id="42" name="Shape 40"/>
          <p:cNvSpPr/>
          <p:nvPr/>
        </p:nvSpPr>
        <p:spPr>
          <a:xfrm>
            <a:off x="812800" y="4940895"/>
            <a:ext cx="10566400" cy="0"/>
          </a:xfrm>
          <a:prstGeom prst="line">
            <a:avLst/>
          </a:prstGeom>
          <a:noFill/>
          <a:ln w="6350">
            <a:solidFill>
              <a:srgbClr val="D6DEE1"/>
            </a:solidFill>
            <a:prstDash val="solid"/>
          </a:ln>
        </p:spPr>
      </p:sp>
      <p:sp>
        <p:nvSpPr>
          <p:cNvPr id="43" name="Text 41"/>
          <p:cNvSpPr txBox="1"/>
          <p:nvPr/>
        </p:nvSpPr>
        <p:spPr>
          <a:xfrm>
            <a:off x="812800" y="5032970"/>
            <a:ext cx="10777728" cy="264160"/>
          </a:xfrm>
          <a:prstGeom prst="rect">
            <a:avLst/>
          </a:prstGeom>
          <a:noFill/>
          <a:ln/>
        </p:spPr>
        <p:txBody>
          <a:bodyPr wrap="square" lIns="0" tIns="0" rIns="0" bIns="0" rtlCol="0" anchor="t"/>
          <a:lstStyle/>
          <a:p>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Accepted ⇒ ½</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w</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ᵀΣ</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w</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OPT + 1.5 × 10⁻⁹, for the model the vendor signed, and the chain learns nothing else.</a:t>
            </a:r>
            <a:endParaRPr lang="en-US" sz="1600" dirty="0"/>
          </a:p>
        </p:txBody>
      </p:sp>
      <p:sp>
        <p:nvSpPr>
          <p:cNvPr id="44" name="Shape 42"/>
          <p:cNvSpPr/>
          <p:nvPr/>
        </p:nvSpPr>
        <p:spPr>
          <a:xfrm>
            <a:off x="11226800" y="5689600"/>
            <a:ext cx="152400" cy="152400"/>
          </a:xfrm>
          <a:prstGeom prst="rect">
            <a:avLst/>
          </a:prstGeom>
          <a:solidFill>
            <a:srgbClr val="0A7468"/>
          </a:solidFill>
          <a:ln/>
        </p:spPr>
      </p:sp>
      <p:sp>
        <p:nvSpPr>
          <p:cNvPr id="45" name="Text 43"/>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46" name="Text 44"/>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Backup B8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QED Pitch Deck</dc:title>
  <dc:subject>FinTechathon 2026 · Topic F · QED</dc:subject>
  <dc:creator>QED team</dc:creator>
  <cp:lastModifiedBy>QED team</cp:lastModifiedBy>
  <cp:revision>1</cp:revision>
  <dcterms:created xsi:type="dcterms:W3CDTF">2026-10-20T13:14:05Z</dcterms:created>
  <dcterms:modified xsi:type="dcterms:W3CDTF">2026-10-20T13:14:05Z</dcterms:modified>
</cp:coreProperties>
</file>