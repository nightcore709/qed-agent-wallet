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echnical appendix" id="{2c99978e-6c2b-0721-e3e1-1cb0ce7c6af9}">
          <p14:sldIdLst>
            <p14:sldId id="256"/>
            <p14:sldId id="257"/>
            <p14:sldId id="258"/>
            <p14:sldId id="259"/>
            <p14:sldId id="260"/>
            <p14:sldId id="261"/>
            <p14:sldId id="262"/>
            <p14:sldId id="263"/>
            <p14:sldId id="264"/>
            <p14:sldId id="265"/>
            <p14:sldId id="266"/>
            <p14:sldId id="267"/>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Median shortfall (bps)</c:v>
                </c:pt>
              </c:strCache>
            </c:strRef>
          </c:tx>
          <c:spPr>
            <a:solidFill>
              <a:srgbClr val="9FB0BE"/>
            </a:solidFill>
            <a:effectLst/>
          </c:spPr>
          <c:invertIfNegative val="0"/>
          <c:dLbls>
            <c:numFmt formatCode="0.0#" sourceLinked="0"/>
            <c:txPr>
              <a:bodyPr/>
              <a:lstStyle/>
              <a:p>
                <a:pPr>
                  <a:defRPr b="0" i="0" strike="noStrike" sz="1200" u="none">
                    <a:solidFill>
                      <a:srgbClr val="13233F"/>
                    </a:solidFill>
                    <a:latin typeface="+mn-lt"/>
                  </a:defRPr>
                </a:pPr>
              </a:p>
            </c:txPr>
            <c:showLegendKey val="0"/>
            <c:showVal val="1"/>
            <c:showCatName val="0"/>
            <c:showSerName val="0"/>
            <c:showPercent val="0"/>
            <c:showBubbleSize val="0"/>
            <c:showLeaderLines val="0"/>
          </c:dLbls>
          <c:cat>
            <c:multiLvlStrRef>
              <c:f>Sheet1!$A$2:$A$5</c:f>
              <c:multiLvlStrCache>
                <c:ptCount val="4"/>
                <c:lvl>
                  <c:pt idx="0">
                    <c:v>Best single pool</c:v>
                  </c:pt>
                  <c:pt idx="1">
                    <c:v>Equal split over direct pools</c:v>
                  </c:pt>
                  <c:pt idx="2">
                    <c:v>Direct pools only, optimally split</c:v>
                  </c:pt>
                  <c:pt idx="3">
                    <c:v>QED, certified route (≤ 0.01, enforced on-chain)</c:v>
                  </c:pt>
                </c:lvl>
              </c:multiLvlStrCache>
            </c:multiLvlStrRef>
          </c:cat>
          <c:val>
            <c:numRef>
              <c:f>Sheet1!$B$2:$B$5</c:f>
              <c:numCache>
                <c:formatCode>General</c:formatCode>
                <c:ptCount val="4"/>
                <c:pt idx="0">
                  <c:v>74.5</c:v>
                </c:pt>
                <c:pt idx="1">
                  <c:v>117.2</c:v>
                </c:pt>
                <c:pt idx="2">
                  <c:v>33.7</c:v>
                </c:pt>
                <c:pt idx="3">
                  <c:v>0.01</c:v>
                </c:pt>
              </c:numCache>
            </c:numRef>
          </c:val>
        </c:ser>
        <c:dLbls>
          <c:numFmt formatCode="0.0#" sourceLinked="0"/>
          <c:txPr>
            <a:bodyPr/>
            <a:lstStyle/>
            <a:p>
              <a:pPr>
                <a:defRPr b="0" i="0" strike="noStrike" sz="1200" u="none">
                  <a:solidFill>
                    <a:srgbClr val="13233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3233F"/>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idea: routing through constant-product pools is a convex problem, so it has a dual. Pick any price for each token, and the value of every possible route is bounded by this sum, one closed-form term per pool from its live reserves and fee. Three properties follow. Unforgeable: every price vector gives a valid bound, so an agent can't fake a proof, only fail to have one. Tight: at the right prices the bound equals the optimum, and our solver finds them in milliseconds. Exact: we round every step upward, so it survives the EVM. The contract checks one inequality.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one transaction the contract checks the order the independent co-signer certified: recipient, the co-signer's own floor, the venue set. It computes the bound over every venue the owner allows, rounding up. Funds come through the original QED vault, so mandate, caps and solvency still apply. The agent's route runs, any shape, and nothing may be left behind. What actually arrived must clear the floor and be within tau of the bound. Whatever route the agent picks, the result is near-optimal.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attack it. A compromised agent gets a genuine co-signed order and tries every leak a slippage limit allows. The axis is distance below the bound, log scale. Orange is what a one-percent floor accepts; green is what QED accepts. A direct-pools-only route, 33 basis points short, would pass any one-percent wallet: here it reverts with NotBestExecution. A half-basis-point skim: rejected. Prices chosen to bless a bad route: rejected. Stranding the bridge token, redirecting the output, calling without the key: rejected. A front-run hit the co-signed floor, and our agent then declined to trade into the moved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F's four outcomes, each a transaction. One: a separate agent key under an independent certificate: L4 for a payment, E1 for a trade, PE1 for a trade the agent started itself. Two: paid work settled through escrow, on an optimality proof and on a zero-knowledge proof. Three: 48 attacks, 48 reverts, nothing to the attacker. Four: one command re-derives every claim, with no keys, daily in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it matter? On a thousand seeded markets, routing policies without a proof fall a median 34 to 117 basis points short of the optimum. The security reading: among routes that still clear a one-percent floor, a hostile agent keeps a median 14 to 32 basis points per trade. Under QED, at most one part per million. Our own routes land a median 0.075 parts per million from their bound. And honestly: for small trades in deep markets a good router is already within about three basis points, so there QED adds the guarantee, not the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claim like this should be falsifiable, so we put money on it. ExecutionBounty holds a thousand test dollars. Give it any route and prices: it runs your route on its own funds, compares with the deployed bound, and pays you if you beat it. No judge. On Sepolia, three attempts, including the whole pool in one trade, reverted with TheoremHolds. Six thousand fuzzed attempts never beat the bound, and a positive control shows the bounty does pay when a bound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Please don't trust these slides. One command re-derives every claim from a public Sepolia node with no keys: bytecode, receipts, replayed attacks, each bound recomputed, each route replayed. Another runs the whole economy and the autonomous policy on a laptop and reproduces the Sepolia trades to the last unit. The limits, plainly: a front-run smaller than the one-percent floor isn't caught; venues must be honest constant-product pools; the policy contract enforces safety, not liveness; and this is an unaudited testnet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one answers the first rubric question. In transaction L4 the sender is the AI agent’s own key. The vault recovered the owner’s signature on the mandate and the co-signer’s signature on a certificate binding the exact recipient, amount and a single-use id. The certificate also carries the hash of the co-signer’s decision record, all 12 checks, which is published in our repository, so anyone can see exactly why this payment was allowed. Change any signed field and it reverts.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two covers the protected-liability question. The owner ring-fenced 70 of 100 for CloudCo’s compute bill. Those 70 can now reach CloudCo and nobody else: not the AI, not the co-signer, not even the owner. Every outflow is checked against the free balance, which we proved by induction and fuzzed with an attacker holding both hot keys. And pausing stops the AI, never the creditor: on Sepolia, during a pause, the attacker’s own address triggered settlement and the money still went to CloudCo.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three. Escrow today needs a human or an oracle to accept work; we replaced acceptance with a theorem. The client buys a minimum-variance portfolio. The AI solves it off-chain and must attach a Karush–Kuhn–Tucker certificate. The contract checks it in exact integers, which is cheap, while solving would be expensive. We prove that passing the check puts the portfolio within 1.5 times ten to the minus eight of the optimum. The escrow pays for a proof, not a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live run answers the second rubric question. A robo-advisor agent asked for an optimal portfolio. QED priced it at 15, cost 6, and signed the quote; the client locked 15 in escrow. The agent bought the risk model it needed with its own key and a co-signed certificate, solved in two milliseconds and delivered the proof. The contract checked it and released 15. A cheaper rival’s lazy answer and near miss were rejected, and the client was refunded.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rubric question: can an adversary break a protected liability or tamper with signed terms? We broadcast 19 attacks to the public chain so the failures are permanent receipts. The attacker edited signed quotes and certificates, replayed them, stole the AI key and then the co-signer key, and tried to pay herself, overdraw and burst the daily cap. She tried owner powers and cancelling the creditor’s claim. Every one reverted with exactly the designed error. She received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four: risk is a number. QEDLens computes, at any block, the most that could leave if both hot keys were stolen: zero while paused, and only ever to payees the owner approved. To make it concrete, we published a second vault’s AI key and co-signer key in our repository. Anyone can try. With both keys you can pay the approved creditor one token a day, nothing else. Its 90 ring-fenced tokens are protected by the contract, not by secrecy.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two scales this to an economy of agents. Five AI businesses owe each other 200 but hold only 28, so paying gross fails: transaction G1. Our clearing contract executes a netting only if every net position is unchanged and a linear-programming duality certificate proves no larger netting exists, in exact integers. A rival’s shortest-cycles-first netting cancels 162: refused. Ours cancels the provable maximum, 169. The last 31 settles in tokens. Six more attacks, six reverts.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Proving an AI decision correct has meant showing its inputs; confidentiality has meant hiding them. QED does both. Helix signs only a commitment to its private model. Our agent proves, inside a zero-knowledge SNARK, the same optimality certificate the chain checked in public, in a second and a half. The escrow that paid job one pays this job unchanged, and never sees the data or the answer. A copied proof, a lower variance and self-attested data: all refused.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the owner chose the amount. Here the agent decides. The owner signed one policy: keep 45 euros free in the reserve, tranches of 2 to 25 dollars, at most 150 basis points each. Each tick the agent converts the minimum of five quantities: what covers the shortfall, the most the market takes within the limit, two caps and free funds. Over-eager, it first asked for 25; the co-signer recomputed the rule from the chain and refused. Then 19.5, limited by impact. Then 8.8, limited by need. Then it stopped. Later the policy became a contract that, with both hot keys stolen, still refused over-conversion.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autonomous treasury doesn't only pay; it converts: a euro invoice paid from dollars, a reserve topped up. That's where an agent has the most discretion and the least oversight. Wallets and intents accept any route above a slippage floor. On a thousand random markets, routes that still clear a one-percent floor give up a median 14 to 32 basis points, and a compromised agent keeps that on every trade. Solver auctions check best price afterwards, by governance. Brokers have a legal duty of best execution. Agents have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46C4B0"/>
                </a:solidFill>
                <a:latin typeface="Calibri" pitchFamily="34" charset="0"/>
                <a:ea typeface="Calibri" pitchFamily="34" charset="-122"/>
                <a:cs typeface="Calibri" pitchFamily="34" charset="-120"/>
              </a:rPr>
              <a:t>THE INSIGHT</a:t>
            </a:r>
            <a:endParaRPr lang="en-US" sz="1200" dirty="0"/>
          </a:p>
        </p:txBody>
      </p:sp>
      <p:sp>
        <p:nvSpPr>
          <p:cNvPr id="3" name="Text 1"/>
          <p:cNvSpPr txBox="1"/>
          <p:nvPr/>
        </p:nvSpPr>
        <p:spPr>
          <a:xfrm>
            <a:off x="812800" y="1174750"/>
            <a:ext cx="10777728" cy="800100"/>
          </a:xfrm>
          <a:prstGeom prst="rect">
            <a:avLst/>
          </a:prstGeom>
          <a:noFill/>
          <a:ln/>
        </p:spPr>
        <p:txBody>
          <a:bodyPr wrap="square" lIns="0" tIns="0" rIns="0" bIns="0" rtlCol="0" anchor="t"/>
          <a:lstStyle/>
          <a:p>
            <a:pPr algn="l" indent="0" marL="0">
              <a:lnSpc>
                <a:spcPts val="6300"/>
              </a:lnSpc>
              <a:buNone/>
            </a:pPr>
            <a:r>
              <a:rPr lang="en-US" sz="6000" dirty="0">
                <a:solidFill>
                  <a:srgbClr val="E4ECF1"/>
                </a:solidFill>
                <a:latin typeface="Cambria" pitchFamily="34" charset="0"/>
                <a:ea typeface="Cambria" pitchFamily="34" charset="-122"/>
                <a:cs typeface="Cambria" pitchFamily="34" charset="-120"/>
              </a:rPr>
              <a:t>A price vector is a proof.</a:t>
            </a:r>
            <a:endParaRPr lang="en-US" sz="6000" dirty="0"/>
          </a:p>
        </p:txBody>
      </p:sp>
      <p:sp>
        <p:nvSpPr>
          <p:cNvPr id="4" name="Text 2"/>
          <p:cNvSpPr txBox="1"/>
          <p:nvPr/>
        </p:nvSpPr>
        <p:spPr>
          <a:xfrm>
            <a:off x="812800" y="2152650"/>
            <a:ext cx="10777728" cy="365760"/>
          </a:xfrm>
          <a:prstGeom prst="rect">
            <a:avLst/>
          </a:prstGeom>
          <a:noFill/>
          <a:ln/>
        </p:spPr>
        <p:txBody>
          <a:bodyPr wrap="square" lIns="0" tIns="0" rIns="0" bIns="0" rtlCol="0" anchor="t"/>
          <a:lstStyle/>
          <a:p>
            <a:pPr algn="l" indent="0" marL="0">
              <a:lnSpc>
                <a:spcPts val="2880"/>
              </a:lnSpc>
              <a:buNone/>
            </a:pPr>
            <a:r>
              <a:rPr lang="en-US" sz="2400" i="1" dirty="0">
                <a:solidFill>
                  <a:srgbClr val="A9BACB"/>
                </a:solidFill>
                <a:latin typeface="Cambria" pitchFamily="34" charset="0"/>
                <a:ea typeface="Cambria" pitchFamily="34" charset="-122"/>
                <a:cs typeface="Cambria" pitchFamily="34" charset="-120"/>
              </a:rPr>
              <a:t>For any prices ν, no route through the owner's venues can return more than</a:t>
            </a:r>
            <a:endParaRPr lang="en-US" sz="2400" dirty="0"/>
          </a:p>
        </p:txBody>
      </p:sp>
      <p:sp>
        <p:nvSpPr>
          <p:cNvPr id="5" name="Text 3"/>
          <p:cNvSpPr txBox="1"/>
          <p:nvPr/>
        </p:nvSpPr>
        <p:spPr>
          <a:xfrm>
            <a:off x="812800" y="2696170"/>
            <a:ext cx="10777728" cy="416520"/>
          </a:xfrm>
          <a:prstGeom prst="rect">
            <a:avLst/>
          </a:prstGeom>
          <a:noFill/>
          <a:ln/>
        </p:spPr>
        <p:txBody>
          <a:bodyPr wrap="square" lIns="0" tIns="0" rIns="0" bIns="0" rtlCol="0" anchor="t"/>
          <a:lstStyle/>
          <a:p>
            <a:pPr algn="l" indent="0" marL="0">
              <a:lnSpc>
                <a:spcPts val="2880"/>
              </a:lnSpc>
              <a:buNone/>
            </a:pPr>
            <a:r>
              <a:rPr lang="en-US" sz="2400" dirty="0">
                <a:solidFill>
                  <a:srgbClr val="E4ECF1"/>
                </a:solidFill>
                <a:latin typeface="Cambria" pitchFamily="34" charset="0"/>
                <a:ea typeface="Cambria" pitchFamily="34" charset="-122"/>
                <a:cs typeface="Cambria" pitchFamily="34" charset="-120"/>
              </a:rPr>
              <a:t>B(ν) = ν</a:t>
            </a:r>
            <a:pPr algn="l" indent="0" marL="0">
              <a:lnSpc>
                <a:spcPts val="2880"/>
              </a:lnSpc>
              <a:buNone/>
            </a:pPr>
            <a:r>
              <a:rPr lang="en-US" sz="2000" baseline="-40000" dirty="0">
                <a:solidFill>
                  <a:srgbClr val="E4ECF1"/>
                </a:solidFill>
                <a:latin typeface="Cambria" pitchFamily="34" charset="0"/>
                <a:ea typeface="Cambria" pitchFamily="34" charset="-122"/>
                <a:cs typeface="Cambria" pitchFamily="34" charset="-120"/>
              </a:rPr>
              <a:t>s</a:t>
            </a:r>
            <a:pPr algn="l" indent="0" marL="0">
              <a:lnSpc>
                <a:spcPts val="2880"/>
              </a:lnSpc>
              <a:buNone/>
            </a:pPr>
            <a:r>
              <a:rPr lang="en-US" sz="2400" dirty="0">
                <a:solidFill>
                  <a:srgbClr val="E4ECF1"/>
                </a:solidFill>
                <a:latin typeface="Cambria" pitchFamily="34" charset="0"/>
                <a:ea typeface="Cambria" pitchFamily="34" charset="-122"/>
                <a:cs typeface="Cambria" pitchFamily="34" charset="-120"/>
              </a:rPr>
              <a:t>A + Σ</a:t>
            </a:r>
            <a:pPr algn="l" indent="0" marL="0">
              <a:lnSpc>
                <a:spcPts val="2880"/>
              </a:lnSpc>
              <a:buNone/>
            </a:pPr>
            <a:r>
              <a:rPr lang="en-US" sz="2000" baseline="-40000" dirty="0">
                <a:solidFill>
                  <a:srgbClr val="E4ECF1"/>
                </a:solidFill>
                <a:latin typeface="Cambria" pitchFamily="34" charset="0"/>
                <a:ea typeface="Cambria" pitchFamily="34" charset="-122"/>
                <a:cs typeface="Cambria" pitchFamily="34" charset="-120"/>
              </a:rPr>
              <a:t>venues</a:t>
            </a:r>
            <a:pPr algn="l" indent="0" marL="0">
              <a:lnSpc>
                <a:spcPts val="2880"/>
              </a:lnSpc>
              <a:buNone/>
            </a:pPr>
            <a:r>
              <a:rPr lang="en-US" sz="2400" dirty="0">
                <a:solidFill>
                  <a:srgbClr val="E4ECF1"/>
                </a:solidFill>
                <a:latin typeface="Cambria" pitchFamily="34" charset="0"/>
                <a:ea typeface="Cambria" pitchFamily="34" charset="-122"/>
                <a:cs typeface="Cambria" pitchFamily="34" charset="-120"/>
              </a:rPr>
              <a:t> [ (√(ν</a:t>
            </a:r>
            <a:pPr algn="l" indent="0" marL="0">
              <a:lnSpc>
                <a:spcPts val="2880"/>
              </a:lnSpc>
              <a:buNone/>
            </a:pPr>
            <a:r>
              <a:rPr lang="en-US" sz="2000" baseline="-40000" dirty="0">
                <a:solidFill>
                  <a:srgbClr val="E4ECF1"/>
                </a:solidFill>
                <a:latin typeface="Cambria" pitchFamily="34" charset="0"/>
                <a:ea typeface="Cambria" pitchFamily="34" charset="-122"/>
                <a:cs typeface="Cambria" pitchFamily="34" charset="-120"/>
              </a:rPr>
              <a:t>b</a:t>
            </a:r>
            <a:pPr algn="l" indent="0" marL="0">
              <a:lnSpc>
                <a:spcPts val="2880"/>
              </a:lnSpc>
              <a:buNone/>
            </a:pPr>
            <a:r>
              <a:rPr lang="en-US" sz="2400" dirty="0">
                <a:solidFill>
                  <a:srgbClr val="E4ECF1"/>
                </a:solidFill>
                <a:latin typeface="Cambria" pitchFamily="34" charset="0"/>
                <a:ea typeface="Cambria" pitchFamily="34" charset="-122"/>
                <a:cs typeface="Cambria" pitchFamily="34" charset="-120"/>
              </a:rPr>
              <a:t>R</a:t>
            </a:r>
            <a:pPr algn="l" indent="0" marL="0">
              <a:lnSpc>
                <a:spcPts val="2880"/>
              </a:lnSpc>
              <a:buNone/>
            </a:pPr>
            <a:r>
              <a:rPr lang="en-US" sz="2000" baseline="-40000" dirty="0">
                <a:solidFill>
                  <a:srgbClr val="E4ECF1"/>
                </a:solidFill>
                <a:latin typeface="Cambria" pitchFamily="34" charset="0"/>
                <a:ea typeface="Cambria" pitchFamily="34" charset="-122"/>
                <a:cs typeface="Cambria" pitchFamily="34" charset="-120"/>
              </a:rPr>
              <a:t>b</a:t>
            </a:r>
            <a:pPr algn="l" indent="0" marL="0">
              <a:lnSpc>
                <a:spcPts val="2880"/>
              </a:lnSpc>
              <a:buNone/>
            </a:pPr>
            <a:r>
              <a:rPr lang="en-US" sz="2400" dirty="0">
                <a:solidFill>
                  <a:srgbClr val="E4ECF1"/>
                </a:solidFill>
                <a:latin typeface="Cambria" pitchFamily="34" charset="0"/>
                <a:ea typeface="Cambria" pitchFamily="34" charset="-122"/>
                <a:cs typeface="Cambria" pitchFamily="34" charset="-120"/>
              </a:rPr>
              <a:t>) − √(ν</a:t>
            </a:r>
            <a:pPr algn="l" indent="0" marL="0">
              <a:lnSpc>
                <a:spcPts val="2880"/>
              </a:lnSpc>
              <a:buNone/>
            </a:pPr>
            <a:r>
              <a:rPr lang="en-US" sz="2000" baseline="-40000" dirty="0">
                <a:solidFill>
                  <a:srgbClr val="E4ECF1"/>
                </a:solidFill>
                <a:latin typeface="Cambria" pitchFamily="34" charset="0"/>
                <a:ea typeface="Cambria" pitchFamily="34" charset="-122"/>
                <a:cs typeface="Cambria" pitchFamily="34" charset="-120"/>
              </a:rPr>
              <a:t>a</a:t>
            </a:r>
            <a:pPr algn="l" indent="0" marL="0">
              <a:lnSpc>
                <a:spcPts val="2880"/>
              </a:lnSpc>
              <a:buNone/>
            </a:pPr>
            <a:r>
              <a:rPr lang="en-US" sz="2400" dirty="0">
                <a:solidFill>
                  <a:srgbClr val="E4ECF1"/>
                </a:solidFill>
                <a:latin typeface="Cambria" pitchFamily="34" charset="0"/>
                <a:ea typeface="Cambria" pitchFamily="34" charset="-122"/>
                <a:cs typeface="Cambria" pitchFamily="34" charset="-120"/>
              </a:rPr>
              <a:t>R</a:t>
            </a:r>
            <a:pPr algn="l" indent="0" marL="0">
              <a:lnSpc>
                <a:spcPts val="2880"/>
              </a:lnSpc>
              <a:buNone/>
            </a:pPr>
            <a:r>
              <a:rPr lang="en-US" sz="2000" baseline="-40000" dirty="0">
                <a:solidFill>
                  <a:srgbClr val="E4ECF1"/>
                </a:solidFill>
                <a:latin typeface="Cambria" pitchFamily="34" charset="0"/>
                <a:ea typeface="Cambria" pitchFamily="34" charset="-122"/>
                <a:cs typeface="Cambria" pitchFamily="34" charset="-120"/>
              </a:rPr>
              <a:t>a</a:t>
            </a:r>
            <a:pPr algn="l" indent="0" marL="0">
              <a:lnSpc>
                <a:spcPts val="2880"/>
              </a:lnSpc>
              <a:buNone/>
            </a:pPr>
            <a:r>
              <a:rPr lang="en-US" sz="2400" dirty="0">
                <a:solidFill>
                  <a:srgbClr val="E4ECF1"/>
                </a:solidFill>
                <a:latin typeface="Cambria" pitchFamily="34" charset="0"/>
                <a:ea typeface="Cambria" pitchFamily="34" charset="-122"/>
                <a:cs typeface="Cambria" pitchFamily="34" charset="-120"/>
              </a:rPr>
              <a:t>/γ))₊² + (√(ν</a:t>
            </a:r>
            <a:pPr algn="l" indent="0" marL="0">
              <a:lnSpc>
                <a:spcPts val="2880"/>
              </a:lnSpc>
              <a:buNone/>
            </a:pPr>
            <a:r>
              <a:rPr lang="en-US" sz="2000" baseline="-40000" dirty="0">
                <a:solidFill>
                  <a:srgbClr val="E4ECF1"/>
                </a:solidFill>
                <a:latin typeface="Cambria" pitchFamily="34" charset="0"/>
                <a:ea typeface="Cambria" pitchFamily="34" charset="-122"/>
                <a:cs typeface="Cambria" pitchFamily="34" charset="-120"/>
              </a:rPr>
              <a:t>a</a:t>
            </a:r>
            <a:pPr algn="l" indent="0" marL="0">
              <a:lnSpc>
                <a:spcPts val="2880"/>
              </a:lnSpc>
              <a:buNone/>
            </a:pPr>
            <a:r>
              <a:rPr lang="en-US" sz="2400" dirty="0">
                <a:solidFill>
                  <a:srgbClr val="E4ECF1"/>
                </a:solidFill>
                <a:latin typeface="Cambria" pitchFamily="34" charset="0"/>
                <a:ea typeface="Cambria" pitchFamily="34" charset="-122"/>
                <a:cs typeface="Cambria" pitchFamily="34" charset="-120"/>
              </a:rPr>
              <a:t>R</a:t>
            </a:r>
            <a:pPr algn="l" indent="0" marL="0">
              <a:lnSpc>
                <a:spcPts val="2880"/>
              </a:lnSpc>
              <a:buNone/>
            </a:pPr>
            <a:r>
              <a:rPr lang="en-US" sz="2000" baseline="-40000" dirty="0">
                <a:solidFill>
                  <a:srgbClr val="E4ECF1"/>
                </a:solidFill>
                <a:latin typeface="Cambria" pitchFamily="34" charset="0"/>
                <a:ea typeface="Cambria" pitchFamily="34" charset="-122"/>
                <a:cs typeface="Cambria" pitchFamily="34" charset="-120"/>
              </a:rPr>
              <a:t>a</a:t>
            </a:r>
            <a:pPr algn="l" indent="0" marL="0">
              <a:lnSpc>
                <a:spcPts val="2880"/>
              </a:lnSpc>
              <a:buNone/>
            </a:pPr>
            <a:r>
              <a:rPr lang="en-US" sz="2400" dirty="0">
                <a:solidFill>
                  <a:srgbClr val="E4ECF1"/>
                </a:solidFill>
                <a:latin typeface="Cambria" pitchFamily="34" charset="0"/>
                <a:ea typeface="Cambria" pitchFamily="34" charset="-122"/>
                <a:cs typeface="Cambria" pitchFamily="34" charset="-120"/>
              </a:rPr>
              <a:t>) − √(ν</a:t>
            </a:r>
            <a:pPr algn="l" indent="0" marL="0">
              <a:lnSpc>
                <a:spcPts val="2880"/>
              </a:lnSpc>
              <a:buNone/>
            </a:pPr>
            <a:r>
              <a:rPr lang="en-US" sz="2000" baseline="-40000" dirty="0">
                <a:solidFill>
                  <a:srgbClr val="E4ECF1"/>
                </a:solidFill>
                <a:latin typeface="Cambria" pitchFamily="34" charset="0"/>
                <a:ea typeface="Cambria" pitchFamily="34" charset="-122"/>
                <a:cs typeface="Cambria" pitchFamily="34" charset="-120"/>
              </a:rPr>
              <a:t>b</a:t>
            </a:r>
            <a:pPr algn="l" indent="0" marL="0">
              <a:lnSpc>
                <a:spcPts val="2880"/>
              </a:lnSpc>
              <a:buNone/>
            </a:pPr>
            <a:r>
              <a:rPr lang="en-US" sz="2400" dirty="0">
                <a:solidFill>
                  <a:srgbClr val="E4ECF1"/>
                </a:solidFill>
                <a:latin typeface="Cambria" pitchFamily="34" charset="0"/>
                <a:ea typeface="Cambria" pitchFamily="34" charset="-122"/>
                <a:cs typeface="Cambria" pitchFamily="34" charset="-120"/>
              </a:rPr>
              <a:t>R</a:t>
            </a:r>
            <a:pPr algn="l" indent="0" marL="0">
              <a:lnSpc>
                <a:spcPts val="2880"/>
              </a:lnSpc>
              <a:buNone/>
            </a:pPr>
            <a:r>
              <a:rPr lang="en-US" sz="2000" baseline="-40000" dirty="0">
                <a:solidFill>
                  <a:srgbClr val="E4ECF1"/>
                </a:solidFill>
                <a:latin typeface="Cambria" pitchFamily="34" charset="0"/>
                <a:ea typeface="Cambria" pitchFamily="34" charset="-122"/>
                <a:cs typeface="Cambria" pitchFamily="34" charset="-120"/>
              </a:rPr>
              <a:t>b</a:t>
            </a:r>
            <a:pPr algn="l" indent="0" marL="0">
              <a:lnSpc>
                <a:spcPts val="2880"/>
              </a:lnSpc>
              <a:buNone/>
            </a:pPr>
            <a:r>
              <a:rPr lang="en-US" sz="2400" dirty="0">
                <a:solidFill>
                  <a:srgbClr val="E4ECF1"/>
                </a:solidFill>
                <a:latin typeface="Cambria" pitchFamily="34" charset="0"/>
                <a:ea typeface="Cambria" pitchFamily="34" charset="-122"/>
                <a:cs typeface="Cambria" pitchFamily="34" charset="-120"/>
              </a:rPr>
              <a:t>/γ))₊² ]</a:t>
            </a:r>
            <a:endParaRPr lang="en-US" sz="2400" dirty="0"/>
          </a:p>
        </p:txBody>
      </p:sp>
      <p:sp>
        <p:nvSpPr>
          <p:cNvPr id="6" name="Text 4"/>
          <p:cNvSpPr txBox="1"/>
          <p:nvPr/>
        </p:nvSpPr>
        <p:spPr>
          <a:xfrm>
            <a:off x="812800" y="3290491"/>
            <a:ext cx="10777728" cy="240010"/>
          </a:xfrm>
          <a:prstGeom prst="rect">
            <a:avLst/>
          </a:prstGeom>
          <a:noFill/>
          <a:ln/>
        </p:spPr>
        <p:txBody>
          <a:bodyPr wrap="square" lIns="0" tIns="0" rIns="0" bIns="0" rtlCol="0" anchor="t"/>
          <a:lstStyle/>
          <a:p>
            <a:pPr algn="l" indent="0" marL="0">
              <a:lnSpc>
                <a:spcPts val="1680"/>
              </a:lnSpc>
              <a:buNone/>
            </a:pPr>
            <a:r>
              <a:rPr lang="en-US" sz="1200" dirty="0">
                <a:solidFill>
                  <a:srgbClr val="A9BACB"/>
                </a:solidFill>
                <a:latin typeface="Calibri" pitchFamily="34" charset="0"/>
                <a:ea typeface="Calibri" pitchFamily="34" charset="-122"/>
                <a:cs typeface="Calibri" pitchFamily="34" charset="-120"/>
              </a:rPr>
              <a:t>A is the input, R</a:t>
            </a:r>
            <a:pPr algn="l" indent="0" marL="0">
              <a:lnSpc>
                <a:spcPts val="1680"/>
              </a:lnSpc>
              <a:buNone/>
            </a:pPr>
            <a:r>
              <a:rPr lang="en-US" sz="1000" baseline="-40000" dirty="0">
                <a:solidFill>
                  <a:srgbClr val="A9BACB"/>
                </a:solidFill>
                <a:latin typeface="Calibri" pitchFamily="34" charset="0"/>
                <a:ea typeface="Calibri" pitchFamily="34" charset="-122"/>
                <a:cs typeface="Calibri" pitchFamily="34" charset="-120"/>
              </a:rPr>
              <a:t>a</a:t>
            </a:r>
            <a:pPr algn="l" indent="0" marL="0">
              <a:lnSpc>
                <a:spcPts val="1680"/>
              </a:lnSpc>
              <a:buNone/>
            </a:pPr>
            <a:r>
              <a:rPr lang="en-US" sz="1200" dirty="0">
                <a:solidFill>
                  <a:srgbClr val="A9BACB"/>
                </a:solidFill>
                <a:latin typeface="Calibri" pitchFamily="34" charset="0"/>
                <a:ea typeface="Calibri" pitchFamily="34" charset="-122"/>
                <a:cs typeface="Calibri" pitchFamily="34" charset="-120"/>
              </a:rPr>
              <a:t>, R</a:t>
            </a:r>
            <a:pPr algn="l" indent="0" marL="0">
              <a:lnSpc>
                <a:spcPts val="1680"/>
              </a:lnSpc>
              <a:buNone/>
            </a:pPr>
            <a:r>
              <a:rPr lang="en-US" sz="1000" baseline="-40000" dirty="0">
                <a:solidFill>
                  <a:srgbClr val="A9BACB"/>
                </a:solidFill>
                <a:latin typeface="Calibri" pitchFamily="34" charset="0"/>
                <a:ea typeface="Calibri" pitchFamily="34" charset="-122"/>
                <a:cs typeface="Calibri" pitchFamily="34" charset="-120"/>
              </a:rPr>
              <a:t>b</a:t>
            </a:r>
            <a:pPr algn="l" indent="0" marL="0">
              <a:lnSpc>
                <a:spcPts val="1680"/>
              </a:lnSpc>
              <a:buNone/>
            </a:pPr>
            <a:r>
              <a:rPr lang="en-US" sz="1200" dirty="0">
                <a:solidFill>
                  <a:srgbClr val="A9BACB"/>
                </a:solidFill>
                <a:latin typeface="Calibri" pitchFamily="34" charset="0"/>
                <a:ea typeface="Calibri" pitchFamily="34" charset="-122"/>
                <a:cs typeface="Calibri" pitchFamily="34" charset="-120"/>
              </a:rPr>
              <a:t> a venue's live reserves, 1 − γ its fee. Each term is the most that venue can add at prices ν, in closed form.</a:t>
            </a:r>
            <a:endParaRPr lang="en-US" sz="1200" dirty="0"/>
          </a:p>
        </p:txBody>
      </p:sp>
      <p:sp>
        <p:nvSpPr>
          <p:cNvPr id="7" name="Shape 5"/>
          <p:cNvSpPr/>
          <p:nvPr/>
        </p:nvSpPr>
        <p:spPr>
          <a:xfrm>
            <a:off x="812800" y="4843264"/>
            <a:ext cx="10566400" cy="0"/>
          </a:xfrm>
          <a:prstGeom prst="line">
            <a:avLst/>
          </a:prstGeom>
          <a:noFill/>
          <a:ln w="6350">
            <a:solidFill>
              <a:srgbClr val="2E4A72"/>
            </a:solidFill>
            <a:prstDash val="solid"/>
          </a:ln>
        </p:spPr>
      </p:sp>
      <p:sp>
        <p:nvSpPr>
          <p:cNvPr id="8" name="Text 6"/>
          <p:cNvSpPr txBox="1"/>
          <p:nvPr/>
        </p:nvSpPr>
        <p:spPr>
          <a:xfrm>
            <a:off x="812800" y="5049639"/>
            <a:ext cx="3385245" cy="304800"/>
          </a:xfrm>
          <a:prstGeom prst="rect">
            <a:avLst/>
          </a:prstGeom>
          <a:noFill/>
          <a:ln/>
        </p:spPr>
        <p:txBody>
          <a:bodyPr wrap="square" lIns="0" tIns="0" rIns="0" bIns="0" rtlCol="0" anchor="t"/>
          <a:lstStyle/>
          <a:p>
            <a:pPr algn="l" indent="0" marL="0">
              <a:lnSpc>
                <a:spcPts val="2400"/>
              </a:lnSpc>
              <a:buNone/>
            </a:pPr>
            <a:r>
              <a:rPr lang="en-US" sz="2000" dirty="0">
                <a:solidFill>
                  <a:srgbClr val="46C4B0"/>
                </a:solidFill>
                <a:latin typeface="Cambria" pitchFamily="34" charset="0"/>
                <a:ea typeface="Cambria" pitchFamily="34" charset="-122"/>
                <a:cs typeface="Cambria" pitchFamily="34" charset="-120"/>
              </a:rPr>
              <a:t>Unforgeable</a:t>
            </a:r>
            <a:endParaRPr lang="en-US" sz="2000" dirty="0"/>
          </a:p>
        </p:txBody>
      </p:sp>
      <p:sp>
        <p:nvSpPr>
          <p:cNvPr id="9" name="Text 7"/>
          <p:cNvSpPr txBox="1"/>
          <p:nvPr/>
        </p:nvSpPr>
        <p:spPr>
          <a:xfrm>
            <a:off x="812800" y="5405239"/>
            <a:ext cx="3385245" cy="639961"/>
          </a:xfrm>
          <a:prstGeom prst="rect">
            <a:avLst/>
          </a:prstGeom>
          <a:noFill/>
          <a:ln/>
        </p:spPr>
        <p:txBody>
          <a:bodyPr wrap="square" lIns="0" tIns="0" rIns="0" bIns="0" rtlCol="0" anchor="t"/>
          <a:lstStyle/>
          <a:p>
            <a:pPr algn="l" indent="0" marL="0">
              <a:lnSpc>
                <a:spcPts val="1680"/>
              </a:lnSpc>
              <a:buNone/>
            </a:pPr>
            <a:r>
              <a:rPr lang="en-US" sz="1200" dirty="0">
                <a:solidFill>
                  <a:srgbClr val="A9BACB"/>
                </a:solidFill>
                <a:latin typeface="Calibri" pitchFamily="34" charset="0"/>
                <a:ea typeface="Calibri" pitchFamily="34" charset="-122"/>
                <a:cs typeface="Calibri" pitchFamily="34" charset="-120"/>
              </a:rPr>
              <a:t>Weak duality: every ν gives a valid upper bound. A dishonest agent cannot fake a proof; it can only fail to have one.</a:t>
            </a:r>
            <a:endParaRPr lang="en-US" sz="1200" dirty="0"/>
          </a:p>
        </p:txBody>
      </p:sp>
      <p:sp>
        <p:nvSpPr>
          <p:cNvPr id="10" name="Text 8"/>
          <p:cNvSpPr txBox="1"/>
          <p:nvPr/>
        </p:nvSpPr>
        <p:spPr>
          <a:xfrm>
            <a:off x="4436467" y="5049639"/>
            <a:ext cx="3385346" cy="304800"/>
          </a:xfrm>
          <a:prstGeom prst="rect">
            <a:avLst/>
          </a:prstGeom>
          <a:noFill/>
          <a:ln/>
        </p:spPr>
        <p:txBody>
          <a:bodyPr wrap="square" lIns="0" tIns="0" rIns="0" bIns="0" rtlCol="0" anchor="t"/>
          <a:lstStyle/>
          <a:p>
            <a:pPr algn="l" indent="0" marL="0">
              <a:lnSpc>
                <a:spcPts val="2400"/>
              </a:lnSpc>
              <a:buNone/>
            </a:pPr>
            <a:r>
              <a:rPr lang="en-US" sz="2000" dirty="0">
                <a:solidFill>
                  <a:srgbClr val="46C4B0"/>
                </a:solidFill>
                <a:latin typeface="Cambria" pitchFamily="34" charset="0"/>
                <a:ea typeface="Cambria" pitchFamily="34" charset="-122"/>
                <a:cs typeface="Cambria" pitchFamily="34" charset="-120"/>
              </a:rPr>
              <a:t>Tight</a:t>
            </a:r>
            <a:endParaRPr lang="en-US" sz="2000" dirty="0"/>
          </a:p>
        </p:txBody>
      </p:sp>
      <p:sp>
        <p:nvSpPr>
          <p:cNvPr id="11" name="Text 9"/>
          <p:cNvSpPr txBox="1"/>
          <p:nvPr/>
        </p:nvSpPr>
        <p:spPr>
          <a:xfrm>
            <a:off x="4436467" y="5405239"/>
            <a:ext cx="3385346" cy="426641"/>
          </a:xfrm>
          <a:prstGeom prst="rect">
            <a:avLst/>
          </a:prstGeom>
          <a:noFill/>
          <a:ln/>
        </p:spPr>
        <p:txBody>
          <a:bodyPr wrap="square" lIns="0" tIns="0" rIns="0" bIns="0" rtlCol="0" anchor="t"/>
          <a:lstStyle/>
          <a:p>
            <a:pPr algn="l" indent="0" marL="0">
              <a:lnSpc>
                <a:spcPts val="1680"/>
              </a:lnSpc>
              <a:buNone/>
            </a:pPr>
            <a:r>
              <a:rPr lang="en-US" sz="1200" dirty="0">
                <a:solidFill>
                  <a:srgbClr val="A9BACB"/>
                </a:solidFill>
                <a:latin typeface="Calibri" pitchFamily="34" charset="0"/>
                <a:ea typeface="Calibri" pitchFamily="34" charset="-122"/>
                <a:cs typeface="Calibri" pitchFamily="34" charset="-120"/>
              </a:rPr>
              <a:t>Strong duality: at the right ν the bound meets the optimum. Our solver finds it in a median 3.3 ms.</a:t>
            </a:r>
            <a:endParaRPr lang="en-US" sz="1200" dirty="0"/>
          </a:p>
        </p:txBody>
      </p:sp>
      <p:sp>
        <p:nvSpPr>
          <p:cNvPr id="12" name="Text 10"/>
          <p:cNvSpPr txBox="1"/>
          <p:nvPr/>
        </p:nvSpPr>
        <p:spPr>
          <a:xfrm>
            <a:off x="8060234" y="5049639"/>
            <a:ext cx="3385346" cy="304800"/>
          </a:xfrm>
          <a:prstGeom prst="rect">
            <a:avLst/>
          </a:prstGeom>
          <a:noFill/>
          <a:ln/>
        </p:spPr>
        <p:txBody>
          <a:bodyPr wrap="square" lIns="0" tIns="0" rIns="0" bIns="0" rtlCol="0" anchor="t"/>
          <a:lstStyle/>
          <a:p>
            <a:pPr algn="l" indent="0" marL="0">
              <a:lnSpc>
                <a:spcPts val="2400"/>
              </a:lnSpc>
              <a:buNone/>
            </a:pPr>
            <a:r>
              <a:rPr lang="en-US" sz="2000" dirty="0">
                <a:solidFill>
                  <a:srgbClr val="46C4B0"/>
                </a:solidFill>
                <a:latin typeface="Cambria" pitchFamily="34" charset="0"/>
                <a:ea typeface="Cambria" pitchFamily="34" charset="-122"/>
                <a:cs typeface="Cambria" pitchFamily="34" charset="-120"/>
              </a:rPr>
              <a:t>Exact on-chain</a:t>
            </a:r>
            <a:endParaRPr lang="en-US" sz="2000" dirty="0"/>
          </a:p>
        </p:txBody>
      </p:sp>
      <p:sp>
        <p:nvSpPr>
          <p:cNvPr id="13" name="Text 11"/>
          <p:cNvSpPr txBox="1"/>
          <p:nvPr/>
        </p:nvSpPr>
        <p:spPr>
          <a:xfrm>
            <a:off x="8060234" y="5405239"/>
            <a:ext cx="3385346" cy="426641"/>
          </a:xfrm>
          <a:prstGeom prst="rect">
            <a:avLst/>
          </a:prstGeom>
          <a:noFill/>
          <a:ln/>
        </p:spPr>
        <p:txBody>
          <a:bodyPr wrap="square" lIns="0" tIns="0" rIns="0" bIns="0" rtlCol="0" anchor="t"/>
          <a:lstStyle/>
          <a:p>
            <a:pPr algn="l" indent="0" marL="0">
              <a:lnSpc>
                <a:spcPts val="1680"/>
              </a:lnSpc>
              <a:buNone/>
            </a:pPr>
            <a:r>
              <a:rPr lang="en-US" sz="1200" dirty="0">
                <a:solidFill>
                  <a:srgbClr val="A9BACB"/>
                </a:solidFill>
                <a:latin typeface="Calibri" pitchFamily="34" charset="0"/>
                <a:ea typeface="Calibri" pitchFamily="34" charset="-122"/>
                <a:cs typeface="Calibri" pitchFamily="34" charset="-120"/>
              </a:rPr>
              <a:t>Every rounding step goes up, so the theorem survives integer arithmetic. The check costs O(venues).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THE MECHANISM · QEDEXECUTION.TRADE</a:t>
            </a:r>
            <a:endParaRPr lang="en-US" sz="1200" dirty="0"/>
          </a:p>
        </p:txBody>
      </p:sp>
      <p:sp>
        <p:nvSpPr>
          <p:cNvPr id="3" name="Text 1"/>
          <p:cNvSpPr txBox="1"/>
          <p:nvPr/>
        </p:nvSpPr>
        <p:spPr>
          <a:xfrm>
            <a:off x="812800" y="12001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The agent routes freely. The contract checks one inequality.</a:t>
            </a:r>
            <a:endParaRPr lang="en-US" sz="3200" dirty="0"/>
          </a:p>
        </p:txBody>
      </p:sp>
      <p:sp>
        <p:nvSpPr>
          <p:cNvPr id="4" name="Shape 2"/>
          <p:cNvSpPr/>
          <p:nvPr/>
        </p:nvSpPr>
        <p:spPr>
          <a:xfrm>
            <a:off x="812800" y="1870670"/>
            <a:ext cx="3437434" cy="1232991"/>
          </a:xfrm>
          <a:prstGeom prst="roundRect">
            <a:avLst>
              <a:gd name="adj" fmla="val 4120"/>
            </a:avLst>
          </a:prstGeom>
          <a:solidFill>
            <a:srgbClr val="FBFCFC"/>
          </a:solidFill>
          <a:ln w="6350">
            <a:solidFill>
              <a:srgbClr val="D6DEE1"/>
            </a:solidFill>
            <a:prstDash val="solid"/>
          </a:ln>
        </p:spPr>
      </p:sp>
      <p:sp>
        <p:nvSpPr>
          <p:cNvPr id="5" name="Text 3"/>
          <p:cNvSpPr txBox="1"/>
          <p:nvPr/>
        </p:nvSpPr>
        <p:spPr>
          <a:xfrm>
            <a:off x="984250" y="2042120"/>
            <a:ext cx="3156424" cy="228600"/>
          </a:xfrm>
          <a:prstGeom prst="rect">
            <a:avLst/>
          </a:prstGeom>
          <a:noFill/>
          <a:ln/>
        </p:spPr>
        <p:txBody>
          <a:bodyPr wrap="square" lIns="0" tIns="0" rIns="0" bIns="0" rtlCol="0" anchor="t"/>
          <a:lstStyle/>
          <a:p>
            <a:pPr algn="l" indent="0" marL="0">
              <a:lnSpc>
                <a:spcPts val="1800"/>
              </a:lnSpc>
              <a:buNone/>
            </a:pPr>
            <a:r>
              <a:rPr lang="en-US" sz="1500" dirty="0">
                <a:solidFill>
                  <a:srgbClr val="0A7468"/>
                </a:solidFill>
                <a:latin typeface="Cambria" pitchFamily="34" charset="0"/>
                <a:ea typeface="Cambria" pitchFamily="34" charset="-122"/>
                <a:cs typeface="Cambria" pitchFamily="34" charset="-120"/>
              </a:rPr>
              <a:t>1 · Order</a:t>
            </a:r>
            <a:endParaRPr lang="en-US" sz="1500" dirty="0"/>
          </a:p>
        </p:txBody>
      </p:sp>
      <p:sp>
        <p:nvSpPr>
          <p:cNvPr id="6" name="Text 4"/>
          <p:cNvSpPr txBox="1"/>
          <p:nvPr/>
        </p:nvSpPr>
        <p:spPr>
          <a:xfrm>
            <a:off x="984250" y="2315170"/>
            <a:ext cx="3156424" cy="61704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The co-signer's certificate commits to hash(order): recipient in the owner's mandate, its own floor, τ, the venue set.</a:t>
            </a:r>
            <a:endParaRPr lang="en-US" sz="1200" dirty="0"/>
          </a:p>
        </p:txBody>
      </p:sp>
      <p:sp>
        <p:nvSpPr>
          <p:cNvPr id="7" name="Shape 5"/>
          <p:cNvSpPr/>
          <p:nvPr/>
        </p:nvSpPr>
        <p:spPr>
          <a:xfrm>
            <a:off x="4377234" y="1870670"/>
            <a:ext cx="3437434" cy="1232991"/>
          </a:xfrm>
          <a:prstGeom prst="roundRect">
            <a:avLst>
              <a:gd name="adj" fmla="val 4120"/>
            </a:avLst>
          </a:prstGeom>
          <a:solidFill>
            <a:srgbClr val="FBFCFC"/>
          </a:solidFill>
          <a:ln w="6350">
            <a:solidFill>
              <a:srgbClr val="D6DEE1"/>
            </a:solidFill>
            <a:prstDash val="solid"/>
          </a:ln>
        </p:spPr>
      </p:sp>
      <p:sp>
        <p:nvSpPr>
          <p:cNvPr id="8" name="Text 6"/>
          <p:cNvSpPr txBox="1"/>
          <p:nvPr/>
        </p:nvSpPr>
        <p:spPr>
          <a:xfrm>
            <a:off x="4548684" y="2042120"/>
            <a:ext cx="3156424" cy="228600"/>
          </a:xfrm>
          <a:prstGeom prst="rect">
            <a:avLst/>
          </a:prstGeom>
          <a:noFill/>
          <a:ln/>
        </p:spPr>
        <p:txBody>
          <a:bodyPr wrap="square" lIns="0" tIns="0" rIns="0" bIns="0" rtlCol="0" anchor="t"/>
          <a:lstStyle/>
          <a:p>
            <a:pPr algn="l" indent="0" marL="0">
              <a:lnSpc>
                <a:spcPts val="1800"/>
              </a:lnSpc>
              <a:buNone/>
            </a:pPr>
            <a:r>
              <a:rPr lang="en-US" sz="1500" dirty="0">
                <a:solidFill>
                  <a:srgbClr val="0A7468"/>
                </a:solidFill>
                <a:latin typeface="Cambria" pitchFamily="34" charset="0"/>
                <a:ea typeface="Cambria" pitchFamily="34" charset="-122"/>
                <a:cs typeface="Cambria" pitchFamily="34" charset="-120"/>
              </a:rPr>
              <a:t>2 · Bound</a:t>
            </a:r>
            <a:endParaRPr lang="en-US" sz="1500" dirty="0"/>
          </a:p>
        </p:txBody>
      </p:sp>
      <p:sp>
        <p:nvSpPr>
          <p:cNvPr id="9" name="Text 7"/>
          <p:cNvSpPr txBox="1"/>
          <p:nvPr/>
        </p:nvSpPr>
        <p:spPr>
          <a:xfrm>
            <a:off x="4548684" y="2315170"/>
            <a:ext cx="3156424"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B̂(ν) from the live reserves of every owner venue, not only those used, every step rounded up.</a:t>
            </a:r>
            <a:endParaRPr lang="en-US" sz="1200" dirty="0"/>
          </a:p>
        </p:txBody>
      </p:sp>
      <p:sp>
        <p:nvSpPr>
          <p:cNvPr id="10" name="Shape 8"/>
          <p:cNvSpPr/>
          <p:nvPr/>
        </p:nvSpPr>
        <p:spPr>
          <a:xfrm>
            <a:off x="7941667" y="1870670"/>
            <a:ext cx="3437434" cy="1232991"/>
          </a:xfrm>
          <a:prstGeom prst="roundRect">
            <a:avLst>
              <a:gd name="adj" fmla="val 4120"/>
            </a:avLst>
          </a:prstGeom>
          <a:solidFill>
            <a:srgbClr val="FBFCFC"/>
          </a:solidFill>
          <a:ln w="6350">
            <a:solidFill>
              <a:srgbClr val="D6DEE1"/>
            </a:solidFill>
            <a:prstDash val="solid"/>
          </a:ln>
        </p:spPr>
      </p:sp>
      <p:sp>
        <p:nvSpPr>
          <p:cNvPr id="11" name="Text 9"/>
          <p:cNvSpPr txBox="1"/>
          <p:nvPr/>
        </p:nvSpPr>
        <p:spPr>
          <a:xfrm>
            <a:off x="8113117" y="2042120"/>
            <a:ext cx="3156424" cy="228600"/>
          </a:xfrm>
          <a:prstGeom prst="rect">
            <a:avLst/>
          </a:prstGeom>
          <a:noFill/>
          <a:ln/>
        </p:spPr>
        <p:txBody>
          <a:bodyPr wrap="square" lIns="0" tIns="0" rIns="0" bIns="0" rtlCol="0" anchor="t"/>
          <a:lstStyle/>
          <a:p>
            <a:pPr algn="l" indent="0" marL="0">
              <a:lnSpc>
                <a:spcPts val="1800"/>
              </a:lnSpc>
              <a:buNone/>
            </a:pPr>
            <a:r>
              <a:rPr lang="en-US" sz="1500" dirty="0">
                <a:solidFill>
                  <a:srgbClr val="0A7468"/>
                </a:solidFill>
                <a:latin typeface="Cambria" pitchFamily="34" charset="0"/>
                <a:ea typeface="Cambria" pitchFamily="34" charset="-122"/>
                <a:cs typeface="Cambria" pitchFamily="34" charset="-120"/>
              </a:rPr>
              <a:t>3 · Funding</a:t>
            </a:r>
            <a:endParaRPr lang="en-US" sz="1500" dirty="0"/>
          </a:p>
        </p:txBody>
      </p:sp>
      <p:sp>
        <p:nvSpPr>
          <p:cNvPr id="12" name="Text 10"/>
          <p:cNvSpPr txBox="1"/>
          <p:nvPr/>
        </p:nvSpPr>
        <p:spPr>
          <a:xfrm>
            <a:off x="8113117" y="2315170"/>
            <a:ext cx="3156424" cy="61704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The unchanged QEDVault pays exactly A: mandate, co-signature, caps and solvency all still apply.</a:t>
            </a:r>
            <a:endParaRPr lang="en-US" sz="1200" dirty="0"/>
          </a:p>
        </p:txBody>
      </p:sp>
      <p:sp>
        <p:nvSpPr>
          <p:cNvPr id="13" name="Shape 11"/>
          <p:cNvSpPr/>
          <p:nvPr/>
        </p:nvSpPr>
        <p:spPr>
          <a:xfrm>
            <a:off x="812800" y="3230662"/>
            <a:ext cx="3437434" cy="1245691"/>
          </a:xfrm>
          <a:prstGeom prst="roundRect">
            <a:avLst>
              <a:gd name="adj" fmla="val 4078"/>
            </a:avLst>
          </a:prstGeom>
          <a:solidFill>
            <a:srgbClr val="FBFCFC"/>
          </a:solidFill>
          <a:ln w="6350">
            <a:solidFill>
              <a:srgbClr val="D6DEE1"/>
            </a:solidFill>
            <a:prstDash val="solid"/>
          </a:ln>
        </p:spPr>
      </p:sp>
      <p:sp>
        <p:nvSpPr>
          <p:cNvPr id="14" name="Text 12"/>
          <p:cNvSpPr txBox="1"/>
          <p:nvPr/>
        </p:nvSpPr>
        <p:spPr>
          <a:xfrm>
            <a:off x="984250" y="3402112"/>
            <a:ext cx="3156424" cy="228600"/>
          </a:xfrm>
          <a:prstGeom prst="rect">
            <a:avLst/>
          </a:prstGeom>
          <a:noFill/>
          <a:ln/>
        </p:spPr>
        <p:txBody>
          <a:bodyPr wrap="square" lIns="0" tIns="0" rIns="0" bIns="0" rtlCol="0" anchor="t"/>
          <a:lstStyle/>
          <a:p>
            <a:pPr algn="l" indent="0" marL="0">
              <a:lnSpc>
                <a:spcPts val="1800"/>
              </a:lnSpc>
              <a:buNone/>
            </a:pPr>
            <a:r>
              <a:rPr lang="en-US" sz="1500" dirty="0">
                <a:solidFill>
                  <a:srgbClr val="0A7468"/>
                </a:solidFill>
                <a:latin typeface="Cambria" pitchFamily="34" charset="0"/>
                <a:ea typeface="Cambria" pitchFamily="34" charset="-122"/>
                <a:cs typeface="Cambria" pitchFamily="34" charset="-120"/>
              </a:rPr>
              <a:t>4 · Route</a:t>
            </a:r>
            <a:endParaRPr lang="en-US" sz="1500" dirty="0"/>
          </a:p>
        </p:txBody>
      </p:sp>
      <p:sp>
        <p:nvSpPr>
          <p:cNvPr id="15" name="Text 13"/>
          <p:cNvSpPr txBox="1"/>
          <p:nvPr/>
        </p:nvSpPr>
        <p:spPr>
          <a:xfrm>
            <a:off x="984250" y="3675162"/>
            <a:ext cx="3156424"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Up to 32 hops of any shape: splits, multi-hop, the same pool twice.</a:t>
            </a:r>
            <a:endParaRPr lang="en-US" sz="1200" dirty="0"/>
          </a:p>
        </p:txBody>
      </p:sp>
      <p:sp>
        <p:nvSpPr>
          <p:cNvPr id="16" name="Shape 14"/>
          <p:cNvSpPr/>
          <p:nvPr/>
        </p:nvSpPr>
        <p:spPr>
          <a:xfrm>
            <a:off x="4377234" y="3230662"/>
            <a:ext cx="3437434" cy="1245691"/>
          </a:xfrm>
          <a:prstGeom prst="roundRect">
            <a:avLst>
              <a:gd name="adj" fmla="val 4078"/>
            </a:avLst>
          </a:prstGeom>
          <a:solidFill>
            <a:srgbClr val="FBFCFC"/>
          </a:solidFill>
          <a:ln w="6350">
            <a:solidFill>
              <a:srgbClr val="D6DEE1"/>
            </a:solidFill>
            <a:prstDash val="solid"/>
          </a:ln>
        </p:spPr>
      </p:sp>
      <p:sp>
        <p:nvSpPr>
          <p:cNvPr id="17" name="Text 15"/>
          <p:cNvSpPr txBox="1"/>
          <p:nvPr/>
        </p:nvSpPr>
        <p:spPr>
          <a:xfrm>
            <a:off x="4548684" y="3402112"/>
            <a:ext cx="3156424" cy="228600"/>
          </a:xfrm>
          <a:prstGeom prst="rect">
            <a:avLst/>
          </a:prstGeom>
          <a:noFill/>
          <a:ln/>
        </p:spPr>
        <p:txBody>
          <a:bodyPr wrap="square" lIns="0" tIns="0" rIns="0" bIns="0" rtlCol="0" anchor="t"/>
          <a:lstStyle/>
          <a:p>
            <a:pPr algn="l" indent="0" marL="0">
              <a:lnSpc>
                <a:spcPts val="1800"/>
              </a:lnSpc>
              <a:buNone/>
            </a:pPr>
            <a:r>
              <a:rPr lang="en-US" sz="1500" dirty="0">
                <a:solidFill>
                  <a:srgbClr val="0A7468"/>
                </a:solidFill>
                <a:latin typeface="Cambria" pitchFamily="34" charset="0"/>
                <a:ea typeface="Cambria" pitchFamily="34" charset="-122"/>
                <a:cs typeface="Cambria" pitchFamily="34" charset="-120"/>
              </a:rPr>
              <a:t>5 · Nothing left</a:t>
            </a:r>
            <a:endParaRPr lang="en-US" sz="1500" dirty="0"/>
          </a:p>
        </p:txBody>
      </p:sp>
      <p:sp>
        <p:nvSpPr>
          <p:cNvPr id="18" name="Text 16"/>
          <p:cNvSpPr txBox="1"/>
          <p:nvPr/>
        </p:nvSpPr>
        <p:spPr>
          <a:xfrm>
            <a:off x="4548684" y="3675162"/>
            <a:ext cx="3156424"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No intermediate token may stay behind; unspent input goes back to the vault.</a:t>
            </a:r>
            <a:endParaRPr lang="en-US" sz="1200" dirty="0"/>
          </a:p>
        </p:txBody>
      </p:sp>
      <p:sp>
        <p:nvSpPr>
          <p:cNvPr id="19" name="Shape 17"/>
          <p:cNvSpPr/>
          <p:nvPr/>
        </p:nvSpPr>
        <p:spPr>
          <a:xfrm>
            <a:off x="7941667" y="3230662"/>
            <a:ext cx="3437434" cy="1245691"/>
          </a:xfrm>
          <a:prstGeom prst="roundRect">
            <a:avLst>
              <a:gd name="adj" fmla="val 4078"/>
            </a:avLst>
          </a:prstGeom>
          <a:solidFill>
            <a:srgbClr val="E3F0EE"/>
          </a:solidFill>
          <a:ln w="12700">
            <a:solidFill>
              <a:srgbClr val="0A7468"/>
            </a:solidFill>
            <a:prstDash val="solid"/>
          </a:ln>
        </p:spPr>
      </p:sp>
      <p:sp>
        <p:nvSpPr>
          <p:cNvPr id="20" name="Text 18"/>
          <p:cNvSpPr txBox="1"/>
          <p:nvPr/>
        </p:nvSpPr>
        <p:spPr>
          <a:xfrm>
            <a:off x="8119467" y="3408462"/>
            <a:ext cx="3143470" cy="228600"/>
          </a:xfrm>
          <a:prstGeom prst="rect">
            <a:avLst/>
          </a:prstGeom>
          <a:noFill/>
          <a:ln/>
        </p:spPr>
        <p:txBody>
          <a:bodyPr wrap="square" lIns="0" tIns="0" rIns="0" bIns="0" rtlCol="0" anchor="t"/>
          <a:lstStyle/>
          <a:p>
            <a:pPr algn="l" indent="0" marL="0">
              <a:lnSpc>
                <a:spcPts val="1800"/>
              </a:lnSpc>
              <a:buNone/>
            </a:pPr>
            <a:r>
              <a:rPr lang="en-US" sz="1500" dirty="0">
                <a:solidFill>
                  <a:srgbClr val="0A7468"/>
                </a:solidFill>
                <a:latin typeface="Cambria" pitchFamily="34" charset="0"/>
                <a:ea typeface="Cambria" pitchFamily="34" charset="-122"/>
                <a:cs typeface="Cambria" pitchFamily="34" charset="-120"/>
              </a:rPr>
              <a:t>6 · Two checks</a:t>
            </a:r>
            <a:endParaRPr lang="en-US" sz="1500" dirty="0"/>
          </a:p>
        </p:txBody>
      </p:sp>
      <p:sp>
        <p:nvSpPr>
          <p:cNvPr id="21" name="Text 19"/>
          <p:cNvSpPr txBox="1"/>
          <p:nvPr/>
        </p:nvSpPr>
        <p:spPr>
          <a:xfrm>
            <a:off x="8119467" y="3681512"/>
            <a:ext cx="3143470" cy="61704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out ≥ floor (market risk) and out·10⁶ ≥ B̂·(10⁶ − τ) (best execution), out measured as a balance change.</a:t>
            </a:r>
            <a:endParaRPr lang="en-US" sz="1200" dirty="0"/>
          </a:p>
        </p:txBody>
      </p:sp>
      <p:sp>
        <p:nvSpPr>
          <p:cNvPr id="22" name="Shape 20"/>
          <p:cNvSpPr/>
          <p:nvPr/>
        </p:nvSpPr>
        <p:spPr>
          <a:xfrm>
            <a:off x="812800" y="4682728"/>
            <a:ext cx="10566400" cy="0"/>
          </a:xfrm>
          <a:prstGeom prst="line">
            <a:avLst/>
          </a:prstGeom>
          <a:noFill/>
          <a:ln w="6350">
            <a:solidFill>
              <a:srgbClr val="D6DEE1"/>
            </a:solidFill>
            <a:prstDash val="solid"/>
          </a:ln>
        </p:spPr>
      </p:sp>
      <p:sp>
        <p:nvSpPr>
          <p:cNvPr id="23" name="Text 21"/>
          <p:cNvSpPr txBox="1"/>
          <p:nvPr/>
        </p:nvSpPr>
        <p:spPr>
          <a:xfrm>
            <a:off x="812800" y="4838303"/>
            <a:ext cx="10777728" cy="297180"/>
          </a:xfrm>
          <a:prstGeom prst="rect">
            <a:avLst/>
          </a:prstGeom>
          <a:noFill/>
          <a:ln/>
        </p:spPr>
        <p:txBody>
          <a:bodyPr wrap="square" lIns="0" tIns="0" rIns="0" bIns="0" rtlCol="0" anchor="t"/>
          <a:lstStyle/>
          <a:p>
            <a:pPr algn="l" indent="0" marL="0">
              <a:lnSpc>
                <a:spcPts val="2340"/>
              </a:lnSpc>
              <a:buNone/>
            </a:pPr>
            <a:r>
              <a:rPr lang="en-US" sz="1800" dirty="0">
                <a:solidFill>
                  <a:srgbClr val="13233F"/>
                </a:solidFill>
                <a:latin typeface="Cambria" pitchFamily="34" charset="0"/>
                <a:ea typeface="Cambria" pitchFamily="34" charset="-122"/>
                <a:cs typeface="Cambria" pitchFamily="34" charset="-120"/>
              </a:rPr>
              <a:t>Every accepted trade delivered at least (1 − τ)·OPT on the state it executed against, whatever route the agent chose.</a:t>
            </a:r>
            <a:endParaRPr lang="en-US" sz="1800" dirty="0"/>
          </a:p>
        </p:txBody>
      </p:sp>
      <p:sp>
        <p:nvSpPr>
          <p:cNvPr id="24" name="Text 22"/>
          <p:cNvSpPr txBox="1"/>
          <p:nvPr/>
        </p:nvSpPr>
        <p:spPr>
          <a:xfrm>
            <a:off x="812800" y="6267450"/>
            <a:ext cx="77724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Proof: docs/ALGORITHMS.md §12 · contract: contracts/src/QEDExecution.sol</a:t>
            </a:r>
            <a:endParaRPr lang="en-US" sz="1200" dirty="0"/>
          </a:p>
        </p:txBody>
      </p:sp>
      <p:sp>
        <p:nvSpPr>
          <p:cNvPr id="25" name="Text 23"/>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Appendix A2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B1262E"/>
                </a:solidFill>
                <a:latin typeface="Calibri" pitchFamily="34" charset="0"/>
                <a:ea typeface="Calibri" pitchFamily="34" charset="-122"/>
                <a:cs typeface="Calibri" pitchFamily="34" charset="-120"/>
              </a:rPr>
              <a:t>A COMPROMISED AGENT, ONE CO-SIGNED ORDER</a:t>
            </a:r>
            <a:endParaRPr lang="en-US" sz="1200" dirty="0"/>
          </a:p>
        </p:txBody>
      </p:sp>
      <p:sp>
        <p:nvSpPr>
          <p:cNvPr id="3" name="Text 1"/>
          <p:cNvSpPr txBox="1"/>
          <p:nvPr/>
        </p:nvSpPr>
        <p:spPr>
          <a:xfrm>
            <a:off x="812800" y="11747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Every leak a slippage limit allows, refused on-chain</a:t>
            </a:r>
            <a:endParaRPr lang="en-US" sz="3200" dirty="0"/>
          </a:p>
        </p:txBody>
      </p:sp>
      <p:pic>
        <p:nvPicPr>
          <p:cNvPr id="4" name="Image 0" descr="Shortfall below the on-chain bound on a log scale. A 1% slippage floor accepts everything left of 100 bps; QED accepts only what is left of 0.01 bps. The honest route at 0.17 ppm was accepted; a 0.47 bp skim and a direct-only route 33 bps short were rejected with NotBestExecution although a 1% floor would accept them; a single-pool route 118 bps short was rejected by the floor">    </p:cNvPr>
          <p:cNvPicPr>
            <a:picLocks noChangeAspect="1"/>
          </p:cNvPicPr>
          <p:nvPr/>
        </p:nvPicPr>
        <p:blipFill>
          <a:blip r:embed="rId1"/>
          <a:stretch>
            <a:fillRect/>
          </a:stretch>
        </p:blipFill>
        <p:spPr>
          <a:xfrm>
            <a:off x="812800" y="1819870"/>
            <a:ext cx="10566400" cy="2413000"/>
          </a:xfrm>
          <a:prstGeom prst="rect">
            <a:avLst/>
          </a:prstGeom>
        </p:spPr>
      </p:pic>
      <p:sp>
        <p:nvSpPr>
          <p:cNvPr id="5" name="Shape 2"/>
          <p:cNvSpPr/>
          <p:nvPr/>
        </p:nvSpPr>
        <p:spPr>
          <a:xfrm>
            <a:off x="812800" y="4413845"/>
            <a:ext cx="10566400" cy="0"/>
          </a:xfrm>
          <a:prstGeom prst="line">
            <a:avLst/>
          </a:prstGeom>
          <a:noFill/>
          <a:ln w="6350">
            <a:solidFill>
              <a:srgbClr val="D6DEE1"/>
            </a:solidFill>
            <a:prstDash val="solid"/>
          </a:ln>
        </p:spPr>
      </p:sp>
      <p:sp>
        <p:nvSpPr>
          <p:cNvPr id="6" name="Text 3"/>
          <p:cNvSpPr txBox="1"/>
          <p:nvPr/>
        </p:nvSpPr>
        <p:spPr>
          <a:xfrm>
            <a:off x="812800" y="4544020"/>
            <a:ext cx="3419856"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“Forged” prices to bless a bad route → </a:t>
            </a:r>
            <a:pPr algn="l" indent="0" marL="0">
              <a:lnSpc>
                <a:spcPts val="1620"/>
              </a:lnSpc>
              <a:buNone/>
            </a:pPr>
            <a:r>
              <a:rPr lang="en-US" sz="1200" b="1" dirty="0">
                <a:solidFill>
                  <a:srgbClr val="13233F"/>
                </a:solidFill>
                <a:latin typeface="Calibri" pitchFamily="34" charset="0"/>
                <a:ea typeface="Calibri" pitchFamily="34" charset="-122"/>
                <a:cs typeface="Calibri" pitchFamily="34" charset="-120"/>
              </a:rPr>
              <a:t>NotBestExecution</a:t>
            </a:r>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 (EA3)</a:t>
            </a:r>
            <a:endParaRPr lang="en-US" sz="1200" dirty="0"/>
          </a:p>
        </p:txBody>
      </p:sp>
      <p:sp>
        <p:nvSpPr>
          <p:cNvPr id="7" name="Text 4"/>
          <p:cNvSpPr txBox="1"/>
          <p:nvPr/>
        </p:nvSpPr>
        <p:spPr>
          <a:xfrm>
            <a:off x="4419600" y="4544020"/>
            <a:ext cx="3419856"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Strand the bridge token → </a:t>
            </a:r>
            <a:pPr algn="l" indent="0" marL="0">
              <a:lnSpc>
                <a:spcPts val="1620"/>
              </a:lnSpc>
              <a:buNone/>
            </a:pPr>
            <a:r>
              <a:rPr lang="en-US" sz="1200" b="1" dirty="0">
                <a:solidFill>
                  <a:srgbClr val="13233F"/>
                </a:solidFill>
                <a:latin typeface="Calibri" pitchFamily="34" charset="0"/>
                <a:ea typeface="Calibri" pitchFamily="34" charset="-122"/>
                <a:cs typeface="Calibri" pitchFamily="34" charset="-120"/>
              </a:rPr>
              <a:t>Leftover</a:t>
            </a:r>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 (EA4)</a:t>
            </a:r>
            <a:endParaRPr lang="en-US" sz="1200" dirty="0"/>
          </a:p>
        </p:txBody>
      </p:sp>
      <p:sp>
        <p:nvSpPr>
          <p:cNvPr id="8" name="Text 5"/>
          <p:cNvSpPr txBox="1"/>
          <p:nvPr/>
        </p:nvSpPr>
        <p:spPr>
          <a:xfrm>
            <a:off x="8026400" y="4544020"/>
            <a:ext cx="3419856"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Redirect the output to Mallory → </a:t>
            </a:r>
            <a:pPr algn="l" indent="0" marL="0">
              <a:lnSpc>
                <a:spcPts val="1620"/>
              </a:lnSpc>
              <a:buNone/>
            </a:pPr>
            <a:r>
              <a:rPr lang="en-US" sz="1200" b="1" dirty="0">
                <a:solidFill>
                  <a:srgbClr val="13233F"/>
                </a:solidFill>
                <a:latin typeface="Calibri" pitchFamily="34" charset="0"/>
                <a:ea typeface="Calibri" pitchFamily="34" charset="-122"/>
                <a:cs typeface="Calibri" pitchFamily="34" charset="-120"/>
              </a:rPr>
              <a:t>OrderMismatch</a:t>
            </a:r>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 (EA6)</a:t>
            </a:r>
            <a:endParaRPr lang="en-US" sz="1200" dirty="0"/>
          </a:p>
        </p:txBody>
      </p:sp>
      <p:sp>
        <p:nvSpPr>
          <p:cNvPr id="9" name="Text 6"/>
          <p:cNvSpPr txBox="1"/>
          <p:nvPr/>
        </p:nvSpPr>
        <p:spPr>
          <a:xfrm>
            <a:off x="812800" y="5056981"/>
            <a:ext cx="3419856"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Call without the agent key → </a:t>
            </a:r>
            <a:pPr algn="l" indent="0" marL="0">
              <a:lnSpc>
                <a:spcPts val="1620"/>
              </a:lnSpc>
              <a:buNone/>
            </a:pPr>
            <a:r>
              <a:rPr lang="en-US" sz="1200" b="1" dirty="0">
                <a:solidFill>
                  <a:srgbClr val="13233F"/>
                </a:solidFill>
                <a:latin typeface="Calibri" pitchFamily="34" charset="0"/>
                <a:ea typeface="Calibri" pitchFamily="34" charset="-122"/>
                <a:cs typeface="Calibri" pitchFamily="34" charset="-120"/>
              </a:rPr>
              <a:t>NotOperator</a:t>
            </a:r>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 (EA7)</a:t>
            </a:r>
            <a:endParaRPr lang="en-US" sz="1200" dirty="0"/>
          </a:p>
        </p:txBody>
      </p:sp>
      <p:sp>
        <p:nvSpPr>
          <p:cNvPr id="10" name="Text 7"/>
          <p:cNvSpPr txBox="1"/>
          <p:nvPr/>
        </p:nvSpPr>
        <p:spPr>
          <a:xfrm>
            <a:off x="4419600" y="5056981"/>
            <a:ext cx="3419856"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Front-run the signed order → </a:t>
            </a:r>
            <a:pPr algn="l" indent="0" marL="0">
              <a:lnSpc>
                <a:spcPts val="1620"/>
              </a:lnSpc>
              <a:buNone/>
            </a:pPr>
            <a:r>
              <a:rPr lang="en-US" sz="1200" b="1" dirty="0">
                <a:solidFill>
                  <a:srgbClr val="13233F"/>
                </a:solidFill>
                <a:latin typeface="Calibri" pitchFamily="34" charset="0"/>
                <a:ea typeface="Calibri" pitchFamily="34" charset="-122"/>
                <a:cs typeface="Calibri" pitchFamily="34" charset="-120"/>
              </a:rPr>
              <a:t>InsufficientOutput</a:t>
            </a:r>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 (EA8)</a:t>
            </a:r>
            <a:endParaRPr lang="en-US" sz="1200" dirty="0"/>
          </a:p>
        </p:txBody>
      </p:sp>
      <p:sp>
        <p:nvSpPr>
          <p:cNvPr id="11" name="Text 8"/>
          <p:cNvSpPr txBox="1"/>
          <p:nvPr/>
        </p:nvSpPr>
        <p:spPr>
          <a:xfrm>
            <a:off x="8026400" y="5056981"/>
            <a:ext cx="3419856"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Then the agent re-plans and </a:t>
            </a:r>
            <a:pPr algn="l" indent="0" marL="0">
              <a:lnSpc>
                <a:spcPts val="1620"/>
              </a:lnSpc>
              <a:buNone/>
            </a:pPr>
            <a:r>
              <a:rPr lang="en-US" sz="1200" b="1" dirty="0">
                <a:solidFill>
                  <a:srgbClr val="13233F"/>
                </a:solidFill>
                <a:latin typeface="Calibri" pitchFamily="34" charset="0"/>
                <a:ea typeface="Calibri" pitchFamily="34" charset="-122"/>
                <a:cs typeface="Calibri" pitchFamily="34" charset="-120"/>
              </a:rPr>
              <a:t>declines</a:t>
            </a:r>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 to trade into the moved market (A10)</a:t>
            </a:r>
            <a:endParaRPr lang="en-US" sz="1200" dirty="0"/>
          </a:p>
        </p:txBody>
      </p:sp>
      <p:sp>
        <p:nvSpPr>
          <p:cNvPr id="12" name="Text 9"/>
          <p:cNvSpPr txBox="1"/>
          <p:nvPr/>
        </p:nvSpPr>
        <p:spPr>
          <a:xfrm>
            <a:off x="812800" y="6267450"/>
            <a:ext cx="84201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All on Sepolia under one genuine co-signed order; the honest route then went through with the same certificate</a:t>
            </a:r>
            <a:endParaRPr lang="en-US" sz="1200" dirty="0"/>
          </a:p>
        </p:txBody>
      </p:sp>
      <p:sp>
        <p:nvSpPr>
          <p:cNvPr id="13" name="Text 10"/>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Appendix A3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TOPIC F · THE FOUR REQUIRED OUTCOMES</a:t>
            </a:r>
            <a:endParaRPr lang="en-US" sz="1200" dirty="0"/>
          </a:p>
        </p:txBody>
      </p:sp>
      <p:sp>
        <p:nvSpPr>
          <p:cNvPr id="3" name="Text 1"/>
          <p:cNvSpPr txBox="1"/>
          <p:nvPr/>
        </p:nvSpPr>
        <p:spPr>
          <a:xfrm>
            <a:off x="812800" y="12001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Each outcome is a public transaction you can open.</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2800" y="1870670"/>
          <a:ext cx="10566400" cy="914400"/>
        </p:xfrm>
        <a:graphic>
          <a:graphicData uri="http://schemas.openxmlformats.org/drawingml/2006/table">
            <a:tbl>
              <a:tblPr/>
              <a:tblGrid>
                <a:gridCol w="633909"/>
                <a:gridCol w="3592513"/>
                <a:gridCol w="6339979"/>
              </a:tblGrid>
              <a:tr h="196850">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Outcome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Evidence on Ethereum Sepolia</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393700">
                <a:tc>
                  <a:txBody>
                    <a:bodyPr/>
                    <a:lstStyle/>
                    <a:p>
                      <a:pPr algn="l" indent="0" marL="0">
                        <a:buNone/>
                      </a:pPr>
                      <a:r>
                        <a:rPr lang="en-US" sz="1200" b="1" dirty="0">
                          <a:solidFill>
                            <a:srgbClr val="0A7468"/>
                          </a:solidFill>
                          <a:latin typeface="Calibri" pitchFamily="34" charset="0"/>
                          <a:ea typeface="Calibri" pitchFamily="34" charset="-122"/>
                          <a:cs typeface="Calibri" pitchFamily="34" charset="-120"/>
                        </a:rPr>
                        <a:t>O1</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A separate AI-agent key acts under an independent policy certificate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ourier New" pitchFamily="34" charset="0"/>
                          <a:ea typeface="Courier New" pitchFamily="34" charset="-122"/>
                          <a:cs typeface="Courier New" pitchFamily="34" charset="-120"/>
                        </a:rPr>
                        <a:t>L4 0x56a2334e…</a:t>
                      </a:r>
                      <a:pPr algn="l" indent="0" marL="0">
                        <a:buNone/>
                      </a:pPr>
                      <a:r>
                        <a:rPr lang="en-US" sz="1200" dirty="0">
                          <a:solidFill>
                            <a:srgbClr val="13233F"/>
                          </a:solidFill>
                          <a:latin typeface="Calibri" pitchFamily="34" charset="0"/>
                          <a:ea typeface="Calibri" pitchFamily="34" charset="-122"/>
                          <a:cs typeface="Calibri" pitchFamily="34" charset="-120"/>
                        </a:rPr>
                        <a:t> payment · </a:t>
                      </a:r>
                      <a:pPr algn="l" indent="0" marL="0">
                        <a:buNone/>
                      </a:pPr>
                      <a:r>
                        <a:rPr lang="en-US" sz="1200" dirty="0">
                          <a:solidFill>
                            <a:srgbClr val="13233F"/>
                          </a:solidFill>
                          <a:latin typeface="Courier New" pitchFamily="34" charset="0"/>
                          <a:ea typeface="Courier New" pitchFamily="34" charset="-122"/>
                          <a:cs typeface="Courier New" pitchFamily="34" charset="-120"/>
                        </a:rPr>
                        <a:t>E1 0x56f798cd…</a:t>
                      </a:r>
                      <a:pPr algn="l" indent="0" marL="0">
                        <a:buNone/>
                      </a:pPr>
                      <a:r>
                        <a:rPr lang="en-US" sz="1200" dirty="0">
                          <a:solidFill>
                            <a:srgbClr val="13233F"/>
                          </a:solidFill>
                          <a:latin typeface="Calibri" pitchFamily="34" charset="0"/>
                          <a:ea typeface="Calibri" pitchFamily="34" charset="-122"/>
                          <a:cs typeface="Calibri" pitchFamily="34" charset="-120"/>
                        </a:rPr>
                        <a:t> trade · </a:t>
                      </a:r>
                      <a:pPr algn="l" indent="0" marL="0">
                        <a:buNone/>
                      </a:pPr>
                      <a:r>
                        <a:rPr lang="en-US" sz="1200" dirty="0">
                          <a:solidFill>
                            <a:srgbClr val="13233F"/>
                          </a:solidFill>
                          <a:latin typeface="Courier New" pitchFamily="34" charset="0"/>
                          <a:ea typeface="Courier New" pitchFamily="34" charset="-122"/>
                          <a:cs typeface="Courier New" pitchFamily="34" charset="-120"/>
                        </a:rPr>
                        <a:t>PE1 0xaaa0bacd…</a:t>
                      </a:r>
                      <a:pPr algn="l" indent="0" marL="0">
                        <a:buNone/>
                      </a:pPr>
                      <a:r>
                        <a:rPr lang="en-US" sz="1200" dirty="0">
                          <a:solidFill>
                            <a:srgbClr val="13233F"/>
                          </a:solidFill>
                          <a:latin typeface="Calibri" pitchFamily="34" charset="0"/>
                          <a:ea typeface="Calibri" pitchFamily="34" charset="-122"/>
                          <a:cs typeface="Calibri" pitchFamily="34" charset="-120"/>
                        </a:rPr>
                        <a:t> and </a:t>
                      </a:r>
                      <a:pPr algn="l" indent="0" marL="0">
                        <a:buNone/>
                      </a:pPr>
                      <a:r>
                        <a:rPr lang="en-US" sz="1200" dirty="0">
                          <a:solidFill>
                            <a:srgbClr val="13233F"/>
                          </a:solidFill>
                          <a:latin typeface="Courier New" pitchFamily="34" charset="0"/>
                          <a:ea typeface="Courier New" pitchFamily="34" charset="-122"/>
                          <a:cs typeface="Courier New" pitchFamily="34" charset="-120"/>
                        </a:rPr>
                        <a:t>QE1 0x12739525…</a:t>
                      </a:r>
                      <a:pPr algn="l" indent="0" marL="0">
                        <a:buNone/>
                      </a:pPr>
                      <a:r>
                        <a:rPr lang="en-US" sz="1200" dirty="0">
                          <a:solidFill>
                            <a:srgbClr val="13233F"/>
                          </a:solidFill>
                          <a:latin typeface="Calibri" pitchFamily="34" charset="0"/>
                          <a:ea typeface="Calibri" pitchFamily="34" charset="-122"/>
                          <a:cs typeface="Calibri" pitchFamily="34" charset="-120"/>
                        </a:rPr>
                        <a:t> agent-initiated</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387350">
                <a:tc>
                  <a:txBody>
                    <a:bodyPr/>
                    <a:lstStyle/>
                    <a:p>
                      <a:pPr algn="l" indent="0" marL="0">
                        <a:buNone/>
                      </a:pPr>
                      <a:r>
                        <a:rPr lang="en-US" sz="1200" b="1" dirty="0">
                          <a:solidFill>
                            <a:srgbClr val="0A7468"/>
                          </a:solidFill>
                          <a:latin typeface="Calibri" pitchFamily="34" charset="0"/>
                          <a:ea typeface="Calibri" pitchFamily="34" charset="-122"/>
                          <a:cs typeface="Calibri" pitchFamily="34" charset="-120"/>
                        </a:rPr>
                        <a:t>O2</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Paid work ends in a real escrow settlement</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ourier New" pitchFamily="34" charset="0"/>
                          <a:ea typeface="Courier New" pitchFamily="34" charset="-122"/>
                          <a:cs typeface="Courier New" pitchFamily="34" charset="-120"/>
                        </a:rPr>
                        <a:t>L6 0x4166253f…</a:t>
                      </a:r>
                      <a:pPr algn="l" indent="0" marL="0">
                        <a:buNone/>
                      </a:pPr>
                      <a:r>
                        <a:rPr lang="en-US" sz="1200" dirty="0">
                          <a:solidFill>
                            <a:srgbClr val="13233F"/>
                          </a:solidFill>
                          <a:latin typeface="Calibri" pitchFamily="34" charset="0"/>
                          <a:ea typeface="Calibri" pitchFamily="34" charset="-122"/>
                          <a:cs typeface="Calibri" pitchFamily="34" charset="-120"/>
                        </a:rPr>
                        <a:t> 15 tUSD on an optimality proof · </a:t>
                      </a:r>
                      <a:pPr algn="l" indent="0" marL="0">
                        <a:buNone/>
                      </a:pPr>
                      <a:r>
                        <a:rPr lang="en-US" sz="1200" dirty="0">
                          <a:solidFill>
                            <a:srgbClr val="13233F"/>
                          </a:solidFill>
                          <a:latin typeface="Courier New" pitchFamily="34" charset="0"/>
                          <a:ea typeface="Courier New" pitchFamily="34" charset="-122"/>
                          <a:cs typeface="Courier New" pitchFamily="34" charset="-120"/>
                        </a:rPr>
                        <a:t>Z3 0xbb619bf0…</a:t>
                      </a:r>
                      <a:pPr algn="l" indent="0" marL="0">
                        <a:buNone/>
                      </a:pPr>
                      <a:r>
                        <a:rPr lang="en-US" sz="1200" dirty="0">
                          <a:solidFill>
                            <a:srgbClr val="13233F"/>
                          </a:solidFill>
                          <a:latin typeface="Calibri" pitchFamily="34" charset="0"/>
                          <a:ea typeface="Calibri" pitchFamily="34" charset="-122"/>
                          <a:cs typeface="Calibri" pitchFamily="34" charset="-120"/>
                        </a:rPr>
                        <a:t> 12 tUSD on a zero-knowledge proof</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387350">
                <a:tc>
                  <a:txBody>
                    <a:bodyPr/>
                    <a:lstStyle/>
                    <a:p>
                      <a:pPr algn="l" indent="0" marL="0">
                        <a:buNone/>
                      </a:pPr>
                      <a:r>
                        <a:rPr lang="en-US" sz="1200" b="1" dirty="0">
                          <a:solidFill>
                            <a:srgbClr val="0A7468"/>
                          </a:solidFill>
                          <a:latin typeface="Calibri" pitchFamily="34" charset="0"/>
                          <a:ea typeface="Calibri" pitchFamily="34" charset="-122"/>
                          <a:cs typeface="Calibri" pitchFamily="34" charset="-120"/>
                        </a:rPr>
                        <a:t>O3</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An adversary cannot breach a liability or tamper with signed terms</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48 attacks, 48 reverts, 0 tUSD to the attacker; e.g. </a:t>
                      </a:r>
                      <a:pPr algn="l" indent="0" marL="0">
                        <a:buNone/>
                      </a:pPr>
                      <a:r>
                        <a:rPr lang="en-US" sz="1200" dirty="0">
                          <a:solidFill>
                            <a:srgbClr val="13233F"/>
                          </a:solidFill>
                          <a:latin typeface="Courier New" pitchFamily="34" charset="0"/>
                          <a:ea typeface="Courier New" pitchFamily="34" charset="-122"/>
                          <a:cs typeface="Courier New" pitchFamily="34" charset="-120"/>
                        </a:rPr>
                        <a:t>EA1 0xccd07d17…</a:t>
                      </a:r>
                      <a:pPr algn="l" indent="0" marL="0">
                        <a:buNone/>
                      </a:pPr>
                      <a:r>
                        <a:rPr lang="en-US" sz="1200" dirty="0">
                          <a:solidFill>
                            <a:srgbClr val="13233F"/>
                          </a:solidFill>
                          <a:latin typeface="Calibri" pitchFamily="34" charset="0"/>
                          <a:ea typeface="Calibri" pitchFamily="34" charset="-122"/>
                          <a:cs typeface="Calibri" pitchFamily="34" charset="-120"/>
                        </a:rPr>
                        <a:t>, and </a:t>
                      </a:r>
                      <a:pPr algn="l" indent="0" marL="0">
                        <a:buNone/>
                      </a:pPr>
                      <a:r>
                        <a:rPr lang="en-US" sz="1200" dirty="0">
                          <a:solidFill>
                            <a:srgbClr val="13233F"/>
                          </a:solidFill>
                          <a:latin typeface="Courier New" pitchFamily="34" charset="0"/>
                          <a:ea typeface="Courier New" pitchFamily="34" charset="-122"/>
                          <a:cs typeface="Courier New" pitchFamily="34" charset="-120"/>
                        </a:rPr>
                        <a:t>P3 0x9f4a753c…</a:t>
                      </a:r>
                      <a:pPr algn="l" indent="0" marL="0">
                        <a:buNone/>
                      </a:pPr>
                      <a:r>
                        <a:rPr lang="en-US" sz="1200" dirty="0">
                          <a:solidFill>
                            <a:srgbClr val="13233F"/>
                          </a:solidFill>
                          <a:latin typeface="Calibri" pitchFamily="34" charset="0"/>
                          <a:ea typeface="Calibri" pitchFamily="34" charset="-122"/>
                          <a:cs typeface="Calibri" pitchFamily="34" charset="-120"/>
                        </a:rPr>
                        <a:t>: the creditor paid during a pause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387350">
                <a:tc>
                  <a:txBody>
                    <a:bodyPr/>
                    <a:lstStyle/>
                    <a:p>
                      <a:pPr algn="l" indent="0" marL="0">
                        <a:buNone/>
                      </a:pPr>
                      <a:r>
                        <a:rPr lang="en-US" sz="1200" b="1" dirty="0">
                          <a:solidFill>
                            <a:srgbClr val="0A7468"/>
                          </a:solidFill>
                          <a:latin typeface="Calibri" pitchFamily="34" charset="0"/>
                          <a:ea typeface="Calibri" pitchFamily="34" charset="-122"/>
                          <a:cs typeface="Calibri" pitchFamily="34" charset="-120"/>
                        </a:rPr>
                        <a:t>O4</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A reviewer can reproduce everything</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ourier New" pitchFamily="34" charset="0"/>
                          <a:ea typeface="Courier New" pitchFamily="34" charset="-122"/>
                          <a:cs typeface="Courier New" pitchFamily="34" charset="-120"/>
                        </a:rPr>
                        <a:t>npm run verify</a:t>
                      </a:r>
                      <a:pPr algn="l" indent="0" marL="0">
                        <a:buNone/>
                      </a:pPr>
                      <a:r>
                        <a:rPr lang="en-US" sz="1200" dirty="0">
                          <a:solidFill>
                            <a:srgbClr val="13233F"/>
                          </a:solidFill>
                          <a:latin typeface="Calibri" pitchFamily="34" charset="0"/>
                          <a:ea typeface="Calibri" pitchFamily="34" charset="-122"/>
                          <a:cs typeface="Calibri" pitchFamily="34" charset="-120"/>
                        </a:rPr>
                        <a:t>: every claim re-derived from a public RPC, no keys, in CI daily; 24 contracts verified on Sourcify</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bl>
          </a:graphicData>
        </a:graphic>
      </p:graphicFrame>
      <p:sp>
        <p:nvSpPr>
          <p:cNvPr id="5" name="Text 2"/>
          <p:cNvSpPr txBox="1"/>
          <p:nvPr/>
        </p:nvSpPr>
        <p:spPr>
          <a:xfrm>
            <a:off x="812800" y="3864570"/>
            <a:ext cx="25908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Built on QED's earlier proofs, unchanged:</a:t>
            </a:r>
            <a:endParaRPr lang="en-US" sz="1200" dirty="0"/>
          </a:p>
        </p:txBody>
      </p:sp>
      <p:sp>
        <p:nvSpPr>
          <p:cNvPr id="6" name="Shape 3"/>
          <p:cNvSpPr/>
          <p:nvPr/>
        </p:nvSpPr>
        <p:spPr>
          <a:xfrm>
            <a:off x="3454400" y="3826470"/>
            <a:ext cx="1872059" cy="260350"/>
          </a:xfrm>
          <a:prstGeom prst="roundRect">
            <a:avLst>
              <a:gd name="adj" fmla="val 14634"/>
            </a:avLst>
          </a:prstGeom>
          <a:solidFill>
            <a:srgbClr val="E3E9EC"/>
          </a:solidFill>
          <a:ln/>
        </p:spPr>
      </p:sp>
      <p:sp>
        <p:nvSpPr>
          <p:cNvPr id="7" name="Text 4"/>
          <p:cNvSpPr txBox="1"/>
          <p:nvPr/>
        </p:nvSpPr>
        <p:spPr>
          <a:xfrm>
            <a:off x="3543300" y="3864570"/>
            <a:ext cx="1745059" cy="184150"/>
          </a:xfrm>
          <a:prstGeom prst="rect">
            <a:avLst/>
          </a:prstGeom>
          <a:noFill/>
          <a:ln/>
        </p:spPr>
        <p:txBody>
          <a:bodyPr wrap="square" lIns="0" tIns="0" rIns="0" bIns="0" rtlCol="0" anchor="t"/>
          <a:lstStyle/>
          <a:p>
            <a:pPr algn="l" indent="0" marL="0">
              <a:lnSpc>
                <a:spcPts val="1440"/>
              </a:lnSpc>
              <a:buNone/>
            </a:pPr>
            <a:r>
              <a:rPr lang="en-US" sz="1200" dirty="0">
                <a:solidFill>
                  <a:srgbClr val="13233F"/>
                </a:solidFill>
                <a:latin typeface="Calibri" pitchFamily="34" charset="0"/>
                <a:ea typeface="Calibri" pitchFamily="34" charset="-122"/>
                <a:cs typeface="Calibri" pitchFamily="34" charset="-120"/>
              </a:rPr>
              <a:t>owner mandate × co-signer</a:t>
            </a:r>
            <a:endParaRPr lang="en-US" sz="1200" dirty="0"/>
          </a:p>
        </p:txBody>
      </p:sp>
      <p:sp>
        <p:nvSpPr>
          <p:cNvPr id="8" name="Shape 5"/>
          <p:cNvSpPr/>
          <p:nvPr/>
        </p:nvSpPr>
        <p:spPr>
          <a:xfrm>
            <a:off x="5428059" y="3826470"/>
            <a:ext cx="1448098" cy="260350"/>
          </a:xfrm>
          <a:prstGeom prst="roundRect">
            <a:avLst>
              <a:gd name="adj" fmla="val 14634"/>
            </a:avLst>
          </a:prstGeom>
          <a:solidFill>
            <a:srgbClr val="E3E9EC"/>
          </a:solidFill>
          <a:ln/>
        </p:spPr>
      </p:sp>
      <p:sp>
        <p:nvSpPr>
          <p:cNvPr id="9" name="Text 6"/>
          <p:cNvSpPr txBox="1"/>
          <p:nvPr/>
        </p:nvSpPr>
        <p:spPr>
          <a:xfrm>
            <a:off x="5516959" y="3864570"/>
            <a:ext cx="1321098" cy="184150"/>
          </a:xfrm>
          <a:prstGeom prst="rect">
            <a:avLst/>
          </a:prstGeom>
          <a:noFill/>
          <a:ln/>
        </p:spPr>
        <p:txBody>
          <a:bodyPr wrap="square" lIns="0" tIns="0" rIns="0" bIns="0" rtlCol="0" anchor="t"/>
          <a:lstStyle/>
          <a:p>
            <a:pPr algn="l" indent="0" marL="0">
              <a:lnSpc>
                <a:spcPts val="1440"/>
              </a:lnSpc>
              <a:buNone/>
            </a:pPr>
            <a:r>
              <a:rPr lang="en-US" sz="1200" dirty="0">
                <a:solidFill>
                  <a:srgbClr val="13233F"/>
                </a:solidFill>
                <a:latin typeface="Calibri" pitchFamily="34" charset="0"/>
                <a:ea typeface="Calibri" pitchFamily="34" charset="-122"/>
                <a:cs typeface="Calibri" pitchFamily="34" charset="-120"/>
              </a:rPr>
              <a:t>ring-fenced solvency</a:t>
            </a:r>
            <a:endParaRPr lang="en-US" sz="1200" dirty="0"/>
          </a:p>
        </p:txBody>
      </p:sp>
      <p:sp>
        <p:nvSpPr>
          <p:cNvPr id="10" name="Shape 7"/>
          <p:cNvSpPr/>
          <p:nvPr/>
        </p:nvSpPr>
        <p:spPr>
          <a:xfrm>
            <a:off x="6977757" y="3826470"/>
            <a:ext cx="1732558" cy="260350"/>
          </a:xfrm>
          <a:prstGeom prst="roundRect">
            <a:avLst>
              <a:gd name="adj" fmla="val 14634"/>
            </a:avLst>
          </a:prstGeom>
          <a:solidFill>
            <a:srgbClr val="E3E9EC"/>
          </a:solidFill>
          <a:ln/>
        </p:spPr>
      </p:sp>
      <p:sp>
        <p:nvSpPr>
          <p:cNvPr id="11" name="Text 8"/>
          <p:cNvSpPr txBox="1"/>
          <p:nvPr/>
        </p:nvSpPr>
        <p:spPr>
          <a:xfrm>
            <a:off x="7066657" y="3864570"/>
            <a:ext cx="1605558" cy="184150"/>
          </a:xfrm>
          <a:prstGeom prst="rect">
            <a:avLst/>
          </a:prstGeom>
          <a:noFill/>
          <a:ln/>
        </p:spPr>
        <p:txBody>
          <a:bodyPr wrap="square" lIns="0" tIns="0" rIns="0" bIns="0" rtlCol="0" anchor="t"/>
          <a:lstStyle/>
          <a:p>
            <a:pPr algn="l" indent="0" marL="0">
              <a:lnSpc>
                <a:spcPts val="1440"/>
              </a:lnSpc>
              <a:buNone/>
            </a:pPr>
            <a:r>
              <a:rPr lang="en-US" sz="1200" dirty="0">
                <a:solidFill>
                  <a:srgbClr val="13233F"/>
                </a:solidFill>
                <a:latin typeface="Calibri" pitchFamily="34" charset="0"/>
                <a:ea typeface="Calibri" pitchFamily="34" charset="-122"/>
                <a:cs typeface="Calibri" pitchFamily="34" charset="-120"/>
              </a:rPr>
              <a:t>paid work on a KKT proof</a:t>
            </a:r>
            <a:endParaRPr lang="en-US" sz="1200" dirty="0"/>
          </a:p>
        </p:txBody>
      </p:sp>
      <p:sp>
        <p:nvSpPr>
          <p:cNvPr id="12" name="Shape 9"/>
          <p:cNvSpPr/>
          <p:nvPr/>
        </p:nvSpPr>
        <p:spPr>
          <a:xfrm>
            <a:off x="8811915" y="3826470"/>
            <a:ext cx="1003399" cy="260350"/>
          </a:xfrm>
          <a:prstGeom prst="roundRect">
            <a:avLst>
              <a:gd name="adj" fmla="val 14634"/>
            </a:avLst>
          </a:prstGeom>
          <a:solidFill>
            <a:srgbClr val="E3E9EC"/>
          </a:solidFill>
          <a:ln/>
        </p:spPr>
      </p:sp>
      <p:sp>
        <p:nvSpPr>
          <p:cNvPr id="13" name="Text 10"/>
          <p:cNvSpPr txBox="1"/>
          <p:nvPr/>
        </p:nvSpPr>
        <p:spPr>
          <a:xfrm>
            <a:off x="8900815" y="3864570"/>
            <a:ext cx="876399" cy="184150"/>
          </a:xfrm>
          <a:prstGeom prst="rect">
            <a:avLst/>
          </a:prstGeom>
          <a:noFill/>
          <a:ln/>
        </p:spPr>
        <p:txBody>
          <a:bodyPr wrap="square" lIns="0" tIns="0" rIns="0" bIns="0" rtlCol="0" anchor="t"/>
          <a:lstStyle/>
          <a:p>
            <a:pPr algn="l" indent="0" marL="0">
              <a:lnSpc>
                <a:spcPts val="1440"/>
              </a:lnSpc>
              <a:buNone/>
            </a:pPr>
            <a:r>
              <a:rPr lang="en-US" sz="1200" dirty="0">
                <a:solidFill>
                  <a:srgbClr val="13233F"/>
                </a:solidFill>
                <a:latin typeface="Calibri" pitchFamily="34" charset="0"/>
                <a:ea typeface="Calibri" pitchFamily="34" charset="-122"/>
                <a:cs typeface="Calibri" pitchFamily="34" charset="-120"/>
              </a:rPr>
              <a:t>bounded loss</a:t>
            </a:r>
            <a:endParaRPr lang="en-US" sz="1200" dirty="0"/>
          </a:p>
        </p:txBody>
      </p:sp>
      <p:sp>
        <p:nvSpPr>
          <p:cNvPr id="14" name="Shape 11"/>
          <p:cNvSpPr/>
          <p:nvPr/>
        </p:nvSpPr>
        <p:spPr>
          <a:xfrm>
            <a:off x="9916914" y="3826470"/>
            <a:ext cx="1134170" cy="260350"/>
          </a:xfrm>
          <a:prstGeom prst="roundRect">
            <a:avLst>
              <a:gd name="adj" fmla="val 14634"/>
            </a:avLst>
          </a:prstGeom>
          <a:solidFill>
            <a:srgbClr val="E3E9EC"/>
          </a:solidFill>
          <a:ln/>
        </p:spPr>
      </p:sp>
      <p:sp>
        <p:nvSpPr>
          <p:cNvPr id="15" name="Text 12"/>
          <p:cNvSpPr txBox="1"/>
          <p:nvPr/>
        </p:nvSpPr>
        <p:spPr>
          <a:xfrm>
            <a:off x="10005814" y="3864570"/>
            <a:ext cx="1007170" cy="184150"/>
          </a:xfrm>
          <a:prstGeom prst="rect">
            <a:avLst/>
          </a:prstGeom>
          <a:noFill/>
          <a:ln/>
        </p:spPr>
        <p:txBody>
          <a:bodyPr wrap="square" lIns="0" tIns="0" rIns="0" bIns="0" rtlCol="0" anchor="t"/>
          <a:lstStyle/>
          <a:p>
            <a:pPr algn="l" indent="0" marL="0">
              <a:lnSpc>
                <a:spcPts val="1440"/>
              </a:lnSpc>
              <a:buNone/>
            </a:pPr>
            <a:r>
              <a:rPr lang="en-US" sz="1200" dirty="0">
                <a:solidFill>
                  <a:srgbClr val="13233F"/>
                </a:solidFill>
                <a:latin typeface="Calibri" pitchFamily="34" charset="0"/>
                <a:ea typeface="Calibri" pitchFamily="34" charset="-122"/>
                <a:cs typeface="Calibri" pitchFamily="34" charset="-120"/>
              </a:rPr>
              <a:t>proven clearing</a:t>
            </a:r>
            <a:endParaRPr lang="en-US" sz="1200" dirty="0"/>
          </a:p>
        </p:txBody>
      </p:sp>
      <p:sp>
        <p:nvSpPr>
          <p:cNvPr id="16" name="Shape 13"/>
          <p:cNvSpPr/>
          <p:nvPr/>
        </p:nvSpPr>
        <p:spPr>
          <a:xfrm>
            <a:off x="812800" y="4188420"/>
            <a:ext cx="1827213" cy="260350"/>
          </a:xfrm>
          <a:prstGeom prst="roundRect">
            <a:avLst>
              <a:gd name="adj" fmla="val 14634"/>
            </a:avLst>
          </a:prstGeom>
          <a:solidFill>
            <a:srgbClr val="E3E9EC"/>
          </a:solidFill>
          <a:ln/>
        </p:spPr>
      </p:sp>
      <p:sp>
        <p:nvSpPr>
          <p:cNvPr id="17" name="Text 14"/>
          <p:cNvSpPr txBox="1"/>
          <p:nvPr/>
        </p:nvSpPr>
        <p:spPr>
          <a:xfrm>
            <a:off x="901700" y="4226520"/>
            <a:ext cx="1700213" cy="184150"/>
          </a:xfrm>
          <a:prstGeom prst="rect">
            <a:avLst/>
          </a:prstGeom>
          <a:noFill/>
          <a:ln/>
        </p:spPr>
        <p:txBody>
          <a:bodyPr wrap="square" lIns="0" tIns="0" rIns="0" bIns="0" rtlCol="0" anchor="t"/>
          <a:lstStyle/>
          <a:p>
            <a:pPr algn="l" indent="0" marL="0">
              <a:lnSpc>
                <a:spcPts val="1440"/>
              </a:lnSpc>
              <a:buNone/>
            </a:pPr>
            <a:r>
              <a:rPr lang="en-US" sz="1200" dirty="0">
                <a:solidFill>
                  <a:srgbClr val="13233F"/>
                </a:solidFill>
                <a:latin typeface="Calibri" pitchFamily="34" charset="0"/>
                <a:ea typeface="Calibri" pitchFamily="34" charset="-122"/>
                <a:cs typeface="Calibri" pitchFamily="34" charset="-120"/>
              </a:rPr>
              <a:t>zero-knowledge optimality</a:t>
            </a:r>
            <a:endParaRPr lang="en-US" sz="1200" dirty="0"/>
          </a:p>
        </p:txBody>
      </p:sp>
      <p:sp>
        <p:nvSpPr>
          <p:cNvPr id="18" name="Text 15"/>
          <p:cNvSpPr txBox="1"/>
          <p:nvPr/>
        </p:nvSpPr>
        <p:spPr>
          <a:xfrm>
            <a:off x="812800" y="6267450"/>
            <a:ext cx="84201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All 196 transactions with blocks and errors: docs/EVIDENCE.md · backup slides B1–B8</a:t>
            </a:r>
            <a:endParaRPr lang="en-US" sz="1200" dirty="0"/>
          </a:p>
        </p:txBody>
      </p:sp>
      <p:sp>
        <p:nvSpPr>
          <p:cNvPr id="19" name="Text 16"/>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Appendix A4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EVALUATION · 1,000 SEEDED MARKETS</a:t>
            </a:r>
            <a:endParaRPr lang="en-US" sz="1200" dirty="0"/>
          </a:p>
        </p:txBody>
      </p:sp>
      <p:sp>
        <p:nvSpPr>
          <p:cNvPr id="3" name="Text 1"/>
          <p:cNvSpPr txBox="1"/>
          <p:nvPr/>
        </p:nvSpPr>
        <p:spPr>
          <a:xfrm>
            <a:off x="812800" y="12001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What the proof buys, including where it buys little</a:t>
            </a:r>
            <a:endParaRPr lang="en-US" sz="3200" dirty="0"/>
          </a:p>
        </p:txBody>
      </p:sp>
      <p:sp>
        <p:nvSpPr>
          <p:cNvPr id="4" name="Text 2"/>
          <p:cNvSpPr txBox="1"/>
          <p:nvPr/>
        </p:nvSpPr>
        <p:spPr>
          <a:xfrm>
            <a:off x="812800" y="1870670"/>
            <a:ext cx="5829300" cy="184150"/>
          </a:xfrm>
          <a:prstGeom prst="rect">
            <a:avLst/>
          </a:prstGeom>
          <a:noFill/>
          <a:ln/>
        </p:spPr>
        <p:txBody>
          <a:bodyPr wrap="square" lIns="0" tIns="0" rIns="0" bIns="0" rtlCol="0" anchor="t"/>
          <a:lstStyle/>
          <a:p>
            <a:pPr algn="l" indent="0" marL="0">
              <a:lnSpc>
                <a:spcPts val="1440"/>
              </a:lnSpc>
              <a:buNone/>
            </a:pPr>
            <a:r>
              <a:rPr lang="en-US" sz="1200" b="1" dirty="0">
                <a:solidFill>
                  <a:srgbClr val="4E6074"/>
                </a:solidFill>
                <a:latin typeface="Calibri" pitchFamily="34" charset="0"/>
                <a:ea typeface="Calibri" pitchFamily="34" charset="-122"/>
                <a:cs typeface="Calibri" pitchFamily="34" charset="-120"/>
              </a:rPr>
              <a:t>Median shortfall below the optimum, bps</a:t>
            </a:r>
            <a:endParaRPr lang="en-US" sz="1200" dirty="0"/>
          </a:p>
        </p:txBody>
      </p:sp>
      <p:graphicFrame>
        <p:nvGraphicFramePr>
          <p:cNvPr id="5" name="Chart 0" descr="Median shortfall below the optimum: best single pool 74.5 bps, equal split over direct pools 117.2 bps, optimal split over direct pools only 33.7 bps, QED's certified route at most 0.01 bps by construction"/>
          <p:cNvGraphicFramePr/>
          <p:nvPr/>
        </p:nvGraphicFramePr>
        <p:xfrm>
          <a:off x="812800" y="2143720"/>
          <a:ext cx="5715000" cy="2540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6832600" y="1870670"/>
            <a:ext cx="4637532" cy="373380"/>
          </a:xfrm>
          <a:prstGeom prst="rect">
            <a:avLst/>
          </a:prstGeom>
          <a:noFill/>
          <a:ln/>
        </p:spPr>
        <p:txBody>
          <a:bodyPr wrap="square" lIns="0" tIns="0" rIns="0" bIns="0" rtlCol="0" anchor="t"/>
          <a:lstStyle/>
          <a:p>
            <a:pPr algn="l" indent="0" marL="0">
              <a:lnSpc>
                <a:spcPts val="2940"/>
              </a:lnSpc>
              <a:buNone/>
            </a:pPr>
            <a:r>
              <a:rPr lang="en-US" sz="2800" dirty="0">
                <a:solidFill>
                  <a:srgbClr val="B1262E"/>
                </a:solidFill>
                <a:latin typeface="Cambria" pitchFamily="34" charset="0"/>
                <a:ea typeface="Cambria" pitchFamily="34" charset="-122"/>
                <a:cs typeface="Cambria" pitchFamily="34" charset="-120"/>
              </a:rPr>
              <a:t>14–32 bps</a:t>
            </a:r>
            <a:endParaRPr lang="en-US" sz="2800" dirty="0"/>
          </a:p>
        </p:txBody>
      </p:sp>
      <p:sp>
        <p:nvSpPr>
          <p:cNvPr id="7" name="Text 4"/>
          <p:cNvSpPr txBox="1"/>
          <p:nvPr/>
        </p:nvSpPr>
        <p:spPr>
          <a:xfrm>
            <a:off x="6832600" y="2269430"/>
            <a:ext cx="4637532" cy="411361"/>
          </a:xfrm>
          <a:prstGeom prst="rect">
            <a:avLst/>
          </a:prstGeom>
          <a:noFill/>
          <a:ln/>
        </p:spPr>
        <p:txBody>
          <a:bodyPr wrap="square" lIns="0" tIns="0" rIns="0" bIns="0" rtlCol="0" anchor="t"/>
          <a:lstStyle/>
          <a:p>
            <a:pPr algn="l" indent="0" marL="0">
              <a:lnSpc>
                <a:spcPts val="1620"/>
              </a:lnSpc>
              <a:buNone/>
            </a:pPr>
            <a:r>
              <a:rPr lang="en-US" sz="1200" dirty="0">
                <a:solidFill>
                  <a:srgbClr val="4E6074"/>
                </a:solidFill>
                <a:latin typeface="Calibri" pitchFamily="34" charset="0"/>
                <a:ea typeface="Calibri" pitchFamily="34" charset="-122"/>
                <a:cs typeface="Calibri" pitchFamily="34" charset="-120"/>
              </a:rPr>
              <a:t>median a hostile agent keeps per trade while still clearing a 1% floor (max 99.9). With QED: ≤ 0.01.</a:t>
            </a:r>
            <a:endParaRPr lang="en-US" sz="1200" dirty="0"/>
          </a:p>
        </p:txBody>
      </p:sp>
      <p:sp>
        <p:nvSpPr>
          <p:cNvPr id="8" name="Text 5"/>
          <p:cNvSpPr txBox="1"/>
          <p:nvPr/>
        </p:nvSpPr>
        <p:spPr>
          <a:xfrm>
            <a:off x="6832600" y="2845891"/>
            <a:ext cx="4637532" cy="373380"/>
          </a:xfrm>
          <a:prstGeom prst="rect">
            <a:avLst/>
          </a:prstGeom>
          <a:noFill/>
          <a:ln/>
        </p:spPr>
        <p:txBody>
          <a:bodyPr wrap="square" lIns="0" tIns="0" rIns="0" bIns="0" rtlCol="0" anchor="t"/>
          <a:lstStyle/>
          <a:p>
            <a:pPr algn="l" indent="0" marL="0">
              <a:lnSpc>
                <a:spcPts val="2940"/>
              </a:lnSpc>
              <a:buNone/>
            </a:pPr>
            <a:r>
              <a:rPr lang="en-US" sz="2800" dirty="0">
                <a:solidFill>
                  <a:srgbClr val="0A7468"/>
                </a:solidFill>
                <a:latin typeface="Cambria" pitchFamily="34" charset="0"/>
                <a:ea typeface="Cambria" pitchFamily="34" charset="-122"/>
                <a:cs typeface="Cambria" pitchFamily="34" charset="-120"/>
              </a:rPr>
              <a:t>0.075 ppm</a:t>
            </a:r>
            <a:endParaRPr lang="en-US" sz="2800" dirty="0"/>
          </a:p>
        </p:txBody>
      </p:sp>
      <p:sp>
        <p:nvSpPr>
          <p:cNvPr id="9" name="Text 6"/>
          <p:cNvSpPr txBox="1"/>
          <p:nvPr/>
        </p:nvSpPr>
        <p:spPr>
          <a:xfrm>
            <a:off x="6832600" y="3244652"/>
            <a:ext cx="4637532" cy="411361"/>
          </a:xfrm>
          <a:prstGeom prst="rect">
            <a:avLst/>
          </a:prstGeom>
          <a:noFill/>
          <a:ln/>
        </p:spPr>
        <p:txBody>
          <a:bodyPr wrap="square" lIns="0" tIns="0" rIns="0" bIns="0" rtlCol="0" anchor="t"/>
          <a:lstStyle/>
          <a:p>
            <a:pPr algn="l" indent="0" marL="0">
              <a:lnSpc>
                <a:spcPts val="1620"/>
              </a:lnSpc>
              <a:buNone/>
            </a:pPr>
            <a:r>
              <a:rPr lang="en-US" sz="1200" dirty="0">
                <a:solidFill>
                  <a:srgbClr val="4E6074"/>
                </a:solidFill>
                <a:latin typeface="Calibri" pitchFamily="34" charset="0"/>
                <a:ea typeface="Calibri" pitchFamily="34" charset="-122"/>
                <a:cs typeface="Calibri" pitchFamily="34" charset="-120"/>
              </a:rPr>
              <a:t>median gap between our route and its own bound; 92.3% within 1 ppm; solver 3.3 ms median.</a:t>
            </a:r>
            <a:endParaRPr lang="en-US" sz="1200" dirty="0"/>
          </a:p>
        </p:txBody>
      </p:sp>
      <p:sp>
        <p:nvSpPr>
          <p:cNvPr id="10" name="Text 7"/>
          <p:cNvSpPr txBox="1"/>
          <p:nvPr/>
        </p:nvSpPr>
        <p:spPr>
          <a:xfrm>
            <a:off x="6832600" y="3821113"/>
            <a:ext cx="4637532" cy="373380"/>
          </a:xfrm>
          <a:prstGeom prst="rect">
            <a:avLst/>
          </a:prstGeom>
          <a:noFill/>
          <a:ln/>
        </p:spPr>
        <p:txBody>
          <a:bodyPr wrap="square" lIns="0" tIns="0" rIns="0" bIns="0" rtlCol="0" anchor="t"/>
          <a:lstStyle/>
          <a:p>
            <a:pPr algn="l" indent="0" marL="0">
              <a:lnSpc>
                <a:spcPts val="2940"/>
              </a:lnSpc>
              <a:buNone/>
            </a:pPr>
            <a:r>
              <a:rPr lang="en-US" sz="2800" dirty="0">
                <a:solidFill>
                  <a:srgbClr val="13233F"/>
                </a:solidFill>
                <a:latin typeface="Cambria" pitchFamily="34" charset="0"/>
                <a:ea typeface="Cambria" pitchFamily="34" charset="-122"/>
                <a:cs typeface="Cambria" pitchFamily="34" charset="-120"/>
              </a:rPr>
              <a:t>3.2 bps</a:t>
            </a:r>
            <a:endParaRPr lang="en-US" sz="2800" dirty="0"/>
          </a:p>
        </p:txBody>
      </p:sp>
      <p:sp>
        <p:nvSpPr>
          <p:cNvPr id="11" name="Text 8"/>
          <p:cNvSpPr txBox="1"/>
          <p:nvPr/>
        </p:nvSpPr>
        <p:spPr>
          <a:xfrm>
            <a:off x="6832600" y="4219873"/>
            <a:ext cx="4637532" cy="411361"/>
          </a:xfrm>
          <a:prstGeom prst="rect">
            <a:avLst/>
          </a:prstGeom>
          <a:noFill/>
          <a:ln/>
        </p:spPr>
        <p:txBody>
          <a:bodyPr wrap="square" lIns="0" tIns="0" rIns="0" bIns="0" rtlCol="0" anchor="t"/>
          <a:lstStyle/>
          <a:p>
            <a:pPr algn="l" indent="0" marL="0">
              <a:lnSpc>
                <a:spcPts val="1620"/>
              </a:lnSpc>
              <a:buNone/>
            </a:pPr>
            <a:r>
              <a:rPr lang="en-US" sz="1200" dirty="0">
                <a:solidFill>
                  <a:srgbClr val="4E6074"/>
                </a:solidFill>
                <a:latin typeface="Calibri" pitchFamily="34" charset="0"/>
                <a:ea typeface="Calibri" pitchFamily="34" charset="-122"/>
                <a:cs typeface="Calibri" pitchFamily="34" charset="-120"/>
              </a:rPr>
              <a:t>Honest limit: for trades under 0.5% of depth a good router is already this close. There the proof buys the guarantee, not the average.</a:t>
            </a:r>
            <a:endParaRPr lang="en-US" sz="1200" dirty="0"/>
          </a:p>
        </p:txBody>
      </p:sp>
      <p:sp>
        <p:nvSpPr>
          <p:cNvPr id="12" name="Text 9"/>
          <p:cNvSpPr txBox="1"/>
          <p:nvPr/>
        </p:nvSpPr>
        <p:spPr>
          <a:xfrm>
            <a:off x="812800" y="6267450"/>
            <a:ext cx="90678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benchmarks/run.ts · fixed seeds, re-run and diffed in CI · baselines are simple policies, not production aggregators</a:t>
            </a:r>
            <a:endParaRPr lang="en-US" sz="1200" dirty="0"/>
          </a:p>
        </p:txBody>
      </p:sp>
      <p:sp>
        <p:nvSpPr>
          <p:cNvPr id="13" name="Text 10"/>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Appendix A5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46C4B0"/>
                </a:solidFill>
                <a:latin typeface="Calibri" pitchFamily="34" charset="0"/>
                <a:ea typeface="Calibri" pitchFamily="34" charset="-122"/>
                <a:cs typeface="Calibri" pitchFamily="34" charset="-120"/>
              </a:rPr>
              <a:t>FALSIFIABLE, FOR MONEY</a:t>
            </a:r>
            <a:endParaRPr lang="en-US" sz="1200" dirty="0"/>
          </a:p>
        </p:txBody>
      </p:sp>
      <p:sp>
        <p:nvSpPr>
          <p:cNvPr id="3" name="Text 1"/>
          <p:cNvSpPr txBox="1"/>
          <p:nvPr/>
        </p:nvSpPr>
        <p:spPr>
          <a:xfrm>
            <a:off x="812800" y="12001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E4ECF1"/>
                </a:solidFill>
                <a:latin typeface="Cambria" pitchFamily="34" charset="0"/>
                <a:ea typeface="Cambria" pitchFamily="34" charset="-122"/>
                <a:cs typeface="Cambria" pitchFamily="34" charset="-120"/>
              </a:rPr>
              <a:t>Beat the bound and the contract pays you 1,000 tUSD.</a:t>
            </a:r>
            <a:endParaRPr lang="en-US" sz="3200" dirty="0"/>
          </a:p>
        </p:txBody>
      </p:sp>
      <p:sp>
        <p:nvSpPr>
          <p:cNvPr id="4" name="Shape 2"/>
          <p:cNvSpPr/>
          <p:nvPr/>
        </p:nvSpPr>
        <p:spPr>
          <a:xfrm>
            <a:off x="812800" y="1870670"/>
            <a:ext cx="5365750" cy="2134791"/>
          </a:xfrm>
          <a:prstGeom prst="roundRect">
            <a:avLst>
              <a:gd name="adj" fmla="val 2380"/>
            </a:avLst>
          </a:prstGeom>
          <a:solidFill>
            <a:srgbClr val="1D3152"/>
          </a:solidFill>
          <a:ln w="6350">
            <a:solidFill>
              <a:srgbClr val="2E4A72"/>
            </a:solidFill>
            <a:prstDash val="solid"/>
          </a:ln>
        </p:spPr>
      </p:sp>
      <p:sp>
        <p:nvSpPr>
          <p:cNvPr id="5" name="Text 3"/>
          <p:cNvSpPr txBox="1"/>
          <p:nvPr/>
        </p:nvSpPr>
        <p:spPr>
          <a:xfrm>
            <a:off x="1047750" y="2105620"/>
            <a:ext cx="4993767" cy="184150"/>
          </a:xfrm>
          <a:prstGeom prst="rect">
            <a:avLst/>
          </a:prstGeom>
          <a:noFill/>
          <a:ln/>
        </p:spPr>
        <p:txBody>
          <a:bodyPr wrap="square" lIns="0" tIns="0" rIns="0" bIns="0" rtlCol="0" anchor="t"/>
          <a:lstStyle/>
          <a:p>
            <a:pPr algn="l" indent="0" marL="0">
              <a:lnSpc>
                <a:spcPts val="1440"/>
              </a:lnSpc>
              <a:buNone/>
            </a:pPr>
            <a:r>
              <a:rPr lang="en-US" sz="1200" b="1" spc="100" kern="0" dirty="0">
                <a:solidFill>
                  <a:srgbClr val="46C4B0"/>
                </a:solidFill>
                <a:latin typeface="Calibri" pitchFamily="34" charset="0"/>
                <a:ea typeface="Calibri" pitchFamily="34" charset="-122"/>
                <a:cs typeface="Calibri" pitchFamily="34" charset="-120"/>
              </a:rPr>
              <a:t>EXECUTIONBOUNTY · 0X3148…19C4</a:t>
            </a:r>
            <a:endParaRPr lang="en-US" sz="1200" dirty="0"/>
          </a:p>
        </p:txBody>
      </p:sp>
      <p:sp>
        <p:nvSpPr>
          <p:cNvPr id="6" name="Text 4"/>
          <p:cNvSpPr txBox="1"/>
          <p:nvPr/>
        </p:nvSpPr>
        <p:spPr>
          <a:xfrm>
            <a:off x="1047750" y="2404070"/>
            <a:ext cx="4993767" cy="426641"/>
          </a:xfrm>
          <a:prstGeom prst="rect">
            <a:avLst/>
          </a:prstGeom>
          <a:noFill/>
          <a:ln/>
        </p:spPr>
        <p:txBody>
          <a:bodyPr wrap="square" lIns="0" tIns="0" rIns="0" bIns="0" rtlCol="0" anchor="t"/>
          <a:lstStyle/>
          <a:p>
            <a:pPr algn="l" indent="0" marL="0">
              <a:lnSpc>
                <a:spcPts val="1680"/>
              </a:lnSpc>
              <a:buNone/>
            </a:pPr>
            <a:r>
              <a:rPr lang="en-US" sz="1200" dirty="0">
                <a:solidFill>
                  <a:srgbClr val="A9BACB"/>
                </a:solidFill>
                <a:latin typeface="Calibri" pitchFamily="34" charset="0"/>
                <a:ea typeface="Calibri" pitchFamily="34" charset="-122"/>
                <a:cs typeface="Calibri" pitchFamily="34" charset="-120"/>
              </a:rPr>
              <a:t>Runs your route on its own funds and compares the output with the deployed QEDExecution's bound. No judge, no owner, no withdrawal.</a:t>
            </a:r>
            <a:endParaRPr lang="en-US" sz="1200" dirty="0"/>
          </a:p>
        </p:txBody>
      </p:sp>
      <p:sp>
        <p:nvSpPr>
          <p:cNvPr id="7" name="Shape 5"/>
          <p:cNvSpPr/>
          <p:nvPr/>
        </p:nvSpPr>
        <p:spPr>
          <a:xfrm>
            <a:off x="1047750" y="2948186"/>
            <a:ext cx="4895850" cy="0"/>
          </a:xfrm>
          <a:prstGeom prst="line">
            <a:avLst/>
          </a:prstGeom>
          <a:noFill/>
          <a:ln w="6350">
            <a:solidFill>
              <a:srgbClr val="2E4A72"/>
            </a:solidFill>
            <a:prstDash val="solid"/>
          </a:ln>
        </p:spPr>
      </p:sp>
      <p:sp>
        <p:nvSpPr>
          <p:cNvPr id="8" name="Text 6"/>
          <p:cNvSpPr txBox="1"/>
          <p:nvPr/>
        </p:nvSpPr>
        <p:spPr>
          <a:xfrm>
            <a:off x="1047750" y="3065661"/>
            <a:ext cx="622300" cy="184150"/>
          </a:xfrm>
          <a:prstGeom prst="rect">
            <a:avLst/>
          </a:prstGeom>
          <a:noFill/>
          <a:ln/>
        </p:spPr>
        <p:txBody>
          <a:bodyPr wrap="square" lIns="0" tIns="0" rIns="0" bIns="0" rtlCol="0" anchor="t"/>
          <a:lstStyle/>
          <a:p>
            <a:pPr algn="l" indent="0" marL="0">
              <a:lnSpc>
                <a:spcPts val="1440"/>
              </a:lnSpc>
              <a:buNone/>
            </a:pPr>
            <a:r>
              <a:rPr lang="en-US" sz="1200" dirty="0">
                <a:solidFill>
                  <a:srgbClr val="46C4B0"/>
                </a:solidFill>
                <a:latin typeface="Calibri" pitchFamily="34" charset="0"/>
                <a:ea typeface="Calibri" pitchFamily="34" charset="-122"/>
                <a:cs typeface="Calibri" pitchFamily="34" charset="-120"/>
              </a:rPr>
              <a:t>XA1</a:t>
            </a:r>
            <a:endParaRPr lang="en-US" sz="1200" dirty="0"/>
          </a:p>
        </p:txBody>
      </p:sp>
      <p:sp>
        <p:nvSpPr>
          <p:cNvPr id="9" name="Text 7"/>
          <p:cNvSpPr txBox="1"/>
          <p:nvPr/>
        </p:nvSpPr>
        <p:spPr>
          <a:xfrm>
            <a:off x="1695450" y="3065661"/>
            <a:ext cx="4333113" cy="18415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the optimal route itself → TheoremHolds</a:t>
            </a:r>
            <a:endParaRPr lang="en-US" sz="1200" dirty="0"/>
          </a:p>
        </p:txBody>
      </p:sp>
      <p:sp>
        <p:nvSpPr>
          <p:cNvPr id="10" name="Text 8"/>
          <p:cNvSpPr txBox="1"/>
          <p:nvPr/>
        </p:nvSpPr>
        <p:spPr>
          <a:xfrm>
            <a:off x="1047750" y="3326011"/>
            <a:ext cx="622300" cy="184150"/>
          </a:xfrm>
          <a:prstGeom prst="rect">
            <a:avLst/>
          </a:prstGeom>
          <a:noFill/>
          <a:ln/>
        </p:spPr>
        <p:txBody>
          <a:bodyPr wrap="square" lIns="0" tIns="0" rIns="0" bIns="0" rtlCol="0" anchor="t"/>
          <a:lstStyle/>
          <a:p>
            <a:pPr algn="l" indent="0" marL="0">
              <a:lnSpc>
                <a:spcPts val="1440"/>
              </a:lnSpc>
              <a:buNone/>
            </a:pPr>
            <a:r>
              <a:rPr lang="en-US" sz="1200" dirty="0">
                <a:solidFill>
                  <a:srgbClr val="46C4B0"/>
                </a:solidFill>
                <a:latin typeface="Calibri" pitchFamily="34" charset="0"/>
                <a:ea typeface="Calibri" pitchFamily="34" charset="-122"/>
                <a:cs typeface="Calibri" pitchFamily="34" charset="-120"/>
              </a:rPr>
              <a:t>XA2</a:t>
            </a:r>
            <a:endParaRPr lang="en-US" sz="1200" dirty="0"/>
          </a:p>
        </p:txBody>
      </p:sp>
      <p:sp>
        <p:nvSpPr>
          <p:cNvPr id="11" name="Text 9"/>
          <p:cNvSpPr txBox="1"/>
          <p:nvPr/>
        </p:nvSpPr>
        <p:spPr>
          <a:xfrm>
            <a:off x="1695450" y="3326011"/>
            <a:ext cx="4333113" cy="18415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prices lowered 3% to shrink the bound → TheoremHolds</a:t>
            </a:r>
            <a:endParaRPr lang="en-US" sz="1200" dirty="0"/>
          </a:p>
        </p:txBody>
      </p:sp>
      <p:sp>
        <p:nvSpPr>
          <p:cNvPr id="12" name="Text 10"/>
          <p:cNvSpPr txBox="1"/>
          <p:nvPr/>
        </p:nvSpPr>
        <p:spPr>
          <a:xfrm>
            <a:off x="1047750" y="3586361"/>
            <a:ext cx="622300" cy="184150"/>
          </a:xfrm>
          <a:prstGeom prst="rect">
            <a:avLst/>
          </a:prstGeom>
          <a:noFill/>
          <a:ln/>
        </p:spPr>
        <p:txBody>
          <a:bodyPr wrap="square" lIns="0" tIns="0" rIns="0" bIns="0" rtlCol="0" anchor="t"/>
          <a:lstStyle/>
          <a:p>
            <a:pPr algn="l" indent="0" marL="0">
              <a:lnSpc>
                <a:spcPts val="1440"/>
              </a:lnSpc>
              <a:buNone/>
            </a:pPr>
            <a:r>
              <a:rPr lang="en-US" sz="1200" dirty="0">
                <a:solidFill>
                  <a:srgbClr val="46C4B0"/>
                </a:solidFill>
                <a:latin typeface="Calibri" pitchFamily="34" charset="0"/>
                <a:ea typeface="Calibri" pitchFamily="34" charset="-122"/>
                <a:cs typeface="Calibri" pitchFamily="34" charset="-120"/>
              </a:rPr>
              <a:t>XA3</a:t>
            </a:r>
            <a:endParaRPr lang="en-US" sz="1200" dirty="0"/>
          </a:p>
        </p:txBody>
      </p:sp>
      <p:sp>
        <p:nvSpPr>
          <p:cNvPr id="13" name="Text 11"/>
          <p:cNvSpPr txBox="1"/>
          <p:nvPr/>
        </p:nvSpPr>
        <p:spPr>
          <a:xfrm>
            <a:off x="1695450" y="3586361"/>
            <a:ext cx="4333113" cy="18415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the whole 1,000 tUSD in one trade → TheoremHolds</a:t>
            </a:r>
            <a:endParaRPr lang="en-US" sz="1200" dirty="0"/>
          </a:p>
        </p:txBody>
      </p:sp>
      <p:sp>
        <p:nvSpPr>
          <p:cNvPr id="14" name="Text 12"/>
          <p:cNvSpPr txBox="1"/>
          <p:nvPr/>
        </p:nvSpPr>
        <p:spPr>
          <a:xfrm>
            <a:off x="6483350" y="1870670"/>
            <a:ext cx="4993767" cy="373380"/>
          </a:xfrm>
          <a:prstGeom prst="rect">
            <a:avLst/>
          </a:prstGeom>
          <a:noFill/>
          <a:ln/>
        </p:spPr>
        <p:txBody>
          <a:bodyPr wrap="square" lIns="0" tIns="0" rIns="0" bIns="0" rtlCol="0" anchor="t"/>
          <a:lstStyle/>
          <a:p>
            <a:pPr algn="l" indent="0" marL="0">
              <a:lnSpc>
                <a:spcPts val="2940"/>
              </a:lnSpc>
              <a:buNone/>
            </a:pPr>
            <a:r>
              <a:rPr lang="en-US" sz="2800" dirty="0">
                <a:solidFill>
                  <a:srgbClr val="46C4B0"/>
                </a:solidFill>
                <a:latin typeface="Cambria" pitchFamily="34" charset="0"/>
                <a:ea typeface="Cambria" pitchFamily="34" charset="-122"/>
                <a:cs typeface="Cambria" pitchFamily="34" charset="-120"/>
              </a:rPr>
              <a:t>3,000 tUSD</a:t>
            </a:r>
            <a:endParaRPr lang="en-US" sz="2800" dirty="0"/>
          </a:p>
        </p:txBody>
      </p:sp>
      <p:sp>
        <p:nvSpPr>
          <p:cNvPr id="15" name="Text 13"/>
          <p:cNvSpPr txBox="1"/>
          <p:nvPr/>
        </p:nvSpPr>
        <p:spPr>
          <a:xfrm>
            <a:off x="6483350" y="2282130"/>
            <a:ext cx="4993767" cy="411361"/>
          </a:xfrm>
          <a:prstGeom prst="rect">
            <a:avLst/>
          </a:prstGeom>
          <a:noFill/>
          <a:ln/>
        </p:spPr>
        <p:txBody>
          <a:bodyPr wrap="square" lIns="0" tIns="0" rIns="0" bIns="0" rtlCol="0" anchor="t"/>
          <a:lstStyle/>
          <a:p>
            <a:pPr algn="l" indent="0" marL="0">
              <a:lnSpc>
                <a:spcPts val="1620"/>
              </a:lnSpc>
              <a:buNone/>
            </a:pPr>
            <a:r>
              <a:rPr lang="en-US" sz="1200" dirty="0">
                <a:solidFill>
                  <a:srgbClr val="A9BACB"/>
                </a:solidFill>
                <a:latin typeface="Calibri" pitchFamily="34" charset="0"/>
                <a:ea typeface="Calibri" pitchFamily="34" charset="-122"/>
                <a:cs typeface="Calibri" pitchFamily="34" charset="-120"/>
              </a:rPr>
              <a:t>unclaimed across three theorems: best execution, portfolio optimality, clearing maximality. Checked daily in CI.</a:t>
            </a:r>
            <a:endParaRPr lang="en-US" sz="1200" dirty="0"/>
          </a:p>
        </p:txBody>
      </p:sp>
      <p:sp>
        <p:nvSpPr>
          <p:cNvPr id="16" name="Text 14"/>
          <p:cNvSpPr txBox="1"/>
          <p:nvPr/>
        </p:nvSpPr>
        <p:spPr>
          <a:xfrm>
            <a:off x="6483350" y="2845891"/>
            <a:ext cx="4993767" cy="373380"/>
          </a:xfrm>
          <a:prstGeom prst="rect">
            <a:avLst/>
          </a:prstGeom>
          <a:noFill/>
          <a:ln/>
        </p:spPr>
        <p:txBody>
          <a:bodyPr wrap="square" lIns="0" tIns="0" rIns="0" bIns="0" rtlCol="0" anchor="t"/>
          <a:lstStyle/>
          <a:p>
            <a:pPr algn="l" indent="0" marL="0">
              <a:lnSpc>
                <a:spcPts val="2940"/>
              </a:lnSpc>
              <a:buNone/>
            </a:pPr>
            <a:r>
              <a:rPr lang="en-US" sz="2800" dirty="0">
                <a:solidFill>
                  <a:srgbClr val="46C4B0"/>
                </a:solidFill>
                <a:latin typeface="Cambria" pitchFamily="34" charset="0"/>
                <a:ea typeface="Cambria" pitchFamily="34" charset="-122"/>
                <a:cs typeface="Cambria" pitchFamily="34" charset="-120"/>
              </a:rPr>
              <a:t>6,000</a:t>
            </a:r>
            <a:endParaRPr lang="en-US" sz="2800" dirty="0"/>
          </a:p>
        </p:txBody>
      </p:sp>
      <p:sp>
        <p:nvSpPr>
          <p:cNvPr id="17" name="Text 15"/>
          <p:cNvSpPr txBox="1"/>
          <p:nvPr/>
        </p:nvSpPr>
        <p:spPr>
          <a:xfrm>
            <a:off x="6483350" y="3257352"/>
            <a:ext cx="4993767" cy="411361"/>
          </a:xfrm>
          <a:prstGeom prst="rect">
            <a:avLst/>
          </a:prstGeom>
          <a:noFill/>
          <a:ln/>
        </p:spPr>
        <p:txBody>
          <a:bodyPr wrap="square" lIns="0" tIns="0" rIns="0" bIns="0" rtlCol="0" anchor="t"/>
          <a:lstStyle/>
          <a:p>
            <a:pPr algn="l" indent="0" marL="0">
              <a:lnSpc>
                <a:spcPts val="1620"/>
              </a:lnSpc>
              <a:buNone/>
            </a:pPr>
            <a:r>
              <a:rPr lang="en-US" sz="1200" dirty="0">
                <a:solidFill>
                  <a:srgbClr val="A9BACB"/>
                </a:solidFill>
                <a:latin typeface="Calibri" pitchFamily="34" charset="0"/>
                <a:ea typeface="Calibri" pitchFamily="34" charset="-122"/>
                <a:cs typeface="Calibri" pitchFamily="34" charset="-120"/>
              </a:rPr>
              <a:t>fuzzed routes, prices and claims never beat the bound; weak duality also holds on 12,000 route–price pairs off-chain.</a:t>
            </a:r>
            <a:endParaRPr lang="en-US" sz="1200" dirty="0"/>
          </a:p>
        </p:txBody>
      </p:sp>
      <p:sp>
        <p:nvSpPr>
          <p:cNvPr id="18" name="Text 16"/>
          <p:cNvSpPr txBox="1"/>
          <p:nvPr/>
        </p:nvSpPr>
        <p:spPr>
          <a:xfrm>
            <a:off x="6483350" y="3821113"/>
            <a:ext cx="4993767" cy="373380"/>
          </a:xfrm>
          <a:prstGeom prst="rect">
            <a:avLst/>
          </a:prstGeom>
          <a:noFill/>
          <a:ln/>
        </p:spPr>
        <p:txBody>
          <a:bodyPr wrap="square" lIns="0" tIns="0" rIns="0" bIns="0" rtlCol="0" anchor="t"/>
          <a:lstStyle/>
          <a:p>
            <a:pPr algn="l" indent="0" marL="0">
              <a:lnSpc>
                <a:spcPts val="2940"/>
              </a:lnSpc>
              <a:buNone/>
            </a:pPr>
            <a:r>
              <a:rPr lang="en-US" sz="2800" dirty="0">
                <a:solidFill>
                  <a:srgbClr val="46C4B0"/>
                </a:solidFill>
                <a:latin typeface="Cambria" pitchFamily="34" charset="0"/>
                <a:ea typeface="Cambria" pitchFamily="34" charset="-122"/>
                <a:cs typeface="Cambria" pitchFamily="34" charset="-120"/>
              </a:rPr>
              <a:t>Positive control</a:t>
            </a:r>
            <a:endParaRPr lang="en-US" sz="2800" dirty="0"/>
          </a:p>
        </p:txBody>
      </p:sp>
      <p:sp>
        <p:nvSpPr>
          <p:cNvPr id="19" name="Text 17"/>
          <p:cNvSpPr txBox="1"/>
          <p:nvPr/>
        </p:nvSpPr>
        <p:spPr>
          <a:xfrm>
            <a:off x="6483350" y="4232573"/>
            <a:ext cx="4993767" cy="411361"/>
          </a:xfrm>
          <a:prstGeom prst="rect">
            <a:avLst/>
          </a:prstGeom>
          <a:noFill/>
          <a:ln/>
        </p:spPr>
        <p:txBody>
          <a:bodyPr wrap="square" lIns="0" tIns="0" rIns="0" bIns="0" rtlCol="0" anchor="t"/>
          <a:lstStyle/>
          <a:p>
            <a:pPr algn="l" indent="0" marL="0">
              <a:lnSpc>
                <a:spcPts val="1620"/>
              </a:lnSpc>
              <a:buNone/>
            </a:pPr>
            <a:r>
              <a:rPr lang="en-US" sz="1200" dirty="0">
                <a:solidFill>
                  <a:srgbClr val="A9BACB"/>
                </a:solidFill>
                <a:latin typeface="Calibri" pitchFamily="34" charset="0"/>
                <a:ea typeface="Calibri" pitchFamily="34" charset="-122"/>
                <a:cs typeface="Calibri" pitchFamily="34" charset="-120"/>
              </a:rPr>
              <a:t>against a bound understated by 0.1%, the bounty pays the first real refutation, so the check is not vacuous.</a:t>
            </a:r>
            <a:endParaRPr lang="en-US" sz="1200" dirty="0"/>
          </a:p>
        </p:txBody>
      </p:sp>
      <p:sp>
        <p:nvSpPr>
          <p:cNvPr id="20" name="Text 18"/>
          <p:cNvSpPr txBox="1"/>
          <p:nvPr/>
        </p:nvSpPr>
        <p:spPr>
          <a:xfrm>
            <a:off x="812800" y="6267450"/>
            <a:ext cx="8420100"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145 Solidity + 60 TypeScript tests · contracts/test/QEDExecution.t.sol</a:t>
            </a:r>
            <a:endParaRPr lang="en-US" sz="1200" dirty="0"/>
          </a:p>
        </p:txBody>
      </p:sp>
      <p:sp>
        <p:nvSpPr>
          <p:cNvPr id="21" name="Text 19"/>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A9BACB"/>
                </a:solidFill>
                <a:latin typeface="Calibri" pitchFamily="34" charset="0"/>
                <a:ea typeface="Calibri" pitchFamily="34" charset="-122"/>
                <a:cs typeface="Calibri" pitchFamily="34" charset="-120"/>
              </a:rPr>
              <a:t>Appendix A6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CHECK US · AND OUR LIMITS</a:t>
            </a:r>
            <a:endParaRPr lang="en-US" sz="1200" dirty="0"/>
          </a:p>
        </p:txBody>
      </p:sp>
      <p:sp>
        <p:nvSpPr>
          <p:cNvPr id="3" name="Text 1"/>
          <p:cNvSpPr txBox="1"/>
          <p:nvPr/>
        </p:nvSpPr>
        <p:spPr>
          <a:xfrm>
            <a:off x="812800" y="12001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Don't trust the slides. Re-derive them.</a:t>
            </a:r>
            <a:endParaRPr lang="en-US" sz="3200" dirty="0"/>
          </a:p>
        </p:txBody>
      </p:sp>
      <p:sp>
        <p:nvSpPr>
          <p:cNvPr id="4" name="Shape 2"/>
          <p:cNvSpPr/>
          <p:nvPr/>
        </p:nvSpPr>
        <p:spPr>
          <a:xfrm>
            <a:off x="812800" y="1870670"/>
            <a:ext cx="5359400" cy="2507952"/>
          </a:xfrm>
          <a:prstGeom prst="roundRect">
            <a:avLst>
              <a:gd name="adj" fmla="val 2026"/>
            </a:avLst>
          </a:prstGeom>
          <a:solidFill>
            <a:srgbClr val="13233F"/>
          </a:solidFill>
          <a:ln/>
        </p:spPr>
      </p:sp>
      <p:sp>
        <p:nvSpPr>
          <p:cNvPr id="5" name="Text 3"/>
          <p:cNvSpPr txBox="1"/>
          <p:nvPr/>
        </p:nvSpPr>
        <p:spPr>
          <a:xfrm>
            <a:off x="1041400" y="2099270"/>
            <a:ext cx="5000244" cy="182880"/>
          </a:xfrm>
          <a:prstGeom prst="rect">
            <a:avLst/>
          </a:prstGeom>
          <a:noFill/>
          <a:ln/>
        </p:spPr>
        <p:txBody>
          <a:bodyPr wrap="square" lIns="0" tIns="0" rIns="0" bIns="0" rtlCol="0" anchor="t"/>
          <a:lstStyle/>
          <a:p>
            <a:pPr algn="l" indent="0" marL="0">
              <a:lnSpc>
                <a:spcPts val="1440"/>
              </a:lnSpc>
              <a:buNone/>
            </a:pPr>
            <a:r>
              <a:rPr lang="en-US" sz="1200" dirty="0">
                <a:solidFill>
                  <a:srgbClr val="46C4B0"/>
                </a:solidFill>
                <a:latin typeface="Courier New" pitchFamily="34" charset="0"/>
                <a:ea typeface="Courier New" pitchFamily="34" charset="-122"/>
                <a:cs typeface="Courier New" pitchFamily="34" charset="-120"/>
              </a:rPr>
              <a:t>npm run verify</a:t>
            </a:r>
            <a:endParaRPr lang="en-US" sz="1200" dirty="0"/>
          </a:p>
        </p:txBody>
      </p:sp>
      <p:sp>
        <p:nvSpPr>
          <p:cNvPr id="6" name="Text 4"/>
          <p:cNvSpPr txBox="1"/>
          <p:nvPr/>
        </p:nvSpPr>
        <p:spPr>
          <a:xfrm>
            <a:off x="1041400" y="2372320"/>
            <a:ext cx="5000244" cy="411361"/>
          </a:xfrm>
          <a:prstGeom prst="rect">
            <a:avLst/>
          </a:prstGeom>
          <a:noFill/>
          <a:ln/>
        </p:spPr>
        <p:txBody>
          <a:bodyPr wrap="square" lIns="0" tIns="0" rIns="0" bIns="0" rtlCol="0" anchor="t"/>
          <a:lstStyle/>
          <a:p>
            <a:pPr algn="l" indent="0" marL="0">
              <a:lnSpc>
                <a:spcPts val="1620"/>
              </a:lnSpc>
              <a:buNone/>
            </a:pPr>
            <a:r>
              <a:rPr lang="en-US" sz="1200" dirty="0">
                <a:solidFill>
                  <a:srgbClr val="A9BACB"/>
                </a:solidFill>
                <a:latin typeface="Calibri" pitchFamily="34" charset="0"/>
                <a:ea typeface="Calibri" pitchFamily="34" charset="-122"/>
                <a:cs typeface="Calibri" pitchFamily="34" charset="-120"/>
              </a:rPr>
              <a:t>every claim from a public Sepolia node, no keys: bytecode, receipts, replayed reverts, each bound recomputed, routes replayed</a:t>
            </a:r>
            <a:endParaRPr lang="en-US" sz="1200" dirty="0"/>
          </a:p>
        </p:txBody>
      </p:sp>
      <p:sp>
        <p:nvSpPr>
          <p:cNvPr id="7" name="Text 5"/>
          <p:cNvSpPr txBox="1"/>
          <p:nvPr/>
        </p:nvSpPr>
        <p:spPr>
          <a:xfrm>
            <a:off x="1041400" y="2885281"/>
            <a:ext cx="5000244" cy="182880"/>
          </a:xfrm>
          <a:prstGeom prst="rect">
            <a:avLst/>
          </a:prstGeom>
          <a:noFill/>
          <a:ln/>
        </p:spPr>
        <p:txBody>
          <a:bodyPr wrap="square" lIns="0" tIns="0" rIns="0" bIns="0" rtlCol="0" anchor="t"/>
          <a:lstStyle/>
          <a:p>
            <a:pPr algn="l" indent="0" marL="0">
              <a:lnSpc>
                <a:spcPts val="1440"/>
              </a:lnSpc>
              <a:buNone/>
            </a:pPr>
            <a:r>
              <a:rPr lang="en-US" sz="1200" dirty="0">
                <a:solidFill>
                  <a:srgbClr val="46C4B0"/>
                </a:solidFill>
                <a:latin typeface="Courier New" pitchFamily="34" charset="0"/>
                <a:ea typeface="Courier New" pitchFamily="34" charset="-122"/>
                <a:cs typeface="Courier New" pitchFamily="34" charset="-120"/>
              </a:rPr>
              <a:t>QED_OFFLINE=1 npm run local:execute</a:t>
            </a:r>
            <a:endParaRPr lang="en-US" sz="1200" dirty="0"/>
          </a:p>
        </p:txBody>
      </p:sp>
      <p:sp>
        <p:nvSpPr>
          <p:cNvPr id="8" name="Text 6"/>
          <p:cNvSpPr txBox="1"/>
          <p:nvPr/>
        </p:nvSpPr>
        <p:spPr>
          <a:xfrm>
            <a:off x="1041400" y="3158331"/>
            <a:ext cx="5000244" cy="411361"/>
          </a:xfrm>
          <a:prstGeom prst="rect">
            <a:avLst/>
          </a:prstGeom>
          <a:noFill/>
          <a:ln/>
        </p:spPr>
        <p:txBody>
          <a:bodyPr wrap="square" lIns="0" tIns="0" rIns="0" bIns="0" rtlCol="0" anchor="t"/>
          <a:lstStyle/>
          <a:p>
            <a:pPr algn="l" indent="0" marL="0">
              <a:lnSpc>
                <a:spcPts val="1620"/>
              </a:lnSpc>
              <a:buNone/>
            </a:pPr>
            <a:r>
              <a:rPr lang="en-US" sz="1200" dirty="0">
                <a:solidFill>
                  <a:srgbClr val="A9BACB"/>
                </a:solidFill>
                <a:latin typeface="Calibri" pitchFamily="34" charset="0"/>
                <a:ea typeface="Calibri" pitchFamily="34" charset="-122"/>
                <a:cs typeface="Calibri" pitchFamily="34" charset="-120"/>
              </a:rPr>
              <a:t>the whole best-execution economy and the policy loop with dev keys; PE1 and PE2 reproduce to the raw unit</a:t>
            </a:r>
            <a:endParaRPr lang="en-US" sz="1200" dirty="0"/>
          </a:p>
        </p:txBody>
      </p:sp>
      <p:sp>
        <p:nvSpPr>
          <p:cNvPr id="9" name="Text 7"/>
          <p:cNvSpPr txBox="1"/>
          <p:nvPr/>
        </p:nvSpPr>
        <p:spPr>
          <a:xfrm>
            <a:off x="1041400" y="3671292"/>
            <a:ext cx="5000244" cy="182880"/>
          </a:xfrm>
          <a:prstGeom prst="rect">
            <a:avLst/>
          </a:prstGeom>
          <a:noFill/>
          <a:ln/>
        </p:spPr>
        <p:txBody>
          <a:bodyPr wrap="square" lIns="0" tIns="0" rIns="0" bIns="0" rtlCol="0" anchor="t"/>
          <a:lstStyle/>
          <a:p>
            <a:pPr algn="l" indent="0" marL="0">
              <a:lnSpc>
                <a:spcPts val="1440"/>
              </a:lnSpc>
              <a:buNone/>
            </a:pPr>
            <a:r>
              <a:rPr lang="en-US" sz="1200" dirty="0">
                <a:solidFill>
                  <a:srgbClr val="46C4B0"/>
                </a:solidFill>
                <a:latin typeface="Courier New" pitchFamily="34" charset="0"/>
                <a:ea typeface="Courier New" pitchFamily="34" charset="-122"/>
                <a:cs typeface="Courier New" pitchFamily="34" charset="-120"/>
              </a:rPr>
              <a:t>forge test · npm run test:ts</a:t>
            </a:r>
            <a:endParaRPr lang="en-US" sz="1200" dirty="0"/>
          </a:p>
        </p:txBody>
      </p:sp>
      <p:sp>
        <p:nvSpPr>
          <p:cNvPr id="10" name="Text 8"/>
          <p:cNvSpPr txBox="1"/>
          <p:nvPr/>
        </p:nvSpPr>
        <p:spPr>
          <a:xfrm>
            <a:off x="1041400" y="3944342"/>
            <a:ext cx="5000244" cy="205740"/>
          </a:xfrm>
          <a:prstGeom prst="rect">
            <a:avLst/>
          </a:prstGeom>
          <a:noFill/>
          <a:ln/>
        </p:spPr>
        <p:txBody>
          <a:bodyPr wrap="square" lIns="0" tIns="0" rIns="0" bIns="0" rtlCol="0" anchor="t"/>
          <a:lstStyle/>
          <a:p>
            <a:pPr algn="l" indent="0" marL="0">
              <a:lnSpc>
                <a:spcPts val="1620"/>
              </a:lnSpc>
              <a:buNone/>
            </a:pPr>
            <a:r>
              <a:rPr lang="en-US" sz="1200" dirty="0">
                <a:solidFill>
                  <a:srgbClr val="A9BACB"/>
                </a:solidFill>
                <a:latin typeface="Calibri" pitchFamily="34" charset="0"/>
                <a:ea typeface="Calibri" pitchFamily="34" charset="-122"/>
                <a:cs typeface="Calibri" pitchFamily="34" charset="-120"/>
              </a:rPr>
              <a:t>145 + 60 tests; 24 contracts verified on Sourcify; all of it in CI on every push</a:t>
            </a:r>
            <a:endParaRPr lang="en-US" sz="1200" dirty="0"/>
          </a:p>
        </p:txBody>
      </p:sp>
      <p:sp>
        <p:nvSpPr>
          <p:cNvPr id="11" name="Text 9"/>
          <p:cNvSpPr txBox="1"/>
          <p:nvPr/>
        </p:nvSpPr>
        <p:spPr>
          <a:xfrm>
            <a:off x="6477000" y="1870670"/>
            <a:ext cx="5000244"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What QED does not do</a:t>
            </a:r>
            <a:endParaRPr lang="en-US" sz="1500" dirty="0"/>
          </a:p>
        </p:txBody>
      </p:sp>
      <p:sp>
        <p:nvSpPr>
          <p:cNvPr id="12" name="Text 10"/>
          <p:cNvSpPr txBox="1"/>
          <p:nvPr/>
        </p:nvSpPr>
        <p:spPr>
          <a:xfrm>
            <a:off x="6477000" y="2219920"/>
            <a:ext cx="5000244" cy="42664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The proof is about the state a trade executes on: a front-run smaller than the 1% co-signed floor is not caught.</a:t>
            </a:r>
            <a:endParaRPr lang="en-US" sz="1200" dirty="0"/>
          </a:p>
        </p:txBody>
      </p:sp>
      <p:sp>
        <p:nvSpPr>
          <p:cNvPr id="13" name="Text 11"/>
          <p:cNvSpPr txBox="1"/>
          <p:nvPr/>
        </p:nvSpPr>
        <p:spPr>
          <a:xfrm>
            <a:off x="6477000" y="2760861"/>
            <a:ext cx="5000244" cy="42664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Venues must be honest constant-product pools the owner names; concentrated liquidity is not covered yet.</a:t>
            </a:r>
            <a:endParaRPr lang="en-US" sz="1200" dirty="0"/>
          </a:p>
        </p:txBody>
      </p:sp>
      <p:sp>
        <p:nvSpPr>
          <p:cNvPr id="14" name="Text 12"/>
          <p:cNvSpPr txBox="1"/>
          <p:nvPr/>
        </p:nvSpPr>
        <p:spPr>
          <a:xfrm>
            <a:off x="6477000" y="3301802"/>
            <a:ext cx="5000244" cy="42664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The policy contract enforces safety, not liveness: a slow or idle agent is not caught.</a:t>
            </a:r>
            <a:endParaRPr lang="en-US" sz="1200" dirty="0"/>
          </a:p>
        </p:txBody>
      </p:sp>
      <p:sp>
        <p:nvSpPr>
          <p:cNvPr id="15" name="Text 13"/>
          <p:cNvSpPr txBox="1"/>
          <p:nvPr/>
        </p:nvSpPr>
        <p:spPr>
          <a:xfrm>
            <a:off x="6477000" y="3842742"/>
            <a:ext cx="5000244" cy="213360"/>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Testnet, valueless tokens, not audited.</a:t>
            </a:r>
            <a:endParaRPr lang="en-US" sz="1200" dirty="0"/>
          </a:p>
        </p:txBody>
      </p:sp>
      <p:sp>
        <p:nvSpPr>
          <p:cNvPr id="16" name="Text 14"/>
          <p:cNvSpPr txBox="1"/>
          <p:nvPr/>
        </p:nvSpPr>
        <p:spPr>
          <a:xfrm>
            <a:off x="812800" y="6267450"/>
            <a:ext cx="84201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docs/REPRODUCIBILITY.md · docs/KNOWN_LIMITATIONS.md · docs/SECURITY.md K1–K29</a:t>
            </a:r>
            <a:endParaRPr lang="en-US" sz="1200" dirty="0"/>
          </a:p>
        </p:txBody>
      </p:sp>
      <p:sp>
        <p:nvSpPr>
          <p:cNvPr id="17" name="Text 15"/>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Appendix A7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PROOF 1 · AUTHORITY</a:t>
            </a:r>
            <a:endParaRPr lang="en-US" sz="1200" dirty="0"/>
          </a:p>
        </p:txBody>
      </p:sp>
      <p:sp>
        <p:nvSpPr>
          <p:cNvPr id="3" name="Text 1"/>
          <p:cNvSpPr txBox="1"/>
          <p:nvPr/>
        </p:nvSpPr>
        <p:spPr>
          <a:xfrm>
            <a:off x="812800" y="12255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The AI’s key can pay only under two signatures it doesn’t hold.</a:t>
            </a:r>
            <a:endParaRPr lang="en-US" sz="3200" dirty="0"/>
          </a:p>
        </p:txBody>
      </p:sp>
      <p:sp>
        <p:nvSpPr>
          <p:cNvPr id="4" name="Text 2"/>
          <p:cNvSpPr txBox="1"/>
          <p:nvPr/>
        </p:nvSpPr>
        <p:spPr>
          <a:xfrm>
            <a:off x="812800" y="1921470"/>
            <a:ext cx="4974336"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The owner’s mandate</a:t>
            </a:r>
            <a:endParaRPr lang="en-US" sz="1500" dirty="0"/>
          </a:p>
        </p:txBody>
      </p:sp>
      <p:sp>
        <p:nvSpPr>
          <p:cNvPr id="5" name="Text 3"/>
          <p:cNvSpPr txBox="1"/>
          <p:nvPr/>
        </p:nvSpPr>
        <p:spPr>
          <a:xfrm>
            <a:off x="812800" y="2194520"/>
            <a:ext cx="4974336" cy="42664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Signed once, off-chain, with a cold key. Names the payees, the caps and an expiry.</a:t>
            </a:r>
            <a:endParaRPr lang="en-US" sz="1200" dirty="0"/>
          </a:p>
        </p:txBody>
      </p:sp>
      <p:sp>
        <p:nvSpPr>
          <p:cNvPr id="6" name="Text 4"/>
          <p:cNvSpPr txBox="1"/>
          <p:nvPr/>
        </p:nvSpPr>
        <p:spPr>
          <a:xfrm>
            <a:off x="812800" y="2786261"/>
            <a:ext cx="4974336"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The co-signer’s certificate</a:t>
            </a:r>
            <a:endParaRPr lang="en-US" sz="1500" dirty="0"/>
          </a:p>
        </p:txBody>
      </p:sp>
      <p:sp>
        <p:nvSpPr>
          <p:cNvPr id="7" name="Text 5"/>
          <p:cNvSpPr txBox="1"/>
          <p:nvPr/>
        </p:nvSpPr>
        <p:spPr>
          <a:xfrm>
            <a:off x="812800" y="3059311"/>
            <a:ext cx="4974336" cy="42664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A separate process with its own key runs 12 checks, then signs the exact recipient, amount, date, a single-use id and the hash of its decision record.</a:t>
            </a:r>
            <a:endParaRPr lang="en-US" sz="1200" dirty="0"/>
          </a:p>
        </p:txBody>
      </p:sp>
      <p:sp>
        <p:nvSpPr>
          <p:cNvPr id="8" name="Text 6"/>
          <p:cNvSpPr txBox="1"/>
          <p:nvPr/>
        </p:nvSpPr>
        <p:spPr>
          <a:xfrm>
            <a:off x="812800" y="3651052"/>
            <a:ext cx="4974336"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The vault’s own rules</a:t>
            </a:r>
            <a:endParaRPr lang="en-US" sz="1500" dirty="0"/>
          </a:p>
        </p:txBody>
      </p:sp>
      <p:sp>
        <p:nvSpPr>
          <p:cNvPr id="9" name="Text 7"/>
          <p:cNvSpPr txBox="1"/>
          <p:nvPr/>
        </p:nvSpPr>
        <p:spPr>
          <a:xfrm>
            <a:off x="812800" y="3924102"/>
            <a:ext cx="4974336" cy="42664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Payee in the mandate, caps, no replay, solvency. Change one signed byte and the payment reverts.</a:t>
            </a:r>
            <a:endParaRPr lang="en-US" sz="1200" dirty="0"/>
          </a:p>
        </p:txBody>
      </p:sp>
      <p:sp>
        <p:nvSpPr>
          <p:cNvPr id="10" name="Shape 8"/>
          <p:cNvSpPr/>
          <p:nvPr/>
        </p:nvSpPr>
        <p:spPr>
          <a:xfrm>
            <a:off x="5994400" y="1921470"/>
            <a:ext cx="5384800" cy="2622550"/>
          </a:xfrm>
          <a:prstGeom prst="roundRect">
            <a:avLst>
              <a:gd name="adj" fmla="val 1937"/>
            </a:avLst>
          </a:prstGeom>
          <a:solidFill>
            <a:srgbClr val="13233F"/>
          </a:solidFill>
          <a:ln/>
        </p:spPr>
      </p:sp>
      <p:sp>
        <p:nvSpPr>
          <p:cNvPr id="11" name="Text 9"/>
          <p:cNvSpPr txBox="1"/>
          <p:nvPr/>
        </p:nvSpPr>
        <p:spPr>
          <a:xfrm>
            <a:off x="6248400" y="2175470"/>
            <a:ext cx="4974336" cy="184150"/>
          </a:xfrm>
          <a:prstGeom prst="rect">
            <a:avLst/>
          </a:prstGeom>
          <a:noFill/>
          <a:ln/>
        </p:spPr>
        <p:txBody>
          <a:bodyPr wrap="square" lIns="0" tIns="0" rIns="0" bIns="0" rtlCol="0" anchor="t"/>
          <a:lstStyle/>
          <a:p>
            <a:pPr algn="l" indent="0" marL="0">
              <a:lnSpc>
                <a:spcPts val="1440"/>
              </a:lnSpc>
              <a:buNone/>
            </a:pPr>
            <a:r>
              <a:rPr lang="en-US" sz="1200" b="1" spc="100" kern="0" dirty="0">
                <a:solidFill>
                  <a:srgbClr val="46C4B0"/>
                </a:solidFill>
                <a:latin typeface="Calibri" pitchFamily="34" charset="0"/>
                <a:ea typeface="Calibri" pitchFamily="34" charset="-122"/>
                <a:cs typeface="Calibri" pitchFamily="34" charset="-120"/>
              </a:rPr>
              <a:t>ON SEPOLIA · TRANSACTION L4</a:t>
            </a:r>
            <a:endParaRPr lang="en-US" sz="1200" dirty="0"/>
          </a:p>
        </p:txBody>
      </p:sp>
      <p:sp>
        <p:nvSpPr>
          <p:cNvPr id="12" name="Text 10"/>
          <p:cNvSpPr txBox="1"/>
          <p:nvPr/>
        </p:nvSpPr>
        <p:spPr>
          <a:xfrm>
            <a:off x="6248400" y="2486620"/>
            <a:ext cx="4974336" cy="228600"/>
          </a:xfrm>
          <a:prstGeom prst="rect">
            <a:avLst/>
          </a:prstGeom>
          <a:noFill/>
          <a:ln/>
        </p:spPr>
        <p:txBody>
          <a:bodyPr wrap="square" lIns="0" tIns="0" rIns="0" bIns="0" rtlCol="0" anchor="t"/>
          <a:lstStyle/>
          <a:p>
            <a:pPr algn="l" indent="0" marL="0">
              <a:lnSpc>
                <a:spcPts val="1800"/>
              </a:lnSpc>
              <a:buNone/>
            </a:pPr>
            <a:r>
              <a:rPr lang="en-US" sz="1500" dirty="0">
                <a:solidFill>
                  <a:srgbClr val="E4ECF1"/>
                </a:solidFill>
                <a:latin typeface="Courier New" pitchFamily="34" charset="0"/>
                <a:ea typeface="Courier New" pitchFamily="34" charset="-122"/>
                <a:cs typeface="Courier New" pitchFamily="34" charset="-120"/>
              </a:rPr>
              <a:t>0x56a2334e…83b6</a:t>
            </a:r>
            <a:endParaRPr lang="en-US" sz="1500" dirty="0"/>
          </a:p>
        </p:txBody>
      </p:sp>
      <p:sp>
        <p:nvSpPr>
          <p:cNvPr id="13" name="Text 11"/>
          <p:cNvSpPr txBox="1"/>
          <p:nvPr/>
        </p:nvSpPr>
        <p:spPr>
          <a:xfrm>
            <a:off x="6248400" y="2829520"/>
            <a:ext cx="1638300"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Sent by</a:t>
            </a:r>
            <a:endParaRPr lang="en-US" sz="1200" dirty="0"/>
          </a:p>
        </p:txBody>
      </p:sp>
      <p:sp>
        <p:nvSpPr>
          <p:cNvPr id="14" name="Text 12"/>
          <p:cNvSpPr txBox="1"/>
          <p:nvPr/>
        </p:nvSpPr>
        <p:spPr>
          <a:xfrm>
            <a:off x="7924800" y="2829520"/>
            <a:ext cx="3264408" cy="18415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the AI agent’s key 0x2A10…d0Bb</a:t>
            </a:r>
            <a:endParaRPr lang="en-US" sz="1200" dirty="0"/>
          </a:p>
        </p:txBody>
      </p:sp>
      <p:sp>
        <p:nvSpPr>
          <p:cNvPr id="15" name="Text 13"/>
          <p:cNvSpPr txBox="1"/>
          <p:nvPr/>
        </p:nvSpPr>
        <p:spPr>
          <a:xfrm>
            <a:off x="6248400" y="3102570"/>
            <a:ext cx="1638300"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Mandate signer</a:t>
            </a:r>
            <a:endParaRPr lang="en-US" sz="1200" dirty="0"/>
          </a:p>
        </p:txBody>
      </p:sp>
      <p:sp>
        <p:nvSpPr>
          <p:cNvPr id="16" name="Text 14"/>
          <p:cNvSpPr txBox="1"/>
          <p:nvPr/>
        </p:nvSpPr>
        <p:spPr>
          <a:xfrm>
            <a:off x="7924800" y="3102570"/>
            <a:ext cx="3264408" cy="18415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the owner 0xb7Ed…97f7</a:t>
            </a:r>
            <a:endParaRPr lang="en-US" sz="1200" dirty="0"/>
          </a:p>
        </p:txBody>
      </p:sp>
      <p:sp>
        <p:nvSpPr>
          <p:cNvPr id="17" name="Text 15"/>
          <p:cNvSpPr txBox="1"/>
          <p:nvPr/>
        </p:nvSpPr>
        <p:spPr>
          <a:xfrm>
            <a:off x="6248400" y="3375620"/>
            <a:ext cx="1638300"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Certificate signer</a:t>
            </a:r>
            <a:endParaRPr lang="en-US" sz="1200" dirty="0"/>
          </a:p>
        </p:txBody>
      </p:sp>
      <p:sp>
        <p:nvSpPr>
          <p:cNvPr id="18" name="Text 16"/>
          <p:cNvSpPr txBox="1"/>
          <p:nvPr/>
        </p:nvSpPr>
        <p:spPr>
          <a:xfrm>
            <a:off x="7924800" y="3375620"/>
            <a:ext cx="3264408" cy="18415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the co-signer 0xf1F8…2402</a:t>
            </a:r>
            <a:endParaRPr lang="en-US" sz="1200" dirty="0"/>
          </a:p>
        </p:txBody>
      </p:sp>
      <p:sp>
        <p:nvSpPr>
          <p:cNvPr id="19" name="Text 17"/>
          <p:cNvSpPr txBox="1"/>
          <p:nvPr/>
        </p:nvSpPr>
        <p:spPr>
          <a:xfrm>
            <a:off x="6248400" y="3648670"/>
            <a:ext cx="1638300" cy="36830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Evidence hash</a:t>
            </a:r>
            <a:endParaRPr lang="en-US" sz="1200" dirty="0"/>
          </a:p>
        </p:txBody>
      </p:sp>
      <p:sp>
        <p:nvSpPr>
          <p:cNvPr id="20" name="Text 18"/>
          <p:cNvSpPr txBox="1"/>
          <p:nvPr/>
        </p:nvSpPr>
        <p:spPr>
          <a:xfrm>
            <a:off x="7924800" y="3648670"/>
            <a:ext cx="3264408" cy="36830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0xb0dd4c99… = keccak256 of the published record, 12 of 12 checks</a:t>
            </a:r>
            <a:endParaRPr lang="en-US" sz="1200" dirty="0"/>
          </a:p>
        </p:txBody>
      </p:sp>
      <p:sp>
        <p:nvSpPr>
          <p:cNvPr id="21" name="Text 19"/>
          <p:cNvSpPr txBox="1"/>
          <p:nvPr/>
        </p:nvSpPr>
        <p:spPr>
          <a:xfrm>
            <a:off x="6248400" y="4105870"/>
            <a:ext cx="1638300"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Paid</a:t>
            </a:r>
            <a:endParaRPr lang="en-US" sz="1200" dirty="0"/>
          </a:p>
        </p:txBody>
      </p:sp>
      <p:sp>
        <p:nvSpPr>
          <p:cNvPr id="22" name="Text 20"/>
          <p:cNvSpPr txBox="1"/>
          <p:nvPr/>
        </p:nvSpPr>
        <p:spPr>
          <a:xfrm>
            <a:off x="7924800" y="4105870"/>
            <a:ext cx="3264408" cy="18415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6 tUSD to Helix Data for a licensed risk model</a:t>
            </a:r>
            <a:endParaRPr lang="en-US" sz="1200" dirty="0"/>
          </a:p>
        </p:txBody>
      </p:sp>
      <p:sp>
        <p:nvSpPr>
          <p:cNvPr id="23" name="Shape 21"/>
          <p:cNvSpPr/>
          <p:nvPr/>
        </p:nvSpPr>
        <p:spPr>
          <a:xfrm>
            <a:off x="11226800" y="5689600"/>
            <a:ext cx="152400" cy="152400"/>
          </a:xfrm>
          <a:prstGeom prst="rect">
            <a:avLst/>
          </a:prstGeom>
          <a:solidFill>
            <a:srgbClr val="0A7468"/>
          </a:solidFill>
          <a:ln/>
        </p:spPr>
      </p:sp>
      <p:sp>
        <p:nvSpPr>
          <p:cNvPr id="24" name="Text 22"/>
          <p:cNvSpPr txBox="1"/>
          <p:nvPr/>
        </p:nvSpPr>
        <p:spPr>
          <a:xfrm>
            <a:off x="812800" y="6267450"/>
            <a:ext cx="77724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QED before the upgrade, unchanged and still live</a:t>
            </a:r>
            <a:endParaRPr lang="en-US" sz="1200" dirty="0"/>
          </a:p>
        </p:txBody>
      </p:sp>
      <p:sp>
        <p:nvSpPr>
          <p:cNvPr id="25" name="Text 23"/>
          <p:cNvSpPr txBox="1"/>
          <p:nvPr/>
        </p:nvSpPr>
        <p:spPr>
          <a:xfrm>
            <a:off x="9423400" y="6267450"/>
            <a:ext cx="1955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Appendix A8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PROOF 2 · SOLVENCY</a:t>
            </a:r>
            <a:endParaRPr lang="en-US" sz="1200" dirty="0"/>
          </a:p>
        </p:txBody>
      </p:sp>
      <p:sp>
        <p:nvSpPr>
          <p:cNvPr id="3" name="Text 1"/>
          <p:cNvSpPr txBox="1"/>
          <p:nvPr/>
        </p:nvSpPr>
        <p:spPr>
          <a:xfrm>
            <a:off x="812800" y="12255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Money owed to a creditor can only ever reach that creditor.</a:t>
            </a:r>
            <a:endParaRPr lang="en-US" sz="3200" dirty="0"/>
          </a:p>
        </p:txBody>
      </p:sp>
      <p:sp>
        <p:nvSpPr>
          <p:cNvPr id="4" name="Shape 2"/>
          <p:cNvSpPr/>
          <p:nvPr/>
        </p:nvSpPr>
        <p:spPr>
          <a:xfrm>
            <a:off x="812800" y="1921470"/>
            <a:ext cx="10566400" cy="711200"/>
          </a:xfrm>
          <a:prstGeom prst="roundRect">
            <a:avLst>
              <a:gd name="adj" fmla="val 5357"/>
            </a:avLst>
          </a:prstGeom>
          <a:ln w="12700">
            <a:solidFill>
              <a:srgbClr val="13233F"/>
            </a:solidFill>
            <a:prstDash val="solid"/>
          </a:ln>
        </p:spPr>
      </p:sp>
      <p:sp>
        <p:nvSpPr>
          <p:cNvPr id="5" name="Shape 3"/>
          <p:cNvSpPr/>
          <p:nvPr/>
        </p:nvSpPr>
        <p:spPr>
          <a:xfrm>
            <a:off x="825500" y="1934170"/>
            <a:ext cx="7378700" cy="685800"/>
          </a:xfrm>
          <a:prstGeom prst="rect">
            <a:avLst/>
          </a:prstGeom>
          <a:solidFill>
            <a:srgbClr val="E3E9EC"/>
          </a:solidFill>
          <a:ln/>
        </p:spPr>
      </p:sp>
      <p:sp>
        <p:nvSpPr>
          <p:cNvPr id="6" name="Shape 4"/>
          <p:cNvSpPr/>
          <p:nvPr/>
        </p:nvSpPr>
        <p:spPr>
          <a:xfrm>
            <a:off x="8194675" y="1934170"/>
            <a:ext cx="0" cy="685800"/>
          </a:xfrm>
          <a:prstGeom prst="line">
            <a:avLst/>
          </a:prstGeom>
          <a:noFill/>
          <a:ln w="19050">
            <a:solidFill>
              <a:srgbClr val="13233F"/>
            </a:solidFill>
            <a:prstDash val="solid"/>
          </a:ln>
        </p:spPr>
      </p:sp>
      <p:sp>
        <p:nvSpPr>
          <p:cNvPr id="7" name="Text 5"/>
          <p:cNvSpPr txBox="1"/>
          <p:nvPr/>
        </p:nvSpPr>
        <p:spPr>
          <a:xfrm>
            <a:off x="1028700" y="2159595"/>
            <a:ext cx="7092315"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70 tUSD ring-fenced for CloudCo’s compute bill</a:t>
            </a:r>
            <a:endParaRPr lang="en-US" sz="1500" dirty="0"/>
          </a:p>
        </p:txBody>
      </p:sp>
      <p:sp>
        <p:nvSpPr>
          <p:cNvPr id="8" name="Shape 6"/>
          <p:cNvSpPr/>
          <p:nvPr/>
        </p:nvSpPr>
        <p:spPr>
          <a:xfrm>
            <a:off x="8204200" y="1934170"/>
            <a:ext cx="3162300" cy="685800"/>
          </a:xfrm>
          <a:prstGeom prst="rect">
            <a:avLst/>
          </a:prstGeom>
          <a:solidFill>
            <a:srgbClr val="DCEEEA"/>
          </a:solidFill>
          <a:ln/>
        </p:spPr>
      </p:sp>
      <p:sp>
        <p:nvSpPr>
          <p:cNvPr id="9" name="Text 7"/>
          <p:cNvSpPr txBox="1"/>
          <p:nvPr/>
        </p:nvSpPr>
        <p:spPr>
          <a:xfrm>
            <a:off x="8407400" y="2159595"/>
            <a:ext cx="2811018" cy="234950"/>
          </a:xfrm>
          <a:prstGeom prst="rect">
            <a:avLst/>
          </a:prstGeom>
          <a:noFill/>
          <a:ln/>
        </p:spPr>
        <p:txBody>
          <a:bodyPr wrap="square" lIns="0" tIns="0" rIns="0" bIns="0" rtlCol="0" anchor="t"/>
          <a:lstStyle/>
          <a:p>
            <a:pPr algn="l" indent="0" marL="0">
              <a:lnSpc>
                <a:spcPts val="1800"/>
              </a:lnSpc>
              <a:buNone/>
            </a:pPr>
            <a:r>
              <a:rPr lang="en-US" sz="1500" b="1" dirty="0">
                <a:solidFill>
                  <a:srgbClr val="0A7468"/>
                </a:solidFill>
                <a:latin typeface="Calibri" pitchFamily="34" charset="0"/>
                <a:ea typeface="Calibri" pitchFamily="34" charset="-122"/>
                <a:cs typeface="Calibri" pitchFamily="34" charset="-120"/>
              </a:rPr>
              <a:t>30 tUSD free</a:t>
            </a:r>
            <a:endParaRPr lang="en-US" sz="1500" dirty="0"/>
          </a:p>
        </p:txBody>
      </p:sp>
      <p:sp>
        <p:nvSpPr>
          <p:cNvPr id="10" name="Text 8"/>
          <p:cNvSpPr txBox="1"/>
          <p:nvPr/>
        </p:nvSpPr>
        <p:spPr>
          <a:xfrm>
            <a:off x="812800" y="2861270"/>
            <a:ext cx="3385346" cy="447040"/>
          </a:xfrm>
          <a:prstGeom prst="rect">
            <a:avLst/>
          </a:prstGeom>
          <a:noFill/>
          <a:ln/>
        </p:spPr>
        <p:txBody>
          <a:bodyPr wrap="square" lIns="0" tIns="0" rIns="0" bIns="0" rtlCol="0" anchor="t"/>
          <a:lstStyle/>
          <a:p>
            <a:pPr algn="l" indent="0" marL="0">
              <a:lnSpc>
                <a:spcPts val="3520"/>
              </a:lnSpc>
              <a:buNone/>
            </a:pPr>
            <a:r>
              <a:rPr lang="en-US" sz="3200" i="1" dirty="0">
                <a:solidFill>
                  <a:srgbClr val="13233F"/>
                </a:solidFill>
                <a:latin typeface="Cambria" pitchFamily="34" charset="0"/>
                <a:ea typeface="Cambria" pitchFamily="34" charset="-122"/>
                <a:cs typeface="Cambria" pitchFamily="34" charset="-120"/>
              </a:rPr>
              <a:t>B</a:t>
            </a:r>
            <a:pPr algn="l" indent="0" marL="0">
              <a:lnSpc>
                <a:spcPts val="3520"/>
              </a:lnSpc>
              <a:buNone/>
            </a:pPr>
            <a:r>
              <a:rPr lang="en-US" sz="3200" dirty="0">
                <a:solidFill>
                  <a:srgbClr val="13233F"/>
                </a:solidFill>
                <a:latin typeface="Cambria" pitchFamily="34" charset="0"/>
                <a:ea typeface="Cambria" pitchFamily="34" charset="-122"/>
                <a:cs typeface="Cambria" pitchFamily="34" charset="-120"/>
              </a:rPr>
              <a:t> ≥ </a:t>
            </a:r>
            <a:pPr algn="l" indent="0" marL="0">
              <a:lnSpc>
                <a:spcPts val="3520"/>
              </a:lnSpc>
              <a:buNone/>
            </a:pPr>
            <a:r>
              <a:rPr lang="en-US" sz="3200" i="1" dirty="0">
                <a:solidFill>
                  <a:srgbClr val="13233F"/>
                </a:solidFill>
                <a:latin typeface="Cambria" pitchFamily="34" charset="0"/>
                <a:ea typeface="Cambria" pitchFamily="34" charset="-122"/>
                <a:cs typeface="Cambria" pitchFamily="34" charset="-120"/>
              </a:rPr>
              <a:t>P</a:t>
            </a:r>
            <a:endParaRPr lang="en-US" sz="3200" dirty="0"/>
          </a:p>
        </p:txBody>
      </p:sp>
      <p:sp>
        <p:nvSpPr>
          <p:cNvPr id="11" name="Text 9"/>
          <p:cNvSpPr txBox="1"/>
          <p:nvPr/>
        </p:nvSpPr>
        <p:spPr>
          <a:xfrm>
            <a:off x="812800" y="3359051"/>
            <a:ext cx="3385346" cy="63996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Balance covers every ring-fenced liability at every block. Proved by induction; fuzzed with both hot keys stolen.</a:t>
            </a:r>
            <a:endParaRPr lang="en-US" sz="1200" dirty="0"/>
          </a:p>
        </p:txBody>
      </p:sp>
      <p:sp>
        <p:nvSpPr>
          <p:cNvPr id="12" name="Text 10"/>
          <p:cNvSpPr txBox="1"/>
          <p:nvPr/>
        </p:nvSpPr>
        <p:spPr>
          <a:xfrm>
            <a:off x="4436566" y="2861270"/>
            <a:ext cx="3385346"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Who can move it?</a:t>
            </a:r>
            <a:endParaRPr lang="en-US" sz="1500" dirty="0"/>
          </a:p>
        </p:txBody>
      </p:sp>
      <p:sp>
        <p:nvSpPr>
          <p:cNvPr id="13" name="Text 11"/>
          <p:cNvSpPr txBox="1"/>
          <p:nvPr/>
        </p:nvSpPr>
        <p:spPr>
          <a:xfrm>
            <a:off x="4436566" y="3147020"/>
            <a:ext cx="3385346" cy="63996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Not the AI. Not the co-signer. Not even the owner. Only settlement to the creditor, or the creditor releasing its own claim.</a:t>
            </a:r>
            <a:endParaRPr lang="en-US" sz="1200" dirty="0"/>
          </a:p>
        </p:txBody>
      </p:sp>
      <p:sp>
        <p:nvSpPr>
          <p:cNvPr id="14" name="Text 12"/>
          <p:cNvSpPr txBox="1"/>
          <p:nvPr/>
        </p:nvSpPr>
        <p:spPr>
          <a:xfrm>
            <a:off x="8060333" y="2861270"/>
            <a:ext cx="3385346"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Pause stops the AI, not the creditors</a:t>
            </a:r>
            <a:endParaRPr lang="en-US" sz="1500" dirty="0"/>
          </a:p>
        </p:txBody>
      </p:sp>
      <p:sp>
        <p:nvSpPr>
          <p:cNvPr id="15" name="Text 13"/>
          <p:cNvSpPr txBox="1"/>
          <p:nvPr/>
        </p:nvSpPr>
        <p:spPr>
          <a:xfrm>
            <a:off x="8060333" y="3147020"/>
            <a:ext cx="3385346" cy="63996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On Sepolia the vault was paused, then the attacker’s own address called settle(). CloudCo received exactly 70 tUSD (P3).</a:t>
            </a:r>
            <a:endParaRPr lang="en-US" sz="1200" dirty="0"/>
          </a:p>
        </p:txBody>
      </p:sp>
      <p:sp>
        <p:nvSpPr>
          <p:cNvPr id="16" name="Shape 14"/>
          <p:cNvSpPr/>
          <p:nvPr/>
        </p:nvSpPr>
        <p:spPr>
          <a:xfrm>
            <a:off x="11226800" y="5689600"/>
            <a:ext cx="152400" cy="152400"/>
          </a:xfrm>
          <a:prstGeom prst="rect">
            <a:avLst/>
          </a:prstGeom>
          <a:solidFill>
            <a:srgbClr val="0A7468"/>
          </a:solidFill>
          <a:ln/>
        </p:spPr>
      </p:sp>
      <p:sp>
        <p:nvSpPr>
          <p:cNvPr id="17" name="Text 15"/>
          <p:cNvSpPr txBox="1"/>
          <p:nvPr/>
        </p:nvSpPr>
        <p:spPr>
          <a:xfrm>
            <a:off x="812800" y="6267450"/>
            <a:ext cx="77724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QED before the upgrade, unchanged and still live</a:t>
            </a:r>
            <a:endParaRPr lang="en-US" sz="1200" dirty="0"/>
          </a:p>
        </p:txBody>
      </p:sp>
      <p:sp>
        <p:nvSpPr>
          <p:cNvPr id="18" name="Text 16"/>
          <p:cNvSpPr txBox="1"/>
          <p:nvPr/>
        </p:nvSpPr>
        <p:spPr>
          <a:xfrm>
            <a:off x="9423400" y="6267450"/>
            <a:ext cx="1955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Appendix A9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PROOF 3 · CORRECTNESS</a:t>
            </a:r>
            <a:endParaRPr lang="en-US" sz="1200" dirty="0"/>
          </a:p>
        </p:txBody>
      </p:sp>
      <p:sp>
        <p:nvSpPr>
          <p:cNvPr id="3" name="Text 1"/>
          <p:cNvSpPr txBox="1"/>
          <p:nvPr/>
        </p:nvSpPr>
        <p:spPr>
          <a:xfrm>
            <a:off x="812800" y="12001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The escrow pays for a proof, not a promise.</a:t>
            </a:r>
            <a:endParaRPr lang="en-US" sz="3200" dirty="0"/>
          </a:p>
        </p:txBody>
      </p:sp>
      <p:sp>
        <p:nvSpPr>
          <p:cNvPr id="4" name="Text 2"/>
          <p:cNvSpPr txBox="1"/>
          <p:nvPr/>
        </p:nvSpPr>
        <p:spPr>
          <a:xfrm>
            <a:off x="812800" y="1870670"/>
            <a:ext cx="4993767" cy="382984"/>
          </a:xfrm>
          <a:prstGeom prst="rect">
            <a:avLst/>
          </a:prstGeom>
          <a:noFill/>
          <a:ln/>
        </p:spPr>
        <p:txBody>
          <a:bodyPr wrap="square" lIns="0" tIns="0" rIns="0" bIns="0" rtlCol="0" anchor="t"/>
          <a:lstStyle/>
          <a:p>
            <a:pPr algn="l" indent="0" marL="0">
              <a:lnSpc>
                <a:spcPts val="2600"/>
              </a:lnSpc>
              <a:buNone/>
            </a:pPr>
            <a:r>
              <a:rPr lang="en-US" sz="2000" dirty="0">
                <a:solidFill>
                  <a:srgbClr val="13233F"/>
                </a:solidFill>
                <a:latin typeface="Cambria" pitchFamily="34" charset="0"/>
                <a:ea typeface="Cambria" pitchFamily="34" charset="-122"/>
                <a:cs typeface="Cambria" pitchFamily="34" charset="-120"/>
              </a:rPr>
              <a:t>minimise ½ </a:t>
            </a:r>
            <a:pPr algn="l" indent="0" marL="0">
              <a:lnSpc>
                <a:spcPts val="2600"/>
              </a:lnSpc>
              <a:buNone/>
            </a:pPr>
            <a:r>
              <a:rPr lang="en-US" sz="2000" i="1" dirty="0">
                <a:solidFill>
                  <a:srgbClr val="13233F"/>
                </a:solidFill>
                <a:latin typeface="Cambria" pitchFamily="34" charset="0"/>
                <a:ea typeface="Cambria" pitchFamily="34" charset="-122"/>
                <a:cs typeface="Cambria" pitchFamily="34" charset="-120"/>
              </a:rPr>
              <a:t>w</a:t>
            </a:r>
            <a:pPr algn="l" indent="0" marL="0">
              <a:lnSpc>
                <a:spcPts val="2600"/>
              </a:lnSpc>
              <a:buNone/>
            </a:pPr>
            <a:r>
              <a:rPr lang="en-US" sz="2000" dirty="0">
                <a:solidFill>
                  <a:srgbClr val="13233F"/>
                </a:solidFill>
                <a:latin typeface="Cambria" pitchFamily="34" charset="0"/>
                <a:ea typeface="Cambria" pitchFamily="34" charset="-122"/>
                <a:cs typeface="Cambria" pitchFamily="34" charset="-120"/>
              </a:rPr>
              <a:t>ᵀΣ</a:t>
            </a:r>
            <a:pPr algn="l" indent="0" marL="0">
              <a:lnSpc>
                <a:spcPts val="2600"/>
              </a:lnSpc>
              <a:buNone/>
            </a:pPr>
            <a:r>
              <a:rPr lang="en-US" sz="2000" i="1" dirty="0">
                <a:solidFill>
                  <a:srgbClr val="13233F"/>
                </a:solidFill>
                <a:latin typeface="Cambria" pitchFamily="34" charset="0"/>
                <a:ea typeface="Cambria" pitchFamily="34" charset="-122"/>
                <a:cs typeface="Cambria" pitchFamily="34" charset="-120"/>
              </a:rPr>
              <a:t>w</a:t>
            </a:r>
            <a:pPr algn="l" indent="0" marL="0">
              <a:lnSpc>
                <a:spcPts val="2600"/>
              </a:lnSpc>
              <a:buNone/>
            </a:pPr>
            <a:r>
              <a:rPr lang="en-US" sz="2000" dirty="0">
                <a:solidFill>
                  <a:srgbClr val="13233F"/>
                </a:solidFill>
                <a:latin typeface="Cambria" pitchFamily="34" charset="0"/>
                <a:ea typeface="Cambria" pitchFamily="34" charset="-122"/>
                <a:cs typeface="Cambria" pitchFamily="34" charset="-120"/>
              </a:rPr>
              <a:t> s.t. Σ</a:t>
            </a:r>
            <a:pPr algn="l" indent="0" marL="0">
              <a:lnSpc>
                <a:spcPts val="2600"/>
              </a:lnSpc>
              <a:buNone/>
            </a:pPr>
            <a:r>
              <a:rPr lang="en-US" sz="2000" i="1" dirty="0">
                <a:solidFill>
                  <a:srgbClr val="13233F"/>
                </a:solidFill>
                <a:latin typeface="Cambria" pitchFamily="34" charset="0"/>
                <a:ea typeface="Cambria" pitchFamily="34" charset="-122"/>
                <a:cs typeface="Cambria" pitchFamily="34" charset="-120"/>
              </a:rPr>
              <a:t>w</a:t>
            </a:r>
            <a:pPr algn="l" indent="0" marL="0">
              <a:lnSpc>
                <a:spcPts val="2600"/>
              </a:lnSpc>
              <a:buNone/>
            </a:pPr>
            <a:r>
              <a:rPr lang="en-US" sz="1670" baseline="-40000" dirty="0">
                <a:solidFill>
                  <a:srgbClr val="13233F"/>
                </a:solidFill>
                <a:latin typeface="Cambria" pitchFamily="34" charset="0"/>
                <a:ea typeface="Cambria" pitchFamily="34" charset="-122"/>
                <a:cs typeface="Cambria" pitchFamily="34" charset="-120"/>
              </a:rPr>
              <a:t>i</a:t>
            </a:r>
            <a:pPr algn="l" indent="0" marL="0">
              <a:lnSpc>
                <a:spcPts val="2600"/>
              </a:lnSpc>
              <a:buNone/>
            </a:pPr>
            <a:r>
              <a:rPr lang="en-US" sz="2000" dirty="0">
                <a:solidFill>
                  <a:srgbClr val="13233F"/>
                </a:solidFill>
                <a:latin typeface="Cambria" pitchFamily="34" charset="0"/>
                <a:ea typeface="Cambria" pitchFamily="34" charset="-122"/>
                <a:cs typeface="Cambria" pitchFamily="34" charset="-120"/>
              </a:rPr>
              <a:t> = 1, </a:t>
            </a:r>
            <a:pPr algn="l" indent="0" marL="0">
              <a:lnSpc>
                <a:spcPts val="2600"/>
              </a:lnSpc>
              <a:buNone/>
            </a:pPr>
            <a:r>
              <a:rPr lang="en-US" sz="2000" i="1" dirty="0">
                <a:solidFill>
                  <a:srgbClr val="13233F"/>
                </a:solidFill>
                <a:latin typeface="Cambria" pitchFamily="34" charset="0"/>
                <a:ea typeface="Cambria" pitchFamily="34" charset="-122"/>
                <a:cs typeface="Cambria" pitchFamily="34" charset="-120"/>
              </a:rPr>
              <a:t>w</a:t>
            </a:r>
            <a:pPr algn="l" indent="0" marL="0">
              <a:lnSpc>
                <a:spcPts val="2600"/>
              </a:lnSpc>
              <a:buNone/>
            </a:pPr>
            <a:r>
              <a:rPr lang="en-US" sz="2000" dirty="0">
                <a:solidFill>
                  <a:srgbClr val="13233F"/>
                </a:solidFill>
                <a:latin typeface="Cambria" pitchFamily="34" charset="0"/>
                <a:ea typeface="Cambria" pitchFamily="34" charset="-122"/>
                <a:cs typeface="Cambria" pitchFamily="34" charset="-120"/>
              </a:rPr>
              <a:t> ≥ 0</a:t>
            </a:r>
            <a:endParaRPr lang="en-US" sz="2000" dirty="0"/>
          </a:p>
        </p:txBody>
      </p:sp>
      <p:sp>
        <p:nvSpPr>
          <p:cNvPr id="5" name="Text 3"/>
          <p:cNvSpPr txBox="1"/>
          <p:nvPr/>
        </p:nvSpPr>
        <p:spPr>
          <a:xfrm>
            <a:off x="812800" y="2367955"/>
            <a:ext cx="4993767" cy="42664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The AI solves it off-chain and submits the portfolio with its multipliers and a factor L. The contract checks, in exact integers:</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12800" y="2908895"/>
          <a:ext cx="4895850" cy="914400"/>
        </p:xfrm>
        <a:graphic>
          <a:graphicData uri="http://schemas.openxmlformats.org/drawingml/2006/table">
            <a:tbl>
              <a:tblPr/>
              <a:tblGrid>
                <a:gridCol w="2545755"/>
                <a:gridCol w="2350095"/>
              </a:tblGrid>
              <a:tr h="196850">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Condition</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What it rules out</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w ≥ 0, weights sum to 1</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short selling, leverage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μ ≥ 0</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fake multipliers</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Σw = ν + μ, within τ</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any portfolio that isn’t stationary</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Σ wᵢμᵢ ≤ τ</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a duality gap: suboptimal work</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Σ = LLᵀ, within τ</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a non-convex trick</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bl>
          </a:graphicData>
        </a:graphic>
      </p:graphicFrame>
      <p:sp>
        <p:nvSpPr>
          <p:cNvPr id="7" name="Shape 4"/>
          <p:cNvSpPr/>
          <p:nvPr/>
        </p:nvSpPr>
        <p:spPr>
          <a:xfrm>
            <a:off x="6013450" y="1870670"/>
            <a:ext cx="5365750" cy="2858691"/>
          </a:xfrm>
          <a:prstGeom prst="roundRect">
            <a:avLst>
              <a:gd name="adj" fmla="val 1777"/>
            </a:avLst>
          </a:prstGeom>
          <a:solidFill>
            <a:srgbClr val="FBFCFC"/>
          </a:solidFill>
          <a:ln w="6350">
            <a:solidFill>
              <a:srgbClr val="D6DEE1"/>
            </a:solidFill>
            <a:prstDash val="solid"/>
          </a:ln>
        </p:spPr>
      </p:sp>
      <p:sp>
        <p:nvSpPr>
          <p:cNvPr id="8" name="Text 5"/>
          <p:cNvSpPr txBox="1"/>
          <p:nvPr/>
        </p:nvSpPr>
        <p:spPr>
          <a:xfrm>
            <a:off x="6248400" y="2105620"/>
            <a:ext cx="4993767" cy="184150"/>
          </a:xfrm>
          <a:prstGeom prst="rect">
            <a:avLst/>
          </a:prstGeom>
          <a:noFill/>
          <a:ln/>
        </p:spPr>
        <p:txBody>
          <a:bodyPr wrap="square" lIns="0" tIns="0" rIns="0" bIns="0" rtlCol="0" anchor="t"/>
          <a:lstStyle/>
          <a:p>
            <a:pPr algn="l" indent="0" marL="0">
              <a:lnSpc>
                <a:spcPts val="1440"/>
              </a:lnSpc>
              <a:buNone/>
            </a:pPr>
            <a:r>
              <a:rPr lang="en-US" sz="1200" b="1" spc="100" kern="0" dirty="0">
                <a:solidFill>
                  <a:srgbClr val="0A7468"/>
                </a:solidFill>
                <a:latin typeface="Calibri" pitchFamily="34" charset="0"/>
                <a:ea typeface="Calibri" pitchFamily="34" charset="-122"/>
                <a:cs typeface="Calibri" pitchFamily="34" charset="-120"/>
              </a:rPr>
              <a:t>DELIVERED AND VERIFIED ON SEPOLIA · L6</a:t>
            </a:r>
            <a:endParaRPr lang="en-US" sz="1200" dirty="0"/>
          </a:p>
        </p:txBody>
      </p:sp>
      <p:sp>
        <p:nvSpPr>
          <p:cNvPr id="9" name="Text 6"/>
          <p:cNvSpPr txBox="1"/>
          <p:nvPr/>
        </p:nvSpPr>
        <p:spPr>
          <a:xfrm>
            <a:off x="6248400" y="2404070"/>
            <a:ext cx="1638300" cy="184150"/>
          </a:xfrm>
          <a:prstGeom prst="rect">
            <a:avLst/>
          </a:prstGeom>
          <a:noFill/>
          <a:ln/>
        </p:spPr>
        <p:txBody>
          <a:bodyPr wrap="square" lIns="0" tIns="0" rIns="0" bIns="0" rtlCol="0" anchor="t"/>
          <a:lstStyle/>
          <a:p>
            <a:pPr algn="l" indent="0" marL="0">
              <a:lnSpc>
                <a:spcPts val="1440"/>
              </a:lnSpc>
              <a:buNone/>
            </a:pPr>
            <a:r>
              <a:rPr lang="en-US" sz="1200" dirty="0">
                <a:solidFill>
                  <a:srgbClr val="13233F"/>
                </a:solidFill>
                <a:latin typeface="Calibri" pitchFamily="34" charset="0"/>
                <a:ea typeface="Calibri" pitchFamily="34" charset="-122"/>
                <a:cs typeface="Calibri" pitchFamily="34" charset="-120"/>
              </a:rPr>
              <a:t>US Treasuries 7–10y</a:t>
            </a:r>
            <a:endParaRPr lang="en-US" sz="1200" dirty="0"/>
          </a:p>
        </p:txBody>
      </p:sp>
      <p:sp>
        <p:nvSpPr>
          <p:cNvPr id="10" name="Shape 7"/>
          <p:cNvSpPr/>
          <p:nvPr/>
        </p:nvSpPr>
        <p:spPr>
          <a:xfrm>
            <a:off x="7937500" y="2426295"/>
            <a:ext cx="2406650" cy="139700"/>
          </a:xfrm>
          <a:prstGeom prst="roundRect">
            <a:avLst>
              <a:gd name="adj" fmla="val 13636"/>
            </a:avLst>
          </a:prstGeom>
          <a:solidFill>
            <a:srgbClr val="E3E9EC"/>
          </a:solidFill>
          <a:ln/>
        </p:spPr>
      </p:sp>
      <p:sp>
        <p:nvSpPr>
          <p:cNvPr id="11" name="Shape 8"/>
          <p:cNvSpPr/>
          <p:nvPr/>
        </p:nvSpPr>
        <p:spPr>
          <a:xfrm>
            <a:off x="7937500" y="2426295"/>
            <a:ext cx="2406650" cy="139700"/>
          </a:xfrm>
          <a:prstGeom prst="roundRect">
            <a:avLst>
              <a:gd name="adj" fmla="val 13636"/>
            </a:avLst>
          </a:prstGeom>
          <a:solidFill>
            <a:srgbClr val="0A7468"/>
          </a:solidFill>
          <a:ln/>
        </p:spPr>
      </p:sp>
      <p:sp>
        <p:nvSpPr>
          <p:cNvPr id="12" name="Text 9"/>
          <p:cNvSpPr txBox="1"/>
          <p:nvPr/>
        </p:nvSpPr>
        <p:spPr>
          <a:xfrm>
            <a:off x="10394950" y="2404070"/>
            <a:ext cx="749300" cy="184150"/>
          </a:xfrm>
          <a:prstGeom prst="rect">
            <a:avLst/>
          </a:prstGeom>
          <a:noFill/>
          <a:ln/>
        </p:spPr>
        <p:txBody>
          <a:bodyPr wrap="square" lIns="0" tIns="0" rIns="0" bIns="0" rtlCol="0" anchor="t"/>
          <a:lstStyle/>
          <a:p>
            <a:pPr algn="r" indent="0" marL="0">
              <a:lnSpc>
                <a:spcPts val="1440"/>
              </a:lnSpc>
              <a:buNone/>
            </a:pPr>
            <a:r>
              <a:rPr lang="en-US" sz="1200" dirty="0">
                <a:solidFill>
                  <a:srgbClr val="13233F"/>
                </a:solidFill>
                <a:latin typeface="Calibri" pitchFamily="34" charset="0"/>
                <a:ea typeface="Calibri" pitchFamily="34" charset="-122"/>
                <a:cs typeface="Calibri" pitchFamily="34" charset="-120"/>
              </a:rPr>
              <a:t>80.81%</a:t>
            </a:r>
            <a:endParaRPr lang="en-US" sz="1200" dirty="0"/>
          </a:p>
        </p:txBody>
      </p:sp>
      <p:sp>
        <p:nvSpPr>
          <p:cNvPr id="13" name="Text 10"/>
          <p:cNvSpPr txBox="1"/>
          <p:nvPr/>
        </p:nvSpPr>
        <p:spPr>
          <a:xfrm>
            <a:off x="6248400" y="2702520"/>
            <a:ext cx="1638300" cy="184150"/>
          </a:xfrm>
          <a:prstGeom prst="rect">
            <a:avLst/>
          </a:prstGeom>
          <a:noFill/>
          <a:ln/>
        </p:spPr>
        <p:txBody>
          <a:bodyPr wrap="square" lIns="0" tIns="0" rIns="0" bIns="0" rtlCol="0" anchor="t"/>
          <a:lstStyle/>
          <a:p>
            <a:pPr algn="l" indent="0" marL="0">
              <a:lnSpc>
                <a:spcPts val="1440"/>
              </a:lnSpc>
              <a:buNone/>
            </a:pPr>
            <a:r>
              <a:rPr lang="en-US" sz="1200" dirty="0">
                <a:solidFill>
                  <a:srgbClr val="13233F"/>
                </a:solidFill>
                <a:latin typeface="Calibri" pitchFamily="34" charset="0"/>
                <a:ea typeface="Calibri" pitchFamily="34" charset="-122"/>
                <a:cs typeface="Calibri" pitchFamily="34" charset="-120"/>
              </a:rPr>
              <a:t>Global Equities</a:t>
            </a:r>
            <a:endParaRPr lang="en-US" sz="1200" dirty="0"/>
          </a:p>
        </p:txBody>
      </p:sp>
      <p:sp>
        <p:nvSpPr>
          <p:cNvPr id="14" name="Shape 11"/>
          <p:cNvSpPr/>
          <p:nvPr/>
        </p:nvSpPr>
        <p:spPr>
          <a:xfrm>
            <a:off x="7937500" y="2724745"/>
            <a:ext cx="2406650" cy="139700"/>
          </a:xfrm>
          <a:prstGeom prst="roundRect">
            <a:avLst>
              <a:gd name="adj" fmla="val 13636"/>
            </a:avLst>
          </a:prstGeom>
          <a:solidFill>
            <a:srgbClr val="E3E9EC"/>
          </a:solidFill>
          <a:ln/>
        </p:spPr>
      </p:sp>
      <p:sp>
        <p:nvSpPr>
          <p:cNvPr id="15" name="Shape 12"/>
          <p:cNvSpPr/>
          <p:nvPr/>
        </p:nvSpPr>
        <p:spPr>
          <a:xfrm>
            <a:off x="7937500" y="2724745"/>
            <a:ext cx="481310" cy="139700"/>
          </a:xfrm>
          <a:prstGeom prst="roundRect">
            <a:avLst>
              <a:gd name="adj" fmla="val 13636"/>
            </a:avLst>
          </a:prstGeom>
          <a:solidFill>
            <a:srgbClr val="0A7468"/>
          </a:solidFill>
          <a:ln/>
        </p:spPr>
      </p:sp>
      <p:sp>
        <p:nvSpPr>
          <p:cNvPr id="16" name="Text 13"/>
          <p:cNvSpPr txBox="1"/>
          <p:nvPr/>
        </p:nvSpPr>
        <p:spPr>
          <a:xfrm>
            <a:off x="10394950" y="2702520"/>
            <a:ext cx="749300" cy="184150"/>
          </a:xfrm>
          <a:prstGeom prst="rect">
            <a:avLst/>
          </a:prstGeom>
          <a:noFill/>
          <a:ln/>
        </p:spPr>
        <p:txBody>
          <a:bodyPr wrap="square" lIns="0" tIns="0" rIns="0" bIns="0" rtlCol="0" anchor="t"/>
          <a:lstStyle/>
          <a:p>
            <a:pPr algn="r" indent="0" marL="0">
              <a:lnSpc>
                <a:spcPts val="1440"/>
              </a:lnSpc>
              <a:buNone/>
            </a:pPr>
            <a:r>
              <a:rPr lang="en-US" sz="1200" dirty="0">
                <a:solidFill>
                  <a:srgbClr val="13233F"/>
                </a:solidFill>
                <a:latin typeface="Calibri" pitchFamily="34" charset="0"/>
                <a:ea typeface="Calibri" pitchFamily="34" charset="-122"/>
                <a:cs typeface="Calibri" pitchFamily="34" charset="-120"/>
              </a:rPr>
              <a:t>16.32%</a:t>
            </a:r>
            <a:endParaRPr lang="en-US" sz="1200" dirty="0"/>
          </a:p>
        </p:txBody>
      </p:sp>
      <p:sp>
        <p:nvSpPr>
          <p:cNvPr id="17" name="Text 14"/>
          <p:cNvSpPr txBox="1"/>
          <p:nvPr/>
        </p:nvSpPr>
        <p:spPr>
          <a:xfrm>
            <a:off x="6248400" y="3000970"/>
            <a:ext cx="1638300" cy="184150"/>
          </a:xfrm>
          <a:prstGeom prst="rect">
            <a:avLst/>
          </a:prstGeom>
          <a:noFill/>
          <a:ln/>
        </p:spPr>
        <p:txBody>
          <a:bodyPr wrap="square" lIns="0" tIns="0" rIns="0" bIns="0" rtlCol="0" anchor="t"/>
          <a:lstStyle/>
          <a:p>
            <a:pPr algn="l" indent="0" marL="0">
              <a:lnSpc>
                <a:spcPts val="1440"/>
              </a:lnSpc>
              <a:buNone/>
            </a:pPr>
            <a:r>
              <a:rPr lang="en-US" sz="1200" dirty="0">
                <a:solidFill>
                  <a:srgbClr val="13233F"/>
                </a:solidFill>
                <a:latin typeface="Calibri" pitchFamily="34" charset="0"/>
                <a:ea typeface="Calibri" pitchFamily="34" charset="-122"/>
                <a:cs typeface="Calibri" pitchFamily="34" charset="-120"/>
              </a:rPr>
              <a:t>Gold</a:t>
            </a:r>
            <a:endParaRPr lang="en-US" sz="1200" dirty="0"/>
          </a:p>
        </p:txBody>
      </p:sp>
      <p:sp>
        <p:nvSpPr>
          <p:cNvPr id="18" name="Shape 15"/>
          <p:cNvSpPr/>
          <p:nvPr/>
        </p:nvSpPr>
        <p:spPr>
          <a:xfrm>
            <a:off x="7937500" y="3023195"/>
            <a:ext cx="2406650" cy="139700"/>
          </a:xfrm>
          <a:prstGeom prst="roundRect">
            <a:avLst>
              <a:gd name="adj" fmla="val 13636"/>
            </a:avLst>
          </a:prstGeom>
          <a:solidFill>
            <a:srgbClr val="E3E9EC"/>
          </a:solidFill>
          <a:ln/>
        </p:spPr>
      </p:sp>
      <p:sp>
        <p:nvSpPr>
          <p:cNvPr id="19" name="Shape 16"/>
          <p:cNvSpPr/>
          <p:nvPr/>
        </p:nvSpPr>
        <p:spPr>
          <a:xfrm>
            <a:off x="7937500" y="3023195"/>
            <a:ext cx="96242" cy="139700"/>
          </a:xfrm>
          <a:prstGeom prst="roundRect">
            <a:avLst>
              <a:gd name="adj" fmla="val 19794"/>
            </a:avLst>
          </a:prstGeom>
          <a:solidFill>
            <a:srgbClr val="0A7468"/>
          </a:solidFill>
          <a:ln/>
        </p:spPr>
      </p:sp>
      <p:sp>
        <p:nvSpPr>
          <p:cNvPr id="20" name="Text 17"/>
          <p:cNvSpPr txBox="1"/>
          <p:nvPr/>
        </p:nvSpPr>
        <p:spPr>
          <a:xfrm>
            <a:off x="10394950" y="3000970"/>
            <a:ext cx="749300" cy="184150"/>
          </a:xfrm>
          <a:prstGeom prst="rect">
            <a:avLst/>
          </a:prstGeom>
          <a:noFill/>
          <a:ln/>
        </p:spPr>
        <p:txBody>
          <a:bodyPr wrap="square" lIns="0" tIns="0" rIns="0" bIns="0" rtlCol="0" anchor="t"/>
          <a:lstStyle/>
          <a:p>
            <a:pPr algn="r" indent="0" marL="0">
              <a:lnSpc>
                <a:spcPts val="1440"/>
              </a:lnSpc>
              <a:buNone/>
            </a:pPr>
            <a:r>
              <a:rPr lang="en-US" sz="1200" dirty="0">
                <a:solidFill>
                  <a:srgbClr val="13233F"/>
                </a:solidFill>
                <a:latin typeface="Calibri" pitchFamily="34" charset="0"/>
                <a:ea typeface="Calibri" pitchFamily="34" charset="-122"/>
                <a:cs typeface="Calibri" pitchFamily="34" charset="-120"/>
              </a:rPr>
              <a:t>2.87%</a:t>
            </a:r>
            <a:endParaRPr lang="en-US" sz="1200" dirty="0"/>
          </a:p>
        </p:txBody>
      </p:sp>
      <p:sp>
        <p:nvSpPr>
          <p:cNvPr id="21" name="Text 18"/>
          <p:cNvSpPr txBox="1"/>
          <p:nvPr/>
        </p:nvSpPr>
        <p:spPr>
          <a:xfrm>
            <a:off x="6248400" y="3299420"/>
            <a:ext cx="4993767" cy="42664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Bitcoin, IG credit, REITs: 0%, each with μ &gt; 0, which proves adding them would raise risk.</a:t>
            </a:r>
            <a:endParaRPr lang="en-US" sz="1200" dirty="0"/>
          </a:p>
        </p:txBody>
      </p:sp>
      <p:sp>
        <p:nvSpPr>
          <p:cNvPr id="22" name="Shape 19"/>
          <p:cNvSpPr/>
          <p:nvPr/>
        </p:nvSpPr>
        <p:spPr>
          <a:xfrm>
            <a:off x="6248400" y="3843536"/>
            <a:ext cx="4895850" cy="0"/>
          </a:xfrm>
          <a:prstGeom prst="line">
            <a:avLst/>
          </a:prstGeom>
          <a:noFill/>
          <a:ln w="6350">
            <a:solidFill>
              <a:srgbClr val="D6DEE1"/>
            </a:solidFill>
            <a:prstDash val="solid"/>
          </a:ln>
        </p:spPr>
      </p:sp>
      <p:sp>
        <p:nvSpPr>
          <p:cNvPr id="23" name="Text 20"/>
          <p:cNvSpPr txBox="1"/>
          <p:nvPr/>
        </p:nvSpPr>
        <p:spPr>
          <a:xfrm>
            <a:off x="6248400" y="3948311"/>
            <a:ext cx="4993767" cy="247650"/>
          </a:xfrm>
          <a:prstGeom prst="rect">
            <a:avLst/>
          </a:prstGeom>
          <a:noFill/>
          <a:ln/>
        </p:spPr>
        <p:txBody>
          <a:bodyPr wrap="square" lIns="0" tIns="0" rIns="0" bIns="0" rtlCol="0" anchor="t"/>
          <a:lstStyle/>
          <a:p>
            <a:pPr algn="l" indent="0" marL="0">
              <a:lnSpc>
                <a:spcPts val="1950"/>
              </a:lnSpc>
              <a:buNone/>
            </a:pPr>
            <a:r>
              <a:rPr lang="en-US" sz="1500" i="1" dirty="0">
                <a:solidFill>
                  <a:srgbClr val="13233F"/>
                </a:solidFill>
                <a:latin typeface="Cambria" pitchFamily="34" charset="0"/>
                <a:ea typeface="Cambria" pitchFamily="34" charset="-122"/>
                <a:cs typeface="Cambria" pitchFamily="34" charset="-120"/>
              </a:rPr>
              <a:t>f</a:t>
            </a:r>
            <a:pPr algn="l" indent="0" marL="0">
              <a:lnSpc>
                <a:spcPts val="1950"/>
              </a:lnSpc>
              <a:buNone/>
            </a:pPr>
            <a:r>
              <a:rPr lang="en-US" sz="1500" dirty="0">
                <a:solidFill>
                  <a:srgbClr val="13233F"/>
                </a:solidFill>
                <a:latin typeface="Cambria" pitchFamily="34" charset="0"/>
                <a:ea typeface="Cambria" pitchFamily="34" charset="-122"/>
                <a:cs typeface="Cambria" pitchFamily="34" charset="-120"/>
              </a:rPr>
              <a:t>(</a:t>
            </a:r>
            <a:pPr algn="l" indent="0" marL="0">
              <a:lnSpc>
                <a:spcPts val="1950"/>
              </a:lnSpc>
              <a:buNone/>
            </a:pPr>
            <a:r>
              <a:rPr lang="en-US" sz="1500" i="1" dirty="0">
                <a:solidFill>
                  <a:srgbClr val="13233F"/>
                </a:solidFill>
                <a:latin typeface="Cambria" pitchFamily="34" charset="0"/>
                <a:ea typeface="Cambria" pitchFamily="34" charset="-122"/>
                <a:cs typeface="Cambria" pitchFamily="34" charset="-120"/>
              </a:rPr>
              <a:t>w</a:t>
            </a:r>
            <a:pPr algn="l" indent="0" marL="0">
              <a:lnSpc>
                <a:spcPts val="1950"/>
              </a:lnSpc>
              <a:buNone/>
            </a:pPr>
            <a:r>
              <a:rPr lang="en-US" sz="1500" dirty="0">
                <a:solidFill>
                  <a:srgbClr val="13233F"/>
                </a:solidFill>
                <a:latin typeface="Cambria" pitchFamily="34" charset="0"/>
                <a:ea typeface="Cambria" pitchFamily="34" charset="-122"/>
                <a:cs typeface="Cambria" pitchFamily="34" charset="-120"/>
              </a:rPr>
              <a:t>) − </a:t>
            </a:r>
            <a:pPr algn="l" indent="0" marL="0">
              <a:lnSpc>
                <a:spcPts val="1950"/>
              </a:lnSpc>
              <a:buNone/>
            </a:pPr>
            <a:r>
              <a:rPr lang="en-US" sz="1500" i="1" dirty="0">
                <a:solidFill>
                  <a:srgbClr val="13233F"/>
                </a:solidFill>
                <a:latin typeface="Cambria" pitchFamily="34" charset="0"/>
                <a:ea typeface="Cambria" pitchFamily="34" charset="-122"/>
                <a:cs typeface="Cambria" pitchFamily="34" charset="-120"/>
              </a:rPr>
              <a:t>f</a:t>
            </a:r>
            <a:pPr algn="l" indent="0" marL="0">
              <a:lnSpc>
                <a:spcPts val="1950"/>
              </a:lnSpc>
              <a:buNone/>
            </a:pPr>
            <a:r>
              <a:rPr lang="en-US" sz="1500" dirty="0">
                <a:solidFill>
                  <a:srgbClr val="13233F"/>
                </a:solidFill>
                <a:latin typeface="Cambria" pitchFamily="34" charset="0"/>
                <a:ea typeface="Cambria" pitchFamily="34" charset="-122"/>
                <a:cs typeface="Cambria" pitchFamily="34" charset="-120"/>
              </a:rPr>
              <a:t>* ≤ (2n + 3 + |ν|)·τ ≈ 1.5 × 10⁻⁸</a:t>
            </a:r>
            <a:endParaRPr lang="en-US" sz="1500" dirty="0"/>
          </a:p>
        </p:txBody>
      </p:sp>
      <p:sp>
        <p:nvSpPr>
          <p:cNvPr id="24" name="Text 21"/>
          <p:cNvSpPr txBox="1"/>
          <p:nvPr/>
        </p:nvSpPr>
        <p:spPr>
          <a:xfrm>
            <a:off x="6248400" y="4310261"/>
            <a:ext cx="4993767"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Residual 0 · duality gap 0 · about 0.3 M gas to check</a:t>
            </a:r>
            <a:endParaRPr lang="en-US" sz="1200" dirty="0"/>
          </a:p>
        </p:txBody>
      </p:sp>
      <p:sp>
        <p:nvSpPr>
          <p:cNvPr id="25" name="Shape 22"/>
          <p:cNvSpPr/>
          <p:nvPr/>
        </p:nvSpPr>
        <p:spPr>
          <a:xfrm>
            <a:off x="11226800" y="5689600"/>
            <a:ext cx="152400" cy="152400"/>
          </a:xfrm>
          <a:prstGeom prst="rect">
            <a:avLst/>
          </a:prstGeom>
          <a:solidFill>
            <a:srgbClr val="0A7468"/>
          </a:solidFill>
          <a:ln/>
        </p:spPr>
      </p:sp>
      <p:sp>
        <p:nvSpPr>
          <p:cNvPr id="26" name="Text 23"/>
          <p:cNvSpPr txBox="1"/>
          <p:nvPr/>
        </p:nvSpPr>
        <p:spPr>
          <a:xfrm>
            <a:off x="812800" y="6267450"/>
            <a:ext cx="77724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QED before the upgrade, unchanged and still live</a:t>
            </a:r>
            <a:endParaRPr lang="en-US" sz="1200" dirty="0"/>
          </a:p>
        </p:txBody>
      </p:sp>
      <p:sp>
        <p:nvSpPr>
          <p:cNvPr id="27" name="Text 24"/>
          <p:cNvSpPr txBox="1"/>
          <p:nvPr/>
        </p:nvSpPr>
        <p:spPr>
          <a:xfrm>
            <a:off x="9423400" y="6267450"/>
            <a:ext cx="1955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Appendix A10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OUTCOME 2 · PAID WORK, SETTLED BY PROOF</a:t>
            </a:r>
            <a:endParaRPr lang="en-US" sz="1200" dirty="0"/>
          </a:p>
        </p:txBody>
      </p:sp>
      <p:sp>
        <p:nvSpPr>
          <p:cNvPr id="3" name="Text 1"/>
          <p:cNvSpPr txBox="1"/>
          <p:nvPr/>
        </p:nvSpPr>
        <p:spPr>
          <a:xfrm>
            <a:off x="812800" y="11874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One business cycle, end to end, on Sepolia</a:t>
            </a:r>
            <a:endParaRPr lang="en-US" sz="3200" dirty="0"/>
          </a:p>
        </p:txBody>
      </p:sp>
      <p:sp>
        <p:nvSpPr>
          <p:cNvPr id="4" name="Shape 2"/>
          <p:cNvSpPr/>
          <p:nvPr/>
        </p:nvSpPr>
        <p:spPr>
          <a:xfrm>
            <a:off x="812800" y="1845270"/>
            <a:ext cx="1655167" cy="1699022"/>
          </a:xfrm>
          <a:prstGeom prst="roundRect">
            <a:avLst>
              <a:gd name="adj" fmla="val 3069"/>
            </a:avLst>
          </a:prstGeom>
          <a:solidFill>
            <a:srgbClr val="FBFCFC"/>
          </a:solidFill>
          <a:ln w="6350">
            <a:solidFill>
              <a:srgbClr val="D6DEE1"/>
            </a:solidFill>
            <a:prstDash val="solid"/>
          </a:ln>
        </p:spPr>
      </p:sp>
      <p:sp>
        <p:nvSpPr>
          <p:cNvPr id="5" name="Text 3"/>
          <p:cNvSpPr txBox="1"/>
          <p:nvPr/>
        </p:nvSpPr>
        <p:spPr>
          <a:xfrm>
            <a:off x="971550" y="2004020"/>
            <a:ext cx="1388467" cy="228600"/>
          </a:xfrm>
          <a:prstGeom prst="rect">
            <a:avLst/>
          </a:prstGeom>
          <a:noFill/>
          <a:ln/>
        </p:spPr>
        <p:txBody>
          <a:bodyPr wrap="square" lIns="0" tIns="0" rIns="0" bIns="0" rtlCol="0" anchor="t"/>
          <a:lstStyle/>
          <a:p>
            <a:pPr algn="l" indent="0" marL="0">
              <a:lnSpc>
                <a:spcPts val="1800"/>
              </a:lnSpc>
              <a:buNone/>
            </a:pPr>
            <a:r>
              <a:rPr lang="en-US" sz="1500" dirty="0">
                <a:solidFill>
                  <a:srgbClr val="0A7468"/>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971550" y="2277070"/>
            <a:ext cx="1388467"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Request</a:t>
            </a:r>
            <a:endParaRPr lang="en-US" sz="1500" dirty="0"/>
          </a:p>
        </p:txBody>
      </p:sp>
      <p:sp>
        <p:nvSpPr>
          <p:cNvPr id="7" name="Text 5"/>
          <p:cNvSpPr txBox="1"/>
          <p:nvPr/>
        </p:nvSpPr>
        <p:spPr>
          <a:xfrm>
            <a:off x="971550" y="2562820"/>
            <a:ext cx="1388467" cy="822722"/>
          </a:xfrm>
          <a:prstGeom prst="rect">
            <a:avLst/>
          </a:prstGeom>
          <a:noFill/>
          <a:ln/>
        </p:spPr>
        <p:txBody>
          <a:bodyPr wrap="square" lIns="0" tIns="0" rIns="0" bIns="0" rtlCol="0" anchor="t"/>
          <a:lstStyle/>
          <a:p>
            <a:pPr algn="l" indent="0" marL="0">
              <a:lnSpc>
                <a:spcPts val="1620"/>
              </a:lnSpc>
              <a:buNone/>
            </a:pPr>
            <a:r>
              <a:rPr lang="en-US" sz="1200" dirty="0">
                <a:solidFill>
                  <a:srgbClr val="4E6074"/>
                </a:solidFill>
                <a:latin typeface="Calibri" pitchFamily="34" charset="0"/>
                <a:ea typeface="Calibri" pitchFamily="34" charset="-122"/>
                <a:cs typeface="Calibri" pitchFamily="34" charset="-120"/>
              </a:rPr>
              <a:t>A robo-advisor agent asks for an optimal portfolio, budget 20 tUSD</a:t>
            </a:r>
            <a:endParaRPr lang="en-US" sz="1200" dirty="0"/>
          </a:p>
        </p:txBody>
      </p:sp>
      <p:sp>
        <p:nvSpPr>
          <p:cNvPr id="8" name="Shape 6"/>
          <p:cNvSpPr/>
          <p:nvPr/>
        </p:nvSpPr>
        <p:spPr>
          <a:xfrm>
            <a:off x="2594967" y="1845270"/>
            <a:ext cx="1655266" cy="1699022"/>
          </a:xfrm>
          <a:prstGeom prst="roundRect">
            <a:avLst>
              <a:gd name="adj" fmla="val 3069"/>
            </a:avLst>
          </a:prstGeom>
          <a:solidFill>
            <a:srgbClr val="FBFCFC"/>
          </a:solidFill>
          <a:ln w="6350">
            <a:solidFill>
              <a:srgbClr val="D6DEE1"/>
            </a:solidFill>
            <a:prstDash val="solid"/>
          </a:ln>
        </p:spPr>
      </p:sp>
      <p:sp>
        <p:nvSpPr>
          <p:cNvPr id="9" name="Text 7"/>
          <p:cNvSpPr txBox="1"/>
          <p:nvPr/>
        </p:nvSpPr>
        <p:spPr>
          <a:xfrm>
            <a:off x="2753717" y="2004020"/>
            <a:ext cx="1388566" cy="228600"/>
          </a:xfrm>
          <a:prstGeom prst="rect">
            <a:avLst/>
          </a:prstGeom>
          <a:noFill/>
          <a:ln/>
        </p:spPr>
        <p:txBody>
          <a:bodyPr wrap="square" lIns="0" tIns="0" rIns="0" bIns="0" rtlCol="0" anchor="t"/>
          <a:lstStyle/>
          <a:p>
            <a:pPr algn="l" indent="0" marL="0">
              <a:lnSpc>
                <a:spcPts val="1800"/>
              </a:lnSpc>
              <a:buNone/>
            </a:pPr>
            <a:r>
              <a:rPr lang="en-US" sz="1500" dirty="0">
                <a:solidFill>
                  <a:srgbClr val="0A7468"/>
                </a:solidFill>
                <a:latin typeface="Cambria" pitchFamily="34" charset="0"/>
                <a:ea typeface="Cambria" pitchFamily="34" charset="-122"/>
                <a:cs typeface="Cambria" pitchFamily="34" charset="-120"/>
              </a:rPr>
              <a:t>2</a:t>
            </a:r>
            <a:endParaRPr lang="en-US" sz="1500" dirty="0"/>
          </a:p>
        </p:txBody>
      </p:sp>
      <p:sp>
        <p:nvSpPr>
          <p:cNvPr id="10" name="Text 8"/>
          <p:cNvSpPr txBox="1"/>
          <p:nvPr/>
        </p:nvSpPr>
        <p:spPr>
          <a:xfrm>
            <a:off x="2753717" y="2277070"/>
            <a:ext cx="1388566"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Quote</a:t>
            </a:r>
            <a:endParaRPr lang="en-US" sz="1500" dirty="0"/>
          </a:p>
        </p:txBody>
      </p:sp>
      <p:sp>
        <p:nvSpPr>
          <p:cNvPr id="11" name="Text 9"/>
          <p:cNvSpPr txBox="1"/>
          <p:nvPr/>
        </p:nvSpPr>
        <p:spPr>
          <a:xfrm>
            <a:off x="2753717" y="2562820"/>
            <a:ext cx="1388566" cy="617041"/>
          </a:xfrm>
          <a:prstGeom prst="rect">
            <a:avLst/>
          </a:prstGeom>
          <a:noFill/>
          <a:ln/>
        </p:spPr>
        <p:txBody>
          <a:bodyPr wrap="square" lIns="0" tIns="0" rIns="0" bIns="0" rtlCol="0" anchor="t"/>
          <a:lstStyle/>
          <a:p>
            <a:pPr algn="l" indent="0" marL="0">
              <a:lnSpc>
                <a:spcPts val="1620"/>
              </a:lnSpc>
              <a:buNone/>
            </a:pPr>
            <a:r>
              <a:rPr lang="en-US" sz="1200" dirty="0">
                <a:solidFill>
                  <a:srgbClr val="4E6074"/>
                </a:solidFill>
                <a:latin typeface="Calibri" pitchFamily="34" charset="0"/>
                <a:ea typeface="Calibri" pitchFamily="34" charset="-122"/>
                <a:cs typeface="Calibri" pitchFamily="34" charset="-120"/>
              </a:rPr>
              <a:t>QED prices it at 15 (cost 6) and signs the terms</a:t>
            </a:r>
            <a:endParaRPr lang="en-US" sz="1200" dirty="0"/>
          </a:p>
        </p:txBody>
      </p:sp>
      <p:sp>
        <p:nvSpPr>
          <p:cNvPr id="12" name="Shape 10"/>
          <p:cNvSpPr/>
          <p:nvPr/>
        </p:nvSpPr>
        <p:spPr>
          <a:xfrm>
            <a:off x="4377234" y="1845270"/>
            <a:ext cx="1655167" cy="1699022"/>
          </a:xfrm>
          <a:prstGeom prst="roundRect">
            <a:avLst>
              <a:gd name="adj" fmla="val 3069"/>
            </a:avLst>
          </a:prstGeom>
          <a:solidFill>
            <a:srgbClr val="FBFCFC"/>
          </a:solidFill>
          <a:ln w="6350">
            <a:solidFill>
              <a:srgbClr val="D6DEE1"/>
            </a:solidFill>
            <a:prstDash val="solid"/>
          </a:ln>
        </p:spPr>
      </p:sp>
      <p:sp>
        <p:nvSpPr>
          <p:cNvPr id="13" name="Text 11"/>
          <p:cNvSpPr txBox="1"/>
          <p:nvPr/>
        </p:nvSpPr>
        <p:spPr>
          <a:xfrm>
            <a:off x="4535984" y="2004020"/>
            <a:ext cx="1388467" cy="228600"/>
          </a:xfrm>
          <a:prstGeom prst="rect">
            <a:avLst/>
          </a:prstGeom>
          <a:noFill/>
          <a:ln/>
        </p:spPr>
        <p:txBody>
          <a:bodyPr wrap="square" lIns="0" tIns="0" rIns="0" bIns="0" rtlCol="0" anchor="t"/>
          <a:lstStyle/>
          <a:p>
            <a:pPr algn="l" indent="0" marL="0">
              <a:lnSpc>
                <a:spcPts val="1800"/>
              </a:lnSpc>
              <a:buNone/>
            </a:pPr>
            <a:r>
              <a:rPr lang="en-US" sz="1500" dirty="0">
                <a:solidFill>
                  <a:srgbClr val="0A7468"/>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4535984" y="2277070"/>
            <a:ext cx="1388467"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Escrow</a:t>
            </a:r>
            <a:endParaRPr lang="en-US" sz="1500" dirty="0"/>
          </a:p>
        </p:txBody>
      </p:sp>
      <p:sp>
        <p:nvSpPr>
          <p:cNvPr id="15" name="Text 13"/>
          <p:cNvSpPr txBox="1"/>
          <p:nvPr/>
        </p:nvSpPr>
        <p:spPr>
          <a:xfrm>
            <a:off x="4535984" y="2562820"/>
            <a:ext cx="1388467" cy="617041"/>
          </a:xfrm>
          <a:prstGeom prst="rect">
            <a:avLst/>
          </a:prstGeom>
          <a:noFill/>
          <a:ln/>
        </p:spPr>
        <p:txBody>
          <a:bodyPr wrap="square" lIns="0" tIns="0" rIns="0" bIns="0" rtlCol="0" anchor="t"/>
          <a:lstStyle/>
          <a:p>
            <a:pPr algn="l" indent="0" marL="0">
              <a:lnSpc>
                <a:spcPts val="1620"/>
              </a:lnSpc>
              <a:buNone/>
            </a:pPr>
            <a:r>
              <a:rPr lang="en-US" sz="1200" dirty="0">
                <a:solidFill>
                  <a:srgbClr val="4E6074"/>
                </a:solidFill>
                <a:latin typeface="Calibri" pitchFamily="34" charset="0"/>
                <a:ea typeface="Calibri" pitchFamily="34" charset="-122"/>
                <a:cs typeface="Calibri" pitchFamily="34" charset="-120"/>
              </a:rPr>
              <a:t>The client locks 15 tUSD with the signed quote (L2)</a:t>
            </a:r>
            <a:endParaRPr lang="en-US" sz="1200" dirty="0"/>
          </a:p>
        </p:txBody>
      </p:sp>
      <p:sp>
        <p:nvSpPr>
          <p:cNvPr id="16" name="Shape 14"/>
          <p:cNvSpPr/>
          <p:nvPr/>
        </p:nvSpPr>
        <p:spPr>
          <a:xfrm>
            <a:off x="6159401" y="1845270"/>
            <a:ext cx="1655266" cy="1699022"/>
          </a:xfrm>
          <a:prstGeom prst="roundRect">
            <a:avLst>
              <a:gd name="adj" fmla="val 3069"/>
            </a:avLst>
          </a:prstGeom>
          <a:solidFill>
            <a:srgbClr val="FBFCFC"/>
          </a:solidFill>
          <a:ln w="6350">
            <a:solidFill>
              <a:srgbClr val="D6DEE1"/>
            </a:solidFill>
            <a:prstDash val="solid"/>
          </a:ln>
        </p:spPr>
      </p:sp>
      <p:sp>
        <p:nvSpPr>
          <p:cNvPr id="17" name="Text 15"/>
          <p:cNvSpPr txBox="1"/>
          <p:nvPr/>
        </p:nvSpPr>
        <p:spPr>
          <a:xfrm>
            <a:off x="6318151" y="2004020"/>
            <a:ext cx="1388566" cy="228600"/>
          </a:xfrm>
          <a:prstGeom prst="rect">
            <a:avLst/>
          </a:prstGeom>
          <a:noFill/>
          <a:ln/>
        </p:spPr>
        <p:txBody>
          <a:bodyPr wrap="square" lIns="0" tIns="0" rIns="0" bIns="0" rtlCol="0" anchor="t"/>
          <a:lstStyle/>
          <a:p>
            <a:pPr algn="l" indent="0" marL="0">
              <a:lnSpc>
                <a:spcPts val="1800"/>
              </a:lnSpc>
              <a:buNone/>
            </a:pPr>
            <a:r>
              <a:rPr lang="en-US" sz="1500" dirty="0">
                <a:solidFill>
                  <a:srgbClr val="0A7468"/>
                </a:solidFill>
                <a:latin typeface="Cambria" pitchFamily="34" charset="0"/>
                <a:ea typeface="Cambria" pitchFamily="34" charset="-122"/>
                <a:cs typeface="Cambria" pitchFamily="34" charset="-120"/>
              </a:rPr>
              <a:t>4</a:t>
            </a:r>
            <a:endParaRPr lang="en-US" sz="1500" dirty="0"/>
          </a:p>
        </p:txBody>
      </p:sp>
      <p:sp>
        <p:nvSpPr>
          <p:cNvPr id="18" name="Text 16"/>
          <p:cNvSpPr txBox="1"/>
          <p:nvPr/>
        </p:nvSpPr>
        <p:spPr>
          <a:xfrm>
            <a:off x="6318151" y="2277070"/>
            <a:ext cx="1388566"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Buy data</a:t>
            </a:r>
            <a:endParaRPr lang="en-US" sz="1500" dirty="0"/>
          </a:p>
        </p:txBody>
      </p:sp>
      <p:sp>
        <p:nvSpPr>
          <p:cNvPr id="19" name="Text 17"/>
          <p:cNvSpPr txBox="1"/>
          <p:nvPr/>
        </p:nvSpPr>
        <p:spPr>
          <a:xfrm>
            <a:off x="6318151" y="2562820"/>
            <a:ext cx="1388566" cy="617041"/>
          </a:xfrm>
          <a:prstGeom prst="rect">
            <a:avLst/>
          </a:prstGeom>
          <a:noFill/>
          <a:ln/>
        </p:spPr>
        <p:txBody>
          <a:bodyPr wrap="square" lIns="0" tIns="0" rIns="0" bIns="0" rtlCol="0" anchor="t"/>
          <a:lstStyle/>
          <a:p>
            <a:pPr algn="l" indent="0" marL="0">
              <a:lnSpc>
                <a:spcPts val="1620"/>
              </a:lnSpc>
              <a:buNone/>
            </a:pPr>
            <a:r>
              <a:rPr lang="en-US" sz="1200" dirty="0">
                <a:solidFill>
                  <a:srgbClr val="4E6074"/>
                </a:solidFill>
                <a:latin typeface="Calibri" pitchFamily="34" charset="0"/>
                <a:ea typeface="Calibri" pitchFamily="34" charset="-122"/>
                <a:cs typeface="Calibri" pitchFamily="34" charset="-120"/>
              </a:rPr>
              <a:t>The AI key pays 6 tUSD for the risk model, co-signed (L4)</a:t>
            </a:r>
            <a:endParaRPr lang="en-US" sz="1200" dirty="0"/>
          </a:p>
        </p:txBody>
      </p:sp>
      <p:sp>
        <p:nvSpPr>
          <p:cNvPr id="20" name="Shape 18"/>
          <p:cNvSpPr/>
          <p:nvPr/>
        </p:nvSpPr>
        <p:spPr>
          <a:xfrm>
            <a:off x="7941667" y="1845270"/>
            <a:ext cx="1655266" cy="1699022"/>
          </a:xfrm>
          <a:prstGeom prst="roundRect">
            <a:avLst>
              <a:gd name="adj" fmla="val 3069"/>
            </a:avLst>
          </a:prstGeom>
          <a:solidFill>
            <a:srgbClr val="FBFCFC"/>
          </a:solidFill>
          <a:ln w="6350">
            <a:solidFill>
              <a:srgbClr val="D6DEE1"/>
            </a:solidFill>
            <a:prstDash val="solid"/>
          </a:ln>
        </p:spPr>
      </p:sp>
      <p:sp>
        <p:nvSpPr>
          <p:cNvPr id="21" name="Text 19"/>
          <p:cNvSpPr txBox="1"/>
          <p:nvPr/>
        </p:nvSpPr>
        <p:spPr>
          <a:xfrm>
            <a:off x="8100417" y="2004020"/>
            <a:ext cx="1388566" cy="228600"/>
          </a:xfrm>
          <a:prstGeom prst="rect">
            <a:avLst/>
          </a:prstGeom>
          <a:noFill/>
          <a:ln/>
        </p:spPr>
        <p:txBody>
          <a:bodyPr wrap="square" lIns="0" tIns="0" rIns="0" bIns="0" rtlCol="0" anchor="t"/>
          <a:lstStyle/>
          <a:p>
            <a:pPr algn="l" indent="0" marL="0">
              <a:lnSpc>
                <a:spcPts val="1800"/>
              </a:lnSpc>
              <a:buNone/>
            </a:pPr>
            <a:r>
              <a:rPr lang="en-US" sz="1500" dirty="0">
                <a:solidFill>
                  <a:srgbClr val="0A7468"/>
                </a:solidFill>
                <a:latin typeface="Cambria" pitchFamily="34" charset="0"/>
                <a:ea typeface="Cambria" pitchFamily="34" charset="-122"/>
                <a:cs typeface="Cambria" pitchFamily="34" charset="-120"/>
              </a:rPr>
              <a:t>5</a:t>
            </a:r>
            <a:endParaRPr lang="en-US" sz="1500" dirty="0"/>
          </a:p>
        </p:txBody>
      </p:sp>
      <p:sp>
        <p:nvSpPr>
          <p:cNvPr id="22" name="Text 20"/>
          <p:cNvSpPr txBox="1"/>
          <p:nvPr/>
        </p:nvSpPr>
        <p:spPr>
          <a:xfrm>
            <a:off x="8100417" y="2277070"/>
            <a:ext cx="1388566"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Solve</a:t>
            </a:r>
            <a:endParaRPr lang="en-US" sz="1500" dirty="0"/>
          </a:p>
        </p:txBody>
      </p:sp>
      <p:sp>
        <p:nvSpPr>
          <p:cNvPr id="23" name="Text 21"/>
          <p:cNvSpPr txBox="1"/>
          <p:nvPr/>
        </p:nvSpPr>
        <p:spPr>
          <a:xfrm>
            <a:off x="8100417" y="2562820"/>
            <a:ext cx="1388566" cy="617041"/>
          </a:xfrm>
          <a:prstGeom prst="rect">
            <a:avLst/>
          </a:prstGeom>
          <a:noFill/>
          <a:ln/>
        </p:spPr>
        <p:txBody>
          <a:bodyPr wrap="square" lIns="0" tIns="0" rIns="0" bIns="0" rtlCol="0" anchor="t"/>
          <a:lstStyle/>
          <a:p>
            <a:pPr algn="l" indent="0" marL="0">
              <a:lnSpc>
                <a:spcPts val="1620"/>
              </a:lnSpc>
              <a:buNone/>
            </a:pPr>
            <a:r>
              <a:rPr lang="en-US" sz="1200" dirty="0">
                <a:solidFill>
                  <a:srgbClr val="4E6074"/>
                </a:solidFill>
                <a:latin typeface="Calibri" pitchFamily="34" charset="0"/>
                <a:ea typeface="Calibri" pitchFamily="34" charset="-122"/>
                <a:cs typeface="Calibri" pitchFamily="34" charset="-120"/>
              </a:rPr>
              <a:t>1.7 ms to the exact optimum and its proof</a:t>
            </a:r>
            <a:endParaRPr lang="en-US" sz="1200" dirty="0"/>
          </a:p>
        </p:txBody>
      </p:sp>
      <p:sp>
        <p:nvSpPr>
          <p:cNvPr id="24" name="Shape 22"/>
          <p:cNvSpPr/>
          <p:nvPr/>
        </p:nvSpPr>
        <p:spPr>
          <a:xfrm>
            <a:off x="9723934" y="1845270"/>
            <a:ext cx="1655167" cy="1699022"/>
          </a:xfrm>
          <a:prstGeom prst="roundRect">
            <a:avLst>
              <a:gd name="adj" fmla="val 3069"/>
            </a:avLst>
          </a:prstGeom>
          <a:solidFill>
            <a:srgbClr val="E3F0EE"/>
          </a:solidFill>
          <a:ln w="12700">
            <a:solidFill>
              <a:srgbClr val="0A7468"/>
            </a:solidFill>
            <a:prstDash val="solid"/>
          </a:ln>
        </p:spPr>
      </p:sp>
      <p:sp>
        <p:nvSpPr>
          <p:cNvPr id="25" name="Text 23"/>
          <p:cNvSpPr txBox="1"/>
          <p:nvPr/>
        </p:nvSpPr>
        <p:spPr>
          <a:xfrm>
            <a:off x="9889034" y="2010370"/>
            <a:ext cx="1375767" cy="228600"/>
          </a:xfrm>
          <a:prstGeom prst="rect">
            <a:avLst/>
          </a:prstGeom>
          <a:noFill/>
          <a:ln/>
        </p:spPr>
        <p:txBody>
          <a:bodyPr wrap="square" lIns="0" tIns="0" rIns="0" bIns="0" rtlCol="0" anchor="t"/>
          <a:lstStyle/>
          <a:p>
            <a:pPr algn="l" indent="0" marL="0">
              <a:lnSpc>
                <a:spcPts val="1800"/>
              </a:lnSpc>
              <a:buNone/>
            </a:pPr>
            <a:r>
              <a:rPr lang="en-US" sz="1500" dirty="0">
                <a:solidFill>
                  <a:srgbClr val="0A7468"/>
                </a:solidFill>
                <a:latin typeface="Cambria" pitchFamily="34" charset="0"/>
                <a:ea typeface="Cambria" pitchFamily="34" charset="-122"/>
                <a:cs typeface="Cambria" pitchFamily="34" charset="-120"/>
              </a:rPr>
              <a:t>6</a:t>
            </a:r>
            <a:endParaRPr lang="en-US" sz="1500" dirty="0"/>
          </a:p>
        </p:txBody>
      </p:sp>
      <p:sp>
        <p:nvSpPr>
          <p:cNvPr id="26" name="Text 24"/>
          <p:cNvSpPr txBox="1"/>
          <p:nvPr/>
        </p:nvSpPr>
        <p:spPr>
          <a:xfrm>
            <a:off x="9889034" y="2283420"/>
            <a:ext cx="1375767"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Settle</a:t>
            </a:r>
            <a:endParaRPr lang="en-US" sz="1500" dirty="0"/>
          </a:p>
        </p:txBody>
      </p:sp>
      <p:sp>
        <p:nvSpPr>
          <p:cNvPr id="27" name="Text 25"/>
          <p:cNvSpPr txBox="1"/>
          <p:nvPr/>
        </p:nvSpPr>
        <p:spPr>
          <a:xfrm>
            <a:off x="9889034" y="2569170"/>
            <a:ext cx="1375767" cy="61704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The chain checks the proof; 15 tUSD lands in the vault (L6)</a:t>
            </a:r>
            <a:endParaRPr lang="en-US" sz="1200" dirty="0"/>
          </a:p>
        </p:txBody>
      </p:sp>
      <p:sp>
        <p:nvSpPr>
          <p:cNvPr id="28" name="Shape 26"/>
          <p:cNvSpPr/>
          <p:nvPr/>
        </p:nvSpPr>
        <p:spPr>
          <a:xfrm>
            <a:off x="812800" y="3734792"/>
            <a:ext cx="10566400" cy="1103511"/>
          </a:xfrm>
          <a:prstGeom prst="roundRect">
            <a:avLst>
              <a:gd name="adj" fmla="val 4603"/>
            </a:avLst>
          </a:prstGeom>
          <a:solidFill>
            <a:srgbClr val="F8ECEC"/>
          </a:solidFill>
          <a:ln w="6350">
            <a:solidFill>
              <a:srgbClr val="E2B9BC"/>
            </a:solidFill>
            <a:prstDash val="solid"/>
          </a:ln>
        </p:spPr>
      </p:sp>
      <p:sp>
        <p:nvSpPr>
          <p:cNvPr id="29" name="Text 27"/>
          <p:cNvSpPr txBox="1"/>
          <p:nvPr/>
        </p:nvSpPr>
        <p:spPr>
          <a:xfrm>
            <a:off x="1022350" y="3918942"/>
            <a:ext cx="10350246" cy="234950"/>
          </a:xfrm>
          <a:prstGeom prst="rect">
            <a:avLst/>
          </a:prstGeom>
          <a:noFill/>
          <a:ln/>
        </p:spPr>
        <p:txBody>
          <a:bodyPr wrap="square" lIns="0" tIns="0" rIns="0" bIns="0" rtlCol="0" anchor="t"/>
          <a:lstStyle/>
          <a:p>
            <a:pPr algn="l" indent="0" marL="0">
              <a:lnSpc>
                <a:spcPts val="1800"/>
              </a:lnSpc>
              <a:buNone/>
            </a:pPr>
            <a:r>
              <a:rPr lang="en-US" sz="1500" b="1" dirty="0">
                <a:solidFill>
                  <a:srgbClr val="8E1D24"/>
                </a:solidFill>
                <a:latin typeface="Calibri" pitchFamily="34" charset="0"/>
                <a:ea typeface="Calibri" pitchFamily="34" charset="-122"/>
                <a:cs typeface="Calibri" pitchFamily="34" charset="-120"/>
              </a:rPr>
              <a:t>Meanwhile, a cheaper rival bid 9 tUSD and tried to cut corners</a:t>
            </a:r>
            <a:endParaRPr lang="en-US" sz="1500" dirty="0"/>
          </a:p>
        </p:txBody>
      </p:sp>
      <p:sp>
        <p:nvSpPr>
          <p:cNvPr id="30" name="Text 28"/>
          <p:cNvSpPr txBox="1"/>
          <p:nvPr/>
        </p:nvSpPr>
        <p:spPr>
          <a:xfrm>
            <a:off x="1022350" y="4242792"/>
            <a:ext cx="3294668"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Lazy 1/N portfolio → </a:t>
            </a:r>
            <a:pPr algn="l" indent="0" marL="0">
              <a:lnSpc>
                <a:spcPts val="1620"/>
              </a:lnSpc>
              <a:buNone/>
            </a:pPr>
            <a:r>
              <a:rPr lang="en-US" sz="1200" b="1" dirty="0">
                <a:solidFill>
                  <a:srgbClr val="13233F"/>
                </a:solidFill>
                <a:latin typeface="Calibri" pitchFamily="34" charset="0"/>
                <a:ea typeface="Calibri" pitchFamily="34" charset="-122"/>
                <a:cs typeface="Calibri" pitchFamily="34" charset="-120"/>
              </a:rPr>
              <a:t>DualityGapTooLarge</a:t>
            </a:r>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 gap 0.0191 (X17)</a:t>
            </a:r>
            <a:endParaRPr lang="en-US" sz="1200" dirty="0"/>
          </a:p>
        </p:txBody>
      </p:sp>
      <p:sp>
        <p:nvSpPr>
          <p:cNvPr id="31" name="Text 29"/>
          <p:cNvSpPr txBox="1"/>
          <p:nvPr/>
        </p:nvSpPr>
        <p:spPr>
          <a:xfrm>
            <a:off x="4481016" y="4242792"/>
            <a:ext cx="3294668"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Optimum nudged 0.01% → </a:t>
            </a:r>
            <a:pPr algn="l" indent="0" marL="0">
              <a:lnSpc>
                <a:spcPts val="1620"/>
              </a:lnSpc>
              <a:buNone/>
            </a:pPr>
            <a:r>
              <a:rPr lang="en-US" sz="1200" b="1" dirty="0">
                <a:solidFill>
                  <a:srgbClr val="13233F"/>
                </a:solidFill>
                <a:latin typeface="Calibri" pitchFamily="34" charset="0"/>
                <a:ea typeface="Calibri" pitchFamily="34" charset="-122"/>
                <a:cs typeface="Calibri" pitchFamily="34" charset="-120"/>
              </a:rPr>
              <a:t>StationarityViolated</a:t>
            </a:r>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 (X18)</a:t>
            </a:r>
            <a:endParaRPr lang="en-US" sz="1200" dirty="0"/>
          </a:p>
        </p:txBody>
      </p:sp>
      <p:sp>
        <p:nvSpPr>
          <p:cNvPr id="32" name="Text 30"/>
          <p:cNvSpPr txBox="1"/>
          <p:nvPr/>
        </p:nvSpPr>
        <p:spPr>
          <a:xfrm>
            <a:off x="7939683" y="4242792"/>
            <a:ext cx="3294668"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Deadline passed → the client got all 9 tUSD back (X19)</a:t>
            </a:r>
            <a:endParaRPr lang="en-US" sz="1200" dirty="0"/>
          </a:p>
        </p:txBody>
      </p:sp>
      <p:sp>
        <p:nvSpPr>
          <p:cNvPr id="33" name="Text 31"/>
          <p:cNvSpPr txBox="1"/>
          <p:nvPr/>
        </p:nvSpPr>
        <p:spPr>
          <a:xfrm>
            <a:off x="812800" y="5028803"/>
            <a:ext cx="10777728"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Result: +9 tUSD margin for QED, the ring-fence untouched, the dishonest provider paid nothing.</a:t>
            </a:r>
            <a:endParaRPr lang="en-US" sz="1500" dirty="0"/>
          </a:p>
        </p:txBody>
      </p:sp>
      <p:sp>
        <p:nvSpPr>
          <p:cNvPr id="34" name="Text 32"/>
          <p:cNvSpPr txBox="1"/>
          <p:nvPr/>
        </p:nvSpPr>
        <p:spPr>
          <a:xfrm>
            <a:off x="812800" y="6267450"/>
            <a:ext cx="77724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QED before the upgrade, unchanged and still live</a:t>
            </a:r>
            <a:endParaRPr lang="en-US" sz="1200" dirty="0"/>
          </a:p>
        </p:txBody>
      </p:sp>
      <p:sp>
        <p:nvSpPr>
          <p:cNvPr id="35" name="Text 33"/>
          <p:cNvSpPr txBox="1"/>
          <p:nvPr/>
        </p:nvSpPr>
        <p:spPr>
          <a:xfrm>
            <a:off x="9423400" y="6267450"/>
            <a:ext cx="1955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Appendix A11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B1262E"/>
                </a:solidFill>
                <a:latin typeface="Calibri" pitchFamily="34" charset="0"/>
                <a:ea typeface="Calibri" pitchFamily="34" charset="-122"/>
                <a:cs typeface="Calibri" pitchFamily="34" charset="-120"/>
              </a:rPr>
              <a:t>OUTCOME 3 · ADVERSARIES</a:t>
            </a:r>
            <a:endParaRPr lang="en-US" sz="1200" dirty="0"/>
          </a:p>
        </p:txBody>
      </p:sp>
      <p:sp>
        <p:nvSpPr>
          <p:cNvPr id="3" name="Text 1"/>
          <p:cNvSpPr txBox="1"/>
          <p:nvPr/>
        </p:nvSpPr>
        <p:spPr>
          <a:xfrm>
            <a:off x="812800" y="11747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19 attacks on the public chain. 19 reverts. 0 tUSD to the attacker.</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12800" y="1819870"/>
          <a:ext cx="5181600" cy="914400"/>
        </p:xfrm>
        <a:graphic>
          <a:graphicData uri="http://schemas.openxmlformats.org/drawingml/2006/table">
            <a:tbl>
              <a:tblPr/>
              <a:tblGrid>
                <a:gridCol w="466328"/>
                <a:gridCol w="2746177"/>
                <a:gridCol w="1969095"/>
              </a:tblGrid>
              <a:tr h="196850">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Tx</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Attempt</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Reverted with</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X2</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Edit price in signed quote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BadProviderSignature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X3</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Redirect quote’s payee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BadProviderSignature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X5</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Stolen AI key, forged co-sign</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BadCosignerSignature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X6</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Both hot keys pay attacker</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PayeeNotInMandate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X7</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Self-signed mandate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BadOwnerSignature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X8</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Real cert, amount 6 → 9</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BadCosignerSignature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X9</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Real cert, new recipient</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BadCosignerSignature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X10</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Replay a real certificate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IntentAlreadyUsed</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X11</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Both keys overdraw free funds</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SolvencyViolation</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X12</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Both keys exceed the 24 h cap</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ExceedsDailyCap</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bl>
          </a:graphicData>
        </a:graphic>
      </p:graphicFrame>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6197600" y="1819870"/>
          <a:ext cx="5181600" cy="914400"/>
        </p:xfrm>
        <a:graphic>
          <a:graphicData uri="http://schemas.openxmlformats.org/drawingml/2006/table">
            <a:tbl>
              <a:tblPr/>
              <a:tblGrid>
                <a:gridCol w="466328"/>
                <a:gridCol w="2746177"/>
                <a:gridCol w="1969095"/>
              </a:tblGrid>
              <a:tr h="196850">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Tx</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Attempt</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b="1" dirty="0">
                          <a:solidFill>
                            <a:srgbClr val="13233F"/>
                          </a:solidFill>
                          <a:latin typeface="Calibri" pitchFamily="34" charset="0"/>
                          <a:ea typeface="Calibri" pitchFamily="34" charset="-122"/>
                          <a:cs typeface="Calibri" pitchFamily="34" charset="-120"/>
                        </a:rPr>
                        <a:t>Reverted with</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X13</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AI key calls withdraw()</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NotOwner</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X14</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AI key voids creditor’s claim</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NotCreditor</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X15</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AI key lifts its own cap</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NotOwner</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X17</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Lazy 1/N portfolio</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DualityGapTooLarge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X18</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Optimum nudged 0.01%</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StationarityViolated</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H4</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Published keys pay attacker</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PayeeNotInMandate</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H5</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Published keys take 50</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ExceedsPerPaymentCap</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H6</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Published keys withdraw()</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NotOwner</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r h="196850">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P2</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13233F"/>
                          </a:solidFill>
                          <a:latin typeface="Calibri" pitchFamily="34" charset="0"/>
                          <a:ea typeface="Calibri" pitchFamily="34" charset="-122"/>
                          <a:cs typeface="Calibri" pitchFamily="34" charset="-120"/>
                        </a:rPr>
                        <a:t>Valid payment while paused</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200" dirty="0">
                          <a:solidFill>
                            <a:srgbClr val="B1262E"/>
                          </a:solidFill>
                          <a:latin typeface="Calibri" pitchFamily="34" charset="0"/>
                          <a:ea typeface="Calibri" pitchFamily="34" charset="-122"/>
                          <a:cs typeface="Calibri" pitchFamily="34" charset="-120"/>
                        </a:rPr>
                        <a:t>VaultPaused</a:t>
                      </a:r>
                      <a:endParaRPr lang="en-US" sz="1200" dirty="0">
                        <a:latin typeface="Calibri" charset="0"/>
                        <a:ea typeface="Calibri" charset="0"/>
                        <a:cs typeface="Calibri" charset="0"/>
                      </a:endParaRPr>
                    </a:p>
                  </a:txBody>
                  <a:tcPr marL="6350" marR="6350" marT="6350" marB="6350" anchor="t">
                    <a:lnL w="0" cap="flat" cmpd="sng" algn="ctr">
                      <a:noFill/>
                    </a:lnL>
                    <a:lnR w="0" cap="flat" cmpd="sng" algn="ctr">
                      <a:noFill/>
                    </a:lnR>
                    <a:lnT w="0" cap="flat" cmpd="sng" algn="ctr">
                      <a:noFill/>
                    </a:lnT>
                    <a:lnB w="0" cap="flat" cmpd="sng" algn="ctr">
                      <a:noFill/>
                    </a:lnB>
                  </a:tcPr>
                </a:tc>
              </a:tr>
            </a:tbl>
          </a:graphicData>
        </a:graphic>
      </p:graphicFrame>
      <p:sp>
        <p:nvSpPr>
          <p:cNvPr id="6" name="Text 2"/>
          <p:cNvSpPr txBox="1"/>
          <p:nvPr/>
        </p:nvSpPr>
        <p:spPr>
          <a:xfrm>
            <a:off x="812800" y="6267450"/>
            <a:ext cx="84201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Run 1 only; 29 more in runs 2–4 (48 in all): docs/EVIDENCE.md</a:t>
            </a:r>
            <a:endParaRPr lang="en-US" sz="1200" dirty="0"/>
          </a:p>
        </p:txBody>
      </p:sp>
      <p:sp>
        <p:nvSpPr>
          <p:cNvPr id="7" name="Text 3"/>
          <p:cNvSpPr txBox="1"/>
          <p:nvPr/>
        </p:nvSpPr>
        <p:spPr>
          <a:xfrm>
            <a:off x="9423400" y="6267450"/>
            <a:ext cx="1955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Appendix A12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PROOF 4 · BOUNDED LOSS</a:t>
            </a:r>
            <a:endParaRPr lang="en-US" sz="1200" dirty="0"/>
          </a:p>
        </p:txBody>
      </p:sp>
      <p:sp>
        <p:nvSpPr>
          <p:cNvPr id="3" name="Text 1"/>
          <p:cNvSpPr txBox="1"/>
          <p:nvPr/>
        </p:nvSpPr>
        <p:spPr>
          <a:xfrm>
            <a:off x="812800" y="12255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We published the AI’s keys. The money stayed put.</a:t>
            </a:r>
            <a:endParaRPr lang="en-US" sz="3200" dirty="0"/>
          </a:p>
        </p:txBody>
      </p:sp>
      <p:sp>
        <p:nvSpPr>
          <p:cNvPr id="4" name="Text 2"/>
          <p:cNvSpPr txBox="1"/>
          <p:nvPr/>
        </p:nvSpPr>
        <p:spPr>
          <a:xfrm>
            <a:off x="812800" y="1921470"/>
            <a:ext cx="4974336" cy="184150"/>
          </a:xfrm>
          <a:prstGeom prst="rect">
            <a:avLst/>
          </a:prstGeom>
          <a:noFill/>
          <a:ln/>
        </p:spPr>
        <p:txBody>
          <a:bodyPr wrap="square" lIns="0" tIns="0" rIns="0" bIns="0" rtlCol="0" anchor="t"/>
          <a:lstStyle/>
          <a:p>
            <a:pPr algn="l" indent="0" marL="0">
              <a:lnSpc>
                <a:spcPts val="1440"/>
              </a:lnSpc>
              <a:buNone/>
            </a:pPr>
            <a:r>
              <a:rPr lang="en-US" sz="1200" b="1" spc="100" kern="0" dirty="0">
                <a:solidFill>
                  <a:srgbClr val="4E6074"/>
                </a:solidFill>
                <a:latin typeface="Calibri" pitchFamily="34" charset="0"/>
                <a:ea typeface="Calibri" pitchFamily="34" charset="-122"/>
                <a:cs typeface="Calibri" pitchFamily="34" charset="-120"/>
              </a:rPr>
              <a:t>WORST CASE IF BOTH HOT KEYS ARE STOLEN</a:t>
            </a:r>
            <a:endParaRPr lang="en-US" sz="1200" dirty="0"/>
          </a:p>
        </p:txBody>
      </p:sp>
      <p:sp>
        <p:nvSpPr>
          <p:cNvPr id="5" name="Text 3"/>
          <p:cNvSpPr txBox="1"/>
          <p:nvPr/>
        </p:nvSpPr>
        <p:spPr>
          <a:xfrm>
            <a:off x="812800" y="2232620"/>
            <a:ext cx="4974336" cy="330200"/>
          </a:xfrm>
          <a:prstGeom prst="rect">
            <a:avLst/>
          </a:prstGeom>
          <a:noFill/>
          <a:ln/>
        </p:spPr>
        <p:txBody>
          <a:bodyPr wrap="square" lIns="0" tIns="0" rIns="0" bIns="0" rtlCol="0" anchor="t"/>
          <a:lstStyle/>
          <a:p>
            <a:pPr algn="l" indent="0" marL="0">
              <a:lnSpc>
                <a:spcPts val="2600"/>
              </a:lnSpc>
              <a:buNone/>
            </a:pPr>
            <a:r>
              <a:rPr lang="en-US" sz="2000" dirty="0">
                <a:solidFill>
                  <a:srgbClr val="13233F"/>
                </a:solidFill>
                <a:latin typeface="Cambria" pitchFamily="34" charset="0"/>
                <a:ea typeface="Cambria" pitchFamily="34" charset="-122"/>
                <a:cs typeface="Cambria" pitchFamily="34" charset="-120"/>
              </a:rPr>
              <a:t>BR(</a:t>
            </a:r>
            <a:pPr algn="l" indent="0" marL="0">
              <a:lnSpc>
                <a:spcPts val="2600"/>
              </a:lnSpc>
              <a:buNone/>
            </a:pPr>
            <a:r>
              <a:rPr lang="en-US" sz="2000" i="1" dirty="0">
                <a:solidFill>
                  <a:srgbClr val="13233F"/>
                </a:solidFill>
                <a:latin typeface="Cambria" pitchFamily="34" charset="0"/>
                <a:ea typeface="Cambria" pitchFamily="34" charset="-122"/>
                <a:cs typeface="Cambria" pitchFamily="34" charset="-120"/>
              </a:rPr>
              <a:t>h</a:t>
            </a:r>
            <a:pPr algn="l" indent="0" marL="0">
              <a:lnSpc>
                <a:spcPts val="2600"/>
              </a:lnSpc>
              <a:buNone/>
            </a:pPr>
            <a:r>
              <a:rPr lang="en-US" sz="2000" dirty="0">
                <a:solidFill>
                  <a:srgbClr val="13233F"/>
                </a:solidFill>
                <a:latin typeface="Cambria" pitchFamily="34" charset="0"/>
                <a:ea typeface="Cambria" pitchFamily="34" charset="-122"/>
                <a:cs typeface="Cambria" pitchFamily="34" charset="-120"/>
              </a:rPr>
              <a:t>) = min( free, cap left + </a:t>
            </a:r>
            <a:pPr algn="l" indent="0" marL="0">
              <a:lnSpc>
                <a:spcPts val="2600"/>
              </a:lnSpc>
              <a:buNone/>
            </a:pPr>
            <a:r>
              <a:rPr lang="en-US" sz="2000" i="1" dirty="0">
                <a:solidFill>
                  <a:srgbClr val="13233F"/>
                </a:solidFill>
                <a:latin typeface="Cambria" pitchFamily="34" charset="0"/>
                <a:ea typeface="Cambria" pitchFamily="34" charset="-122"/>
                <a:cs typeface="Cambria" pitchFamily="34" charset="-120"/>
              </a:rPr>
              <a:t>k</a:t>
            </a:r>
            <a:pPr algn="l" indent="0" marL="0">
              <a:lnSpc>
                <a:spcPts val="2600"/>
              </a:lnSpc>
              <a:buNone/>
            </a:pPr>
            <a:r>
              <a:rPr lang="en-US" sz="2000" dirty="0">
                <a:solidFill>
                  <a:srgbClr val="13233F"/>
                </a:solidFill>
                <a:latin typeface="Cambria" pitchFamily="34" charset="0"/>
                <a:ea typeface="Cambria" pitchFamily="34" charset="-122"/>
                <a:cs typeface="Cambria" pitchFamily="34" charset="-120"/>
              </a:rPr>
              <a:t>·</a:t>
            </a:r>
            <a:pPr algn="l" indent="0" marL="0">
              <a:lnSpc>
                <a:spcPts val="2600"/>
              </a:lnSpc>
              <a:buNone/>
            </a:pPr>
            <a:r>
              <a:rPr lang="en-US" sz="2000" i="1" dirty="0">
                <a:solidFill>
                  <a:srgbClr val="13233F"/>
                </a:solidFill>
                <a:latin typeface="Cambria" pitchFamily="34" charset="0"/>
                <a:ea typeface="Cambria" pitchFamily="34" charset="-122"/>
                <a:cs typeface="Cambria" pitchFamily="34" charset="-120"/>
              </a:rPr>
              <a:t>D</a:t>
            </a:r>
            <a:pPr algn="l" indent="0" marL="0">
              <a:lnSpc>
                <a:spcPts val="2600"/>
              </a:lnSpc>
              <a:buNone/>
            </a:pPr>
            <a:r>
              <a:rPr lang="en-US" sz="2000" dirty="0">
                <a:solidFill>
                  <a:srgbClr val="13233F"/>
                </a:solidFill>
                <a:latin typeface="Cambria" pitchFamily="34" charset="0"/>
                <a:ea typeface="Cambria" pitchFamily="34" charset="-122"/>
                <a:cs typeface="Cambria" pitchFamily="34" charset="-120"/>
              </a:rPr>
              <a:t> )</a:t>
            </a:r>
            <a:endParaRPr lang="en-US" sz="2000" dirty="0"/>
          </a:p>
        </p:txBody>
      </p:sp>
      <p:sp>
        <p:nvSpPr>
          <p:cNvPr id="6" name="Text 4"/>
          <p:cNvSpPr txBox="1"/>
          <p:nvPr/>
        </p:nvSpPr>
        <p:spPr>
          <a:xfrm>
            <a:off x="812800" y="2689820"/>
            <a:ext cx="4974336" cy="426641"/>
          </a:xfrm>
          <a:prstGeom prst="rect">
            <a:avLst/>
          </a:prstGeom>
          <a:noFill/>
          <a:ln/>
        </p:spPr>
        <p:txBody>
          <a:bodyPr wrap="square" lIns="0" tIns="0" rIns="0" bIns="0" rtlCol="0" anchor="t"/>
          <a:lstStyle/>
          <a:p>
            <a:pPr algn="l" indent="0" marL="0">
              <a:lnSpc>
                <a:spcPts val="1680"/>
              </a:lnSpc>
              <a:buNone/>
            </a:pPr>
            <a:r>
              <a:rPr lang="en-US" sz="1200" dirty="0">
                <a:solidFill>
                  <a:srgbClr val="4E6074"/>
                </a:solidFill>
                <a:latin typeface="Calibri" pitchFamily="34" charset="0"/>
                <a:ea typeface="Calibri" pitchFamily="34" charset="-122"/>
                <a:cs typeface="Calibri" pitchFamily="34" charset="-120"/>
              </a:rPr>
              <a:t>Zero while paused. Computed on-chain by QEDLens.blastRadius() at any block, and fuzzed as an upper bound.</a:t>
            </a:r>
            <a:endParaRPr lang="en-US" sz="1200" dirty="0"/>
          </a:p>
        </p:txBody>
      </p:sp>
      <p:sp>
        <p:nvSpPr>
          <p:cNvPr id="7" name="Shape 5"/>
          <p:cNvSpPr/>
          <p:nvPr/>
        </p:nvSpPr>
        <p:spPr>
          <a:xfrm>
            <a:off x="812800" y="3246636"/>
            <a:ext cx="4876800" cy="0"/>
          </a:xfrm>
          <a:prstGeom prst="line">
            <a:avLst/>
          </a:prstGeom>
          <a:noFill/>
          <a:ln w="6350">
            <a:solidFill>
              <a:srgbClr val="D6DEE1"/>
            </a:solidFill>
            <a:prstDash val="solid"/>
          </a:ln>
        </p:spPr>
      </p:sp>
      <p:sp>
        <p:nvSpPr>
          <p:cNvPr id="8" name="Text 6"/>
          <p:cNvSpPr txBox="1"/>
          <p:nvPr/>
        </p:nvSpPr>
        <p:spPr>
          <a:xfrm>
            <a:off x="812800" y="3376811"/>
            <a:ext cx="4974336" cy="635000"/>
          </a:xfrm>
          <a:prstGeom prst="rect">
            <a:avLst/>
          </a:prstGeom>
          <a:noFill/>
          <a:ln/>
        </p:spPr>
        <p:txBody>
          <a:bodyPr wrap="square" lIns="0" tIns="0" rIns="0" bIns="0" rtlCol="0" anchor="t"/>
          <a:lstStyle/>
          <a:p>
            <a:pPr algn="l" indent="0" marL="0">
              <a:lnSpc>
                <a:spcPts val="2500"/>
              </a:lnSpc>
              <a:buNone/>
            </a:pPr>
            <a:r>
              <a:rPr lang="en-US" sz="2000" dirty="0">
                <a:solidFill>
                  <a:srgbClr val="13233F"/>
                </a:solidFill>
                <a:latin typeface="Cambria" pitchFamily="34" charset="0"/>
                <a:ea typeface="Cambria" pitchFamily="34" charset="-122"/>
                <a:cs typeface="Cambria" pitchFamily="34" charset="-120"/>
              </a:rPr>
              <a:t>Loss to any address the owner didn’t approve: exactly 0.</a:t>
            </a:r>
            <a:endParaRPr lang="en-US" sz="2000" dirty="0"/>
          </a:p>
        </p:txBody>
      </p:sp>
      <p:sp>
        <p:nvSpPr>
          <p:cNvPr id="9" name="Shape 7"/>
          <p:cNvSpPr/>
          <p:nvPr/>
        </p:nvSpPr>
        <p:spPr>
          <a:xfrm>
            <a:off x="5994400" y="1921470"/>
            <a:ext cx="5384800" cy="2317750"/>
          </a:xfrm>
          <a:prstGeom prst="roundRect">
            <a:avLst>
              <a:gd name="adj" fmla="val 2192"/>
            </a:avLst>
          </a:prstGeom>
          <a:solidFill>
            <a:srgbClr val="13233F"/>
          </a:solidFill>
          <a:ln/>
        </p:spPr>
      </p:sp>
      <p:sp>
        <p:nvSpPr>
          <p:cNvPr id="10" name="Text 8"/>
          <p:cNvSpPr txBox="1"/>
          <p:nvPr/>
        </p:nvSpPr>
        <p:spPr>
          <a:xfrm>
            <a:off x="6248400" y="2175470"/>
            <a:ext cx="4974336" cy="184150"/>
          </a:xfrm>
          <a:prstGeom prst="rect">
            <a:avLst/>
          </a:prstGeom>
          <a:noFill/>
          <a:ln/>
        </p:spPr>
        <p:txBody>
          <a:bodyPr wrap="square" lIns="0" tIns="0" rIns="0" bIns="0" rtlCol="0" anchor="t"/>
          <a:lstStyle/>
          <a:p>
            <a:pPr algn="l" indent="0" marL="0">
              <a:lnSpc>
                <a:spcPts val="1440"/>
              </a:lnSpc>
              <a:buNone/>
            </a:pPr>
            <a:r>
              <a:rPr lang="en-US" sz="1200" b="1" spc="100" kern="0" dirty="0">
                <a:solidFill>
                  <a:srgbClr val="46C4B0"/>
                </a:solidFill>
                <a:latin typeface="Calibri" pitchFamily="34" charset="0"/>
                <a:ea typeface="Calibri" pitchFamily="34" charset="-122"/>
                <a:cs typeface="Calibri" pitchFamily="34" charset="-120"/>
              </a:rPr>
              <a:t>HONEYPOT VAULT 0XE5B3…7F04</a:t>
            </a:r>
            <a:endParaRPr lang="en-US" sz="1200" dirty="0"/>
          </a:p>
        </p:txBody>
      </p:sp>
      <p:sp>
        <p:nvSpPr>
          <p:cNvPr id="11" name="Text 9"/>
          <p:cNvSpPr txBox="1"/>
          <p:nvPr/>
        </p:nvSpPr>
        <p:spPr>
          <a:xfrm>
            <a:off x="6248400" y="2473920"/>
            <a:ext cx="1511300"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Published</a:t>
            </a:r>
            <a:endParaRPr lang="en-US" sz="1200" dirty="0"/>
          </a:p>
        </p:txBody>
      </p:sp>
      <p:sp>
        <p:nvSpPr>
          <p:cNvPr id="12" name="Text 10"/>
          <p:cNvSpPr txBox="1"/>
          <p:nvPr/>
        </p:nvSpPr>
        <p:spPr>
          <a:xfrm>
            <a:off x="7810500" y="2473920"/>
            <a:ext cx="3380994" cy="18415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its AI key and co-signer key, in our repo</a:t>
            </a:r>
            <a:endParaRPr lang="en-US" sz="1200" dirty="0"/>
          </a:p>
        </p:txBody>
      </p:sp>
      <p:sp>
        <p:nvSpPr>
          <p:cNvPr id="13" name="Text 11"/>
          <p:cNvSpPr txBox="1"/>
          <p:nvPr/>
        </p:nvSpPr>
        <p:spPr>
          <a:xfrm>
            <a:off x="6248400" y="2759670"/>
            <a:ext cx="1511300"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Ring-fenced</a:t>
            </a:r>
            <a:endParaRPr lang="en-US" sz="1200" dirty="0"/>
          </a:p>
        </p:txBody>
      </p:sp>
      <p:sp>
        <p:nvSpPr>
          <p:cNvPr id="14" name="Text 12"/>
          <p:cNvSpPr txBox="1"/>
          <p:nvPr/>
        </p:nvSpPr>
        <p:spPr>
          <a:xfrm>
            <a:off x="7810500" y="2759670"/>
            <a:ext cx="3380994" cy="18415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90 tUSD for CloudCo until 30 Jun 2027</a:t>
            </a:r>
            <a:endParaRPr lang="en-US" sz="1200" dirty="0"/>
          </a:p>
        </p:txBody>
      </p:sp>
      <p:sp>
        <p:nvSpPr>
          <p:cNvPr id="15" name="Text 13"/>
          <p:cNvSpPr txBox="1"/>
          <p:nvPr/>
        </p:nvSpPr>
        <p:spPr>
          <a:xfrm>
            <a:off x="6248400" y="3045420"/>
            <a:ext cx="1511300"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The keys can</a:t>
            </a:r>
            <a:endParaRPr lang="en-US" sz="1200" dirty="0"/>
          </a:p>
        </p:txBody>
      </p:sp>
      <p:sp>
        <p:nvSpPr>
          <p:cNvPr id="16" name="Text 14"/>
          <p:cNvSpPr txBox="1"/>
          <p:nvPr/>
        </p:nvSpPr>
        <p:spPr>
          <a:xfrm>
            <a:off x="7810500" y="3045420"/>
            <a:ext cx="3380994" cy="18415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pay CloudCo up to 1 tUSD a day (H3)</a:t>
            </a:r>
            <a:endParaRPr lang="en-US" sz="1200" dirty="0"/>
          </a:p>
        </p:txBody>
      </p:sp>
      <p:sp>
        <p:nvSpPr>
          <p:cNvPr id="17" name="Text 15"/>
          <p:cNvSpPr txBox="1"/>
          <p:nvPr/>
        </p:nvSpPr>
        <p:spPr>
          <a:xfrm>
            <a:off x="6248400" y="3331170"/>
            <a:ext cx="1511300" cy="36830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The keys can’t</a:t>
            </a:r>
            <a:endParaRPr lang="en-US" sz="1200" dirty="0"/>
          </a:p>
        </p:txBody>
      </p:sp>
      <p:sp>
        <p:nvSpPr>
          <p:cNvPr id="18" name="Text 16"/>
          <p:cNvSpPr txBox="1"/>
          <p:nvPr/>
        </p:nvSpPr>
        <p:spPr>
          <a:xfrm>
            <a:off x="7810500" y="3331170"/>
            <a:ext cx="3380994" cy="36830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pay anyone else (H4), take more (H5) or withdraw (H6)</a:t>
            </a:r>
            <a:endParaRPr lang="en-US" sz="1200" dirty="0"/>
          </a:p>
        </p:txBody>
      </p:sp>
      <p:sp>
        <p:nvSpPr>
          <p:cNvPr id="19" name="Text 17"/>
          <p:cNvSpPr txBox="1"/>
          <p:nvPr/>
        </p:nvSpPr>
        <p:spPr>
          <a:xfrm>
            <a:off x="6248400" y="3801070"/>
            <a:ext cx="1511300"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Check it</a:t>
            </a:r>
            <a:endParaRPr lang="en-US" sz="1200" dirty="0"/>
          </a:p>
        </p:txBody>
      </p:sp>
      <p:sp>
        <p:nvSpPr>
          <p:cNvPr id="20" name="Text 18"/>
          <p:cNvSpPr txBox="1"/>
          <p:nvPr/>
        </p:nvSpPr>
        <p:spPr>
          <a:xfrm>
            <a:off x="7810500" y="3801070"/>
            <a:ext cx="3380994" cy="184150"/>
          </a:xfrm>
          <a:prstGeom prst="rect">
            <a:avLst/>
          </a:prstGeom>
          <a:noFill/>
          <a:ln/>
        </p:spPr>
        <p:txBody>
          <a:bodyPr wrap="square" lIns="0" tIns="0" rIns="0" bIns="0" rtlCol="0" anchor="t"/>
          <a:lstStyle/>
          <a:p>
            <a:pPr algn="l" indent="0" marL="0">
              <a:lnSpc>
                <a:spcPts val="1440"/>
              </a:lnSpc>
              <a:buNone/>
            </a:pPr>
            <a:r>
              <a:rPr lang="en-US" sz="1200" dirty="0">
                <a:solidFill>
                  <a:srgbClr val="E4ECF1"/>
                </a:solidFill>
                <a:latin typeface="Calibri" pitchFamily="34" charset="0"/>
                <a:ea typeface="Calibri" pitchFamily="34" charset="-122"/>
                <a:cs typeface="Calibri" pitchFamily="34" charset="-120"/>
              </a:rPr>
              <a:t>live on the dashboard, any block</a:t>
            </a:r>
            <a:endParaRPr lang="en-US" sz="1200" dirty="0"/>
          </a:p>
        </p:txBody>
      </p:sp>
      <p:sp>
        <p:nvSpPr>
          <p:cNvPr id="21" name="Shape 19"/>
          <p:cNvSpPr/>
          <p:nvPr/>
        </p:nvSpPr>
        <p:spPr>
          <a:xfrm>
            <a:off x="11226800" y="5689600"/>
            <a:ext cx="152400" cy="152400"/>
          </a:xfrm>
          <a:prstGeom prst="rect">
            <a:avLst/>
          </a:prstGeom>
          <a:solidFill>
            <a:srgbClr val="0A7468"/>
          </a:solidFill>
          <a:ln/>
        </p:spPr>
      </p:sp>
      <p:sp>
        <p:nvSpPr>
          <p:cNvPr id="22" name="Text 20"/>
          <p:cNvSpPr txBox="1"/>
          <p:nvPr/>
        </p:nvSpPr>
        <p:spPr>
          <a:xfrm>
            <a:off x="812800" y="6267450"/>
            <a:ext cx="77724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QED before the upgrade, unchanged and still live</a:t>
            </a:r>
            <a:endParaRPr lang="en-US" sz="1200" dirty="0"/>
          </a:p>
        </p:txBody>
      </p:sp>
      <p:sp>
        <p:nvSpPr>
          <p:cNvPr id="23" name="Text 21"/>
          <p:cNvSpPr txBox="1"/>
          <p:nvPr/>
        </p:nvSpPr>
        <p:spPr>
          <a:xfrm>
            <a:off x="9423400" y="6267450"/>
            <a:ext cx="1955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Appendix A13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RUN 2 · CERTIFIED CLEARING</a:t>
            </a:r>
            <a:endParaRPr lang="en-US" sz="1200" dirty="0"/>
          </a:p>
        </p:txBody>
      </p:sp>
      <p:sp>
        <p:nvSpPr>
          <p:cNvPr id="3" name="Text 1"/>
          <p:cNvSpPr txBox="1"/>
          <p:nvPr/>
        </p:nvSpPr>
        <p:spPr>
          <a:xfrm>
            <a:off x="812800" y="11493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A gridlocked agent economy, cleared by proof</a:t>
            </a:r>
            <a:endParaRPr lang="en-US" sz="3200" dirty="0"/>
          </a:p>
        </p:txBody>
      </p:sp>
      <p:sp>
        <p:nvSpPr>
          <p:cNvPr id="4" name="Shape 2"/>
          <p:cNvSpPr/>
          <p:nvPr/>
        </p:nvSpPr>
        <p:spPr>
          <a:xfrm>
            <a:off x="812800" y="1769070"/>
            <a:ext cx="7124700" cy="2914650"/>
          </a:xfrm>
          <a:prstGeom prst="roundRect">
            <a:avLst>
              <a:gd name="adj" fmla="val 1743"/>
            </a:avLst>
          </a:prstGeom>
          <a:solidFill>
            <a:srgbClr val="FBFCFC"/>
          </a:solidFill>
          <a:ln w="6350">
            <a:solidFill>
              <a:srgbClr val="D6DEE1"/>
            </a:solidFill>
            <a:prstDash val="solid"/>
          </a:ln>
        </p:spPr>
      </p:sp>
      <p:sp>
        <p:nvSpPr>
          <p:cNvPr id="5" name="Text 3"/>
          <p:cNvSpPr txBox="1"/>
          <p:nvPr/>
        </p:nvSpPr>
        <p:spPr>
          <a:xfrm>
            <a:off x="996950" y="1902420"/>
            <a:ext cx="3368040" cy="184150"/>
          </a:xfrm>
          <a:prstGeom prst="rect">
            <a:avLst/>
          </a:prstGeom>
          <a:noFill/>
          <a:ln/>
        </p:spPr>
        <p:txBody>
          <a:bodyPr wrap="square" lIns="0" tIns="0" rIns="0" bIns="0" rtlCol="0" anchor="t"/>
          <a:lstStyle/>
          <a:p>
            <a:pPr algn="l" indent="0" marL="0">
              <a:lnSpc>
                <a:spcPts val="1440"/>
              </a:lnSpc>
              <a:buNone/>
            </a:pPr>
            <a:r>
              <a:rPr lang="en-US" sz="1200" b="1" dirty="0">
                <a:solidFill>
                  <a:srgbClr val="13233F"/>
                </a:solidFill>
                <a:latin typeface="Calibri" pitchFamily="34" charset="0"/>
                <a:ea typeface="Calibri" pitchFamily="34" charset="-122"/>
                <a:cs typeface="Calibri" pitchFamily="34" charset="-120"/>
              </a:rPr>
              <a:t>Before</a:t>
            </a:r>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 · 200 tUSD in 11 debts</a:t>
            </a:r>
            <a:endParaRPr lang="en-US" sz="1200" dirty="0"/>
          </a:p>
        </p:txBody>
      </p:sp>
      <p:pic>
        <p:nvPicPr>
          <p:cNvPr id="6" name="Image 0" descr="Before: 11 debts in tangled cycles between five agents">    </p:cNvPr>
          <p:cNvPicPr>
            <a:picLocks noChangeAspect="1"/>
          </p:cNvPicPr>
          <p:nvPr/>
        </p:nvPicPr>
        <p:blipFill>
          <a:blip r:embed="rId1"/>
          <a:stretch>
            <a:fillRect/>
          </a:stretch>
        </p:blipFill>
        <p:spPr>
          <a:xfrm>
            <a:off x="996950" y="2086570"/>
            <a:ext cx="3302000" cy="2540000"/>
          </a:xfrm>
          <a:prstGeom prst="rect">
            <a:avLst/>
          </a:prstGeom>
        </p:spPr>
      </p:pic>
      <p:sp>
        <p:nvSpPr>
          <p:cNvPr id="7" name="Text 4"/>
          <p:cNvSpPr txBox="1"/>
          <p:nvPr/>
        </p:nvSpPr>
        <p:spPr>
          <a:xfrm>
            <a:off x="2159000" y="2092920"/>
            <a:ext cx="984250" cy="213360"/>
          </a:xfrm>
          <a:prstGeom prst="rect">
            <a:avLst/>
          </a:prstGeom>
          <a:noFill/>
          <a:ln/>
        </p:spPr>
        <p:txBody>
          <a:bodyPr wrap="square" lIns="0" tIns="0" rIns="0" bIns="0" rtlCol="0" anchor="t"/>
          <a:lstStyle/>
          <a:p>
            <a:pPr algn="ctr" indent="0" marL="0">
              <a:lnSpc>
                <a:spcPts val="1680"/>
              </a:lnSpc>
              <a:buNone/>
            </a:pPr>
            <a:r>
              <a:rPr lang="en-US" sz="1200" b="1" dirty="0">
                <a:solidFill>
                  <a:srgbClr val="13233F"/>
                </a:solidFill>
                <a:latin typeface="Calibri" pitchFamily="34" charset="0"/>
                <a:ea typeface="Calibri" pitchFamily="34" charset="-122"/>
                <a:cs typeface="Calibri" pitchFamily="34" charset="-120"/>
              </a:rPr>
              <a:t>Northwind</a:t>
            </a:r>
            <a:endParaRPr lang="en-US" sz="1200" dirty="0"/>
          </a:p>
        </p:txBody>
      </p:sp>
      <p:sp>
        <p:nvSpPr>
          <p:cNvPr id="8" name="Text 5"/>
          <p:cNvSpPr txBox="1"/>
          <p:nvPr/>
        </p:nvSpPr>
        <p:spPr>
          <a:xfrm>
            <a:off x="3714750" y="3007320"/>
            <a:ext cx="412750" cy="213360"/>
          </a:xfrm>
          <a:prstGeom prst="rect">
            <a:avLst/>
          </a:prstGeom>
          <a:noFill/>
          <a:ln/>
        </p:spPr>
        <p:txBody>
          <a:bodyPr wrap="square" lIns="0" tIns="0" rIns="0" bIns="0" rtlCol="0" anchor="t"/>
          <a:lstStyle/>
          <a:p>
            <a:pPr algn="l" indent="0" marL="0">
              <a:lnSpc>
                <a:spcPts val="1680"/>
              </a:lnSpc>
              <a:buNone/>
            </a:pPr>
            <a:r>
              <a:rPr lang="en-US" sz="1200" b="1" dirty="0">
                <a:solidFill>
                  <a:srgbClr val="13233F"/>
                </a:solidFill>
                <a:latin typeface="Calibri" pitchFamily="34" charset="0"/>
                <a:ea typeface="Calibri" pitchFamily="34" charset="-122"/>
                <a:cs typeface="Calibri" pitchFamily="34" charset="-120"/>
              </a:rPr>
              <a:t>QED</a:t>
            </a:r>
            <a:endParaRPr lang="en-US" sz="1200" dirty="0"/>
          </a:p>
        </p:txBody>
      </p:sp>
      <p:sp>
        <p:nvSpPr>
          <p:cNvPr id="9" name="Text 6"/>
          <p:cNvSpPr txBox="1"/>
          <p:nvPr/>
        </p:nvSpPr>
        <p:spPr>
          <a:xfrm>
            <a:off x="2813050" y="4309070"/>
            <a:ext cx="793750" cy="213360"/>
          </a:xfrm>
          <a:prstGeom prst="rect">
            <a:avLst/>
          </a:prstGeom>
          <a:noFill/>
          <a:ln/>
        </p:spPr>
        <p:txBody>
          <a:bodyPr wrap="square" lIns="0" tIns="0" rIns="0" bIns="0" rtlCol="0" anchor="t"/>
          <a:lstStyle/>
          <a:p>
            <a:pPr algn="ctr" indent="0" marL="0">
              <a:lnSpc>
                <a:spcPts val="1680"/>
              </a:lnSpc>
              <a:buNone/>
            </a:pPr>
            <a:r>
              <a:rPr lang="en-US" sz="1200" b="1" dirty="0">
                <a:solidFill>
                  <a:srgbClr val="13233F"/>
                </a:solidFill>
                <a:latin typeface="Calibri" pitchFamily="34" charset="0"/>
                <a:ea typeface="Calibri" pitchFamily="34" charset="-122"/>
                <a:cs typeface="Calibri" pitchFamily="34" charset="-120"/>
              </a:rPr>
              <a:t>CloudCo</a:t>
            </a:r>
            <a:endParaRPr lang="en-US" sz="1200" dirty="0"/>
          </a:p>
        </p:txBody>
      </p:sp>
      <p:sp>
        <p:nvSpPr>
          <p:cNvPr id="10" name="Text 7"/>
          <p:cNvSpPr txBox="1"/>
          <p:nvPr/>
        </p:nvSpPr>
        <p:spPr>
          <a:xfrm>
            <a:off x="1784350" y="4309070"/>
            <a:ext cx="603250" cy="213360"/>
          </a:xfrm>
          <a:prstGeom prst="rect">
            <a:avLst/>
          </a:prstGeom>
          <a:noFill/>
          <a:ln/>
        </p:spPr>
        <p:txBody>
          <a:bodyPr wrap="square" lIns="0" tIns="0" rIns="0" bIns="0" rtlCol="0" anchor="t"/>
          <a:lstStyle/>
          <a:p>
            <a:pPr algn="ctr" indent="0" marL="0">
              <a:lnSpc>
                <a:spcPts val="1680"/>
              </a:lnSpc>
              <a:buNone/>
            </a:pPr>
            <a:r>
              <a:rPr lang="en-US" sz="1200" b="1" dirty="0">
                <a:solidFill>
                  <a:srgbClr val="13233F"/>
                </a:solidFill>
                <a:latin typeface="Calibri" pitchFamily="34" charset="0"/>
                <a:ea typeface="Calibri" pitchFamily="34" charset="-122"/>
                <a:cs typeface="Calibri" pitchFamily="34" charset="-120"/>
              </a:rPr>
              <a:t>Helix</a:t>
            </a:r>
            <a:endParaRPr lang="en-US" sz="1200" dirty="0"/>
          </a:p>
        </p:txBody>
      </p:sp>
      <p:sp>
        <p:nvSpPr>
          <p:cNvPr id="11" name="Text 8"/>
          <p:cNvSpPr txBox="1"/>
          <p:nvPr/>
        </p:nvSpPr>
        <p:spPr>
          <a:xfrm>
            <a:off x="977900" y="3007320"/>
            <a:ext cx="603250" cy="213360"/>
          </a:xfrm>
          <a:prstGeom prst="rect">
            <a:avLst/>
          </a:prstGeom>
          <a:noFill/>
          <a:ln/>
        </p:spPr>
        <p:txBody>
          <a:bodyPr wrap="square" lIns="0" tIns="0" rIns="0" bIns="0" rtlCol="0" anchor="t"/>
          <a:lstStyle/>
          <a:p>
            <a:pPr algn="r" indent="0" marL="0">
              <a:lnSpc>
                <a:spcPts val="1680"/>
              </a:lnSpc>
              <a:buNone/>
            </a:pPr>
            <a:r>
              <a:rPr lang="en-US" sz="1200" b="1" dirty="0">
                <a:solidFill>
                  <a:srgbClr val="13233F"/>
                </a:solidFill>
                <a:latin typeface="Calibri" pitchFamily="34" charset="0"/>
                <a:ea typeface="Calibri" pitchFamily="34" charset="-122"/>
                <a:cs typeface="Calibri" pitchFamily="34" charset="-120"/>
              </a:rPr>
              <a:t>Atlas</a:t>
            </a:r>
            <a:endParaRPr lang="en-US" sz="1200" dirty="0"/>
          </a:p>
        </p:txBody>
      </p:sp>
      <p:sp>
        <p:nvSpPr>
          <p:cNvPr id="12" name="Text 9"/>
          <p:cNvSpPr txBox="1"/>
          <p:nvPr/>
        </p:nvSpPr>
        <p:spPr>
          <a:xfrm>
            <a:off x="4451350" y="1902420"/>
            <a:ext cx="3368040" cy="184150"/>
          </a:xfrm>
          <a:prstGeom prst="rect">
            <a:avLst/>
          </a:prstGeom>
          <a:noFill/>
          <a:ln/>
        </p:spPr>
        <p:txBody>
          <a:bodyPr wrap="square" lIns="0" tIns="0" rIns="0" bIns="0" rtlCol="0" anchor="t"/>
          <a:lstStyle/>
          <a:p>
            <a:pPr algn="l" indent="0" marL="0">
              <a:lnSpc>
                <a:spcPts val="1440"/>
              </a:lnSpc>
              <a:buNone/>
            </a:pPr>
            <a:r>
              <a:rPr lang="en-US" sz="1200" b="1" dirty="0">
                <a:solidFill>
                  <a:srgbClr val="0A7468"/>
                </a:solidFill>
                <a:latin typeface="Calibri" pitchFamily="34" charset="0"/>
                <a:ea typeface="Calibri" pitchFamily="34" charset="-122"/>
                <a:cs typeface="Calibri" pitchFamily="34" charset="-120"/>
              </a:rPr>
              <a:t>After the proven netting</a:t>
            </a:r>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 · 31 in 4</a:t>
            </a:r>
            <a:endParaRPr lang="en-US" sz="1200" dirty="0"/>
          </a:p>
        </p:txBody>
      </p:sp>
      <p:pic>
        <p:nvPicPr>
          <p:cNvPr id="13" name="Image 1" descr="After: 4 debts left, all flowing toward QED, no cycles">    </p:cNvPr>
          <p:cNvPicPr>
            <a:picLocks noChangeAspect="1"/>
          </p:cNvPicPr>
          <p:nvPr/>
        </p:nvPicPr>
        <p:blipFill>
          <a:blip r:embed="rId2"/>
          <a:stretch>
            <a:fillRect/>
          </a:stretch>
        </p:blipFill>
        <p:spPr>
          <a:xfrm>
            <a:off x="4451350" y="2086570"/>
            <a:ext cx="3302000" cy="2540000"/>
          </a:xfrm>
          <a:prstGeom prst="rect">
            <a:avLst/>
          </a:prstGeom>
        </p:spPr>
      </p:pic>
      <p:sp>
        <p:nvSpPr>
          <p:cNvPr id="14" name="Text 10"/>
          <p:cNvSpPr txBox="1"/>
          <p:nvPr/>
        </p:nvSpPr>
        <p:spPr>
          <a:xfrm>
            <a:off x="5613400" y="2092920"/>
            <a:ext cx="984250" cy="213360"/>
          </a:xfrm>
          <a:prstGeom prst="rect">
            <a:avLst/>
          </a:prstGeom>
          <a:noFill/>
          <a:ln/>
        </p:spPr>
        <p:txBody>
          <a:bodyPr wrap="square" lIns="0" tIns="0" rIns="0" bIns="0" rtlCol="0" anchor="t"/>
          <a:lstStyle/>
          <a:p>
            <a:pPr algn="ctr" indent="0" marL="0">
              <a:lnSpc>
                <a:spcPts val="1680"/>
              </a:lnSpc>
              <a:buNone/>
            </a:pPr>
            <a:r>
              <a:rPr lang="en-US" sz="1200" b="1" dirty="0">
                <a:solidFill>
                  <a:srgbClr val="13233F"/>
                </a:solidFill>
                <a:latin typeface="Calibri" pitchFamily="34" charset="0"/>
                <a:ea typeface="Calibri" pitchFamily="34" charset="-122"/>
                <a:cs typeface="Calibri" pitchFamily="34" charset="-120"/>
              </a:rPr>
              <a:t>Northwind</a:t>
            </a:r>
            <a:endParaRPr lang="en-US" sz="1200" dirty="0"/>
          </a:p>
        </p:txBody>
      </p:sp>
      <p:sp>
        <p:nvSpPr>
          <p:cNvPr id="15" name="Text 11"/>
          <p:cNvSpPr txBox="1"/>
          <p:nvPr/>
        </p:nvSpPr>
        <p:spPr>
          <a:xfrm>
            <a:off x="7169150" y="3007320"/>
            <a:ext cx="412750" cy="213360"/>
          </a:xfrm>
          <a:prstGeom prst="rect">
            <a:avLst/>
          </a:prstGeom>
          <a:noFill/>
          <a:ln/>
        </p:spPr>
        <p:txBody>
          <a:bodyPr wrap="square" lIns="0" tIns="0" rIns="0" bIns="0" rtlCol="0" anchor="t"/>
          <a:lstStyle/>
          <a:p>
            <a:pPr algn="l" indent="0" marL="0">
              <a:lnSpc>
                <a:spcPts val="1680"/>
              </a:lnSpc>
              <a:buNone/>
            </a:pPr>
            <a:r>
              <a:rPr lang="en-US" sz="1200" b="1" dirty="0">
                <a:solidFill>
                  <a:srgbClr val="13233F"/>
                </a:solidFill>
                <a:latin typeface="Calibri" pitchFamily="34" charset="0"/>
                <a:ea typeface="Calibri" pitchFamily="34" charset="-122"/>
                <a:cs typeface="Calibri" pitchFamily="34" charset="-120"/>
              </a:rPr>
              <a:t>QED</a:t>
            </a:r>
            <a:endParaRPr lang="en-US" sz="1200" dirty="0"/>
          </a:p>
        </p:txBody>
      </p:sp>
      <p:sp>
        <p:nvSpPr>
          <p:cNvPr id="16" name="Text 12"/>
          <p:cNvSpPr txBox="1"/>
          <p:nvPr/>
        </p:nvSpPr>
        <p:spPr>
          <a:xfrm>
            <a:off x="6267450" y="4309070"/>
            <a:ext cx="793750" cy="213360"/>
          </a:xfrm>
          <a:prstGeom prst="rect">
            <a:avLst/>
          </a:prstGeom>
          <a:noFill/>
          <a:ln/>
        </p:spPr>
        <p:txBody>
          <a:bodyPr wrap="square" lIns="0" tIns="0" rIns="0" bIns="0" rtlCol="0" anchor="t"/>
          <a:lstStyle/>
          <a:p>
            <a:pPr algn="ctr" indent="0" marL="0">
              <a:lnSpc>
                <a:spcPts val="1680"/>
              </a:lnSpc>
              <a:buNone/>
            </a:pPr>
            <a:r>
              <a:rPr lang="en-US" sz="1200" b="1" dirty="0">
                <a:solidFill>
                  <a:srgbClr val="13233F"/>
                </a:solidFill>
                <a:latin typeface="Calibri" pitchFamily="34" charset="0"/>
                <a:ea typeface="Calibri" pitchFamily="34" charset="-122"/>
                <a:cs typeface="Calibri" pitchFamily="34" charset="-120"/>
              </a:rPr>
              <a:t>CloudCo</a:t>
            </a:r>
            <a:endParaRPr lang="en-US" sz="1200" dirty="0"/>
          </a:p>
        </p:txBody>
      </p:sp>
      <p:sp>
        <p:nvSpPr>
          <p:cNvPr id="17" name="Text 13"/>
          <p:cNvSpPr txBox="1"/>
          <p:nvPr/>
        </p:nvSpPr>
        <p:spPr>
          <a:xfrm>
            <a:off x="5238750" y="4309070"/>
            <a:ext cx="603250" cy="213360"/>
          </a:xfrm>
          <a:prstGeom prst="rect">
            <a:avLst/>
          </a:prstGeom>
          <a:noFill/>
          <a:ln/>
        </p:spPr>
        <p:txBody>
          <a:bodyPr wrap="square" lIns="0" tIns="0" rIns="0" bIns="0" rtlCol="0" anchor="t"/>
          <a:lstStyle/>
          <a:p>
            <a:pPr algn="ctr" indent="0" marL="0">
              <a:lnSpc>
                <a:spcPts val="1680"/>
              </a:lnSpc>
              <a:buNone/>
            </a:pPr>
            <a:r>
              <a:rPr lang="en-US" sz="1200" b="1" dirty="0">
                <a:solidFill>
                  <a:srgbClr val="13233F"/>
                </a:solidFill>
                <a:latin typeface="Calibri" pitchFamily="34" charset="0"/>
                <a:ea typeface="Calibri" pitchFamily="34" charset="-122"/>
                <a:cs typeface="Calibri" pitchFamily="34" charset="-120"/>
              </a:rPr>
              <a:t>Helix</a:t>
            </a:r>
            <a:endParaRPr lang="en-US" sz="1200" dirty="0"/>
          </a:p>
        </p:txBody>
      </p:sp>
      <p:sp>
        <p:nvSpPr>
          <p:cNvPr id="18" name="Text 14"/>
          <p:cNvSpPr txBox="1"/>
          <p:nvPr/>
        </p:nvSpPr>
        <p:spPr>
          <a:xfrm>
            <a:off x="4432300" y="3007320"/>
            <a:ext cx="603250" cy="213360"/>
          </a:xfrm>
          <a:prstGeom prst="rect">
            <a:avLst/>
          </a:prstGeom>
          <a:noFill/>
          <a:ln/>
        </p:spPr>
        <p:txBody>
          <a:bodyPr wrap="square" lIns="0" tIns="0" rIns="0" bIns="0" rtlCol="0" anchor="t"/>
          <a:lstStyle/>
          <a:p>
            <a:pPr algn="r" indent="0" marL="0">
              <a:lnSpc>
                <a:spcPts val="1680"/>
              </a:lnSpc>
              <a:buNone/>
            </a:pPr>
            <a:r>
              <a:rPr lang="en-US" sz="1200" b="1" dirty="0">
                <a:solidFill>
                  <a:srgbClr val="13233F"/>
                </a:solidFill>
                <a:latin typeface="Calibri" pitchFamily="34" charset="0"/>
                <a:ea typeface="Calibri" pitchFamily="34" charset="-122"/>
                <a:cs typeface="Calibri" pitchFamily="34" charset="-120"/>
              </a:rPr>
              <a:t>Atlas</a:t>
            </a:r>
            <a:endParaRPr lang="en-US" sz="1200" dirty="0"/>
          </a:p>
        </p:txBody>
      </p:sp>
      <p:sp>
        <p:nvSpPr>
          <p:cNvPr id="19" name="Shape 15"/>
          <p:cNvSpPr/>
          <p:nvPr/>
        </p:nvSpPr>
        <p:spPr>
          <a:xfrm>
            <a:off x="6318250" y="2740620"/>
            <a:ext cx="330200" cy="226020"/>
          </a:xfrm>
          <a:prstGeom prst="roundRect">
            <a:avLst>
              <a:gd name="adj" fmla="val 16857"/>
            </a:avLst>
          </a:prstGeom>
          <a:solidFill>
            <a:srgbClr val="FBFCFC"/>
          </a:solidFill>
          <a:ln w="6350">
            <a:solidFill>
              <a:srgbClr val="9FB0BE"/>
            </a:solidFill>
            <a:prstDash val="solid"/>
          </a:ln>
        </p:spPr>
      </p:sp>
      <p:sp>
        <p:nvSpPr>
          <p:cNvPr id="20" name="Text 16"/>
          <p:cNvSpPr txBox="1"/>
          <p:nvPr/>
        </p:nvSpPr>
        <p:spPr>
          <a:xfrm>
            <a:off x="6299200" y="2746970"/>
            <a:ext cx="368300" cy="213360"/>
          </a:xfrm>
          <a:prstGeom prst="rect">
            <a:avLst/>
          </a:prstGeom>
          <a:noFill/>
          <a:ln/>
        </p:spPr>
        <p:txBody>
          <a:bodyPr wrap="square" lIns="0" tIns="0" rIns="0" bIns="0" rtlCol="0" anchor="t"/>
          <a:lstStyle/>
          <a:p>
            <a:pPr algn="ctr" indent="0" marL="0">
              <a:lnSpc>
                <a:spcPts val="1680"/>
              </a:lnSpc>
              <a:buNone/>
            </a:pPr>
            <a:r>
              <a:rPr lang="en-US" sz="1200" b="1" dirty="0">
                <a:solidFill>
                  <a:srgbClr val="0A7468"/>
                </a:solidFill>
                <a:latin typeface="Calibri" pitchFamily="34" charset="0"/>
                <a:ea typeface="Calibri" pitchFamily="34" charset="-122"/>
                <a:cs typeface="Calibri" pitchFamily="34" charset="-120"/>
              </a:rPr>
              <a:t>18</a:t>
            </a:r>
            <a:endParaRPr lang="en-US" sz="1200" dirty="0"/>
          </a:p>
        </p:txBody>
      </p:sp>
      <p:sp>
        <p:nvSpPr>
          <p:cNvPr id="21" name="Shape 17"/>
          <p:cNvSpPr/>
          <p:nvPr/>
        </p:nvSpPr>
        <p:spPr>
          <a:xfrm>
            <a:off x="5759450" y="3864570"/>
            <a:ext cx="330200" cy="226020"/>
          </a:xfrm>
          <a:prstGeom prst="roundRect">
            <a:avLst>
              <a:gd name="adj" fmla="val 16857"/>
            </a:avLst>
          </a:prstGeom>
          <a:solidFill>
            <a:srgbClr val="FBFCFC"/>
          </a:solidFill>
          <a:ln w="6350">
            <a:solidFill>
              <a:srgbClr val="9FB0BE"/>
            </a:solidFill>
            <a:prstDash val="solid"/>
          </a:ln>
        </p:spPr>
      </p:sp>
      <p:sp>
        <p:nvSpPr>
          <p:cNvPr id="22" name="Text 18"/>
          <p:cNvSpPr txBox="1"/>
          <p:nvPr/>
        </p:nvSpPr>
        <p:spPr>
          <a:xfrm>
            <a:off x="5740400" y="3870920"/>
            <a:ext cx="368300" cy="213360"/>
          </a:xfrm>
          <a:prstGeom prst="rect">
            <a:avLst/>
          </a:prstGeom>
          <a:noFill/>
          <a:ln/>
        </p:spPr>
        <p:txBody>
          <a:bodyPr wrap="square" lIns="0" tIns="0" rIns="0" bIns="0" rtlCol="0" anchor="t"/>
          <a:lstStyle/>
          <a:p>
            <a:pPr algn="ctr" indent="0" marL="0">
              <a:lnSpc>
                <a:spcPts val="1680"/>
              </a:lnSpc>
              <a:buNone/>
            </a:pPr>
            <a:r>
              <a:rPr lang="en-US" sz="1200" b="1" dirty="0">
                <a:solidFill>
                  <a:srgbClr val="0A7468"/>
                </a:solidFill>
                <a:latin typeface="Calibri" pitchFamily="34" charset="0"/>
                <a:ea typeface="Calibri" pitchFamily="34" charset="-122"/>
                <a:cs typeface="Calibri" pitchFamily="34" charset="-120"/>
              </a:rPr>
              <a:t>4</a:t>
            </a:r>
            <a:endParaRPr lang="en-US" sz="1200" dirty="0"/>
          </a:p>
        </p:txBody>
      </p:sp>
      <p:sp>
        <p:nvSpPr>
          <p:cNvPr id="23" name="Shape 19"/>
          <p:cNvSpPr/>
          <p:nvPr/>
        </p:nvSpPr>
        <p:spPr>
          <a:xfrm>
            <a:off x="5924550" y="3102570"/>
            <a:ext cx="330200" cy="226020"/>
          </a:xfrm>
          <a:prstGeom prst="roundRect">
            <a:avLst>
              <a:gd name="adj" fmla="val 16857"/>
            </a:avLst>
          </a:prstGeom>
          <a:solidFill>
            <a:srgbClr val="FBFCFC"/>
          </a:solidFill>
          <a:ln w="6350">
            <a:solidFill>
              <a:srgbClr val="9FB0BE"/>
            </a:solidFill>
            <a:prstDash val="solid"/>
          </a:ln>
        </p:spPr>
      </p:sp>
      <p:sp>
        <p:nvSpPr>
          <p:cNvPr id="24" name="Text 20"/>
          <p:cNvSpPr txBox="1"/>
          <p:nvPr/>
        </p:nvSpPr>
        <p:spPr>
          <a:xfrm>
            <a:off x="5905500" y="3108920"/>
            <a:ext cx="368300" cy="213360"/>
          </a:xfrm>
          <a:prstGeom prst="rect">
            <a:avLst/>
          </a:prstGeom>
          <a:noFill/>
          <a:ln/>
        </p:spPr>
        <p:txBody>
          <a:bodyPr wrap="square" lIns="0" tIns="0" rIns="0" bIns="0" rtlCol="0" anchor="t"/>
          <a:lstStyle/>
          <a:p>
            <a:pPr algn="ctr" indent="0" marL="0">
              <a:lnSpc>
                <a:spcPts val="1680"/>
              </a:lnSpc>
              <a:buNone/>
            </a:pPr>
            <a:r>
              <a:rPr lang="en-US" sz="1200" b="1" dirty="0">
                <a:solidFill>
                  <a:srgbClr val="0A7468"/>
                </a:solidFill>
                <a:latin typeface="Calibri" pitchFamily="34" charset="0"/>
                <a:ea typeface="Calibri" pitchFamily="34" charset="-122"/>
                <a:cs typeface="Calibri" pitchFamily="34" charset="-120"/>
              </a:rPr>
              <a:t>6</a:t>
            </a:r>
            <a:endParaRPr lang="en-US" sz="1200" dirty="0"/>
          </a:p>
        </p:txBody>
      </p:sp>
      <p:sp>
        <p:nvSpPr>
          <p:cNvPr id="25" name="Shape 21"/>
          <p:cNvSpPr/>
          <p:nvPr/>
        </p:nvSpPr>
        <p:spPr>
          <a:xfrm>
            <a:off x="6191250" y="3750270"/>
            <a:ext cx="330200" cy="226020"/>
          </a:xfrm>
          <a:prstGeom prst="roundRect">
            <a:avLst>
              <a:gd name="adj" fmla="val 16857"/>
            </a:avLst>
          </a:prstGeom>
          <a:solidFill>
            <a:srgbClr val="FBFCFC"/>
          </a:solidFill>
          <a:ln w="6350">
            <a:solidFill>
              <a:srgbClr val="9FB0BE"/>
            </a:solidFill>
            <a:prstDash val="solid"/>
          </a:ln>
        </p:spPr>
      </p:sp>
      <p:sp>
        <p:nvSpPr>
          <p:cNvPr id="26" name="Text 22"/>
          <p:cNvSpPr txBox="1"/>
          <p:nvPr/>
        </p:nvSpPr>
        <p:spPr>
          <a:xfrm>
            <a:off x="6172200" y="3756620"/>
            <a:ext cx="368300" cy="213360"/>
          </a:xfrm>
          <a:prstGeom prst="rect">
            <a:avLst/>
          </a:prstGeom>
          <a:noFill/>
          <a:ln/>
        </p:spPr>
        <p:txBody>
          <a:bodyPr wrap="square" lIns="0" tIns="0" rIns="0" bIns="0" rtlCol="0" anchor="t"/>
          <a:lstStyle/>
          <a:p>
            <a:pPr algn="ctr" indent="0" marL="0">
              <a:lnSpc>
                <a:spcPts val="1680"/>
              </a:lnSpc>
              <a:buNone/>
            </a:pPr>
            <a:r>
              <a:rPr lang="en-US" sz="1200" b="1" dirty="0">
                <a:solidFill>
                  <a:srgbClr val="0A7468"/>
                </a:solidFill>
                <a:latin typeface="Calibri" pitchFamily="34" charset="0"/>
                <a:ea typeface="Calibri" pitchFamily="34" charset="-122"/>
                <a:cs typeface="Calibri" pitchFamily="34" charset="-120"/>
              </a:rPr>
              <a:t>3</a:t>
            </a:r>
            <a:endParaRPr lang="en-US" sz="1200" dirty="0"/>
          </a:p>
        </p:txBody>
      </p:sp>
      <p:sp>
        <p:nvSpPr>
          <p:cNvPr id="27" name="Text 23"/>
          <p:cNvSpPr txBox="1"/>
          <p:nvPr/>
        </p:nvSpPr>
        <p:spPr>
          <a:xfrm>
            <a:off x="8140700" y="1870670"/>
            <a:ext cx="2362200" cy="247650"/>
          </a:xfrm>
          <a:prstGeom prst="rect">
            <a:avLst/>
          </a:prstGeom>
          <a:noFill/>
          <a:ln/>
        </p:spPr>
        <p:txBody>
          <a:bodyPr wrap="square" lIns="0" tIns="0" rIns="0" bIns="0" rtlCol="0" anchor="t"/>
          <a:lstStyle/>
          <a:p>
            <a:pPr algn="l" indent="0" marL="0">
              <a:lnSpc>
                <a:spcPts val="1950"/>
              </a:lnSpc>
              <a:buNone/>
            </a:pPr>
            <a:r>
              <a:rPr lang="en-US" sz="1500" b="1" dirty="0">
                <a:solidFill>
                  <a:srgbClr val="13233F"/>
                </a:solidFill>
                <a:latin typeface="Calibri" pitchFamily="34" charset="0"/>
                <a:ea typeface="Calibri" pitchFamily="34" charset="-122"/>
                <a:cs typeface="Calibri" pitchFamily="34" charset="-120"/>
              </a:rPr>
              <a:t>Gross debt</a:t>
            </a:r>
            <a:endParaRPr lang="en-US" sz="1500" dirty="0"/>
          </a:p>
        </p:txBody>
      </p:sp>
      <p:sp>
        <p:nvSpPr>
          <p:cNvPr id="28" name="Text 24"/>
          <p:cNvSpPr txBox="1"/>
          <p:nvPr/>
        </p:nvSpPr>
        <p:spPr>
          <a:xfrm>
            <a:off x="8140700" y="2131020"/>
            <a:ext cx="2362200" cy="198120"/>
          </a:xfrm>
          <a:prstGeom prst="rect">
            <a:avLst/>
          </a:prstGeom>
          <a:noFill/>
          <a:ln/>
        </p:spPr>
        <p:txBody>
          <a:bodyPr wrap="square" lIns="0" tIns="0" rIns="0" bIns="0" rtlCol="0" anchor="t"/>
          <a:lstStyle/>
          <a:p>
            <a:pPr algn="l" indent="0" marL="0">
              <a:lnSpc>
                <a:spcPts val="1560"/>
              </a:lnSpc>
              <a:buNone/>
            </a:pPr>
            <a:r>
              <a:rPr lang="en-US" sz="1200" dirty="0">
                <a:solidFill>
                  <a:srgbClr val="4E6074"/>
                </a:solidFill>
                <a:latin typeface="Calibri" pitchFamily="34" charset="0"/>
                <a:ea typeface="Calibri" pitchFamily="34" charset="-122"/>
                <a:cs typeface="Calibri" pitchFamily="34" charset="-120"/>
              </a:rPr>
              <a:t>11 debts, 5 AI businesses</a:t>
            </a:r>
            <a:endParaRPr lang="en-US" sz="1200" dirty="0"/>
          </a:p>
        </p:txBody>
      </p:sp>
      <p:sp>
        <p:nvSpPr>
          <p:cNvPr id="29" name="Text 25"/>
          <p:cNvSpPr txBox="1"/>
          <p:nvPr/>
        </p:nvSpPr>
        <p:spPr>
          <a:xfrm>
            <a:off x="10502900" y="1870670"/>
            <a:ext cx="876300" cy="297180"/>
          </a:xfrm>
          <a:prstGeom prst="rect">
            <a:avLst/>
          </a:prstGeom>
          <a:noFill/>
          <a:ln/>
        </p:spPr>
        <p:txBody>
          <a:bodyPr wrap="square" lIns="0" tIns="0" rIns="0" bIns="0" rtlCol="0" anchor="t"/>
          <a:lstStyle/>
          <a:p>
            <a:pPr algn="r" indent="0" marL="0">
              <a:lnSpc>
                <a:spcPts val="2340"/>
              </a:lnSpc>
              <a:buNone/>
            </a:pPr>
            <a:r>
              <a:rPr lang="en-US" sz="1800" dirty="0">
                <a:solidFill>
                  <a:srgbClr val="13233F"/>
                </a:solidFill>
                <a:latin typeface="Calibri" pitchFamily="34" charset="0"/>
                <a:ea typeface="Calibri" pitchFamily="34" charset="-122"/>
                <a:cs typeface="Calibri" pitchFamily="34" charset="-120"/>
              </a:rPr>
              <a:t>200</a:t>
            </a:r>
            <a:endParaRPr lang="en-US" sz="1800" dirty="0"/>
          </a:p>
        </p:txBody>
      </p:sp>
      <p:sp>
        <p:nvSpPr>
          <p:cNvPr id="30" name="Shape 26"/>
          <p:cNvSpPr/>
          <p:nvPr/>
        </p:nvSpPr>
        <p:spPr>
          <a:xfrm>
            <a:off x="8140700" y="2433836"/>
            <a:ext cx="3238500" cy="0"/>
          </a:xfrm>
          <a:prstGeom prst="line">
            <a:avLst/>
          </a:prstGeom>
          <a:noFill/>
          <a:ln w="6350">
            <a:solidFill>
              <a:srgbClr val="D6DEE1"/>
            </a:solidFill>
            <a:prstDash val="solid"/>
          </a:ln>
        </p:spPr>
      </p:sp>
      <p:sp>
        <p:nvSpPr>
          <p:cNvPr id="31" name="Text 27"/>
          <p:cNvSpPr txBox="1"/>
          <p:nvPr/>
        </p:nvSpPr>
        <p:spPr>
          <a:xfrm>
            <a:off x="8140700" y="2538611"/>
            <a:ext cx="2362200" cy="247650"/>
          </a:xfrm>
          <a:prstGeom prst="rect">
            <a:avLst/>
          </a:prstGeom>
          <a:noFill/>
          <a:ln/>
        </p:spPr>
        <p:txBody>
          <a:bodyPr wrap="square" lIns="0" tIns="0" rIns="0" bIns="0" rtlCol="0" anchor="t"/>
          <a:lstStyle/>
          <a:p>
            <a:pPr algn="l" indent="0" marL="0">
              <a:lnSpc>
                <a:spcPts val="1950"/>
              </a:lnSpc>
              <a:buNone/>
            </a:pPr>
            <a:r>
              <a:rPr lang="en-US" sz="1500" b="1" dirty="0">
                <a:solidFill>
                  <a:srgbClr val="13233F"/>
                </a:solidFill>
                <a:latin typeface="Calibri" pitchFamily="34" charset="0"/>
                <a:ea typeface="Calibri" pitchFamily="34" charset="-122"/>
                <a:cs typeface="Calibri" pitchFamily="34" charset="-120"/>
              </a:rPr>
              <a:t>Cash they hold</a:t>
            </a:r>
            <a:endParaRPr lang="en-US" sz="1500" dirty="0"/>
          </a:p>
        </p:txBody>
      </p:sp>
      <p:sp>
        <p:nvSpPr>
          <p:cNvPr id="32" name="Text 28"/>
          <p:cNvSpPr txBox="1"/>
          <p:nvPr/>
        </p:nvSpPr>
        <p:spPr>
          <a:xfrm>
            <a:off x="8140700" y="2798961"/>
            <a:ext cx="2362200" cy="198120"/>
          </a:xfrm>
          <a:prstGeom prst="rect">
            <a:avLst/>
          </a:prstGeom>
          <a:noFill/>
          <a:ln/>
        </p:spPr>
        <p:txBody>
          <a:bodyPr wrap="square" lIns="0" tIns="0" rIns="0" bIns="0" rtlCol="0" anchor="t"/>
          <a:lstStyle/>
          <a:p>
            <a:pPr algn="l" indent="0" marL="0">
              <a:lnSpc>
                <a:spcPts val="1560"/>
              </a:lnSpc>
              <a:buNone/>
            </a:pPr>
            <a:r>
              <a:rPr lang="en-US" sz="1200" dirty="0">
                <a:solidFill>
                  <a:srgbClr val="4E6074"/>
                </a:solidFill>
                <a:latin typeface="Calibri" pitchFamily="34" charset="0"/>
                <a:ea typeface="Calibri" pitchFamily="34" charset="-122"/>
                <a:cs typeface="Calibri" pitchFamily="34" charset="-120"/>
              </a:rPr>
              <a:t>paying gross reverts (G1)</a:t>
            </a:r>
            <a:endParaRPr lang="en-US" sz="1200" dirty="0"/>
          </a:p>
        </p:txBody>
      </p:sp>
      <p:sp>
        <p:nvSpPr>
          <p:cNvPr id="33" name="Text 29"/>
          <p:cNvSpPr txBox="1"/>
          <p:nvPr/>
        </p:nvSpPr>
        <p:spPr>
          <a:xfrm>
            <a:off x="10502900" y="2538611"/>
            <a:ext cx="876300" cy="297180"/>
          </a:xfrm>
          <a:prstGeom prst="rect">
            <a:avLst/>
          </a:prstGeom>
          <a:noFill/>
          <a:ln/>
        </p:spPr>
        <p:txBody>
          <a:bodyPr wrap="square" lIns="0" tIns="0" rIns="0" bIns="0" rtlCol="0" anchor="t"/>
          <a:lstStyle/>
          <a:p>
            <a:pPr algn="r" indent="0" marL="0">
              <a:lnSpc>
                <a:spcPts val="2340"/>
              </a:lnSpc>
              <a:buNone/>
            </a:pPr>
            <a:r>
              <a:rPr lang="en-US" sz="1800" dirty="0">
                <a:solidFill>
                  <a:srgbClr val="13233F"/>
                </a:solidFill>
                <a:latin typeface="Calibri" pitchFamily="34" charset="0"/>
                <a:ea typeface="Calibri" pitchFamily="34" charset="-122"/>
                <a:cs typeface="Calibri" pitchFamily="34" charset="-120"/>
              </a:rPr>
              <a:t>28</a:t>
            </a:r>
            <a:endParaRPr lang="en-US" sz="1800" dirty="0"/>
          </a:p>
        </p:txBody>
      </p:sp>
      <p:sp>
        <p:nvSpPr>
          <p:cNvPr id="34" name="Shape 30"/>
          <p:cNvSpPr/>
          <p:nvPr/>
        </p:nvSpPr>
        <p:spPr>
          <a:xfrm>
            <a:off x="8140700" y="3101777"/>
            <a:ext cx="3238500" cy="0"/>
          </a:xfrm>
          <a:prstGeom prst="line">
            <a:avLst/>
          </a:prstGeom>
          <a:noFill/>
          <a:ln w="6350">
            <a:solidFill>
              <a:srgbClr val="D6DEE1"/>
            </a:solidFill>
            <a:prstDash val="solid"/>
          </a:ln>
        </p:spPr>
      </p:sp>
      <p:sp>
        <p:nvSpPr>
          <p:cNvPr id="35" name="Text 31"/>
          <p:cNvSpPr txBox="1"/>
          <p:nvPr/>
        </p:nvSpPr>
        <p:spPr>
          <a:xfrm>
            <a:off x="8140700" y="3206552"/>
            <a:ext cx="2362200" cy="247650"/>
          </a:xfrm>
          <a:prstGeom prst="rect">
            <a:avLst/>
          </a:prstGeom>
          <a:noFill/>
          <a:ln/>
        </p:spPr>
        <p:txBody>
          <a:bodyPr wrap="square" lIns="0" tIns="0" rIns="0" bIns="0" rtlCol="0" anchor="t"/>
          <a:lstStyle/>
          <a:p>
            <a:pPr algn="l" indent="0" marL="0">
              <a:lnSpc>
                <a:spcPts val="1950"/>
              </a:lnSpc>
              <a:buNone/>
            </a:pPr>
            <a:r>
              <a:rPr lang="en-US" sz="1500" b="1" dirty="0">
                <a:solidFill>
                  <a:srgbClr val="13233F"/>
                </a:solidFill>
                <a:latin typeface="Calibri" pitchFamily="34" charset="0"/>
                <a:ea typeface="Calibri" pitchFamily="34" charset="-122"/>
                <a:cs typeface="Calibri" pitchFamily="34" charset="-120"/>
              </a:rPr>
              <a:t>Naive netting</a:t>
            </a:r>
            <a:endParaRPr lang="en-US" sz="1500" dirty="0"/>
          </a:p>
        </p:txBody>
      </p:sp>
      <p:sp>
        <p:nvSpPr>
          <p:cNvPr id="36" name="Text 32"/>
          <p:cNvSpPr txBox="1"/>
          <p:nvPr/>
        </p:nvSpPr>
        <p:spPr>
          <a:xfrm>
            <a:off x="8140700" y="3466902"/>
            <a:ext cx="2362200" cy="198120"/>
          </a:xfrm>
          <a:prstGeom prst="rect">
            <a:avLst/>
          </a:prstGeom>
          <a:noFill/>
          <a:ln/>
        </p:spPr>
        <p:txBody>
          <a:bodyPr wrap="square" lIns="0" tIns="0" rIns="0" bIns="0" rtlCol="0" anchor="t"/>
          <a:lstStyle/>
          <a:p>
            <a:pPr algn="l" indent="0" marL="0">
              <a:lnSpc>
                <a:spcPts val="1560"/>
              </a:lnSpc>
              <a:buNone/>
            </a:pPr>
            <a:r>
              <a:rPr lang="en-US" sz="1200" dirty="0">
                <a:solidFill>
                  <a:srgbClr val="4E6074"/>
                </a:solidFill>
                <a:latin typeface="Calibri" pitchFamily="34" charset="0"/>
                <a:ea typeface="Calibri" pitchFamily="34" charset="-122"/>
                <a:cs typeface="Calibri" pitchFamily="34" charset="-120"/>
              </a:rPr>
              <a:t>NotProvablyMaximal (N1)</a:t>
            </a:r>
            <a:endParaRPr lang="en-US" sz="1200" dirty="0"/>
          </a:p>
        </p:txBody>
      </p:sp>
      <p:sp>
        <p:nvSpPr>
          <p:cNvPr id="37" name="Text 33"/>
          <p:cNvSpPr txBox="1"/>
          <p:nvPr/>
        </p:nvSpPr>
        <p:spPr>
          <a:xfrm>
            <a:off x="10502900" y="3206552"/>
            <a:ext cx="876300" cy="297180"/>
          </a:xfrm>
          <a:prstGeom prst="rect">
            <a:avLst/>
          </a:prstGeom>
          <a:noFill/>
          <a:ln/>
        </p:spPr>
        <p:txBody>
          <a:bodyPr wrap="square" lIns="0" tIns="0" rIns="0" bIns="0" rtlCol="0" anchor="t"/>
          <a:lstStyle/>
          <a:p>
            <a:pPr algn="r" indent="0" marL="0">
              <a:lnSpc>
                <a:spcPts val="2340"/>
              </a:lnSpc>
              <a:buNone/>
            </a:pPr>
            <a:r>
              <a:rPr lang="en-US" sz="1800" dirty="0">
                <a:solidFill>
                  <a:srgbClr val="B1262E"/>
                </a:solidFill>
                <a:latin typeface="Calibri" pitchFamily="34" charset="0"/>
                <a:ea typeface="Calibri" pitchFamily="34" charset="-122"/>
                <a:cs typeface="Calibri" pitchFamily="34" charset="-120"/>
              </a:rPr>
              <a:t>162</a:t>
            </a:r>
            <a:endParaRPr lang="en-US" sz="1800" dirty="0"/>
          </a:p>
        </p:txBody>
      </p:sp>
      <p:sp>
        <p:nvSpPr>
          <p:cNvPr id="38" name="Shape 34"/>
          <p:cNvSpPr/>
          <p:nvPr/>
        </p:nvSpPr>
        <p:spPr>
          <a:xfrm>
            <a:off x="8140700" y="3769717"/>
            <a:ext cx="3238500" cy="0"/>
          </a:xfrm>
          <a:prstGeom prst="line">
            <a:avLst/>
          </a:prstGeom>
          <a:noFill/>
          <a:ln w="6350">
            <a:solidFill>
              <a:srgbClr val="D6DEE1"/>
            </a:solidFill>
            <a:prstDash val="solid"/>
          </a:ln>
        </p:spPr>
      </p:sp>
      <p:sp>
        <p:nvSpPr>
          <p:cNvPr id="39" name="Text 35"/>
          <p:cNvSpPr txBox="1"/>
          <p:nvPr/>
        </p:nvSpPr>
        <p:spPr>
          <a:xfrm>
            <a:off x="8140700" y="3874492"/>
            <a:ext cx="2362200" cy="247650"/>
          </a:xfrm>
          <a:prstGeom prst="rect">
            <a:avLst/>
          </a:prstGeom>
          <a:noFill/>
          <a:ln/>
        </p:spPr>
        <p:txBody>
          <a:bodyPr wrap="square" lIns="0" tIns="0" rIns="0" bIns="0" rtlCol="0" anchor="t"/>
          <a:lstStyle/>
          <a:p>
            <a:pPr algn="l" indent="0" marL="0">
              <a:lnSpc>
                <a:spcPts val="1950"/>
              </a:lnSpc>
              <a:buNone/>
            </a:pPr>
            <a:r>
              <a:rPr lang="en-US" sz="1500" b="1" dirty="0">
                <a:solidFill>
                  <a:srgbClr val="13233F"/>
                </a:solidFill>
                <a:latin typeface="Calibri" pitchFamily="34" charset="0"/>
                <a:ea typeface="Calibri" pitchFamily="34" charset="-122"/>
                <a:cs typeface="Calibri" pitchFamily="34" charset="-120"/>
              </a:rPr>
              <a:t>Proven netting</a:t>
            </a:r>
            <a:endParaRPr lang="en-US" sz="1500" dirty="0"/>
          </a:p>
        </p:txBody>
      </p:sp>
      <p:sp>
        <p:nvSpPr>
          <p:cNvPr id="40" name="Text 36"/>
          <p:cNvSpPr txBox="1"/>
          <p:nvPr/>
        </p:nvSpPr>
        <p:spPr>
          <a:xfrm>
            <a:off x="8140700" y="4134842"/>
            <a:ext cx="2362200" cy="198120"/>
          </a:xfrm>
          <a:prstGeom prst="rect">
            <a:avLst/>
          </a:prstGeom>
          <a:noFill/>
          <a:ln/>
        </p:spPr>
        <p:txBody>
          <a:bodyPr wrap="square" lIns="0" tIns="0" rIns="0" bIns="0" rtlCol="0" anchor="t"/>
          <a:lstStyle/>
          <a:p>
            <a:pPr algn="l" indent="0" marL="0">
              <a:lnSpc>
                <a:spcPts val="1560"/>
              </a:lnSpc>
              <a:buNone/>
            </a:pPr>
            <a:r>
              <a:rPr lang="en-US" sz="1200" dirty="0">
                <a:solidFill>
                  <a:srgbClr val="4E6074"/>
                </a:solidFill>
                <a:latin typeface="Calibri" pitchFamily="34" charset="0"/>
                <a:ea typeface="Calibri" pitchFamily="34" charset="-122"/>
                <a:cs typeface="Calibri" pitchFamily="34" charset="-120"/>
              </a:rPr>
              <a:t>certificate holds (N6)</a:t>
            </a:r>
            <a:endParaRPr lang="en-US" sz="1200" dirty="0"/>
          </a:p>
        </p:txBody>
      </p:sp>
      <p:sp>
        <p:nvSpPr>
          <p:cNvPr id="41" name="Text 37"/>
          <p:cNvSpPr txBox="1"/>
          <p:nvPr/>
        </p:nvSpPr>
        <p:spPr>
          <a:xfrm>
            <a:off x="10502900" y="3874492"/>
            <a:ext cx="876300" cy="297180"/>
          </a:xfrm>
          <a:prstGeom prst="rect">
            <a:avLst/>
          </a:prstGeom>
          <a:noFill/>
          <a:ln/>
        </p:spPr>
        <p:txBody>
          <a:bodyPr wrap="square" lIns="0" tIns="0" rIns="0" bIns="0" rtlCol="0" anchor="t"/>
          <a:lstStyle/>
          <a:p>
            <a:pPr algn="r" indent="0" marL="0">
              <a:lnSpc>
                <a:spcPts val="2340"/>
              </a:lnSpc>
              <a:buNone/>
            </a:pPr>
            <a:r>
              <a:rPr lang="en-US" sz="1800" b="1" dirty="0">
                <a:solidFill>
                  <a:srgbClr val="0A7468"/>
                </a:solidFill>
                <a:latin typeface="Calibri" pitchFamily="34" charset="0"/>
                <a:ea typeface="Calibri" pitchFamily="34" charset="-122"/>
                <a:cs typeface="Calibri" pitchFamily="34" charset="-120"/>
              </a:rPr>
              <a:t>169</a:t>
            </a:r>
            <a:endParaRPr lang="en-US" sz="1800" dirty="0"/>
          </a:p>
        </p:txBody>
      </p:sp>
      <p:sp>
        <p:nvSpPr>
          <p:cNvPr id="42" name="Shape 38"/>
          <p:cNvSpPr/>
          <p:nvPr/>
        </p:nvSpPr>
        <p:spPr>
          <a:xfrm>
            <a:off x="8140700" y="4437658"/>
            <a:ext cx="3238500" cy="0"/>
          </a:xfrm>
          <a:prstGeom prst="line">
            <a:avLst/>
          </a:prstGeom>
          <a:noFill/>
          <a:ln w="6350">
            <a:solidFill>
              <a:srgbClr val="D6DEE1"/>
            </a:solidFill>
            <a:prstDash val="solid"/>
          </a:ln>
        </p:spPr>
      </p:sp>
      <p:sp>
        <p:nvSpPr>
          <p:cNvPr id="43" name="Text 39"/>
          <p:cNvSpPr txBox="1"/>
          <p:nvPr/>
        </p:nvSpPr>
        <p:spPr>
          <a:xfrm>
            <a:off x="8140700" y="4542433"/>
            <a:ext cx="2362200" cy="247650"/>
          </a:xfrm>
          <a:prstGeom prst="rect">
            <a:avLst/>
          </a:prstGeom>
          <a:noFill/>
          <a:ln/>
        </p:spPr>
        <p:txBody>
          <a:bodyPr wrap="square" lIns="0" tIns="0" rIns="0" bIns="0" rtlCol="0" anchor="t"/>
          <a:lstStyle/>
          <a:p>
            <a:pPr algn="l" indent="0" marL="0">
              <a:lnSpc>
                <a:spcPts val="1950"/>
              </a:lnSpc>
              <a:buNone/>
            </a:pPr>
            <a:r>
              <a:rPr lang="en-US" sz="1500" b="1" dirty="0">
                <a:solidFill>
                  <a:srgbClr val="13233F"/>
                </a:solidFill>
                <a:latin typeface="Calibri" pitchFamily="34" charset="0"/>
                <a:ea typeface="Calibri" pitchFamily="34" charset="-122"/>
                <a:cs typeface="Calibri" pitchFamily="34" charset="-120"/>
              </a:rPr>
              <a:t>Paid in tokens</a:t>
            </a:r>
            <a:endParaRPr lang="en-US" sz="1500" dirty="0"/>
          </a:p>
        </p:txBody>
      </p:sp>
      <p:sp>
        <p:nvSpPr>
          <p:cNvPr id="44" name="Text 40"/>
          <p:cNvSpPr txBox="1"/>
          <p:nvPr/>
        </p:nvSpPr>
        <p:spPr>
          <a:xfrm>
            <a:off x="8140700" y="4802783"/>
            <a:ext cx="2362200" cy="198120"/>
          </a:xfrm>
          <a:prstGeom prst="rect">
            <a:avLst/>
          </a:prstGeom>
          <a:noFill/>
          <a:ln/>
        </p:spPr>
        <p:txBody>
          <a:bodyPr wrap="square" lIns="0" tIns="0" rIns="0" bIns="0" rtlCol="0" anchor="t"/>
          <a:lstStyle/>
          <a:p>
            <a:pPr algn="l" indent="0" marL="0">
              <a:lnSpc>
                <a:spcPts val="1560"/>
              </a:lnSpc>
              <a:buNone/>
            </a:pPr>
            <a:r>
              <a:rPr lang="en-US" sz="1200" dirty="0">
                <a:solidFill>
                  <a:srgbClr val="4E6074"/>
                </a:solidFill>
                <a:latin typeface="Calibri" pitchFamily="34" charset="0"/>
                <a:ea typeface="Calibri" pitchFamily="34" charset="-122"/>
                <a:cs typeface="Calibri" pitchFamily="34" charset="-120"/>
              </a:rPr>
              <a:t>net debits only (S1–S4)</a:t>
            </a:r>
            <a:endParaRPr lang="en-US" sz="1200" dirty="0"/>
          </a:p>
        </p:txBody>
      </p:sp>
      <p:sp>
        <p:nvSpPr>
          <p:cNvPr id="45" name="Text 41"/>
          <p:cNvSpPr txBox="1"/>
          <p:nvPr/>
        </p:nvSpPr>
        <p:spPr>
          <a:xfrm>
            <a:off x="10502900" y="4542433"/>
            <a:ext cx="876300" cy="297180"/>
          </a:xfrm>
          <a:prstGeom prst="rect">
            <a:avLst/>
          </a:prstGeom>
          <a:noFill/>
          <a:ln/>
        </p:spPr>
        <p:txBody>
          <a:bodyPr wrap="square" lIns="0" tIns="0" rIns="0" bIns="0" rtlCol="0" anchor="t"/>
          <a:lstStyle/>
          <a:p>
            <a:pPr algn="r" indent="0" marL="0">
              <a:lnSpc>
                <a:spcPts val="2340"/>
              </a:lnSpc>
              <a:buNone/>
            </a:pPr>
            <a:r>
              <a:rPr lang="en-US" sz="1800" dirty="0">
                <a:solidFill>
                  <a:srgbClr val="13233F"/>
                </a:solidFill>
                <a:latin typeface="Calibri" pitchFamily="34" charset="0"/>
                <a:ea typeface="Calibri" pitchFamily="34" charset="-122"/>
                <a:cs typeface="Calibri" pitchFamily="34" charset="-120"/>
              </a:rPr>
              <a:t>31</a:t>
            </a:r>
            <a:endParaRPr lang="en-US" sz="1800" dirty="0"/>
          </a:p>
        </p:txBody>
      </p:sp>
      <p:sp>
        <p:nvSpPr>
          <p:cNvPr id="46" name="Shape 42"/>
          <p:cNvSpPr/>
          <p:nvPr/>
        </p:nvSpPr>
        <p:spPr>
          <a:xfrm>
            <a:off x="812800" y="5257998"/>
            <a:ext cx="10566400" cy="0"/>
          </a:xfrm>
          <a:prstGeom prst="line">
            <a:avLst/>
          </a:prstGeom>
          <a:noFill/>
          <a:ln w="6350">
            <a:solidFill>
              <a:srgbClr val="D6DEE1"/>
            </a:solidFill>
            <a:prstDash val="solid"/>
          </a:ln>
        </p:spPr>
      </p:sp>
      <p:sp>
        <p:nvSpPr>
          <p:cNvPr id="47" name="Text 43"/>
          <p:cNvSpPr txBox="1"/>
          <p:nvPr/>
        </p:nvSpPr>
        <p:spPr>
          <a:xfrm>
            <a:off x="812800" y="5350073"/>
            <a:ext cx="8151912" cy="264160"/>
          </a:xfrm>
          <a:prstGeom prst="rect">
            <a:avLst/>
          </a:prstGeom>
          <a:noFill/>
          <a:ln/>
        </p:spPr>
        <p:txBody>
          <a:bodyPr wrap="square" lIns="0" tIns="0" rIns="0" bIns="0" rtlCol="0" anchor="t"/>
          <a:lstStyle/>
          <a:p>
            <a:pPr algn="l" indent="0" marL="0">
              <a:lnSpc>
                <a:spcPts val="2080"/>
              </a:lnSpc>
              <a:buNone/>
            </a:pPr>
            <a:r>
              <a:rPr lang="en-US" sz="1600" dirty="0">
                <a:solidFill>
                  <a:srgbClr val="13233F"/>
                </a:solidFill>
                <a:latin typeface="Cambria" pitchFamily="34" charset="0"/>
                <a:ea typeface="Cambria" pitchFamily="34" charset="-122"/>
                <a:cs typeface="Cambria" pitchFamily="34" charset="-120"/>
              </a:rPr>
              <a:t>max Σ</a:t>
            </a:r>
            <a:pPr algn="l" indent="0" marL="0">
              <a:lnSpc>
                <a:spcPts val="2080"/>
              </a:lnSpc>
              <a:buNone/>
            </a:pPr>
            <a:r>
              <a:rPr lang="en-US" sz="1600" i="1" dirty="0">
                <a:solidFill>
                  <a:srgbClr val="13233F"/>
                </a:solidFill>
                <a:latin typeface="Cambria" pitchFamily="34" charset="0"/>
                <a:ea typeface="Cambria" pitchFamily="34" charset="-122"/>
                <a:cs typeface="Cambria" pitchFamily="34" charset="-120"/>
              </a:rPr>
              <a:t>x</a:t>
            </a:r>
            <a:pPr algn="l" indent="0" marL="0">
              <a:lnSpc>
                <a:spcPts val="2080"/>
              </a:lnSpc>
              <a:buNone/>
            </a:pPr>
            <a:r>
              <a:rPr lang="en-US" sz="1600" dirty="0">
                <a:solidFill>
                  <a:srgbClr val="13233F"/>
                </a:solidFill>
                <a:latin typeface="Cambria" pitchFamily="34" charset="0"/>
                <a:ea typeface="Cambria" pitchFamily="34" charset="-122"/>
                <a:cs typeface="Cambria" pitchFamily="34" charset="-120"/>
              </a:rPr>
              <a:t> (net positions fixed) = min Σ</a:t>
            </a:r>
            <a:pPr algn="l" indent="0" marL="0">
              <a:lnSpc>
                <a:spcPts val="2080"/>
              </a:lnSpc>
              <a:buNone/>
            </a:pPr>
            <a:r>
              <a:rPr lang="en-US" sz="1600" i="1" dirty="0">
                <a:solidFill>
                  <a:srgbClr val="13233F"/>
                </a:solidFill>
                <a:latin typeface="Cambria" pitchFamily="34" charset="0"/>
                <a:ea typeface="Cambria" pitchFamily="34" charset="-122"/>
                <a:cs typeface="Cambria" pitchFamily="34" charset="-120"/>
              </a:rPr>
              <a:t>d</a:t>
            </a:r>
            <a:pPr algn="l" indent="0" marL="0">
              <a:lnSpc>
                <a:spcPts val="2080"/>
              </a:lnSpc>
              <a:buNone/>
            </a:pPr>
            <a:r>
              <a:rPr lang="en-US" sz="1600" dirty="0">
                <a:solidFill>
                  <a:srgbClr val="13233F"/>
                </a:solidFill>
                <a:latin typeface="Cambria" pitchFamily="34" charset="0"/>
                <a:ea typeface="Cambria" pitchFamily="34" charset="-122"/>
                <a:cs typeface="Cambria" pitchFamily="34" charset="-120"/>
              </a:rPr>
              <a:t>·</a:t>
            </a:r>
            <a:pPr algn="l" indent="0" marL="0">
              <a:lnSpc>
                <a:spcPts val="2080"/>
              </a:lnSpc>
              <a:buNone/>
            </a:pPr>
            <a:r>
              <a:rPr lang="en-US" sz="1600" i="1" dirty="0">
                <a:solidFill>
                  <a:srgbClr val="13233F"/>
                </a:solidFill>
                <a:latin typeface="Cambria" pitchFamily="34" charset="0"/>
                <a:ea typeface="Cambria" pitchFamily="34" charset="-122"/>
                <a:cs typeface="Cambria" pitchFamily="34" charset="-120"/>
              </a:rPr>
              <a:t>y</a:t>
            </a:r>
            <a:pPr algn="l" indent="0" marL="0">
              <a:lnSpc>
                <a:spcPts val="2080"/>
              </a:lnSpc>
              <a:buNone/>
            </a:pPr>
            <a:r>
              <a:rPr lang="en-US" sz="1600" dirty="0">
                <a:solidFill>
                  <a:srgbClr val="13233F"/>
                </a:solidFill>
                <a:latin typeface="Cambria" pitchFamily="34" charset="0"/>
                <a:ea typeface="Cambria" pitchFamily="34" charset="-122"/>
                <a:cs typeface="Cambria" pitchFamily="34" charset="-120"/>
              </a:rPr>
              <a:t> s.t. π</a:t>
            </a:r>
            <a:pPr algn="l" indent="0" marL="0">
              <a:lnSpc>
                <a:spcPts val="2080"/>
              </a:lnSpc>
              <a:buNone/>
            </a:pPr>
            <a:r>
              <a:rPr lang="en-US" sz="1600" i="1" dirty="0">
                <a:solidFill>
                  <a:srgbClr val="13233F"/>
                </a:solidFill>
                <a:latin typeface="Cambria" pitchFamily="34" charset="0"/>
                <a:ea typeface="Cambria" pitchFamily="34" charset="-122"/>
                <a:cs typeface="Cambria" pitchFamily="34" charset="-120"/>
              </a:rPr>
              <a:t>ᵤ</a:t>
            </a:r>
            <a:pPr algn="l" indent="0" marL="0">
              <a:lnSpc>
                <a:spcPts val="2080"/>
              </a:lnSpc>
              <a:buNone/>
            </a:pPr>
            <a:r>
              <a:rPr lang="en-US" sz="1600" dirty="0">
                <a:solidFill>
                  <a:srgbClr val="13233F"/>
                </a:solidFill>
                <a:latin typeface="Cambria" pitchFamily="34" charset="0"/>
                <a:ea typeface="Cambria" pitchFamily="34" charset="-122"/>
                <a:cs typeface="Cambria" pitchFamily="34" charset="-120"/>
              </a:rPr>
              <a:t> − π</a:t>
            </a:r>
            <a:pPr algn="l" indent="0" marL="0">
              <a:lnSpc>
                <a:spcPts val="2080"/>
              </a:lnSpc>
              <a:buNone/>
            </a:pPr>
            <a:r>
              <a:rPr lang="en-US" sz="1600" i="1" dirty="0">
                <a:solidFill>
                  <a:srgbClr val="13233F"/>
                </a:solidFill>
                <a:latin typeface="Cambria" pitchFamily="34" charset="0"/>
                <a:ea typeface="Cambria" pitchFamily="34" charset="-122"/>
                <a:cs typeface="Cambria" pitchFamily="34" charset="-120"/>
              </a:rPr>
              <a:t>ᵥ</a:t>
            </a:r>
            <a:pPr algn="l" indent="0" marL="0">
              <a:lnSpc>
                <a:spcPts val="2080"/>
              </a:lnSpc>
              <a:buNone/>
            </a:pPr>
            <a:r>
              <a:rPr lang="en-US" sz="1600" dirty="0">
                <a:solidFill>
                  <a:srgbClr val="13233F"/>
                </a:solidFill>
                <a:latin typeface="Cambria" pitchFamily="34" charset="0"/>
                <a:ea typeface="Cambria" pitchFamily="34" charset="-122"/>
                <a:cs typeface="Cambria" pitchFamily="34" charset="-120"/>
              </a:rPr>
              <a:t> + </a:t>
            </a:r>
            <a:pPr algn="l" indent="0" marL="0">
              <a:lnSpc>
                <a:spcPts val="2080"/>
              </a:lnSpc>
              <a:buNone/>
            </a:pPr>
            <a:r>
              <a:rPr lang="en-US" sz="1600" i="1" dirty="0">
                <a:solidFill>
                  <a:srgbClr val="13233F"/>
                </a:solidFill>
                <a:latin typeface="Cambria" pitchFamily="34" charset="0"/>
                <a:ea typeface="Cambria" pitchFamily="34" charset="-122"/>
                <a:cs typeface="Cambria" pitchFamily="34" charset="-120"/>
              </a:rPr>
              <a:t>y</a:t>
            </a:r>
            <a:pPr algn="l" indent="0" marL="0">
              <a:lnSpc>
                <a:spcPts val="2080"/>
              </a:lnSpc>
              <a:buNone/>
            </a:pPr>
            <a:r>
              <a:rPr lang="en-US" sz="1600" dirty="0">
                <a:solidFill>
                  <a:srgbClr val="13233F"/>
                </a:solidFill>
                <a:latin typeface="Cambria" pitchFamily="34" charset="0"/>
                <a:ea typeface="Cambria" pitchFamily="34" charset="-122"/>
                <a:cs typeface="Cambria" pitchFamily="34" charset="-120"/>
              </a:rPr>
              <a:t> ≥ 1</a:t>
            </a:r>
            <a:endParaRPr lang="en-US" sz="1600" dirty="0"/>
          </a:p>
        </p:txBody>
      </p:sp>
      <p:sp>
        <p:nvSpPr>
          <p:cNvPr id="48" name="Text 44"/>
          <p:cNvSpPr txBox="1"/>
          <p:nvPr/>
        </p:nvSpPr>
        <p:spPr>
          <a:xfrm>
            <a:off x="8957270" y="5400873"/>
            <a:ext cx="2421930" cy="198120"/>
          </a:xfrm>
          <a:prstGeom prst="rect">
            <a:avLst/>
          </a:prstGeom>
          <a:noFill/>
          <a:ln/>
        </p:spPr>
        <p:txBody>
          <a:bodyPr wrap="square" lIns="0" tIns="0" rIns="0" bIns="0" rtlCol="0" anchor="t"/>
          <a:lstStyle/>
          <a:p>
            <a:pPr algn="r" indent="0" marL="0">
              <a:lnSpc>
                <a:spcPts val="1560"/>
              </a:lnSpc>
              <a:buNone/>
            </a:pPr>
            <a:r>
              <a:rPr lang="en-US" sz="1200" dirty="0">
                <a:solidFill>
                  <a:srgbClr val="4E6074"/>
                </a:solidFill>
                <a:latin typeface="Calibri" pitchFamily="34" charset="0"/>
                <a:ea typeface="Calibri" pitchFamily="34" charset="-122"/>
                <a:cs typeface="Calibri" pitchFamily="34" charset="-120"/>
              </a:rPr>
              <a:t>exact integers · 6 more attacks refused</a:t>
            </a:r>
            <a:endParaRPr lang="en-US" sz="1200" dirty="0"/>
          </a:p>
        </p:txBody>
      </p:sp>
      <p:sp>
        <p:nvSpPr>
          <p:cNvPr id="49" name="Shape 45"/>
          <p:cNvSpPr/>
          <p:nvPr/>
        </p:nvSpPr>
        <p:spPr>
          <a:xfrm>
            <a:off x="11226800" y="5689600"/>
            <a:ext cx="152400" cy="152400"/>
          </a:xfrm>
          <a:prstGeom prst="rect">
            <a:avLst/>
          </a:prstGeom>
          <a:solidFill>
            <a:srgbClr val="0A7468"/>
          </a:solidFill>
          <a:ln/>
        </p:spPr>
      </p:sp>
      <p:sp>
        <p:nvSpPr>
          <p:cNvPr id="50" name="Text 46"/>
          <p:cNvSpPr txBox="1"/>
          <p:nvPr/>
        </p:nvSpPr>
        <p:spPr>
          <a:xfrm>
            <a:off x="812800" y="6267450"/>
            <a:ext cx="77724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QED before the upgrade, unchanged and still live</a:t>
            </a:r>
            <a:endParaRPr lang="en-US" sz="1200" dirty="0"/>
          </a:p>
        </p:txBody>
      </p:sp>
      <p:sp>
        <p:nvSpPr>
          <p:cNvPr id="51" name="Text 47"/>
          <p:cNvSpPr txBox="1"/>
          <p:nvPr/>
        </p:nvSpPr>
        <p:spPr>
          <a:xfrm>
            <a:off x="9423400" y="6267450"/>
            <a:ext cx="1955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Appendix A14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RUN 3 · ZERO-KNOWLEDGE OPTIMALITY</a:t>
            </a:r>
            <a:endParaRPr lang="en-US" sz="1200" dirty="0"/>
          </a:p>
        </p:txBody>
      </p:sp>
      <p:sp>
        <p:nvSpPr>
          <p:cNvPr id="3" name="Text 1"/>
          <p:cNvSpPr txBox="1"/>
          <p:nvPr/>
        </p:nvSpPr>
        <p:spPr>
          <a:xfrm>
            <a:off x="812800" y="11747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Paid for a proof about data nobody saw</a:t>
            </a:r>
            <a:endParaRPr lang="en-US" sz="3200" dirty="0"/>
          </a:p>
        </p:txBody>
      </p:sp>
      <p:sp>
        <p:nvSpPr>
          <p:cNvPr id="4" name="Shape 2"/>
          <p:cNvSpPr/>
          <p:nvPr/>
        </p:nvSpPr>
        <p:spPr>
          <a:xfrm>
            <a:off x="812800" y="1819870"/>
            <a:ext cx="7061200" cy="2940050"/>
          </a:xfrm>
          <a:prstGeom prst="roundRect">
            <a:avLst>
              <a:gd name="adj" fmla="val 1728"/>
            </a:avLst>
          </a:prstGeom>
          <a:solidFill>
            <a:srgbClr val="FBFCFC"/>
          </a:solidFill>
          <a:ln w="6350">
            <a:solidFill>
              <a:srgbClr val="D6DEE1"/>
            </a:solidFill>
            <a:prstDash val="solid"/>
          </a:ln>
        </p:spPr>
      </p:sp>
      <p:sp>
        <p:nvSpPr>
          <p:cNvPr id="5" name="Text 3"/>
          <p:cNvSpPr txBox="1"/>
          <p:nvPr/>
        </p:nvSpPr>
        <p:spPr>
          <a:xfrm>
            <a:off x="1047750" y="2054820"/>
            <a:ext cx="3257931" cy="184150"/>
          </a:xfrm>
          <a:prstGeom prst="rect">
            <a:avLst/>
          </a:prstGeom>
          <a:noFill/>
          <a:ln/>
        </p:spPr>
        <p:txBody>
          <a:bodyPr wrap="square" lIns="0" tIns="0" rIns="0" bIns="0" rtlCol="0" anchor="t"/>
          <a:lstStyle/>
          <a:p>
            <a:pPr algn="l" indent="0" marL="0">
              <a:lnSpc>
                <a:spcPts val="1440"/>
              </a:lnSpc>
              <a:buNone/>
            </a:pPr>
            <a:r>
              <a:rPr lang="en-US" sz="1200" b="1" spc="100" kern="0" dirty="0">
                <a:solidFill>
                  <a:srgbClr val="4E6074"/>
                </a:solidFill>
                <a:latin typeface="Calibri" pitchFamily="34" charset="0"/>
                <a:ea typeface="Calibri" pitchFamily="34" charset="-122"/>
                <a:cs typeface="Calibri" pitchFamily="34" charset="-120"/>
              </a:rPr>
              <a:t>ON-CHAIN, PUBLIC</a:t>
            </a:r>
            <a:endParaRPr lang="en-US" sz="1200" dirty="0"/>
          </a:p>
        </p:txBody>
      </p:sp>
      <p:sp>
        <p:nvSpPr>
          <p:cNvPr id="6" name="Shape 4"/>
          <p:cNvSpPr/>
          <p:nvPr/>
        </p:nvSpPr>
        <p:spPr>
          <a:xfrm>
            <a:off x="1047750" y="2343745"/>
            <a:ext cx="3194050" cy="0"/>
          </a:xfrm>
          <a:prstGeom prst="line">
            <a:avLst/>
          </a:prstGeom>
          <a:noFill/>
          <a:ln w="6350">
            <a:solidFill>
              <a:srgbClr val="D6DEE1"/>
            </a:solidFill>
            <a:prstDash val="solid"/>
          </a:ln>
        </p:spPr>
      </p:sp>
      <p:sp>
        <p:nvSpPr>
          <p:cNvPr id="7" name="Text 5"/>
          <p:cNvSpPr txBox="1"/>
          <p:nvPr/>
        </p:nvSpPr>
        <p:spPr>
          <a:xfrm>
            <a:off x="1047750" y="2423120"/>
            <a:ext cx="3257931"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Data commitment, signed by Helix</a:t>
            </a:r>
            <a:endParaRPr lang="en-US" sz="1200" dirty="0"/>
          </a:p>
        </p:txBody>
      </p:sp>
      <p:sp>
        <p:nvSpPr>
          <p:cNvPr id="8" name="Text 6"/>
          <p:cNvSpPr txBox="1"/>
          <p:nvPr/>
        </p:nvSpPr>
        <p:spPr>
          <a:xfrm>
            <a:off x="1047750" y="2619970"/>
            <a:ext cx="3257931" cy="182880"/>
          </a:xfrm>
          <a:prstGeom prst="rect">
            <a:avLst/>
          </a:prstGeom>
          <a:noFill/>
          <a:ln/>
        </p:spPr>
        <p:txBody>
          <a:bodyPr wrap="square" lIns="0" tIns="0" rIns="0" bIns="0" rtlCol="0" anchor="t"/>
          <a:lstStyle/>
          <a:p>
            <a:pPr algn="l" indent="0" marL="0">
              <a:lnSpc>
                <a:spcPts val="1440"/>
              </a:lnSpc>
              <a:buNone/>
            </a:pPr>
            <a:r>
              <a:rPr lang="en-US" sz="1200" dirty="0">
                <a:solidFill>
                  <a:srgbClr val="13233F"/>
                </a:solidFill>
                <a:latin typeface="Courier New" pitchFamily="34" charset="0"/>
                <a:ea typeface="Courier New" pitchFamily="34" charset="-122"/>
                <a:cs typeface="Courier New" pitchFamily="34" charset="-120"/>
              </a:rPr>
              <a:t>0x0ec5…6983</a:t>
            </a:r>
            <a:endParaRPr lang="en-US" sz="1200" dirty="0"/>
          </a:p>
        </p:txBody>
      </p:sp>
      <p:sp>
        <p:nvSpPr>
          <p:cNvPr id="9" name="Shape 7"/>
          <p:cNvSpPr/>
          <p:nvPr/>
        </p:nvSpPr>
        <p:spPr>
          <a:xfrm>
            <a:off x="1047750" y="2896195"/>
            <a:ext cx="3194050" cy="0"/>
          </a:xfrm>
          <a:prstGeom prst="line">
            <a:avLst/>
          </a:prstGeom>
          <a:noFill/>
          <a:ln w="6350">
            <a:solidFill>
              <a:srgbClr val="D6DEE1"/>
            </a:solidFill>
            <a:prstDash val="solid"/>
          </a:ln>
        </p:spPr>
      </p:sp>
      <p:sp>
        <p:nvSpPr>
          <p:cNvPr id="10" name="Text 8"/>
          <p:cNvSpPr txBox="1"/>
          <p:nvPr/>
        </p:nvSpPr>
        <p:spPr>
          <a:xfrm>
            <a:off x="1047750" y="2975570"/>
            <a:ext cx="3257931"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Portfolio commitment</a:t>
            </a:r>
            <a:endParaRPr lang="en-US" sz="1200" dirty="0"/>
          </a:p>
        </p:txBody>
      </p:sp>
      <p:sp>
        <p:nvSpPr>
          <p:cNvPr id="11" name="Text 9"/>
          <p:cNvSpPr txBox="1"/>
          <p:nvPr/>
        </p:nvSpPr>
        <p:spPr>
          <a:xfrm>
            <a:off x="1047750" y="3172420"/>
            <a:ext cx="3257931" cy="182880"/>
          </a:xfrm>
          <a:prstGeom prst="rect">
            <a:avLst/>
          </a:prstGeom>
          <a:noFill/>
          <a:ln/>
        </p:spPr>
        <p:txBody>
          <a:bodyPr wrap="square" lIns="0" tIns="0" rIns="0" bIns="0" rtlCol="0" anchor="t"/>
          <a:lstStyle/>
          <a:p>
            <a:pPr algn="l" indent="0" marL="0">
              <a:lnSpc>
                <a:spcPts val="1440"/>
              </a:lnSpc>
              <a:buNone/>
            </a:pPr>
            <a:r>
              <a:rPr lang="en-US" sz="1200" dirty="0">
                <a:solidFill>
                  <a:srgbClr val="13233F"/>
                </a:solidFill>
                <a:latin typeface="Courier New" pitchFamily="34" charset="0"/>
                <a:ea typeface="Courier New" pitchFamily="34" charset="-122"/>
                <a:cs typeface="Courier New" pitchFamily="34" charset="-120"/>
              </a:rPr>
              <a:t>0x0577…ba68</a:t>
            </a:r>
            <a:endParaRPr lang="en-US" sz="1200" dirty="0"/>
          </a:p>
        </p:txBody>
      </p:sp>
      <p:sp>
        <p:nvSpPr>
          <p:cNvPr id="12" name="Shape 10"/>
          <p:cNvSpPr/>
          <p:nvPr/>
        </p:nvSpPr>
        <p:spPr>
          <a:xfrm>
            <a:off x="1047750" y="3448645"/>
            <a:ext cx="3194050" cy="0"/>
          </a:xfrm>
          <a:prstGeom prst="line">
            <a:avLst/>
          </a:prstGeom>
          <a:noFill/>
          <a:ln w="6350">
            <a:solidFill>
              <a:srgbClr val="D6DEE1"/>
            </a:solidFill>
            <a:prstDash val="solid"/>
          </a:ln>
        </p:spPr>
      </p:sp>
      <p:sp>
        <p:nvSpPr>
          <p:cNvPr id="13" name="Text 11"/>
          <p:cNvSpPr txBox="1"/>
          <p:nvPr/>
        </p:nvSpPr>
        <p:spPr>
          <a:xfrm>
            <a:off x="1047750" y="3528020"/>
            <a:ext cx="3257931"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Certified variance</a:t>
            </a:r>
            <a:endParaRPr lang="en-US" sz="1200" dirty="0"/>
          </a:p>
        </p:txBody>
      </p:sp>
      <p:sp>
        <p:nvSpPr>
          <p:cNvPr id="14" name="Text 12"/>
          <p:cNvSpPr txBox="1"/>
          <p:nvPr/>
        </p:nvSpPr>
        <p:spPr>
          <a:xfrm>
            <a:off x="1047750" y="3724870"/>
            <a:ext cx="3257931" cy="182880"/>
          </a:xfrm>
          <a:prstGeom prst="rect">
            <a:avLst/>
          </a:prstGeom>
          <a:noFill/>
          <a:ln/>
        </p:spPr>
        <p:txBody>
          <a:bodyPr wrap="square" lIns="0" tIns="0" rIns="0" bIns="0" rtlCol="0" anchor="t"/>
          <a:lstStyle/>
          <a:p>
            <a:pPr algn="l" indent="0" marL="0">
              <a:lnSpc>
                <a:spcPts val="1440"/>
              </a:lnSpc>
              <a:buNone/>
            </a:pPr>
            <a:r>
              <a:rPr lang="en-US" sz="1200" dirty="0">
                <a:solidFill>
                  <a:srgbClr val="13233F"/>
                </a:solidFill>
                <a:latin typeface="Courier New" pitchFamily="34" charset="0"/>
                <a:ea typeface="Courier New" pitchFamily="34" charset="-122"/>
                <a:cs typeface="Courier New" pitchFamily="34" charset="-120"/>
              </a:rPr>
              <a:t>0.0015702689</a:t>
            </a:r>
            <a:endParaRPr lang="en-US" sz="1200" dirty="0"/>
          </a:p>
        </p:txBody>
      </p:sp>
      <p:sp>
        <p:nvSpPr>
          <p:cNvPr id="15" name="Shape 13"/>
          <p:cNvSpPr/>
          <p:nvPr/>
        </p:nvSpPr>
        <p:spPr>
          <a:xfrm>
            <a:off x="1047750" y="4001095"/>
            <a:ext cx="3194050" cy="0"/>
          </a:xfrm>
          <a:prstGeom prst="line">
            <a:avLst/>
          </a:prstGeom>
          <a:noFill/>
          <a:ln w="6350">
            <a:solidFill>
              <a:srgbClr val="D6DEE1"/>
            </a:solidFill>
            <a:prstDash val="solid"/>
          </a:ln>
        </p:spPr>
      </p:sp>
      <p:sp>
        <p:nvSpPr>
          <p:cNvPr id="16" name="Text 14"/>
          <p:cNvSpPr txBox="1"/>
          <p:nvPr/>
        </p:nvSpPr>
        <p:spPr>
          <a:xfrm>
            <a:off x="1047750" y="4080470"/>
            <a:ext cx="3257931"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Proof bound to</a:t>
            </a:r>
            <a:endParaRPr lang="en-US" sz="1200" dirty="0"/>
          </a:p>
        </p:txBody>
      </p:sp>
      <p:sp>
        <p:nvSpPr>
          <p:cNvPr id="17" name="Text 15"/>
          <p:cNvSpPr txBox="1"/>
          <p:nvPr/>
        </p:nvSpPr>
        <p:spPr>
          <a:xfrm>
            <a:off x="1047750" y="4277320"/>
            <a:ext cx="3257931" cy="182880"/>
          </a:xfrm>
          <a:prstGeom prst="rect">
            <a:avLst/>
          </a:prstGeom>
          <a:noFill/>
          <a:ln/>
        </p:spPr>
        <p:txBody>
          <a:bodyPr wrap="square" lIns="0" tIns="0" rIns="0" bIns="0" rtlCol="0" anchor="t"/>
          <a:lstStyle/>
          <a:p>
            <a:pPr algn="l" indent="0" marL="0">
              <a:lnSpc>
                <a:spcPts val="1440"/>
              </a:lnSpc>
              <a:buNone/>
            </a:pPr>
            <a:r>
              <a:rPr lang="en-US" sz="1200" dirty="0">
                <a:solidFill>
                  <a:srgbClr val="13233F"/>
                </a:solidFill>
                <a:latin typeface="Courier New" pitchFamily="34" charset="0"/>
                <a:ea typeface="Courier New" pitchFamily="34" charset="-122"/>
                <a:cs typeface="Courier New" pitchFamily="34" charset="-120"/>
              </a:rPr>
              <a:t>QED agent</a:t>
            </a:r>
            <a:endParaRPr lang="en-US" sz="1200" dirty="0"/>
          </a:p>
        </p:txBody>
      </p:sp>
      <p:sp>
        <p:nvSpPr>
          <p:cNvPr id="18" name="Text 16"/>
          <p:cNvSpPr txBox="1"/>
          <p:nvPr/>
        </p:nvSpPr>
        <p:spPr>
          <a:xfrm>
            <a:off x="4445000" y="2054820"/>
            <a:ext cx="3257931" cy="184150"/>
          </a:xfrm>
          <a:prstGeom prst="rect">
            <a:avLst/>
          </a:prstGeom>
          <a:noFill/>
          <a:ln/>
        </p:spPr>
        <p:txBody>
          <a:bodyPr wrap="square" lIns="0" tIns="0" rIns="0" bIns="0" rtlCol="0" anchor="t"/>
          <a:lstStyle/>
          <a:p>
            <a:pPr algn="l" indent="0" marL="0">
              <a:lnSpc>
                <a:spcPts val="1440"/>
              </a:lnSpc>
              <a:buNone/>
            </a:pPr>
            <a:r>
              <a:rPr lang="en-US" sz="1200" b="1" spc="100" kern="0" dirty="0">
                <a:solidFill>
                  <a:srgbClr val="4E6074"/>
                </a:solidFill>
                <a:latin typeface="Calibri" pitchFamily="34" charset="0"/>
                <a:ea typeface="Calibri" pitchFamily="34" charset="-122"/>
                <a:cs typeface="Calibri" pitchFamily="34" charset="-120"/>
              </a:rPr>
              <a:t>NEVER ON-CHAIN</a:t>
            </a:r>
            <a:endParaRPr lang="en-US" sz="1200" dirty="0"/>
          </a:p>
        </p:txBody>
      </p:sp>
      <p:sp>
        <p:nvSpPr>
          <p:cNvPr id="19" name="Shape 17"/>
          <p:cNvSpPr/>
          <p:nvPr/>
        </p:nvSpPr>
        <p:spPr>
          <a:xfrm>
            <a:off x="4445000" y="2343745"/>
            <a:ext cx="3194050" cy="0"/>
          </a:xfrm>
          <a:prstGeom prst="line">
            <a:avLst/>
          </a:prstGeom>
          <a:noFill/>
          <a:ln w="6350">
            <a:solidFill>
              <a:srgbClr val="D6DEE1"/>
            </a:solidFill>
            <a:prstDash val="solid"/>
          </a:ln>
        </p:spPr>
      </p:sp>
      <p:sp>
        <p:nvSpPr>
          <p:cNvPr id="20" name="Text 18"/>
          <p:cNvSpPr txBox="1"/>
          <p:nvPr/>
        </p:nvSpPr>
        <p:spPr>
          <a:xfrm>
            <a:off x="4445000" y="2423120"/>
            <a:ext cx="3257931" cy="184150"/>
          </a:xfrm>
          <a:prstGeom prst="rect">
            <a:avLst/>
          </a:prstGeom>
          <a:noFill/>
          <a:ln/>
        </p:spPr>
        <p:txBody>
          <a:bodyPr wrap="square" lIns="0" tIns="0" rIns="0" bIns="0" rtlCol="0" anchor="t"/>
          <a:lstStyle/>
          <a:p>
            <a:pPr algn="l" indent="0" marL="0">
              <a:lnSpc>
                <a:spcPts val="1440"/>
              </a:lnSpc>
              <a:buNone/>
            </a:pPr>
            <a:r>
              <a:rPr lang="en-US" sz="1200" b="1" dirty="0">
                <a:solidFill>
                  <a:srgbClr val="13233F"/>
                </a:solidFill>
                <a:latin typeface="Calibri" pitchFamily="34" charset="0"/>
                <a:ea typeface="Calibri" pitchFamily="34" charset="-122"/>
                <a:cs typeface="Calibri" pitchFamily="34" charset="-120"/>
              </a:rPr>
              <a:t>Covariance model, 21 entries</a:t>
            </a:r>
            <a:endParaRPr lang="en-US" sz="1200" dirty="0"/>
          </a:p>
        </p:txBody>
      </p:sp>
      <p:sp>
        <p:nvSpPr>
          <p:cNvPr id="21" name="Shape 19"/>
          <p:cNvSpPr/>
          <p:nvPr/>
        </p:nvSpPr>
        <p:spPr>
          <a:xfrm>
            <a:off x="4445000" y="2915245"/>
            <a:ext cx="3194050" cy="0"/>
          </a:xfrm>
          <a:prstGeom prst="line">
            <a:avLst/>
          </a:prstGeom>
          <a:noFill/>
          <a:ln w="6350">
            <a:solidFill>
              <a:srgbClr val="D6DEE1"/>
            </a:solidFill>
            <a:prstDash val="solid"/>
          </a:ln>
        </p:spPr>
      </p:sp>
      <p:sp>
        <p:nvSpPr>
          <p:cNvPr id="22" name="Text 20"/>
          <p:cNvSpPr txBox="1"/>
          <p:nvPr/>
        </p:nvSpPr>
        <p:spPr>
          <a:xfrm>
            <a:off x="4445000" y="2994620"/>
            <a:ext cx="3257931" cy="184150"/>
          </a:xfrm>
          <a:prstGeom prst="rect">
            <a:avLst/>
          </a:prstGeom>
          <a:noFill/>
          <a:ln/>
        </p:spPr>
        <p:txBody>
          <a:bodyPr wrap="square" lIns="0" tIns="0" rIns="0" bIns="0" rtlCol="0" anchor="t"/>
          <a:lstStyle/>
          <a:p>
            <a:pPr algn="l" indent="0" marL="0">
              <a:lnSpc>
                <a:spcPts val="1440"/>
              </a:lnSpc>
              <a:buNone/>
            </a:pPr>
            <a:r>
              <a:rPr lang="en-US" sz="1200" b="1" dirty="0">
                <a:solidFill>
                  <a:srgbClr val="13233F"/>
                </a:solidFill>
                <a:latin typeface="Calibri" pitchFamily="34" charset="0"/>
                <a:ea typeface="Calibri" pitchFamily="34" charset="-122"/>
                <a:cs typeface="Calibri" pitchFamily="34" charset="-120"/>
              </a:rPr>
              <a:t>Portfolio weights, 6 sleeves</a:t>
            </a:r>
            <a:endParaRPr lang="en-US" sz="1200" dirty="0"/>
          </a:p>
        </p:txBody>
      </p:sp>
      <p:sp>
        <p:nvSpPr>
          <p:cNvPr id="23" name="Shape 21"/>
          <p:cNvSpPr/>
          <p:nvPr/>
        </p:nvSpPr>
        <p:spPr>
          <a:xfrm>
            <a:off x="4445000" y="3486745"/>
            <a:ext cx="3194050" cy="0"/>
          </a:xfrm>
          <a:prstGeom prst="line">
            <a:avLst/>
          </a:prstGeom>
          <a:noFill/>
          <a:ln w="6350">
            <a:solidFill>
              <a:srgbClr val="D6DEE1"/>
            </a:solidFill>
            <a:prstDash val="solid"/>
          </a:ln>
        </p:spPr>
      </p:sp>
      <p:sp>
        <p:nvSpPr>
          <p:cNvPr id="24" name="Text 22"/>
          <p:cNvSpPr txBox="1"/>
          <p:nvPr/>
        </p:nvSpPr>
        <p:spPr>
          <a:xfrm>
            <a:off x="4445000" y="3566120"/>
            <a:ext cx="3257931" cy="184150"/>
          </a:xfrm>
          <a:prstGeom prst="rect">
            <a:avLst/>
          </a:prstGeom>
          <a:noFill/>
          <a:ln/>
        </p:spPr>
        <p:txBody>
          <a:bodyPr wrap="square" lIns="0" tIns="0" rIns="0" bIns="0" rtlCol="0" anchor="t"/>
          <a:lstStyle/>
          <a:p>
            <a:pPr algn="l" indent="0" marL="0">
              <a:lnSpc>
                <a:spcPts val="1440"/>
              </a:lnSpc>
              <a:buNone/>
            </a:pPr>
            <a:r>
              <a:rPr lang="en-US" sz="1200" b="1" dirty="0">
                <a:solidFill>
                  <a:srgbClr val="13233F"/>
                </a:solidFill>
                <a:latin typeface="Calibri" pitchFamily="34" charset="0"/>
                <a:ea typeface="Calibri" pitchFamily="34" charset="-122"/>
                <a:cs typeface="Calibri" pitchFamily="34" charset="-120"/>
              </a:rPr>
              <a:t>KKT multipliers ν, μ</a:t>
            </a:r>
            <a:endParaRPr lang="en-US" sz="1200" dirty="0"/>
          </a:p>
        </p:txBody>
      </p:sp>
      <p:sp>
        <p:nvSpPr>
          <p:cNvPr id="25" name="Shape 23"/>
          <p:cNvSpPr/>
          <p:nvPr/>
        </p:nvSpPr>
        <p:spPr>
          <a:xfrm>
            <a:off x="4445000" y="4058245"/>
            <a:ext cx="3194050" cy="0"/>
          </a:xfrm>
          <a:prstGeom prst="line">
            <a:avLst/>
          </a:prstGeom>
          <a:noFill/>
          <a:ln w="6350">
            <a:solidFill>
              <a:srgbClr val="D6DEE1"/>
            </a:solidFill>
            <a:prstDash val="solid"/>
          </a:ln>
        </p:spPr>
      </p:sp>
      <p:sp>
        <p:nvSpPr>
          <p:cNvPr id="26" name="Text 24"/>
          <p:cNvSpPr txBox="1"/>
          <p:nvPr/>
        </p:nvSpPr>
        <p:spPr>
          <a:xfrm>
            <a:off x="4445000" y="4137620"/>
            <a:ext cx="3257931" cy="184150"/>
          </a:xfrm>
          <a:prstGeom prst="rect">
            <a:avLst/>
          </a:prstGeom>
          <a:noFill/>
          <a:ln/>
        </p:spPr>
        <p:txBody>
          <a:bodyPr wrap="square" lIns="0" tIns="0" rIns="0" bIns="0" rtlCol="0" anchor="t"/>
          <a:lstStyle/>
          <a:p>
            <a:pPr algn="l" indent="0" marL="0">
              <a:lnSpc>
                <a:spcPts val="1440"/>
              </a:lnSpc>
              <a:buNone/>
            </a:pPr>
            <a:r>
              <a:rPr lang="en-US" sz="1200" b="1" dirty="0">
                <a:solidFill>
                  <a:srgbClr val="13233F"/>
                </a:solidFill>
                <a:latin typeface="Calibri" pitchFamily="34" charset="0"/>
                <a:ea typeface="Calibri" pitchFamily="34" charset="-122"/>
                <a:cs typeface="Calibri" pitchFamily="34" charset="-120"/>
              </a:rPr>
              <a:t>Convexity witness L</a:t>
            </a:r>
            <a:endParaRPr lang="en-US" sz="1200" dirty="0"/>
          </a:p>
        </p:txBody>
      </p:sp>
      <p:sp>
        <p:nvSpPr>
          <p:cNvPr id="27" name="Text 25"/>
          <p:cNvSpPr txBox="1"/>
          <p:nvPr/>
        </p:nvSpPr>
        <p:spPr>
          <a:xfrm>
            <a:off x="8077200" y="1819870"/>
            <a:ext cx="2615291"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Groth16 statement</a:t>
            </a:r>
            <a:endParaRPr lang="en-US" sz="1500" dirty="0"/>
          </a:p>
        </p:txBody>
      </p:sp>
      <p:sp>
        <p:nvSpPr>
          <p:cNvPr id="28" name="Text 26"/>
          <p:cNvSpPr txBox="1"/>
          <p:nvPr/>
        </p:nvSpPr>
        <p:spPr>
          <a:xfrm>
            <a:off x="8077200" y="2067520"/>
            <a:ext cx="2615291"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the full KKT certificate</a:t>
            </a:r>
            <a:endParaRPr lang="en-US" sz="1200" dirty="0"/>
          </a:p>
        </p:txBody>
      </p:sp>
      <p:sp>
        <p:nvSpPr>
          <p:cNvPr id="29" name="Text 27"/>
          <p:cNvSpPr txBox="1"/>
          <p:nvPr/>
        </p:nvSpPr>
        <p:spPr>
          <a:xfrm>
            <a:off x="10742811" y="1819870"/>
            <a:ext cx="687189" cy="279400"/>
          </a:xfrm>
          <a:prstGeom prst="rect">
            <a:avLst/>
          </a:prstGeom>
          <a:noFill/>
          <a:ln/>
        </p:spPr>
        <p:txBody>
          <a:bodyPr wrap="square" lIns="0" tIns="0" rIns="0" bIns="0" rtlCol="0" anchor="t"/>
          <a:lstStyle/>
          <a:p>
            <a:pPr algn="l" indent="0" marL="0">
              <a:lnSpc>
                <a:spcPts val="2160"/>
              </a:lnSpc>
              <a:buNone/>
            </a:pPr>
            <a:r>
              <a:rPr lang="en-US" sz="1800" dirty="0">
                <a:solidFill>
                  <a:srgbClr val="13233F"/>
                </a:solidFill>
                <a:latin typeface="Calibri" pitchFamily="34" charset="0"/>
                <a:ea typeface="Calibri" pitchFamily="34" charset="-122"/>
                <a:cs typeface="Calibri" pitchFamily="34" charset="-120"/>
              </a:rPr>
              <a:t>12,569</a:t>
            </a:r>
            <a:endParaRPr lang="en-US" sz="1800" dirty="0"/>
          </a:p>
        </p:txBody>
      </p:sp>
      <p:sp>
        <p:nvSpPr>
          <p:cNvPr id="30" name="Shape 28"/>
          <p:cNvSpPr/>
          <p:nvPr/>
        </p:nvSpPr>
        <p:spPr>
          <a:xfrm>
            <a:off x="8077200" y="2356445"/>
            <a:ext cx="3302000" cy="0"/>
          </a:xfrm>
          <a:prstGeom prst="line">
            <a:avLst/>
          </a:prstGeom>
          <a:noFill/>
          <a:ln w="6350">
            <a:solidFill>
              <a:srgbClr val="D6DEE1"/>
            </a:solidFill>
            <a:prstDash val="solid"/>
          </a:ln>
        </p:spPr>
      </p:sp>
      <p:sp>
        <p:nvSpPr>
          <p:cNvPr id="31" name="Text 29"/>
          <p:cNvSpPr txBox="1"/>
          <p:nvPr/>
        </p:nvSpPr>
        <p:spPr>
          <a:xfrm>
            <a:off x="8077200" y="2461220"/>
            <a:ext cx="2825186"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Proved in</a:t>
            </a:r>
            <a:endParaRPr lang="en-US" sz="1500" dirty="0"/>
          </a:p>
        </p:txBody>
      </p:sp>
      <p:sp>
        <p:nvSpPr>
          <p:cNvPr id="32" name="Text 30"/>
          <p:cNvSpPr txBox="1"/>
          <p:nvPr/>
        </p:nvSpPr>
        <p:spPr>
          <a:xfrm>
            <a:off x="8077200" y="2708870"/>
            <a:ext cx="2825186"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by the QED agent, one CPU</a:t>
            </a:r>
            <a:endParaRPr lang="en-US" sz="1200" dirty="0"/>
          </a:p>
        </p:txBody>
      </p:sp>
      <p:sp>
        <p:nvSpPr>
          <p:cNvPr id="33" name="Text 31"/>
          <p:cNvSpPr txBox="1"/>
          <p:nvPr/>
        </p:nvSpPr>
        <p:spPr>
          <a:xfrm>
            <a:off x="10948591" y="2461220"/>
            <a:ext cx="481409" cy="279400"/>
          </a:xfrm>
          <a:prstGeom prst="rect">
            <a:avLst/>
          </a:prstGeom>
          <a:noFill/>
          <a:ln/>
        </p:spPr>
        <p:txBody>
          <a:bodyPr wrap="square" lIns="0" tIns="0" rIns="0" bIns="0" rtlCol="0" anchor="t"/>
          <a:lstStyle/>
          <a:p>
            <a:pPr algn="l" indent="0" marL="0">
              <a:lnSpc>
                <a:spcPts val="2160"/>
              </a:lnSpc>
              <a:buNone/>
            </a:pPr>
            <a:r>
              <a:rPr lang="en-US" sz="1800" dirty="0">
                <a:solidFill>
                  <a:srgbClr val="13233F"/>
                </a:solidFill>
                <a:latin typeface="Calibri" pitchFamily="34" charset="0"/>
                <a:ea typeface="Calibri" pitchFamily="34" charset="-122"/>
                <a:cs typeface="Calibri" pitchFamily="34" charset="-120"/>
              </a:rPr>
              <a:t>1.5 s</a:t>
            </a:r>
            <a:endParaRPr lang="en-US" sz="1800" dirty="0"/>
          </a:p>
        </p:txBody>
      </p:sp>
      <p:sp>
        <p:nvSpPr>
          <p:cNvPr id="34" name="Shape 32"/>
          <p:cNvSpPr/>
          <p:nvPr/>
        </p:nvSpPr>
        <p:spPr>
          <a:xfrm>
            <a:off x="8077200" y="2997795"/>
            <a:ext cx="3302000" cy="0"/>
          </a:xfrm>
          <a:prstGeom prst="line">
            <a:avLst/>
          </a:prstGeom>
          <a:noFill/>
          <a:ln w="6350">
            <a:solidFill>
              <a:srgbClr val="D6DEE1"/>
            </a:solidFill>
            <a:prstDash val="solid"/>
          </a:ln>
        </p:spPr>
      </p:sp>
      <p:sp>
        <p:nvSpPr>
          <p:cNvPr id="35" name="Text 33"/>
          <p:cNvSpPr txBox="1"/>
          <p:nvPr/>
        </p:nvSpPr>
        <p:spPr>
          <a:xfrm>
            <a:off x="8077200" y="3102570"/>
            <a:ext cx="2487116"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Paid by job #1’s escrow</a:t>
            </a:r>
            <a:endParaRPr lang="en-US" sz="1500" dirty="0"/>
          </a:p>
        </p:txBody>
      </p:sp>
      <p:sp>
        <p:nvSpPr>
          <p:cNvPr id="36" name="Text 34"/>
          <p:cNvSpPr txBox="1"/>
          <p:nvPr/>
        </p:nvSpPr>
        <p:spPr>
          <a:xfrm>
            <a:off x="8077200" y="3350220"/>
            <a:ext cx="2487116"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unchanged contract (Z3)</a:t>
            </a:r>
            <a:endParaRPr lang="en-US" sz="1200" dirty="0"/>
          </a:p>
        </p:txBody>
      </p:sp>
      <p:sp>
        <p:nvSpPr>
          <p:cNvPr id="37" name="Text 35"/>
          <p:cNvSpPr txBox="1"/>
          <p:nvPr/>
        </p:nvSpPr>
        <p:spPr>
          <a:xfrm>
            <a:off x="10615116" y="3102570"/>
            <a:ext cx="814884" cy="279400"/>
          </a:xfrm>
          <a:prstGeom prst="rect">
            <a:avLst/>
          </a:prstGeom>
          <a:noFill/>
          <a:ln/>
        </p:spPr>
        <p:txBody>
          <a:bodyPr wrap="square" lIns="0" tIns="0" rIns="0" bIns="0" rtlCol="0" anchor="t"/>
          <a:lstStyle/>
          <a:p>
            <a:pPr algn="l" indent="0" marL="0">
              <a:lnSpc>
                <a:spcPts val="2160"/>
              </a:lnSpc>
              <a:buNone/>
            </a:pPr>
            <a:r>
              <a:rPr lang="en-US" sz="1800" b="1" dirty="0">
                <a:solidFill>
                  <a:srgbClr val="0A7468"/>
                </a:solidFill>
                <a:latin typeface="Calibri" pitchFamily="34" charset="0"/>
                <a:ea typeface="Calibri" pitchFamily="34" charset="-122"/>
                <a:cs typeface="Calibri" pitchFamily="34" charset="-120"/>
              </a:rPr>
              <a:t>12 tUSD</a:t>
            </a:r>
            <a:endParaRPr lang="en-US" sz="1800" dirty="0"/>
          </a:p>
        </p:txBody>
      </p:sp>
      <p:sp>
        <p:nvSpPr>
          <p:cNvPr id="38" name="Shape 36"/>
          <p:cNvSpPr/>
          <p:nvPr/>
        </p:nvSpPr>
        <p:spPr>
          <a:xfrm>
            <a:off x="8077200" y="3639145"/>
            <a:ext cx="3302000" cy="0"/>
          </a:xfrm>
          <a:prstGeom prst="line">
            <a:avLst/>
          </a:prstGeom>
          <a:noFill/>
          <a:ln w="6350">
            <a:solidFill>
              <a:srgbClr val="D6DEE1"/>
            </a:solidFill>
            <a:prstDash val="solid"/>
          </a:ln>
        </p:spPr>
      </p:sp>
      <p:sp>
        <p:nvSpPr>
          <p:cNvPr id="39" name="Text 37"/>
          <p:cNvSpPr txBox="1"/>
          <p:nvPr/>
        </p:nvSpPr>
        <p:spPr>
          <a:xfrm>
            <a:off x="8077200" y="3743920"/>
            <a:ext cx="2832473" cy="234950"/>
          </a:xfrm>
          <a:prstGeom prst="rect">
            <a:avLst/>
          </a:prstGeom>
          <a:noFill/>
          <a:ln/>
        </p:spPr>
        <p:txBody>
          <a:bodyPr wrap="square" lIns="0" tIns="0" rIns="0" bIns="0" rtlCol="0" anchor="t"/>
          <a:lstStyle/>
          <a:p>
            <a:pPr algn="l" indent="0" marL="0">
              <a:lnSpc>
                <a:spcPts val="1800"/>
              </a:lnSpc>
              <a:buNone/>
            </a:pPr>
            <a:r>
              <a:rPr lang="en-US" sz="1500" b="1" dirty="0">
                <a:solidFill>
                  <a:srgbClr val="13233F"/>
                </a:solidFill>
                <a:latin typeface="Calibri" pitchFamily="34" charset="0"/>
                <a:ea typeface="Calibri" pitchFamily="34" charset="-122"/>
                <a:cs typeface="Calibri" pitchFamily="34" charset="-120"/>
              </a:rPr>
              <a:t>Refused</a:t>
            </a:r>
            <a:endParaRPr lang="en-US" sz="1500" dirty="0"/>
          </a:p>
        </p:txBody>
      </p:sp>
      <p:sp>
        <p:nvSpPr>
          <p:cNvPr id="40" name="Text 38"/>
          <p:cNvSpPr txBox="1"/>
          <p:nvPr/>
        </p:nvSpPr>
        <p:spPr>
          <a:xfrm>
            <a:off x="8077200" y="3991570"/>
            <a:ext cx="2832473" cy="36830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copied proof, lower variance, self-attested data (ZA1–ZA3)</a:t>
            </a:r>
            <a:endParaRPr lang="en-US" sz="1200" dirty="0"/>
          </a:p>
        </p:txBody>
      </p:sp>
      <p:sp>
        <p:nvSpPr>
          <p:cNvPr id="41" name="Text 39"/>
          <p:cNvSpPr txBox="1"/>
          <p:nvPr/>
        </p:nvSpPr>
        <p:spPr>
          <a:xfrm>
            <a:off x="10955734" y="3743920"/>
            <a:ext cx="474266" cy="279400"/>
          </a:xfrm>
          <a:prstGeom prst="rect">
            <a:avLst/>
          </a:prstGeom>
          <a:noFill/>
          <a:ln/>
        </p:spPr>
        <p:txBody>
          <a:bodyPr wrap="square" lIns="0" tIns="0" rIns="0" bIns="0" rtlCol="0" anchor="t"/>
          <a:lstStyle/>
          <a:p>
            <a:pPr algn="l" indent="0" marL="0">
              <a:lnSpc>
                <a:spcPts val="2160"/>
              </a:lnSpc>
              <a:buNone/>
            </a:pPr>
            <a:r>
              <a:rPr lang="en-US" sz="1800" dirty="0">
                <a:solidFill>
                  <a:srgbClr val="B1262E"/>
                </a:solidFill>
                <a:latin typeface="Calibri" pitchFamily="34" charset="0"/>
                <a:ea typeface="Calibri" pitchFamily="34" charset="-122"/>
                <a:cs typeface="Calibri" pitchFamily="34" charset="-120"/>
              </a:rPr>
              <a:t>3 / 3</a:t>
            </a:r>
            <a:endParaRPr lang="en-US" sz="1800" dirty="0"/>
          </a:p>
        </p:txBody>
      </p:sp>
      <p:sp>
        <p:nvSpPr>
          <p:cNvPr id="42" name="Shape 40"/>
          <p:cNvSpPr/>
          <p:nvPr/>
        </p:nvSpPr>
        <p:spPr>
          <a:xfrm>
            <a:off x="812800" y="4940895"/>
            <a:ext cx="10566400" cy="0"/>
          </a:xfrm>
          <a:prstGeom prst="line">
            <a:avLst/>
          </a:prstGeom>
          <a:noFill/>
          <a:ln w="6350">
            <a:solidFill>
              <a:srgbClr val="D6DEE1"/>
            </a:solidFill>
            <a:prstDash val="solid"/>
          </a:ln>
        </p:spPr>
      </p:sp>
      <p:sp>
        <p:nvSpPr>
          <p:cNvPr id="43" name="Text 41"/>
          <p:cNvSpPr txBox="1"/>
          <p:nvPr/>
        </p:nvSpPr>
        <p:spPr>
          <a:xfrm>
            <a:off x="812800" y="5032970"/>
            <a:ext cx="10777728" cy="264160"/>
          </a:xfrm>
          <a:prstGeom prst="rect">
            <a:avLst/>
          </a:prstGeom>
          <a:noFill/>
          <a:ln/>
        </p:spPr>
        <p:txBody>
          <a:bodyPr wrap="square" lIns="0" tIns="0" rIns="0" bIns="0" rtlCol="0" anchor="t"/>
          <a:lstStyle/>
          <a:p>
            <a:pPr algn="l" indent="0" marL="0">
              <a:lnSpc>
                <a:spcPts val="2080"/>
              </a:lnSpc>
              <a:buNone/>
            </a:pPr>
            <a:r>
              <a:rPr lang="en-US" sz="1600" dirty="0">
                <a:solidFill>
                  <a:srgbClr val="13233F"/>
                </a:solidFill>
                <a:latin typeface="Cambria" pitchFamily="34" charset="0"/>
                <a:ea typeface="Cambria" pitchFamily="34" charset="-122"/>
                <a:cs typeface="Cambria" pitchFamily="34" charset="-120"/>
              </a:rPr>
              <a:t>Accepted ⇒ ½</a:t>
            </a:r>
            <a:pPr algn="l" indent="0" marL="0">
              <a:lnSpc>
                <a:spcPts val="2080"/>
              </a:lnSpc>
              <a:buNone/>
            </a:pPr>
            <a:r>
              <a:rPr lang="en-US" sz="1600" i="1" dirty="0">
                <a:solidFill>
                  <a:srgbClr val="13233F"/>
                </a:solidFill>
                <a:latin typeface="Cambria" pitchFamily="34" charset="0"/>
                <a:ea typeface="Cambria" pitchFamily="34" charset="-122"/>
                <a:cs typeface="Cambria" pitchFamily="34" charset="-120"/>
              </a:rPr>
              <a:t>w</a:t>
            </a:r>
            <a:pPr algn="l" indent="0" marL="0">
              <a:lnSpc>
                <a:spcPts val="2080"/>
              </a:lnSpc>
              <a:buNone/>
            </a:pPr>
            <a:r>
              <a:rPr lang="en-US" sz="1600" dirty="0">
                <a:solidFill>
                  <a:srgbClr val="13233F"/>
                </a:solidFill>
                <a:latin typeface="Cambria" pitchFamily="34" charset="0"/>
                <a:ea typeface="Cambria" pitchFamily="34" charset="-122"/>
                <a:cs typeface="Cambria" pitchFamily="34" charset="-120"/>
              </a:rPr>
              <a:t>ᵀΣ</a:t>
            </a:r>
            <a:pPr algn="l" indent="0" marL="0">
              <a:lnSpc>
                <a:spcPts val="2080"/>
              </a:lnSpc>
              <a:buNone/>
            </a:pPr>
            <a:r>
              <a:rPr lang="en-US" sz="1600" i="1" dirty="0">
                <a:solidFill>
                  <a:srgbClr val="13233F"/>
                </a:solidFill>
                <a:latin typeface="Cambria" pitchFamily="34" charset="0"/>
                <a:ea typeface="Cambria" pitchFamily="34" charset="-122"/>
                <a:cs typeface="Cambria" pitchFamily="34" charset="-120"/>
              </a:rPr>
              <a:t>w</a:t>
            </a:r>
            <a:pPr algn="l" indent="0" marL="0">
              <a:lnSpc>
                <a:spcPts val="2080"/>
              </a:lnSpc>
              <a:buNone/>
            </a:pPr>
            <a:r>
              <a:rPr lang="en-US" sz="1600" dirty="0">
                <a:solidFill>
                  <a:srgbClr val="13233F"/>
                </a:solidFill>
                <a:latin typeface="Cambria" pitchFamily="34" charset="0"/>
                <a:ea typeface="Cambria" pitchFamily="34" charset="-122"/>
                <a:cs typeface="Cambria" pitchFamily="34" charset="-120"/>
              </a:rPr>
              <a:t> ≤ OPT + 1.5 × 10⁻⁹, for the model the vendor signed, and the chain learns nothing else.</a:t>
            </a:r>
            <a:endParaRPr lang="en-US" sz="1600" dirty="0"/>
          </a:p>
        </p:txBody>
      </p:sp>
      <p:sp>
        <p:nvSpPr>
          <p:cNvPr id="44" name="Shape 42"/>
          <p:cNvSpPr/>
          <p:nvPr/>
        </p:nvSpPr>
        <p:spPr>
          <a:xfrm>
            <a:off x="11226800" y="5689600"/>
            <a:ext cx="152400" cy="152400"/>
          </a:xfrm>
          <a:prstGeom prst="rect">
            <a:avLst/>
          </a:prstGeom>
          <a:solidFill>
            <a:srgbClr val="0A7468"/>
          </a:solidFill>
          <a:ln/>
        </p:spPr>
      </p:sp>
      <p:sp>
        <p:nvSpPr>
          <p:cNvPr id="45" name="Text 43"/>
          <p:cNvSpPr txBox="1"/>
          <p:nvPr/>
        </p:nvSpPr>
        <p:spPr>
          <a:xfrm>
            <a:off x="812800" y="6267450"/>
            <a:ext cx="77724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QED before the upgrade, unchanged and still live</a:t>
            </a:r>
            <a:endParaRPr lang="en-US" sz="1200" dirty="0"/>
          </a:p>
        </p:txBody>
      </p:sp>
      <p:sp>
        <p:nvSpPr>
          <p:cNvPr id="46" name="Text 44"/>
          <p:cNvSpPr txBox="1"/>
          <p:nvPr/>
        </p:nvSpPr>
        <p:spPr>
          <a:xfrm>
            <a:off x="9423400" y="6267450"/>
            <a:ext cx="1955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Appendix A15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AUTONOMY · SEPOLIA RUNS 4C AND 4D</a:t>
            </a:r>
            <a:endParaRPr lang="en-US" sz="1200" dirty="0"/>
          </a:p>
        </p:txBody>
      </p:sp>
      <p:sp>
        <p:nvSpPr>
          <p:cNvPr id="3" name="Text 1"/>
          <p:cNvSpPr txBox="1"/>
          <p:nvPr/>
        </p:nvSpPr>
        <p:spPr>
          <a:xfrm>
            <a:off x="812800" y="1200150"/>
            <a:ext cx="10777728" cy="467360"/>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One signed policy. The agent decided when and how much.</a:t>
            </a:r>
            <a:endParaRPr lang="en-US" sz="3200" dirty="0"/>
          </a:p>
        </p:txBody>
      </p:sp>
      <p:sp>
        <p:nvSpPr>
          <p:cNvPr id="4" name="Shape 2"/>
          <p:cNvSpPr/>
          <p:nvPr/>
        </p:nvSpPr>
        <p:spPr>
          <a:xfrm>
            <a:off x="812800" y="1870670"/>
            <a:ext cx="3556000" cy="3121025"/>
          </a:xfrm>
          <a:prstGeom prst="roundRect">
            <a:avLst>
              <a:gd name="adj" fmla="val 1628"/>
            </a:avLst>
          </a:prstGeom>
          <a:solidFill>
            <a:srgbClr val="13233F"/>
          </a:solidFill>
          <a:ln/>
        </p:spPr>
      </p:sp>
      <p:sp>
        <p:nvSpPr>
          <p:cNvPr id="5" name="Text 3"/>
          <p:cNvSpPr txBox="1"/>
          <p:nvPr/>
        </p:nvSpPr>
        <p:spPr>
          <a:xfrm>
            <a:off x="1041400" y="2099270"/>
            <a:ext cx="3160776" cy="184150"/>
          </a:xfrm>
          <a:prstGeom prst="rect">
            <a:avLst/>
          </a:prstGeom>
          <a:noFill/>
          <a:ln/>
        </p:spPr>
        <p:txBody>
          <a:bodyPr wrap="square" lIns="0" tIns="0" rIns="0" bIns="0" rtlCol="0" anchor="t"/>
          <a:lstStyle/>
          <a:p>
            <a:pPr algn="l" indent="0" marL="0">
              <a:lnSpc>
                <a:spcPts val="1440"/>
              </a:lnSpc>
              <a:buNone/>
            </a:pPr>
            <a:r>
              <a:rPr lang="en-US" sz="1200" b="1" spc="100" kern="0" dirty="0">
                <a:solidFill>
                  <a:srgbClr val="46C4B0"/>
                </a:solidFill>
                <a:latin typeface="Calibri" pitchFamily="34" charset="0"/>
                <a:ea typeface="Calibri" pitchFamily="34" charset="-122"/>
                <a:cs typeface="Calibri" pitchFamily="34" charset="-120"/>
              </a:rPr>
              <a:t>STANDING POLICY · SIGNED ONCE</a:t>
            </a:r>
            <a:endParaRPr lang="en-US" sz="1200" dirty="0"/>
          </a:p>
        </p:txBody>
      </p:sp>
      <p:sp>
        <p:nvSpPr>
          <p:cNvPr id="6" name="Text 4"/>
          <p:cNvSpPr txBox="1"/>
          <p:nvPr/>
        </p:nvSpPr>
        <p:spPr>
          <a:xfrm>
            <a:off x="1041400" y="2397720"/>
            <a:ext cx="3160776" cy="771525"/>
          </a:xfrm>
          <a:prstGeom prst="rect">
            <a:avLst/>
          </a:prstGeom>
          <a:noFill/>
          <a:ln/>
        </p:spPr>
        <p:txBody>
          <a:bodyPr wrap="square" lIns="0" tIns="0" rIns="0" bIns="0" rtlCol="0" anchor="t"/>
          <a:lstStyle/>
          <a:p>
            <a:pPr algn="l" indent="0" marL="0">
              <a:lnSpc>
                <a:spcPts val="2030"/>
              </a:lnSpc>
              <a:buNone/>
            </a:pPr>
            <a:r>
              <a:rPr lang="en-US" sz="1500" dirty="0">
                <a:solidFill>
                  <a:srgbClr val="E4ECF1"/>
                </a:solidFill>
                <a:latin typeface="Calibri" pitchFamily="34" charset="0"/>
                <a:ea typeface="Calibri" pitchFamily="34" charset="-122"/>
                <a:cs typeface="Calibri" pitchFamily="34" charset="-120"/>
              </a:rPr>
              <a:t>Keep at least </a:t>
            </a:r>
            <a:pPr algn="l" indent="0" marL="0">
              <a:lnSpc>
                <a:spcPts val="2030"/>
              </a:lnSpc>
              <a:buNone/>
            </a:pPr>
            <a:r>
              <a:rPr lang="en-US" sz="1500" b="1" dirty="0">
                <a:solidFill>
                  <a:srgbClr val="E4ECF1"/>
                </a:solidFill>
                <a:latin typeface="Calibri" pitchFamily="34" charset="0"/>
                <a:ea typeface="Calibri" pitchFamily="34" charset="-122"/>
                <a:cs typeface="Calibri" pitchFamily="34" charset="-120"/>
              </a:rPr>
              <a:t>45 tEUR</a:t>
            </a:r>
            <a:pPr algn="l" indent="0" marL="0">
              <a:lnSpc>
                <a:spcPts val="2030"/>
              </a:lnSpc>
              <a:buNone/>
            </a:pPr>
            <a:r>
              <a:rPr lang="en-US" sz="1500" dirty="0">
                <a:solidFill>
                  <a:srgbClr val="E4ECF1"/>
                </a:solidFill>
                <a:latin typeface="Calibri" pitchFamily="34" charset="0"/>
                <a:ea typeface="Calibri" pitchFamily="34" charset="-122"/>
                <a:cs typeface="Calibri" pitchFamily="34" charset="-120"/>
              </a:rPr>
              <a:t> free in the euro reserve. Tranches of 2–25 tUSD. At most </a:t>
            </a:r>
            <a:pPr algn="l" indent="0" marL="0">
              <a:lnSpc>
                <a:spcPts val="2030"/>
              </a:lnSpc>
              <a:buNone/>
            </a:pPr>
            <a:r>
              <a:rPr lang="en-US" sz="1500" b="1" dirty="0">
                <a:solidFill>
                  <a:srgbClr val="E4ECF1"/>
                </a:solidFill>
                <a:latin typeface="Calibri" pitchFamily="34" charset="0"/>
                <a:ea typeface="Calibri" pitchFamily="34" charset="-122"/>
                <a:cs typeface="Calibri" pitchFamily="34" charset="-120"/>
              </a:rPr>
              <a:t>150 bps</a:t>
            </a:r>
            <a:pPr algn="l" indent="0" marL="0">
              <a:lnSpc>
                <a:spcPts val="2030"/>
              </a:lnSpc>
              <a:buNone/>
            </a:pPr>
            <a:r>
              <a:rPr lang="en-US" sz="1500" dirty="0">
                <a:solidFill>
                  <a:srgbClr val="E4ECF1"/>
                </a:solidFill>
                <a:latin typeface="Calibri" pitchFamily="34" charset="0"/>
                <a:ea typeface="Calibri" pitchFamily="34" charset="-122"/>
                <a:cs typeface="Calibri" pitchFamily="34" charset="-120"/>
              </a:rPr>
              <a:t> execution cost each.</a:t>
            </a:r>
            <a:endParaRPr lang="en-US" sz="1500" dirty="0"/>
          </a:p>
        </p:txBody>
      </p:sp>
      <p:sp>
        <p:nvSpPr>
          <p:cNvPr id="7" name="Shape 5"/>
          <p:cNvSpPr/>
          <p:nvPr/>
        </p:nvSpPr>
        <p:spPr>
          <a:xfrm>
            <a:off x="1041400" y="3286720"/>
            <a:ext cx="3098800" cy="0"/>
          </a:xfrm>
          <a:prstGeom prst="line">
            <a:avLst/>
          </a:prstGeom>
          <a:noFill/>
          <a:ln w="6350">
            <a:solidFill>
              <a:srgbClr val="2E4A72"/>
            </a:solidFill>
            <a:prstDash val="solid"/>
          </a:ln>
        </p:spPr>
      </p:sp>
      <p:sp>
        <p:nvSpPr>
          <p:cNvPr id="8" name="Text 6"/>
          <p:cNvSpPr txBox="1"/>
          <p:nvPr/>
        </p:nvSpPr>
        <p:spPr>
          <a:xfrm>
            <a:off x="1041400" y="3404195"/>
            <a:ext cx="3160776" cy="1841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Each tick the agent converts</a:t>
            </a:r>
            <a:endParaRPr lang="en-US" sz="1200" dirty="0"/>
          </a:p>
        </p:txBody>
      </p:sp>
      <p:sp>
        <p:nvSpPr>
          <p:cNvPr id="9" name="Text 7"/>
          <p:cNvSpPr txBox="1"/>
          <p:nvPr/>
        </p:nvSpPr>
        <p:spPr>
          <a:xfrm>
            <a:off x="1041400" y="3651845"/>
            <a:ext cx="3160776" cy="495300"/>
          </a:xfrm>
          <a:prstGeom prst="rect">
            <a:avLst/>
          </a:prstGeom>
          <a:noFill/>
          <a:ln/>
        </p:spPr>
        <p:txBody>
          <a:bodyPr wrap="square" lIns="0" tIns="0" rIns="0" bIns="0" rtlCol="0" anchor="t"/>
          <a:lstStyle/>
          <a:p>
            <a:pPr algn="l" indent="0" marL="0">
              <a:lnSpc>
                <a:spcPts val="1950"/>
              </a:lnSpc>
              <a:buNone/>
            </a:pPr>
            <a:r>
              <a:rPr lang="en-US" sz="1500" dirty="0">
                <a:solidFill>
                  <a:srgbClr val="E4ECF1"/>
                </a:solidFill>
                <a:latin typeface="Cambria" pitchFamily="34" charset="0"/>
                <a:ea typeface="Cambria" pitchFamily="34" charset="-122"/>
                <a:cs typeface="Cambria" pitchFamily="34" charset="-120"/>
              </a:rPr>
              <a:t>X = min(need, impact, policy cap, mandate cap, free funds)</a:t>
            </a:r>
            <a:endParaRPr lang="en-US" sz="1500" dirty="0"/>
          </a:p>
        </p:txBody>
      </p:sp>
      <p:sp>
        <p:nvSpPr>
          <p:cNvPr id="10" name="Text 8"/>
          <p:cNvSpPr txBox="1"/>
          <p:nvPr/>
        </p:nvSpPr>
        <p:spPr>
          <a:xfrm>
            <a:off x="1041400" y="4210645"/>
            <a:ext cx="3160776" cy="552450"/>
          </a:xfrm>
          <a:prstGeom prst="rect">
            <a:avLst/>
          </a:prstGeom>
          <a:noFill/>
          <a:ln/>
        </p:spPr>
        <p:txBody>
          <a:bodyPr wrap="square" lIns="0" tIns="0" rIns="0" bIns="0" rtlCol="0" anchor="t"/>
          <a:lstStyle/>
          <a:p>
            <a:pPr algn="l" indent="0" marL="0">
              <a:lnSpc>
                <a:spcPts val="1440"/>
              </a:lnSpc>
              <a:buNone/>
            </a:pPr>
            <a:r>
              <a:rPr lang="en-US" sz="1200" dirty="0">
                <a:solidFill>
                  <a:srgbClr val="A9BACB"/>
                </a:solidFill>
                <a:latin typeface="Calibri" pitchFamily="34" charset="0"/>
                <a:ea typeface="Calibri" pitchFamily="34" charset="-122"/>
                <a:cs typeface="Calibri" pitchFamily="34" charset="-120"/>
              </a:rPr>
              <a:t>and waits if X &lt; 2 tUSD. The co-signer re-derives X before it signs; since Run 4d a contract refuses any tranche the policy does not need.</a:t>
            </a:r>
            <a:endParaRPr lang="en-US" sz="1200" dirty="0"/>
          </a:p>
        </p:txBody>
      </p:sp>
      <p:sp>
        <p:nvSpPr>
          <p:cNvPr id="11" name="Shape 9"/>
          <p:cNvSpPr/>
          <p:nvPr/>
        </p:nvSpPr>
        <p:spPr>
          <a:xfrm>
            <a:off x="4622800" y="2513806"/>
            <a:ext cx="6756400" cy="0"/>
          </a:xfrm>
          <a:prstGeom prst="line">
            <a:avLst/>
          </a:prstGeom>
          <a:noFill/>
          <a:ln w="6350">
            <a:solidFill>
              <a:srgbClr val="D6DEE1"/>
            </a:solidFill>
            <a:prstDash val="solid"/>
          </a:ln>
        </p:spPr>
      </p:sp>
      <p:sp>
        <p:nvSpPr>
          <p:cNvPr id="12" name="Text 10"/>
          <p:cNvSpPr txBox="1"/>
          <p:nvPr/>
        </p:nvSpPr>
        <p:spPr>
          <a:xfrm>
            <a:off x="4622800" y="1984970"/>
            <a:ext cx="749300" cy="184150"/>
          </a:xfrm>
          <a:prstGeom prst="rect">
            <a:avLst/>
          </a:prstGeom>
          <a:noFill/>
          <a:ln/>
        </p:spPr>
        <p:txBody>
          <a:bodyPr wrap="square" lIns="0" tIns="0" rIns="0" bIns="0" rtlCol="0" anchor="t"/>
          <a:lstStyle/>
          <a:p>
            <a:pPr algn="l" indent="0" marL="0">
              <a:lnSpc>
                <a:spcPts val="1440"/>
              </a:lnSpc>
              <a:buNone/>
            </a:pPr>
            <a:r>
              <a:rPr lang="en-US" sz="1200" b="1" dirty="0">
                <a:solidFill>
                  <a:srgbClr val="B1262E"/>
                </a:solidFill>
                <a:latin typeface="Calibri" pitchFamily="34" charset="0"/>
                <a:ea typeface="Calibri" pitchFamily="34" charset="-122"/>
                <a:cs typeface="Calibri" pitchFamily="34" charset="-120"/>
              </a:rPr>
              <a:t>Tick 0</a:t>
            </a:r>
            <a:endParaRPr lang="en-US" sz="1200" dirty="0"/>
          </a:p>
        </p:txBody>
      </p:sp>
      <p:sp>
        <p:nvSpPr>
          <p:cNvPr id="13" name="Text 11"/>
          <p:cNvSpPr txBox="1"/>
          <p:nvPr/>
        </p:nvSpPr>
        <p:spPr>
          <a:xfrm>
            <a:off x="5448300" y="1984970"/>
            <a:ext cx="3329178" cy="205740"/>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An over-eager agent asks for 25 tUSD at once</a:t>
            </a:r>
            <a:endParaRPr lang="en-US" sz="1200" dirty="0"/>
          </a:p>
        </p:txBody>
      </p:sp>
      <p:sp>
        <p:nvSpPr>
          <p:cNvPr id="14" name="Text 12"/>
          <p:cNvSpPr txBox="1"/>
          <p:nvPr/>
        </p:nvSpPr>
        <p:spPr>
          <a:xfrm>
            <a:off x="8839200" y="1984970"/>
            <a:ext cx="2590800" cy="411361"/>
          </a:xfrm>
          <a:prstGeom prst="rect">
            <a:avLst/>
          </a:prstGeom>
          <a:noFill/>
          <a:ln/>
        </p:spPr>
        <p:txBody>
          <a:bodyPr wrap="square" lIns="0" tIns="0" rIns="0" bIns="0" rtlCol="0" anchor="t"/>
          <a:lstStyle/>
          <a:p>
            <a:pPr algn="l" indent="0" marL="0">
              <a:lnSpc>
                <a:spcPts val="1620"/>
              </a:lnSpc>
              <a:buNone/>
            </a:pPr>
            <a:r>
              <a:rPr lang="en-US" sz="1200" dirty="0">
                <a:solidFill>
                  <a:srgbClr val="B1262E"/>
                </a:solidFill>
                <a:latin typeface="Calibri" pitchFamily="34" charset="0"/>
                <a:ea typeface="Calibri" pitchFamily="34" charset="-122"/>
                <a:cs typeface="Calibri" pitchFamily="34" charset="-120"/>
              </a:rPr>
              <a:t>refused: co-signer allows 19.54, 180 bps &gt; 150 (PA1)</a:t>
            </a:r>
            <a:endParaRPr lang="en-US" sz="1200" dirty="0"/>
          </a:p>
        </p:txBody>
      </p:sp>
      <p:sp>
        <p:nvSpPr>
          <p:cNvPr id="15" name="Shape 13"/>
          <p:cNvSpPr/>
          <p:nvPr/>
        </p:nvSpPr>
        <p:spPr>
          <a:xfrm>
            <a:off x="4622800" y="3160117"/>
            <a:ext cx="6756400" cy="0"/>
          </a:xfrm>
          <a:prstGeom prst="line">
            <a:avLst/>
          </a:prstGeom>
          <a:noFill/>
          <a:ln w="6350">
            <a:solidFill>
              <a:srgbClr val="D6DEE1"/>
            </a:solidFill>
            <a:prstDash val="solid"/>
          </a:ln>
        </p:spPr>
      </p:sp>
      <p:sp>
        <p:nvSpPr>
          <p:cNvPr id="16" name="Text 14"/>
          <p:cNvSpPr txBox="1"/>
          <p:nvPr/>
        </p:nvSpPr>
        <p:spPr>
          <a:xfrm>
            <a:off x="4622800" y="2631281"/>
            <a:ext cx="749300" cy="184150"/>
          </a:xfrm>
          <a:prstGeom prst="rect">
            <a:avLst/>
          </a:prstGeom>
          <a:noFill/>
          <a:ln/>
        </p:spPr>
        <p:txBody>
          <a:bodyPr wrap="square" lIns="0" tIns="0" rIns="0" bIns="0" rtlCol="0" anchor="t"/>
          <a:lstStyle/>
          <a:p>
            <a:pPr algn="l" indent="0" marL="0">
              <a:lnSpc>
                <a:spcPts val="1440"/>
              </a:lnSpc>
              <a:buNone/>
            </a:pPr>
            <a:r>
              <a:rPr lang="en-US" sz="1200" b="1" dirty="0">
                <a:solidFill>
                  <a:srgbClr val="0A7468"/>
                </a:solidFill>
                <a:latin typeface="Calibri" pitchFamily="34" charset="0"/>
                <a:ea typeface="Calibri" pitchFamily="34" charset="-122"/>
                <a:cs typeface="Calibri" pitchFamily="34" charset="-120"/>
              </a:rPr>
              <a:t>Tick 1</a:t>
            </a:r>
            <a:endParaRPr lang="en-US" sz="1200" dirty="0"/>
          </a:p>
        </p:txBody>
      </p:sp>
      <p:sp>
        <p:nvSpPr>
          <p:cNvPr id="17" name="Text 15"/>
          <p:cNvSpPr txBox="1"/>
          <p:nvPr/>
        </p:nvSpPr>
        <p:spPr>
          <a:xfrm>
            <a:off x="5448300" y="2631281"/>
            <a:ext cx="3329178"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Short 24.30 tEUR → convert 19.54 tUSD, limited by </a:t>
            </a:r>
            <a:pPr algn="l" indent="0" marL="0">
              <a:lnSpc>
                <a:spcPts val="1620"/>
              </a:lnSpc>
              <a:buNone/>
            </a:pPr>
            <a:r>
              <a:rPr lang="en-US" sz="1200" b="1" dirty="0">
                <a:solidFill>
                  <a:srgbClr val="13233F"/>
                </a:solidFill>
                <a:latin typeface="Calibri" pitchFamily="34" charset="0"/>
                <a:ea typeface="Calibri" pitchFamily="34" charset="-122"/>
                <a:cs typeface="Calibri" pitchFamily="34" charset="-120"/>
              </a:rPr>
              <a:t>market impact</a:t>
            </a:r>
            <a:endParaRPr lang="en-US" sz="1200" dirty="0"/>
          </a:p>
        </p:txBody>
      </p:sp>
      <p:sp>
        <p:nvSpPr>
          <p:cNvPr id="18" name="Text 16"/>
          <p:cNvSpPr txBox="1"/>
          <p:nvPr/>
        </p:nvSpPr>
        <p:spPr>
          <a:xfrm>
            <a:off x="8839200" y="2631281"/>
            <a:ext cx="2590800" cy="205740"/>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PE1 · 16.816098 tEUR · 0.18 ppm</a:t>
            </a:r>
            <a:endParaRPr lang="en-US" sz="1200" dirty="0"/>
          </a:p>
        </p:txBody>
      </p:sp>
      <p:sp>
        <p:nvSpPr>
          <p:cNvPr id="19" name="Shape 17"/>
          <p:cNvSpPr/>
          <p:nvPr/>
        </p:nvSpPr>
        <p:spPr>
          <a:xfrm>
            <a:off x="4622800" y="3806428"/>
            <a:ext cx="6756400" cy="0"/>
          </a:xfrm>
          <a:prstGeom prst="line">
            <a:avLst/>
          </a:prstGeom>
          <a:noFill/>
          <a:ln w="6350">
            <a:solidFill>
              <a:srgbClr val="D6DEE1"/>
            </a:solidFill>
            <a:prstDash val="solid"/>
          </a:ln>
        </p:spPr>
      </p:sp>
      <p:sp>
        <p:nvSpPr>
          <p:cNvPr id="20" name="Text 18"/>
          <p:cNvSpPr txBox="1"/>
          <p:nvPr/>
        </p:nvSpPr>
        <p:spPr>
          <a:xfrm>
            <a:off x="4622800" y="3277592"/>
            <a:ext cx="749300" cy="184150"/>
          </a:xfrm>
          <a:prstGeom prst="rect">
            <a:avLst/>
          </a:prstGeom>
          <a:noFill/>
          <a:ln/>
        </p:spPr>
        <p:txBody>
          <a:bodyPr wrap="square" lIns="0" tIns="0" rIns="0" bIns="0" rtlCol="0" anchor="t"/>
          <a:lstStyle/>
          <a:p>
            <a:pPr algn="l" indent="0" marL="0">
              <a:lnSpc>
                <a:spcPts val="1440"/>
              </a:lnSpc>
              <a:buNone/>
            </a:pPr>
            <a:r>
              <a:rPr lang="en-US" sz="1200" b="1" dirty="0">
                <a:solidFill>
                  <a:srgbClr val="0A7468"/>
                </a:solidFill>
                <a:latin typeface="Calibri" pitchFamily="34" charset="0"/>
                <a:ea typeface="Calibri" pitchFamily="34" charset="-122"/>
                <a:cs typeface="Calibri" pitchFamily="34" charset="-120"/>
              </a:rPr>
              <a:t>Tick 2</a:t>
            </a:r>
            <a:endParaRPr lang="en-US" sz="1200" dirty="0"/>
          </a:p>
        </p:txBody>
      </p:sp>
      <p:sp>
        <p:nvSpPr>
          <p:cNvPr id="21" name="Text 19"/>
          <p:cNvSpPr txBox="1"/>
          <p:nvPr/>
        </p:nvSpPr>
        <p:spPr>
          <a:xfrm>
            <a:off x="5448300" y="3277592"/>
            <a:ext cx="3329178"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Short 7.48 tEUR → convert 8.84 tUSD, limited by </a:t>
            </a:r>
            <a:pPr algn="l" indent="0" marL="0">
              <a:lnSpc>
                <a:spcPts val="1620"/>
              </a:lnSpc>
              <a:buNone/>
            </a:pPr>
            <a:r>
              <a:rPr lang="en-US" sz="1200" b="1" dirty="0">
                <a:solidFill>
                  <a:srgbClr val="13233F"/>
                </a:solidFill>
                <a:latin typeface="Calibri" pitchFamily="34" charset="0"/>
                <a:ea typeface="Calibri" pitchFamily="34" charset="-122"/>
                <a:cs typeface="Calibri" pitchFamily="34" charset="-120"/>
              </a:rPr>
              <a:t>need</a:t>
            </a:r>
            <a:endParaRPr lang="en-US" sz="1200" dirty="0"/>
          </a:p>
        </p:txBody>
      </p:sp>
      <p:sp>
        <p:nvSpPr>
          <p:cNvPr id="22" name="Text 20"/>
          <p:cNvSpPr txBox="1"/>
          <p:nvPr/>
        </p:nvSpPr>
        <p:spPr>
          <a:xfrm>
            <a:off x="8839200" y="3277592"/>
            <a:ext cx="2590800" cy="205740"/>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PE2 · 7.484336 tEUR · 0.40 ppm</a:t>
            </a:r>
            <a:endParaRPr lang="en-US" sz="1200" dirty="0"/>
          </a:p>
        </p:txBody>
      </p:sp>
      <p:sp>
        <p:nvSpPr>
          <p:cNvPr id="23" name="Text 21"/>
          <p:cNvSpPr txBox="1"/>
          <p:nvPr/>
        </p:nvSpPr>
        <p:spPr>
          <a:xfrm>
            <a:off x="4622800" y="3923903"/>
            <a:ext cx="749300" cy="184150"/>
          </a:xfrm>
          <a:prstGeom prst="rect">
            <a:avLst/>
          </a:prstGeom>
          <a:noFill/>
          <a:ln/>
        </p:spPr>
        <p:txBody>
          <a:bodyPr wrap="square" lIns="0" tIns="0" rIns="0" bIns="0" rtlCol="0" anchor="t"/>
          <a:lstStyle/>
          <a:p>
            <a:pPr algn="l" indent="0" marL="0">
              <a:lnSpc>
                <a:spcPts val="1440"/>
              </a:lnSpc>
              <a:buNone/>
            </a:pPr>
            <a:r>
              <a:rPr lang="en-US" sz="1200" b="1" dirty="0">
                <a:solidFill>
                  <a:srgbClr val="0A7468"/>
                </a:solidFill>
                <a:latin typeface="Calibri" pitchFamily="34" charset="0"/>
                <a:ea typeface="Calibri" pitchFamily="34" charset="-122"/>
                <a:cs typeface="Calibri" pitchFamily="34" charset="-120"/>
              </a:rPr>
              <a:t>Tick 3</a:t>
            </a:r>
            <a:endParaRPr lang="en-US" sz="1200" dirty="0"/>
          </a:p>
        </p:txBody>
      </p:sp>
      <p:sp>
        <p:nvSpPr>
          <p:cNvPr id="24" name="Text 22"/>
          <p:cNvSpPr txBox="1"/>
          <p:nvPr/>
        </p:nvSpPr>
        <p:spPr>
          <a:xfrm>
            <a:off x="5448300" y="3923903"/>
            <a:ext cx="3329178" cy="411361"/>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Reserve free: 20.70 → 37.52 → </a:t>
            </a:r>
            <a:pPr algn="l" indent="0" marL="0">
              <a:lnSpc>
                <a:spcPts val="1620"/>
              </a:lnSpc>
              <a:buNone/>
            </a:pPr>
            <a:r>
              <a:rPr lang="en-US" sz="1200" b="1" dirty="0">
                <a:solidFill>
                  <a:srgbClr val="13233F"/>
                </a:solidFill>
                <a:latin typeface="Calibri" pitchFamily="34" charset="0"/>
                <a:ea typeface="Calibri" pitchFamily="34" charset="-122"/>
                <a:cs typeface="Calibri" pitchFamily="34" charset="-120"/>
              </a:rPr>
              <a:t>45.00 tEUR</a:t>
            </a:r>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 Target met.</a:t>
            </a:r>
            <a:endParaRPr lang="en-US" sz="1200" dirty="0"/>
          </a:p>
        </p:txBody>
      </p:sp>
      <p:sp>
        <p:nvSpPr>
          <p:cNvPr id="25" name="Text 23"/>
          <p:cNvSpPr txBox="1"/>
          <p:nvPr/>
        </p:nvSpPr>
        <p:spPr>
          <a:xfrm>
            <a:off x="8839200" y="3923903"/>
            <a:ext cx="2590800" cy="205740"/>
          </a:xfrm>
          <a:prstGeom prst="rect">
            <a:avLst/>
          </a:prstGeom>
          <a:noFill/>
          <a:ln/>
        </p:spPr>
        <p:txBody>
          <a:bodyPr wrap="square" lIns="0" tIns="0" rIns="0" bIns="0" rtlCol="0" anchor="t"/>
          <a:lstStyle/>
          <a:p>
            <a:pPr algn="l" indent="0" marL="0">
              <a:lnSpc>
                <a:spcPts val="1620"/>
              </a:lnSpc>
              <a:buNone/>
            </a:pPr>
            <a:r>
              <a:rPr lang="en-US" sz="1200" dirty="0">
                <a:solidFill>
                  <a:srgbClr val="13233F"/>
                </a:solidFill>
                <a:latin typeface="Calibri" pitchFamily="34" charset="0"/>
                <a:ea typeface="Calibri" pitchFamily="34" charset="-122"/>
                <a:cs typeface="Calibri" pitchFamily="34" charset="-120"/>
              </a:rPr>
              <a:t>nothing sent</a:t>
            </a:r>
            <a:endParaRPr lang="en-US" sz="1200" dirty="0"/>
          </a:p>
        </p:txBody>
      </p:sp>
      <p:pic>
        <p:nvPicPr>
          <p:cNvPr id="26" name="Image 0" descr="Free tEUR in the euro reserve: 20.70 before tick 1, 37.52 after PE1, 45.00 after PE2, reaching the 45 tEUR target">    </p:cNvPr>
          <p:cNvPicPr>
            <a:picLocks noChangeAspect="1"/>
          </p:cNvPicPr>
          <p:nvPr/>
        </p:nvPicPr>
        <p:blipFill>
          <a:blip r:embed="rId1"/>
          <a:stretch>
            <a:fillRect/>
          </a:stretch>
        </p:blipFill>
        <p:spPr>
          <a:xfrm>
            <a:off x="4622800" y="4449564"/>
            <a:ext cx="6731000" cy="952500"/>
          </a:xfrm>
          <a:prstGeom prst="rect">
            <a:avLst/>
          </a:prstGeom>
        </p:spPr>
      </p:pic>
      <p:sp>
        <p:nvSpPr>
          <p:cNvPr id="27" name="Text 24"/>
          <p:cNvSpPr txBox="1"/>
          <p:nvPr/>
        </p:nvSpPr>
        <p:spPr>
          <a:xfrm>
            <a:off x="812800" y="6267450"/>
            <a:ext cx="84201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Runs with dev keys too: npm run local:execute reproduces PE1 and PE2 to the raw unit</a:t>
            </a:r>
            <a:endParaRPr lang="en-US" sz="1200" dirty="0"/>
          </a:p>
        </p:txBody>
      </p:sp>
      <p:sp>
        <p:nvSpPr>
          <p:cNvPr id="28" name="Text 25"/>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Appendix A16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F5F4"/>
        </a:solidFill>
      </p:bgPr>
    </p:bg>
    <p:spTree>
      <p:nvGrpSpPr>
        <p:cNvPr id="1" name=""/>
        <p:cNvGrpSpPr/>
        <p:nvPr/>
      </p:nvGrpSpPr>
      <p:grpSpPr>
        <a:xfrm>
          <a:off x="0" y="0"/>
          <a:ext cx="0" cy="0"/>
          <a:chOff x="0" y="0"/>
          <a:chExt cx="0" cy="0"/>
        </a:xfrm>
      </p:grpSpPr>
      <p:sp>
        <p:nvSpPr>
          <p:cNvPr id="2" name="Text 0"/>
          <p:cNvSpPr txBox="1"/>
          <p:nvPr/>
        </p:nvSpPr>
        <p:spPr>
          <a:xfrm>
            <a:off x="812800" y="812800"/>
            <a:ext cx="10777728" cy="184150"/>
          </a:xfrm>
          <a:prstGeom prst="rect">
            <a:avLst/>
          </a:prstGeom>
          <a:noFill/>
          <a:ln/>
        </p:spPr>
        <p:txBody>
          <a:bodyPr wrap="square" lIns="0" tIns="0" rIns="0" bIns="0" rtlCol="0" anchor="t"/>
          <a:lstStyle/>
          <a:p>
            <a:pPr algn="l" indent="0" marL="0">
              <a:lnSpc>
                <a:spcPts val="1440"/>
              </a:lnSpc>
              <a:buNone/>
            </a:pPr>
            <a:r>
              <a:rPr lang="en-US" sz="1200" b="1" spc="150" kern="0" dirty="0">
                <a:solidFill>
                  <a:srgbClr val="0A7468"/>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812800" y="1250950"/>
            <a:ext cx="10777728" cy="934641"/>
          </a:xfrm>
          <a:prstGeom prst="rect">
            <a:avLst/>
          </a:prstGeom>
          <a:noFill/>
          <a:ln/>
        </p:spPr>
        <p:txBody>
          <a:bodyPr wrap="square" lIns="0" tIns="0" rIns="0" bIns="0" rtlCol="0" anchor="t"/>
          <a:lstStyle/>
          <a:p>
            <a:pPr algn="l" indent="0" marL="0">
              <a:lnSpc>
                <a:spcPts val="3680"/>
              </a:lnSpc>
              <a:buNone/>
            </a:pPr>
            <a:r>
              <a:rPr lang="en-US" sz="3200" dirty="0">
                <a:solidFill>
                  <a:srgbClr val="13233F"/>
                </a:solidFill>
                <a:latin typeface="Cambria" pitchFamily="34" charset="0"/>
                <a:ea typeface="Cambria" pitchFamily="34" charset="-122"/>
                <a:cs typeface="Cambria" pitchFamily="34" charset="-120"/>
              </a:rPr>
              <a:t>An agent that converts money can leak a little on every trade, and nothing checks it.</a:t>
            </a:r>
            <a:endParaRPr lang="en-US" sz="3200" dirty="0"/>
          </a:p>
        </p:txBody>
      </p:sp>
      <p:sp>
        <p:nvSpPr>
          <p:cNvPr id="4" name="Shape 2"/>
          <p:cNvSpPr/>
          <p:nvPr/>
        </p:nvSpPr>
        <p:spPr>
          <a:xfrm>
            <a:off x="812800" y="2439591"/>
            <a:ext cx="3386634" cy="2155825"/>
          </a:xfrm>
          <a:prstGeom prst="roundRect">
            <a:avLst>
              <a:gd name="adj" fmla="val 2356"/>
            </a:avLst>
          </a:prstGeom>
          <a:solidFill>
            <a:srgbClr val="FBFCFC"/>
          </a:solidFill>
          <a:ln w="6350">
            <a:solidFill>
              <a:srgbClr val="D6DEE1"/>
            </a:solidFill>
            <a:prstDash val="solid"/>
          </a:ln>
        </p:spPr>
      </p:sp>
      <p:sp>
        <p:nvSpPr>
          <p:cNvPr id="5" name="Text 3"/>
          <p:cNvSpPr txBox="1"/>
          <p:nvPr/>
        </p:nvSpPr>
        <p:spPr>
          <a:xfrm>
            <a:off x="1073150" y="2699941"/>
            <a:ext cx="2923252" cy="304800"/>
          </a:xfrm>
          <a:prstGeom prst="rect">
            <a:avLst/>
          </a:prstGeom>
          <a:noFill/>
          <a:ln/>
        </p:spPr>
        <p:txBody>
          <a:bodyPr wrap="square" lIns="0" tIns="0" rIns="0" bIns="0" rtlCol="0" anchor="t"/>
          <a:lstStyle/>
          <a:p>
            <a:pPr algn="l" indent="0" marL="0">
              <a:lnSpc>
                <a:spcPts val="2400"/>
              </a:lnSpc>
              <a:buNone/>
            </a:pPr>
            <a:r>
              <a:rPr lang="en-US" sz="2000" dirty="0">
                <a:solidFill>
                  <a:srgbClr val="13233F"/>
                </a:solidFill>
                <a:latin typeface="Cambria" pitchFamily="34" charset="0"/>
                <a:ea typeface="Cambria" pitchFamily="34" charset="-122"/>
                <a:cs typeface="Cambria" pitchFamily="34" charset="-120"/>
              </a:rPr>
              <a:t>A floor, not a proof</a:t>
            </a:r>
            <a:endParaRPr lang="en-US" sz="2000" dirty="0"/>
          </a:p>
        </p:txBody>
      </p:sp>
      <p:sp>
        <p:nvSpPr>
          <p:cNvPr id="6" name="Text 4"/>
          <p:cNvSpPr txBox="1"/>
          <p:nvPr/>
        </p:nvSpPr>
        <p:spPr>
          <a:xfrm>
            <a:off x="1073150" y="3093641"/>
            <a:ext cx="2923252" cy="771525"/>
          </a:xfrm>
          <a:prstGeom prst="rect">
            <a:avLst/>
          </a:prstGeom>
          <a:noFill/>
          <a:ln/>
        </p:spPr>
        <p:txBody>
          <a:bodyPr wrap="square" lIns="0" tIns="0" rIns="0" bIns="0" rtlCol="0" anchor="t"/>
          <a:lstStyle/>
          <a:p>
            <a:pPr algn="l" indent="0" marL="0">
              <a:lnSpc>
                <a:spcPts val="2030"/>
              </a:lnSpc>
              <a:buNone/>
            </a:pPr>
            <a:r>
              <a:rPr lang="en-US" sz="1500" dirty="0">
                <a:solidFill>
                  <a:srgbClr val="13233F"/>
                </a:solidFill>
                <a:latin typeface="Calibri" pitchFamily="34" charset="0"/>
                <a:ea typeface="Calibri" pitchFamily="34" charset="-122"/>
                <a:cs typeface="Calibri" pitchFamily="34" charset="-120"/>
              </a:rPr>
              <a:t>Wallets and intents accept any route above a slippage limit. The agent keeps the difference.</a:t>
            </a:r>
            <a:endParaRPr lang="en-US" sz="1500" dirty="0"/>
          </a:p>
        </p:txBody>
      </p:sp>
      <p:sp>
        <p:nvSpPr>
          <p:cNvPr id="7" name="Text 5"/>
          <p:cNvSpPr txBox="1"/>
          <p:nvPr/>
        </p:nvSpPr>
        <p:spPr>
          <a:xfrm>
            <a:off x="1073150" y="3966766"/>
            <a:ext cx="2923252" cy="36830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Routes that clear a 1% floor still give up a median 14–32 bps (1,000 markets).</a:t>
            </a:r>
            <a:endParaRPr lang="en-US" sz="1200" dirty="0"/>
          </a:p>
        </p:txBody>
      </p:sp>
      <p:sp>
        <p:nvSpPr>
          <p:cNvPr id="8" name="Shape 6"/>
          <p:cNvSpPr/>
          <p:nvPr/>
        </p:nvSpPr>
        <p:spPr>
          <a:xfrm>
            <a:off x="4402634" y="2439591"/>
            <a:ext cx="3386634" cy="2155825"/>
          </a:xfrm>
          <a:prstGeom prst="roundRect">
            <a:avLst>
              <a:gd name="adj" fmla="val 2356"/>
            </a:avLst>
          </a:prstGeom>
          <a:solidFill>
            <a:srgbClr val="FBFCFC"/>
          </a:solidFill>
          <a:ln w="6350">
            <a:solidFill>
              <a:srgbClr val="D6DEE1"/>
            </a:solidFill>
            <a:prstDash val="solid"/>
          </a:ln>
        </p:spPr>
      </p:sp>
      <p:sp>
        <p:nvSpPr>
          <p:cNvPr id="9" name="Text 7"/>
          <p:cNvSpPr txBox="1"/>
          <p:nvPr/>
        </p:nvSpPr>
        <p:spPr>
          <a:xfrm>
            <a:off x="4662984" y="2699941"/>
            <a:ext cx="2923252" cy="304800"/>
          </a:xfrm>
          <a:prstGeom prst="rect">
            <a:avLst/>
          </a:prstGeom>
          <a:noFill/>
          <a:ln/>
        </p:spPr>
        <p:txBody>
          <a:bodyPr wrap="square" lIns="0" tIns="0" rIns="0" bIns="0" rtlCol="0" anchor="t"/>
          <a:lstStyle/>
          <a:p>
            <a:pPr algn="l" indent="0" marL="0">
              <a:lnSpc>
                <a:spcPts val="2400"/>
              </a:lnSpc>
              <a:buNone/>
            </a:pPr>
            <a:r>
              <a:rPr lang="en-US" sz="2000" dirty="0">
                <a:solidFill>
                  <a:srgbClr val="13233F"/>
                </a:solidFill>
                <a:latin typeface="Cambria" pitchFamily="34" charset="0"/>
                <a:ea typeface="Cambria" pitchFamily="34" charset="-122"/>
                <a:cs typeface="Cambria" pitchFamily="34" charset="-120"/>
              </a:rPr>
              <a:t>Checked afterwards</a:t>
            </a:r>
            <a:endParaRPr lang="en-US" sz="2000" dirty="0"/>
          </a:p>
        </p:txBody>
      </p:sp>
      <p:sp>
        <p:nvSpPr>
          <p:cNvPr id="10" name="Text 8"/>
          <p:cNvSpPr txBox="1"/>
          <p:nvPr/>
        </p:nvSpPr>
        <p:spPr>
          <a:xfrm>
            <a:off x="4662984" y="3093641"/>
            <a:ext cx="2923252" cy="771525"/>
          </a:xfrm>
          <a:prstGeom prst="rect">
            <a:avLst/>
          </a:prstGeom>
          <a:noFill/>
          <a:ln/>
        </p:spPr>
        <p:txBody>
          <a:bodyPr wrap="square" lIns="0" tIns="0" rIns="0" bIns="0" rtlCol="0" anchor="t"/>
          <a:lstStyle/>
          <a:p>
            <a:pPr algn="l" indent="0" marL="0">
              <a:lnSpc>
                <a:spcPts val="2030"/>
              </a:lnSpc>
              <a:buNone/>
            </a:pPr>
            <a:r>
              <a:rPr lang="en-US" sz="1500" dirty="0">
                <a:solidFill>
                  <a:srgbClr val="13233F"/>
                </a:solidFill>
                <a:latin typeface="Calibri" pitchFamily="34" charset="0"/>
                <a:ea typeface="Calibri" pitchFamily="34" charset="-122"/>
                <a:cs typeface="Calibri" pitchFamily="34" charset="-120"/>
              </a:rPr>
              <a:t>Solver auctions compare fills with baseline pools after settlement and punish by vote.</a:t>
            </a:r>
            <a:endParaRPr lang="en-US" sz="1500" dirty="0"/>
          </a:p>
        </p:txBody>
      </p:sp>
      <p:sp>
        <p:nvSpPr>
          <p:cNvPr id="11" name="Text 9"/>
          <p:cNvSpPr txBox="1"/>
          <p:nvPr/>
        </p:nvSpPr>
        <p:spPr>
          <a:xfrm>
            <a:off x="4662984" y="3966766"/>
            <a:ext cx="2923252" cy="36830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CoW's best-price rule is “not enforced by the smart contract”.</a:t>
            </a:r>
            <a:endParaRPr lang="en-US" sz="1200" dirty="0"/>
          </a:p>
        </p:txBody>
      </p:sp>
      <p:sp>
        <p:nvSpPr>
          <p:cNvPr id="12" name="Shape 10"/>
          <p:cNvSpPr/>
          <p:nvPr/>
        </p:nvSpPr>
        <p:spPr>
          <a:xfrm>
            <a:off x="7992467" y="2439591"/>
            <a:ext cx="3386634" cy="2155825"/>
          </a:xfrm>
          <a:prstGeom prst="roundRect">
            <a:avLst>
              <a:gd name="adj" fmla="val 2356"/>
            </a:avLst>
          </a:prstGeom>
          <a:solidFill>
            <a:srgbClr val="FBFCFC"/>
          </a:solidFill>
          <a:ln w="6350">
            <a:solidFill>
              <a:srgbClr val="D6DEE1"/>
            </a:solidFill>
            <a:prstDash val="solid"/>
          </a:ln>
        </p:spPr>
      </p:sp>
      <p:sp>
        <p:nvSpPr>
          <p:cNvPr id="13" name="Text 11"/>
          <p:cNvSpPr txBox="1"/>
          <p:nvPr/>
        </p:nvSpPr>
        <p:spPr>
          <a:xfrm>
            <a:off x="8252817" y="2699941"/>
            <a:ext cx="2923252" cy="304800"/>
          </a:xfrm>
          <a:prstGeom prst="rect">
            <a:avLst/>
          </a:prstGeom>
          <a:noFill/>
          <a:ln/>
        </p:spPr>
        <p:txBody>
          <a:bodyPr wrap="square" lIns="0" tIns="0" rIns="0" bIns="0" rtlCol="0" anchor="t"/>
          <a:lstStyle/>
          <a:p>
            <a:pPr algn="l" indent="0" marL="0">
              <a:lnSpc>
                <a:spcPts val="2400"/>
              </a:lnSpc>
              <a:buNone/>
            </a:pPr>
            <a:r>
              <a:rPr lang="en-US" sz="2000" dirty="0">
                <a:solidFill>
                  <a:srgbClr val="13233F"/>
                </a:solidFill>
                <a:latin typeface="Cambria" pitchFamily="34" charset="0"/>
                <a:ea typeface="Cambria" pitchFamily="34" charset="-122"/>
                <a:cs typeface="Cambria" pitchFamily="34" charset="-120"/>
              </a:rPr>
              <a:t>Unseen discretion</a:t>
            </a:r>
            <a:endParaRPr lang="en-US" sz="2000" dirty="0"/>
          </a:p>
        </p:txBody>
      </p:sp>
      <p:sp>
        <p:nvSpPr>
          <p:cNvPr id="14" name="Text 12"/>
          <p:cNvSpPr txBox="1"/>
          <p:nvPr/>
        </p:nvSpPr>
        <p:spPr>
          <a:xfrm>
            <a:off x="8252817" y="3093641"/>
            <a:ext cx="2923252" cy="1028700"/>
          </a:xfrm>
          <a:prstGeom prst="rect">
            <a:avLst/>
          </a:prstGeom>
          <a:noFill/>
          <a:ln/>
        </p:spPr>
        <p:txBody>
          <a:bodyPr wrap="square" lIns="0" tIns="0" rIns="0" bIns="0" rtlCol="0" anchor="t"/>
          <a:lstStyle/>
          <a:p>
            <a:pPr algn="l" indent="0" marL="0">
              <a:lnSpc>
                <a:spcPts val="2030"/>
              </a:lnSpc>
              <a:buNone/>
            </a:pPr>
            <a:r>
              <a:rPr lang="en-US" sz="1500" dirty="0">
                <a:solidFill>
                  <a:srgbClr val="13233F"/>
                </a:solidFill>
                <a:latin typeface="Calibri" pitchFamily="34" charset="0"/>
                <a:ea typeface="Calibri" pitchFamily="34" charset="-122"/>
                <a:cs typeface="Calibri" pitchFamily="34" charset="-120"/>
              </a:rPr>
              <a:t>Whether, when and how much to convert is the agent's call. Today a human approves each trade, or nobody does.</a:t>
            </a:r>
            <a:endParaRPr lang="en-US" sz="1500" dirty="0"/>
          </a:p>
        </p:txBody>
      </p:sp>
      <p:sp>
        <p:nvSpPr>
          <p:cNvPr id="15" name="Text 13"/>
          <p:cNvSpPr txBox="1"/>
          <p:nvPr/>
        </p:nvSpPr>
        <p:spPr>
          <a:xfrm>
            <a:off x="812800" y="4849416"/>
            <a:ext cx="10777728" cy="257175"/>
          </a:xfrm>
          <a:prstGeom prst="rect">
            <a:avLst/>
          </a:prstGeom>
          <a:noFill/>
          <a:ln/>
        </p:spPr>
        <p:txBody>
          <a:bodyPr wrap="square" lIns="0" tIns="0" rIns="0" bIns="0" rtlCol="0" anchor="t"/>
          <a:lstStyle/>
          <a:p>
            <a:pPr algn="l" indent="0" marL="0">
              <a:lnSpc>
                <a:spcPts val="2030"/>
              </a:lnSpc>
              <a:buNone/>
            </a:pPr>
            <a:r>
              <a:rPr lang="en-US" sz="1500" dirty="0">
                <a:solidFill>
                  <a:srgbClr val="13233F"/>
                </a:solidFill>
                <a:latin typeface="Calibri" pitchFamily="34" charset="0"/>
                <a:ea typeface="Calibri" pitchFamily="34" charset="-122"/>
                <a:cs typeface="Calibri" pitchFamily="34" charset="-120"/>
              </a:rPr>
              <a:t>Brokers owe clients </a:t>
            </a:r>
            <a:pPr algn="l" indent="0" marL="0">
              <a:lnSpc>
                <a:spcPts val="2030"/>
              </a:lnSpc>
              <a:buNone/>
            </a:pPr>
            <a:r>
              <a:rPr lang="en-US" sz="1500" b="1" dirty="0">
                <a:solidFill>
                  <a:srgbClr val="13233F"/>
                </a:solidFill>
                <a:latin typeface="Calibri" pitchFamily="34" charset="0"/>
                <a:ea typeface="Calibri" pitchFamily="34" charset="-122"/>
                <a:cs typeface="Calibri" pitchFamily="34" charset="-120"/>
              </a:rPr>
              <a:t>best execution</a:t>
            </a:r>
            <a:pPr algn="l" indent="0" marL="0">
              <a:lnSpc>
                <a:spcPts val="2030"/>
              </a:lnSpc>
              <a:buNone/>
            </a:pPr>
            <a:r>
              <a:rPr lang="en-US" sz="1500" dirty="0">
                <a:solidFill>
                  <a:srgbClr val="13233F"/>
                </a:solidFill>
                <a:latin typeface="Calibri" pitchFamily="34" charset="0"/>
                <a:ea typeface="Calibri" pitchFamily="34" charset="-122"/>
                <a:cs typeface="Calibri" pitchFamily="34" charset="-120"/>
              </a:rPr>
              <a:t> by law (MiFID II art. 27, FINRA 5310). An AI agent owes it to no one.</a:t>
            </a:r>
            <a:endParaRPr lang="en-US" sz="1500" dirty="0"/>
          </a:p>
        </p:txBody>
      </p:sp>
      <p:sp>
        <p:nvSpPr>
          <p:cNvPr id="16" name="Text 14"/>
          <p:cNvSpPr txBox="1"/>
          <p:nvPr/>
        </p:nvSpPr>
        <p:spPr>
          <a:xfrm>
            <a:off x="812800" y="6267450"/>
            <a:ext cx="7772400" cy="184150"/>
          </a:xfrm>
          <a:prstGeom prst="rect">
            <a:avLst/>
          </a:prstGeom>
          <a:noFill/>
          <a:ln/>
        </p:spPr>
        <p:txBody>
          <a:bodyPr wrap="square" lIns="0" tIns="0" rIns="0" bIns="0" rtlCol="0" anchor="t"/>
          <a:lstStyle/>
          <a:p>
            <a:pPr algn="l" indent="0" marL="0">
              <a:lnSpc>
                <a:spcPts val="1440"/>
              </a:lnSpc>
              <a:buNone/>
            </a:pPr>
            <a:r>
              <a:rPr lang="en-US" sz="1200" dirty="0">
                <a:solidFill>
                  <a:srgbClr val="4E6074"/>
                </a:solidFill>
                <a:latin typeface="Calibri" pitchFamily="34" charset="0"/>
                <a:ea typeface="Calibri" pitchFamily="34" charset="-122"/>
                <a:cs typeface="Calibri" pitchFamily="34" charset="-120"/>
              </a:rPr>
              <a:t>QED · proof-carrying autonomy for AI wallets</a:t>
            </a:r>
            <a:endParaRPr lang="en-US" sz="1200" dirty="0"/>
          </a:p>
        </p:txBody>
      </p:sp>
      <p:sp>
        <p:nvSpPr>
          <p:cNvPr id="17" name="Text 15"/>
          <p:cNvSpPr txBox="1"/>
          <p:nvPr/>
        </p:nvSpPr>
        <p:spPr>
          <a:xfrm>
            <a:off x="10058400" y="6267450"/>
            <a:ext cx="1320800" cy="184150"/>
          </a:xfrm>
          <a:prstGeom prst="rect">
            <a:avLst/>
          </a:prstGeom>
          <a:noFill/>
          <a:ln/>
        </p:spPr>
        <p:txBody>
          <a:bodyPr wrap="square" lIns="0" tIns="0" rIns="0" bIns="0" rtlCol="0" anchor="t"/>
          <a:lstStyle/>
          <a:p>
            <a:pPr algn="r" indent="0" marL="0">
              <a:lnSpc>
                <a:spcPts val="1440"/>
              </a:lnSpc>
              <a:buNone/>
            </a:pPr>
            <a:r>
              <a:rPr lang="en-US" sz="1200" dirty="0">
                <a:solidFill>
                  <a:srgbClr val="4E6074"/>
                </a:solidFill>
                <a:latin typeface="Calibri" pitchFamily="34" charset="0"/>
                <a:ea typeface="Calibri" pitchFamily="34" charset="-122"/>
                <a:cs typeface="Calibri" pitchFamily="34" charset="-120"/>
              </a:rPr>
              <a:t>Appendix A17</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QED — Technical Appendix</dc:title>
  <dc:subject>FinTechathon 2026 · Topic F · QED</dc:subject>
  <dc:creator>QED team</dc:creator>
  <cp:lastModifiedBy>QED team</cp:lastModifiedBy>
  <cp:revision>1</cp:revision>
  <dcterms:created xsi:type="dcterms:W3CDTF">2026-10-20T14:27:31Z</dcterms:created>
  <dcterms:modified xsi:type="dcterms:W3CDTF">2026-10-20T14:27:31Z</dcterms:modified>
</cp:coreProperties>
</file>