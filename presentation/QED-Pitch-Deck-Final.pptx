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idea" id="{185f623c-5f27-6fba-f94f-c2a48046bf61}">
          <p14:sldIdLst>
            <p14:sldId id="256"/>
            <p14:sldId id="257"/>
            <p14:sldId id="258"/>
            <p14:sldId id="259"/>
          </p14:sldIdLst>
        </p14:section>
        <p14:section name="Proof, product and autonomy" id="{29beb575-2360-b688-2b65-6a04dc19e37f}">
          <p14:sldIdLst>
            <p14:sldId id="260"/>
            <p14:sldId id="261"/>
            <p14:sldId id="262"/>
            <p14:sldId id="263"/>
          </p14:sldIdLst>
        </p14:section>
        <p14:section name="Why it matters and team" id="{3bfbd60a-d9ab-74c7-1f35-afd67e356489}">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Apurv, and with Lakshya from St. Xavier's College, Mumbai, we built QED. AI agents are starting to hold money: they pay suppliers, top up reserves and convert currencies, often with nobody watching each transaction. So our question is simple: when an AI moves money, who makes sure it acted correctly? QED is an AI treasury in which every payment and every trade carries a proof, and the blockchain checks that proof before any money moves. In one line: AI can decide. QED makes it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An AI treasury holds dollars and has to pay a euro invoice, so it converts. Did it get a good price? Today, nothing checks. First, a minimum is not the best: wallets only enforce a slippage floor, so a route 33 basis points worse than the best still passes a one percent floor. Across a thousand test markets, routes that clear the floor still give up a median of 14 to 32 basis points. Second, quality is checked too late, after the money has moved. Third, the agent decides when and how much, and nobody re-checks it. Brokers owe their clients best execution by law. An AI agent owes it to no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don't trust the agent's decision; make the chain verify its quality. In QED, the AI proposes: it reads the instruction and plans the trade, but it holds no key that can pay alone. An independent co-signer, a separate process with its own key, re-derives the decision from the chain and signs only what the owner allowed. Then the smart contract verifies everything: the owner's signed limits, the protected funds, and a mathematical proof of quality. If any check fails, the transaction reverts and nothing moves. So the AI can be wrong, manipulated, even stolen, and the money still only moves with a valid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part is that quality proof: certified best execution. The owner approves a set of trading venues. From their live reserves, QED computes B, the most that any route through them could possibly return. The agent proves its trade with one price per token, and here is the key: any prices give a valid upper bound, so a cheating agent cannot fake a flattering one. The contract recomputes B inside the trade, rounding against the agent, and accepts only if the output is within one part per million of B. A worse route doesn't settle. It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not a simulation. This is transaction E1 on Ethereum Sepolia, a public test network. Twenty test dollars in, 18.086846 test euros out. The chain's own bound, computed in that same transaction: 18.086849. A gap of 0.17 parts per million. The agent split the trade across venues, including a two-hop path, because that is what the optimum needed; the contract only cared that no route could have done meaningfully better. All 196 of our transactions can be re-verified by anyone with one command and no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try it yourself; the link is on the last slide. This is the QED app. You type an instruction, like convert 12.5 dollars to euros for the invoices. The AI interprets it and proposes, and shows which of the owner's limits it checked; it cannot sign. You confirm as the owner. The co-signer re-derives and signs, the contract checks the proof, and on the right you watch every step: the real transaction, the bound, and the balances reconciled. Ask for 80 dollars and it's refused before anything is signed, because the limit is 25. It runs the real contracts on a test chain, so you need no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owner chose the amount. Here the agent decides. The owner signs one policy: keep at least 45 euros free in the reserve, in tranches of 2 to 25 dollars, at no more than 150 basis points of cost. On tick one the reserve is 24 euros short; the agent converts 19.5 dollars, limited by what the market can absorb. On tick two it converts 8.8, exactly what is still needed. On tick three the target is met, and it stops. On Sepolia the policy then became a contract that refused over-conversion even with both hot keys stolen.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attacked it ourselves, on the public chain. Three examples. A compromised agent takes a route 33 basis points worse: it clears a slippage floor, but the bound catches it and it reverts. With both hot keys stolen, the attacker tries to pay itself: the vault refuses, because the owner never approved that payee. And it tries to convert more than the policy needs: the policy contract refuses. In total: 48 attacks, 48 reverts, zero test dollars to the attacker. Six of them run live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needs this? Autonomous treasuries: businesses, DAOs and AI services that can delegate conversions without trusting the agent's routing. Regulated firms: a best-execution record anyone can recompute. And agent-to-agent services, where a provider is paid on a proof instead of being monitored afterwards. Our business model is a hypothesis: a verification layer, charged per certified trade or licensed to custodians and agent platforms. To be clear: we have no users or revenue yet, it is unaudited, and it runs on test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new? Every ingredient is known, and we cite them. Aggregators enforce a minimum output; CoW Protocol checks fills after settlement; research certifies routers off-chain. What we did not find is a system that makes the optimality of the executed route a condition of the trade itself, checked in the same transaction, inside an agent's spending limits. And we scope it honestly: the guarantee covers the owner's approved venues, not all of DeFi.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two students from St. Xavier's College, Mumbai, and everything you have seen is built and public: 24 verified contracts, 196 real transactions, and 205 tests passing. What we are looking for next: a treasury team or agent platform to pilot with, an independent security audit, and partners to extend the proof to more kinds of venues.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will hold the money. The only question is whether they must prove they acted correctly before it moves, or we find out afterwards. QED makes it a precondition. AI can decide. QED makes it prove. The live app, the proof ledger and the code are at these three links.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FINTECHATHON 2026 · INTERNATIONAL TRACK · TOPIC F</a:t>
            </a:r>
            <a:endParaRPr lang="en-US" sz="1200" dirty="0"/>
          </a:p>
        </p:txBody>
      </p:sp>
      <p:sp>
        <p:nvSpPr>
          <p:cNvPr id="3" name="Text 1"/>
          <p:cNvSpPr txBox="1"/>
          <p:nvPr/>
        </p:nvSpPr>
        <p:spPr>
          <a:xfrm>
            <a:off x="812800" y="1276350"/>
            <a:ext cx="10777728" cy="1426369"/>
          </a:xfrm>
          <a:prstGeom prst="rect">
            <a:avLst/>
          </a:prstGeom>
          <a:noFill/>
          <a:ln/>
        </p:spPr>
        <p:txBody>
          <a:bodyPr wrap="square" lIns="0" tIns="0" rIns="0" bIns="0" rtlCol="0" anchor="t"/>
          <a:lstStyle/>
          <a:p>
            <a:pPr algn="l" indent="0" marL="0">
              <a:lnSpc>
                <a:spcPts val="5620"/>
              </a:lnSpc>
              <a:buNone/>
            </a:pPr>
            <a:r>
              <a:rPr lang="en-US" sz="5200" dirty="0">
                <a:solidFill>
                  <a:srgbClr val="E4ECF1"/>
                </a:solidFill>
                <a:latin typeface="Cambria" pitchFamily="34" charset="0"/>
                <a:ea typeface="Cambria" pitchFamily="34" charset="-122"/>
                <a:cs typeface="Cambria" pitchFamily="34" charset="-120"/>
              </a:rPr>
              <a:t>AI is beginning to control money. Who makes sure it acts correctly?</a:t>
            </a:r>
            <a:endParaRPr lang="en-US" sz="5200" dirty="0"/>
          </a:p>
        </p:txBody>
      </p:sp>
      <p:sp>
        <p:nvSpPr>
          <p:cNvPr id="4" name="Text 2"/>
          <p:cNvSpPr txBox="1"/>
          <p:nvPr/>
        </p:nvSpPr>
        <p:spPr>
          <a:xfrm>
            <a:off x="812800" y="2982119"/>
            <a:ext cx="9391650" cy="639961"/>
          </a:xfrm>
          <a:prstGeom prst="rect">
            <a:avLst/>
          </a:prstGeom>
          <a:noFill/>
          <a:ln/>
        </p:spPr>
        <p:txBody>
          <a:bodyPr wrap="square" lIns="0" tIns="0" rIns="0" bIns="0" rtlCol="0" anchor="t"/>
          <a:lstStyle/>
          <a:p>
            <a:pPr algn="l" indent="0" marL="0">
              <a:lnSpc>
                <a:spcPts val="2520"/>
              </a:lnSpc>
              <a:buNone/>
            </a:pPr>
            <a:r>
              <a:rPr lang="en-US" sz="1800" dirty="0">
                <a:solidFill>
                  <a:srgbClr val="A9BACB"/>
                </a:solidFill>
                <a:latin typeface="Calibri" pitchFamily="34" charset="0"/>
                <a:ea typeface="Calibri" pitchFamily="34" charset="-122"/>
                <a:cs typeface="Calibri" pitchFamily="34" charset="-120"/>
              </a:rPr>
              <a:t>QED is an AI treasury in which every payment and every trade carries a proof that the blockchain checks before any money moves.</a:t>
            </a:r>
            <a:endParaRPr lang="en-US" sz="1800" dirty="0"/>
          </a:p>
        </p:txBody>
      </p:sp>
      <p:sp>
        <p:nvSpPr>
          <p:cNvPr id="5" name="Shape 3"/>
          <p:cNvSpPr/>
          <p:nvPr/>
        </p:nvSpPr>
        <p:spPr>
          <a:xfrm>
            <a:off x="812800" y="5311775"/>
            <a:ext cx="10566400" cy="0"/>
          </a:xfrm>
          <a:prstGeom prst="line">
            <a:avLst/>
          </a:prstGeom>
          <a:noFill/>
          <a:ln w="6350">
            <a:solidFill>
              <a:srgbClr val="2E4A72"/>
            </a:solidFill>
            <a:prstDash val="solid"/>
          </a:ln>
        </p:spPr>
      </p:sp>
      <p:sp>
        <p:nvSpPr>
          <p:cNvPr id="6" name="Text 4"/>
          <p:cNvSpPr txBox="1"/>
          <p:nvPr/>
        </p:nvSpPr>
        <p:spPr>
          <a:xfrm>
            <a:off x="812800" y="5518150"/>
            <a:ext cx="857349" cy="548640"/>
          </a:xfrm>
          <a:prstGeom prst="rect">
            <a:avLst/>
          </a:prstGeom>
          <a:noFill/>
          <a:ln/>
        </p:spPr>
        <p:txBody>
          <a:bodyPr wrap="square" lIns="0" tIns="0" rIns="0" bIns="0" rtlCol="0" anchor="t"/>
          <a:lstStyle/>
          <a:p>
            <a:pPr algn="l" indent="0" marL="0">
              <a:lnSpc>
                <a:spcPts val="4320"/>
              </a:lnSpc>
              <a:buNone/>
            </a:pPr>
            <a:r>
              <a:rPr lang="en-US" sz="3600" dirty="0">
                <a:solidFill>
                  <a:srgbClr val="E4ECF1"/>
                </a:solidFill>
                <a:latin typeface="Cambria" pitchFamily="34" charset="0"/>
                <a:ea typeface="Cambria" pitchFamily="34" charset="-122"/>
                <a:cs typeface="Cambria" pitchFamily="34" charset="-120"/>
              </a:rPr>
              <a:t>QED</a:t>
            </a:r>
            <a:endParaRPr lang="en-US" sz="3600" dirty="0"/>
          </a:p>
        </p:txBody>
      </p:sp>
      <p:sp>
        <p:nvSpPr>
          <p:cNvPr id="7" name="Shape 5"/>
          <p:cNvSpPr/>
          <p:nvPr/>
        </p:nvSpPr>
        <p:spPr>
          <a:xfrm>
            <a:off x="1746349" y="5692775"/>
            <a:ext cx="177800" cy="177800"/>
          </a:xfrm>
          <a:prstGeom prst="rect">
            <a:avLst/>
          </a:prstGeom>
          <a:solidFill>
            <a:srgbClr val="46C4B0"/>
          </a:solidFill>
          <a:ln/>
        </p:spPr>
      </p:sp>
      <p:sp>
        <p:nvSpPr>
          <p:cNvPr id="8" name="Text 6"/>
          <p:cNvSpPr txBox="1"/>
          <p:nvPr/>
        </p:nvSpPr>
        <p:spPr>
          <a:xfrm>
            <a:off x="2228949" y="5680075"/>
            <a:ext cx="4427839" cy="203200"/>
          </a:xfrm>
          <a:prstGeom prst="rect">
            <a:avLst/>
          </a:prstGeom>
          <a:noFill/>
          <a:ln/>
        </p:spPr>
        <p:txBody>
          <a:bodyPr wrap="square" lIns="0" tIns="0" rIns="0" bIns="0" rtlCol="0" anchor="t"/>
          <a:lstStyle/>
          <a:p>
            <a:pPr algn="l" indent="0" marL="0">
              <a:lnSpc>
                <a:spcPts val="1560"/>
              </a:lnSpc>
              <a:buNone/>
            </a:pPr>
            <a:r>
              <a:rPr lang="en-US" sz="1300" dirty="0">
                <a:solidFill>
                  <a:srgbClr val="A9BACB"/>
                </a:solidFill>
                <a:latin typeface="Calibri" pitchFamily="34" charset="0"/>
                <a:ea typeface="Calibri" pitchFamily="34" charset="-122"/>
                <a:cs typeface="Calibri" pitchFamily="34" charset="-120"/>
              </a:rPr>
              <a:t>Apurv Chauhan · Lakshya Goswami · St. Xavier's College, Mumbai</a:t>
            </a:r>
            <a:endParaRPr lang="en-US" sz="1300" dirty="0"/>
          </a:p>
        </p:txBody>
      </p:sp>
      <p:sp>
        <p:nvSpPr>
          <p:cNvPr id="9" name="Text 7"/>
          <p:cNvSpPr txBox="1"/>
          <p:nvPr/>
        </p:nvSpPr>
        <p:spPr>
          <a:xfrm>
            <a:off x="8058150" y="5641975"/>
            <a:ext cx="3387471" cy="289560"/>
          </a:xfrm>
          <a:prstGeom prst="rect">
            <a:avLst/>
          </a:prstGeom>
          <a:noFill/>
          <a:ln/>
        </p:spPr>
        <p:txBody>
          <a:bodyPr wrap="square" lIns="0" tIns="0" rIns="0" bIns="0" rtlCol="0" anchor="t"/>
          <a:lstStyle/>
          <a:p>
            <a:pPr algn="l" indent="0" marL="0">
              <a:lnSpc>
                <a:spcPts val="2280"/>
              </a:lnSpc>
              <a:buNone/>
            </a:pPr>
            <a:r>
              <a:rPr lang="en-US" sz="1900" i="1" dirty="0">
                <a:solidFill>
                  <a:srgbClr val="46C4B0"/>
                </a:solidFill>
                <a:latin typeface="Cambria" pitchFamily="34" charset="0"/>
                <a:ea typeface="Cambria" pitchFamily="34" charset="-122"/>
                <a:cs typeface="Cambria" pitchFamily="34" charset="-120"/>
              </a:rPr>
              <a:t>AI can decide. QED makes it prove.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AI can follow every rule and still give you a poor rate.</a:t>
            </a:r>
            <a:endParaRPr lang="en-US" sz="3200" dirty="0"/>
          </a:p>
        </p:txBody>
      </p:sp>
      <p:sp>
        <p:nvSpPr>
          <p:cNvPr id="4" name="Text 2"/>
          <p:cNvSpPr txBox="1"/>
          <p:nvPr/>
        </p:nvSpPr>
        <p:spPr>
          <a:xfrm>
            <a:off x="812800" y="1870670"/>
            <a:ext cx="10777728" cy="266700"/>
          </a:xfrm>
          <a:prstGeom prst="rect">
            <a:avLst/>
          </a:prstGeom>
          <a:noFill/>
          <a:ln/>
        </p:spPr>
        <p:txBody>
          <a:bodyPr wrap="square" lIns="0" tIns="0" rIns="0" bIns="0" rtlCol="0" anchor="t"/>
          <a:lstStyle/>
          <a:p>
            <a:pPr algn="l" indent="0" marL="0">
              <a:lnSpc>
                <a:spcPts val="2100"/>
              </a:lnSpc>
              <a:buNone/>
            </a:pPr>
            <a:r>
              <a:rPr lang="en-US" sz="1500" dirty="0">
                <a:solidFill>
                  <a:srgbClr val="4E6074"/>
                </a:solidFill>
                <a:latin typeface="Calibri" pitchFamily="34" charset="0"/>
                <a:ea typeface="Calibri" pitchFamily="34" charset="-122"/>
                <a:cs typeface="Calibri" pitchFamily="34" charset="-120"/>
              </a:rPr>
              <a:t>An AI treasury holds dollars and must pay a euro invoice. It converts. Did it get a good price? Today, nothing checks.</a:t>
            </a:r>
            <a:endParaRPr lang="en-US" sz="1500" dirty="0"/>
          </a:p>
        </p:txBody>
      </p:sp>
      <p:sp>
        <p:nvSpPr>
          <p:cNvPr id="5" name="Shape 3"/>
          <p:cNvSpPr/>
          <p:nvPr/>
        </p:nvSpPr>
        <p:spPr>
          <a:xfrm>
            <a:off x="812800" y="2340570"/>
            <a:ext cx="3403600" cy="1958280"/>
          </a:xfrm>
          <a:prstGeom prst="roundRect">
            <a:avLst>
              <a:gd name="adj" fmla="val 2594"/>
            </a:avLst>
          </a:prstGeom>
          <a:solidFill>
            <a:srgbClr val="FFFFFF"/>
          </a:solidFill>
          <a:ln w="6350">
            <a:solidFill>
              <a:srgbClr val="D6DEE1"/>
            </a:solidFill>
            <a:prstDash val="solid"/>
          </a:ln>
        </p:spPr>
      </p:sp>
      <p:sp>
        <p:nvSpPr>
          <p:cNvPr id="6" name="Text 4"/>
          <p:cNvSpPr txBox="1"/>
          <p:nvPr/>
        </p:nvSpPr>
        <p:spPr>
          <a:xfrm>
            <a:off x="1022350" y="2550120"/>
            <a:ext cx="3044190" cy="365760"/>
          </a:xfrm>
          <a:prstGeom prst="rect">
            <a:avLst/>
          </a:prstGeom>
          <a:noFill/>
          <a:ln/>
        </p:spPr>
        <p:txBody>
          <a:bodyPr wrap="square" lIns="0" tIns="0" rIns="0" bIns="0" rtlCol="0" anchor="t"/>
          <a:lstStyle/>
          <a:p>
            <a:pPr algn="l" indent="0" marL="0">
              <a:lnSpc>
                <a:spcPts val="2880"/>
              </a:lnSpc>
              <a:buNone/>
            </a:pPr>
            <a:r>
              <a:rPr lang="en-US" sz="2400" dirty="0">
                <a:solidFill>
                  <a:srgbClr val="0A7468"/>
                </a:solidFill>
                <a:latin typeface="Cambria" pitchFamily="34" charset="0"/>
                <a:ea typeface="Cambria" pitchFamily="34" charset="-122"/>
                <a:cs typeface="Cambria" pitchFamily="34" charset="-120"/>
              </a:rPr>
              <a:t>01</a:t>
            </a:r>
            <a:endParaRPr lang="en-US" sz="2400" dirty="0"/>
          </a:p>
        </p:txBody>
      </p:sp>
      <p:sp>
        <p:nvSpPr>
          <p:cNvPr id="7" name="Text 5"/>
          <p:cNvSpPr txBox="1"/>
          <p:nvPr/>
        </p:nvSpPr>
        <p:spPr>
          <a:xfrm>
            <a:off x="1022350" y="2988270"/>
            <a:ext cx="3044190"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 minimum is not the best</a:t>
            </a:r>
            <a:endParaRPr lang="en-US" sz="2000" dirty="0"/>
          </a:p>
        </p:txBody>
      </p:sp>
      <p:sp>
        <p:nvSpPr>
          <p:cNvPr id="8" name="Text 6"/>
          <p:cNvSpPr txBox="1"/>
          <p:nvPr/>
        </p:nvSpPr>
        <p:spPr>
          <a:xfrm>
            <a:off x="1022350" y="3369270"/>
            <a:ext cx="3044190" cy="720030"/>
          </a:xfrm>
          <a:prstGeom prst="rect">
            <a:avLst/>
          </a:prstGeom>
          <a:noFill/>
          <a:ln/>
        </p:spPr>
        <p:txBody>
          <a:bodyPr wrap="square" lIns="0" tIns="0" rIns="0" bIns="0" rtlCol="0" anchor="t"/>
          <a:lstStyle/>
          <a:p>
            <a:pPr algn="l" indent="0" marL="0">
              <a:lnSpc>
                <a:spcPts val="1890"/>
              </a:lnSpc>
              <a:buNone/>
            </a:pPr>
            <a:r>
              <a:rPr lang="en-US" sz="1350" dirty="0">
                <a:solidFill>
                  <a:srgbClr val="4E6074"/>
                </a:solidFill>
                <a:latin typeface="Calibri" pitchFamily="34" charset="0"/>
                <a:ea typeface="Calibri" pitchFamily="34" charset="-122"/>
                <a:cs typeface="Calibri" pitchFamily="34" charset="-120"/>
              </a:rPr>
              <a:t>A slippage floor only says “not worse than X”. A route 33 bps worse than the best still passes a 1% floor.</a:t>
            </a:r>
            <a:endParaRPr lang="en-US" sz="1350" dirty="0"/>
          </a:p>
        </p:txBody>
      </p:sp>
      <p:sp>
        <p:nvSpPr>
          <p:cNvPr id="9" name="Shape 7"/>
          <p:cNvSpPr/>
          <p:nvPr/>
        </p:nvSpPr>
        <p:spPr>
          <a:xfrm>
            <a:off x="4394200" y="2340570"/>
            <a:ext cx="3403600" cy="1958280"/>
          </a:xfrm>
          <a:prstGeom prst="roundRect">
            <a:avLst>
              <a:gd name="adj" fmla="val 2594"/>
            </a:avLst>
          </a:prstGeom>
          <a:solidFill>
            <a:srgbClr val="FFFFFF"/>
          </a:solidFill>
          <a:ln w="6350">
            <a:solidFill>
              <a:srgbClr val="D6DEE1"/>
            </a:solidFill>
            <a:prstDash val="solid"/>
          </a:ln>
        </p:spPr>
      </p:sp>
      <p:sp>
        <p:nvSpPr>
          <p:cNvPr id="10" name="Text 8"/>
          <p:cNvSpPr txBox="1"/>
          <p:nvPr/>
        </p:nvSpPr>
        <p:spPr>
          <a:xfrm>
            <a:off x="4603750" y="2550120"/>
            <a:ext cx="3044190" cy="365760"/>
          </a:xfrm>
          <a:prstGeom prst="rect">
            <a:avLst/>
          </a:prstGeom>
          <a:noFill/>
          <a:ln/>
        </p:spPr>
        <p:txBody>
          <a:bodyPr wrap="square" lIns="0" tIns="0" rIns="0" bIns="0" rtlCol="0" anchor="t"/>
          <a:lstStyle/>
          <a:p>
            <a:pPr algn="l" indent="0" marL="0">
              <a:lnSpc>
                <a:spcPts val="2880"/>
              </a:lnSpc>
              <a:buNone/>
            </a:pPr>
            <a:r>
              <a:rPr lang="en-US" sz="2400" dirty="0">
                <a:solidFill>
                  <a:srgbClr val="0A7468"/>
                </a:solidFill>
                <a:latin typeface="Cambria" pitchFamily="34" charset="0"/>
                <a:ea typeface="Cambria" pitchFamily="34" charset="-122"/>
                <a:cs typeface="Cambria" pitchFamily="34" charset="-120"/>
              </a:rPr>
              <a:t>02</a:t>
            </a:r>
            <a:endParaRPr lang="en-US" sz="2400" dirty="0"/>
          </a:p>
        </p:txBody>
      </p:sp>
      <p:sp>
        <p:nvSpPr>
          <p:cNvPr id="11" name="Text 9"/>
          <p:cNvSpPr txBox="1"/>
          <p:nvPr/>
        </p:nvSpPr>
        <p:spPr>
          <a:xfrm>
            <a:off x="4603750" y="2988270"/>
            <a:ext cx="3044190"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Checked too late</a:t>
            </a:r>
            <a:endParaRPr lang="en-US" sz="2000" dirty="0"/>
          </a:p>
        </p:txBody>
      </p:sp>
      <p:sp>
        <p:nvSpPr>
          <p:cNvPr id="12" name="Text 10"/>
          <p:cNvSpPr txBox="1"/>
          <p:nvPr/>
        </p:nvSpPr>
        <p:spPr>
          <a:xfrm>
            <a:off x="4603750" y="3369270"/>
            <a:ext cx="3044190" cy="720030"/>
          </a:xfrm>
          <a:prstGeom prst="rect">
            <a:avLst/>
          </a:prstGeom>
          <a:noFill/>
          <a:ln/>
        </p:spPr>
        <p:txBody>
          <a:bodyPr wrap="square" lIns="0" tIns="0" rIns="0" bIns="0" rtlCol="0" anchor="t"/>
          <a:lstStyle/>
          <a:p>
            <a:pPr algn="l" indent="0" marL="0">
              <a:lnSpc>
                <a:spcPts val="1890"/>
              </a:lnSpc>
              <a:buNone/>
            </a:pPr>
            <a:r>
              <a:rPr lang="en-US" sz="1350" dirty="0">
                <a:solidFill>
                  <a:srgbClr val="4E6074"/>
                </a:solidFill>
                <a:latin typeface="Calibri" pitchFamily="34" charset="0"/>
                <a:ea typeface="Calibri" pitchFamily="34" charset="-122"/>
                <a:cs typeface="Calibri" pitchFamily="34" charset="-120"/>
              </a:rPr>
              <a:t>Execution quality is reviewed after settlement, when the money has already moved.</a:t>
            </a:r>
            <a:endParaRPr lang="en-US" sz="1350" dirty="0"/>
          </a:p>
        </p:txBody>
      </p:sp>
      <p:sp>
        <p:nvSpPr>
          <p:cNvPr id="13" name="Shape 11"/>
          <p:cNvSpPr/>
          <p:nvPr/>
        </p:nvSpPr>
        <p:spPr>
          <a:xfrm>
            <a:off x="7975600" y="2340570"/>
            <a:ext cx="3403600" cy="1958280"/>
          </a:xfrm>
          <a:prstGeom prst="roundRect">
            <a:avLst>
              <a:gd name="adj" fmla="val 2594"/>
            </a:avLst>
          </a:prstGeom>
          <a:solidFill>
            <a:srgbClr val="FFFFFF"/>
          </a:solidFill>
          <a:ln w="6350">
            <a:solidFill>
              <a:srgbClr val="D6DEE1"/>
            </a:solidFill>
            <a:prstDash val="solid"/>
          </a:ln>
        </p:spPr>
      </p:sp>
      <p:sp>
        <p:nvSpPr>
          <p:cNvPr id="14" name="Text 12"/>
          <p:cNvSpPr txBox="1"/>
          <p:nvPr/>
        </p:nvSpPr>
        <p:spPr>
          <a:xfrm>
            <a:off x="8185150" y="2550120"/>
            <a:ext cx="3044190" cy="365760"/>
          </a:xfrm>
          <a:prstGeom prst="rect">
            <a:avLst/>
          </a:prstGeom>
          <a:noFill/>
          <a:ln/>
        </p:spPr>
        <p:txBody>
          <a:bodyPr wrap="square" lIns="0" tIns="0" rIns="0" bIns="0" rtlCol="0" anchor="t"/>
          <a:lstStyle/>
          <a:p>
            <a:pPr algn="l" indent="0" marL="0">
              <a:lnSpc>
                <a:spcPts val="2880"/>
              </a:lnSpc>
              <a:buNone/>
            </a:pPr>
            <a:r>
              <a:rPr lang="en-US" sz="2400" dirty="0">
                <a:solidFill>
                  <a:srgbClr val="0A7468"/>
                </a:solidFill>
                <a:latin typeface="Cambria" pitchFamily="34" charset="0"/>
                <a:ea typeface="Cambria" pitchFamily="34" charset="-122"/>
                <a:cs typeface="Cambria" pitchFamily="34" charset="-120"/>
              </a:rPr>
              <a:t>03</a:t>
            </a:r>
            <a:endParaRPr lang="en-US" sz="2400" dirty="0"/>
          </a:p>
        </p:txBody>
      </p:sp>
      <p:sp>
        <p:nvSpPr>
          <p:cNvPr id="15" name="Text 13"/>
          <p:cNvSpPr txBox="1"/>
          <p:nvPr/>
        </p:nvSpPr>
        <p:spPr>
          <a:xfrm>
            <a:off x="8185150" y="2988270"/>
            <a:ext cx="3044190"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Unchecked discretion</a:t>
            </a:r>
            <a:endParaRPr lang="en-US" sz="2000" dirty="0"/>
          </a:p>
        </p:txBody>
      </p:sp>
      <p:sp>
        <p:nvSpPr>
          <p:cNvPr id="16" name="Text 14"/>
          <p:cNvSpPr txBox="1"/>
          <p:nvPr/>
        </p:nvSpPr>
        <p:spPr>
          <a:xfrm>
            <a:off x="8185150" y="3369270"/>
            <a:ext cx="3044190" cy="720030"/>
          </a:xfrm>
          <a:prstGeom prst="rect">
            <a:avLst/>
          </a:prstGeom>
          <a:noFill/>
          <a:ln/>
        </p:spPr>
        <p:txBody>
          <a:bodyPr wrap="square" lIns="0" tIns="0" rIns="0" bIns="0" rtlCol="0" anchor="t"/>
          <a:lstStyle/>
          <a:p>
            <a:pPr algn="l" indent="0" marL="0">
              <a:lnSpc>
                <a:spcPts val="1890"/>
              </a:lnSpc>
              <a:buNone/>
            </a:pPr>
            <a:r>
              <a:rPr lang="en-US" sz="1350" dirty="0">
                <a:solidFill>
                  <a:srgbClr val="4E6074"/>
                </a:solidFill>
                <a:latin typeface="Calibri" pitchFamily="34" charset="0"/>
                <a:ea typeface="Calibri" pitchFamily="34" charset="-122"/>
                <a:cs typeface="Calibri" pitchFamily="34" charset="-120"/>
              </a:rPr>
              <a:t>The agent decides when and how much to convert, and nobody re-checks the decision.</a:t>
            </a:r>
            <a:endParaRPr lang="en-US" sz="1350" dirty="0"/>
          </a:p>
        </p:txBody>
      </p:sp>
      <p:sp>
        <p:nvSpPr>
          <p:cNvPr id="17" name="Text 15"/>
          <p:cNvSpPr txBox="1"/>
          <p:nvPr/>
        </p:nvSpPr>
        <p:spPr>
          <a:xfrm>
            <a:off x="812800" y="4502051"/>
            <a:ext cx="10777728" cy="280670"/>
          </a:xfrm>
          <a:prstGeom prst="rect">
            <a:avLst/>
          </a:prstGeom>
          <a:noFill/>
          <a:ln/>
        </p:spPr>
        <p:txBody>
          <a:bodyPr wrap="square" lIns="0" tIns="0" rIns="0" bIns="0" rtlCol="0" anchor="t"/>
          <a:lstStyle/>
          <a:p>
            <a:pPr algn="l" indent="0" marL="0">
              <a:lnSpc>
                <a:spcPts val="2210"/>
              </a:lnSpc>
              <a:buNone/>
            </a:pPr>
            <a:r>
              <a:rPr lang="en-US" sz="1700" dirty="0">
                <a:solidFill>
                  <a:srgbClr val="13233F"/>
                </a:solidFill>
                <a:latin typeface="Cambria" pitchFamily="34" charset="0"/>
                <a:ea typeface="Cambria" pitchFamily="34" charset="-122"/>
                <a:cs typeface="Cambria" pitchFamily="34" charset="-120"/>
              </a:rPr>
              <a:t>Brokers owe clients best execution by law. An AI agent owes it to no one.</a:t>
            </a:r>
            <a:endParaRPr lang="en-US" sz="1700" dirty="0"/>
          </a:p>
        </p:txBody>
      </p:sp>
      <p:sp>
        <p:nvSpPr>
          <p:cNvPr id="18" name="Text 16"/>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Routes that clear a 1% floor still give up a median 14–32 bps (1,000 seeded markets, benchmarks/)</a:t>
            </a:r>
            <a:endParaRPr lang="en-US" sz="1200" dirty="0"/>
          </a:p>
        </p:txBody>
      </p:sp>
      <p:sp>
        <p:nvSpPr>
          <p:cNvPr id="19" name="Text 17"/>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IDEA · PROOF-CARRYING TRANSACTIONS</a:t>
            </a:r>
            <a:endParaRPr lang="en-US" sz="1200" dirty="0"/>
          </a:p>
        </p:txBody>
      </p:sp>
      <p:sp>
        <p:nvSpPr>
          <p:cNvPr id="3" name="Text 1"/>
          <p:cNvSpPr txBox="1"/>
          <p:nvPr/>
        </p:nvSpPr>
        <p:spPr>
          <a:xfrm>
            <a:off x="812800" y="12001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Don't trust the agent's decision. Make the chain verify its quality.</a:t>
            </a:r>
            <a:endParaRPr lang="en-US" sz="3200" dirty="0"/>
          </a:p>
        </p:txBody>
      </p:sp>
      <p:sp>
        <p:nvSpPr>
          <p:cNvPr id="4" name="Shape 2"/>
          <p:cNvSpPr/>
          <p:nvPr/>
        </p:nvSpPr>
        <p:spPr>
          <a:xfrm>
            <a:off x="812800" y="2439591"/>
            <a:ext cx="2212777" cy="2507952"/>
          </a:xfrm>
          <a:prstGeom prst="roundRect">
            <a:avLst>
              <a:gd name="adj" fmla="val 2296"/>
            </a:avLst>
          </a:prstGeom>
          <a:solidFill>
            <a:srgbClr val="FFFFFF"/>
          </a:solidFill>
          <a:ln w="6350">
            <a:solidFill>
              <a:srgbClr val="D6DEE1"/>
            </a:solidFill>
            <a:prstDash val="solid"/>
          </a:ln>
        </p:spPr>
      </p:sp>
      <p:sp>
        <p:nvSpPr>
          <p:cNvPr id="5" name="Text 3"/>
          <p:cNvSpPr txBox="1"/>
          <p:nvPr/>
        </p:nvSpPr>
        <p:spPr>
          <a:xfrm>
            <a:off x="1022350" y="264914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7B8A99"/>
                </a:solidFill>
                <a:latin typeface="Calibri" pitchFamily="34" charset="0"/>
                <a:ea typeface="Calibri" pitchFamily="34" charset="-122"/>
                <a:cs typeface="Calibri" pitchFamily="34" charset="-120"/>
              </a:rPr>
              <a:t>1 · PROPOSES</a:t>
            </a:r>
            <a:endParaRPr lang="en-US" sz="1100" dirty="0"/>
          </a:p>
        </p:txBody>
      </p:sp>
      <p:sp>
        <p:nvSpPr>
          <p:cNvPr id="6" name="Text 4"/>
          <p:cNvSpPr txBox="1"/>
          <p:nvPr/>
        </p:nvSpPr>
        <p:spPr>
          <a:xfrm>
            <a:off x="1022350" y="2909491"/>
            <a:ext cx="1844477" cy="304800"/>
          </a:xfrm>
          <a:prstGeom prst="rect">
            <a:avLst/>
          </a:prstGeom>
          <a:noFill/>
          <a:ln/>
        </p:spPr>
        <p:txBody>
          <a:bodyPr wrap="square" lIns="0" tIns="0" rIns="0" bIns="0" rtlCol="0" anchor="t"/>
          <a:lstStyle/>
          <a:p>
            <a:pPr algn="l" indent="0" marL="0">
              <a:lnSpc>
                <a:spcPts val="2400"/>
              </a:lnSpc>
              <a:buNone/>
            </a:pPr>
            <a:r>
              <a:rPr lang="en-US" sz="2000" dirty="0">
                <a:solidFill>
                  <a:srgbClr val="2F5DA8"/>
                </a:solidFill>
                <a:latin typeface="Cambria" pitchFamily="34" charset="0"/>
                <a:ea typeface="Cambria" pitchFamily="34" charset="-122"/>
                <a:cs typeface="Cambria" pitchFamily="34" charset="-120"/>
              </a:rPr>
              <a:t>AI agent</a:t>
            </a:r>
            <a:endParaRPr lang="en-US" sz="2000" dirty="0"/>
          </a:p>
        </p:txBody>
      </p:sp>
      <p:sp>
        <p:nvSpPr>
          <p:cNvPr id="7" name="Text 5"/>
          <p:cNvSpPr txBox="1"/>
          <p:nvPr/>
        </p:nvSpPr>
        <p:spPr>
          <a:xfrm>
            <a:off x="1022350" y="3290491"/>
            <a:ext cx="1844477" cy="924322"/>
          </a:xfrm>
          <a:prstGeom prst="rect">
            <a:avLst/>
          </a:prstGeom>
          <a:noFill/>
          <a:ln/>
        </p:spPr>
        <p:txBody>
          <a:bodyPr wrap="square" lIns="0" tIns="0" rIns="0" bIns="0" rtlCol="0" anchor="t"/>
          <a:lstStyle/>
          <a:p>
            <a:pPr algn="l" indent="0" marL="0">
              <a:lnSpc>
                <a:spcPts val="1820"/>
              </a:lnSpc>
              <a:buNone/>
            </a:pPr>
            <a:r>
              <a:rPr lang="en-US" sz="1300" dirty="0">
                <a:solidFill>
                  <a:srgbClr val="4E6074"/>
                </a:solidFill>
                <a:latin typeface="Calibri" pitchFamily="34" charset="0"/>
                <a:ea typeface="Calibri" pitchFamily="34" charset="-122"/>
                <a:cs typeface="Calibri" pitchFamily="34" charset="-120"/>
              </a:rPr>
              <a:t>Reads the instruction, plans the trade, builds the proof. Holds no key that can pay alone.</a:t>
            </a:r>
            <a:endParaRPr lang="en-US" sz="1300" dirty="0"/>
          </a:p>
        </p:txBody>
      </p:sp>
      <p:sp>
        <p:nvSpPr>
          <p:cNvPr id="8" name="Text 6"/>
          <p:cNvSpPr txBox="1"/>
          <p:nvPr/>
        </p:nvSpPr>
        <p:spPr>
          <a:xfrm>
            <a:off x="3152577" y="3477617"/>
            <a:ext cx="372765" cy="431800"/>
          </a:xfrm>
          <a:prstGeom prst="rect">
            <a:avLst/>
          </a:prstGeom>
          <a:noFill/>
          <a:ln/>
        </p:spPr>
        <p:txBody>
          <a:bodyPr wrap="square" lIns="0" tIns="0" rIns="0" bIns="0" rtlCol="0" anchor="t"/>
          <a:lstStyle/>
          <a:p>
            <a:pPr algn="l" indent="0" marL="0">
              <a:lnSpc>
                <a:spcPts val="3360"/>
              </a:lnSpc>
              <a:buNone/>
            </a:pPr>
            <a:r>
              <a:rPr lang="en-US" sz="2800" dirty="0">
                <a:solidFill>
                  <a:srgbClr val="0A7468"/>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3601541" y="2439591"/>
            <a:ext cx="2212777" cy="2507952"/>
          </a:xfrm>
          <a:prstGeom prst="roundRect">
            <a:avLst>
              <a:gd name="adj" fmla="val 2296"/>
            </a:avLst>
          </a:prstGeom>
          <a:solidFill>
            <a:srgbClr val="FFFFFF"/>
          </a:solidFill>
          <a:ln w="6350">
            <a:solidFill>
              <a:srgbClr val="D6DEE1"/>
            </a:solidFill>
            <a:prstDash val="solid"/>
          </a:ln>
        </p:spPr>
      </p:sp>
      <p:sp>
        <p:nvSpPr>
          <p:cNvPr id="10" name="Text 8"/>
          <p:cNvSpPr txBox="1"/>
          <p:nvPr/>
        </p:nvSpPr>
        <p:spPr>
          <a:xfrm>
            <a:off x="3811091" y="264914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7B8A99"/>
                </a:solidFill>
                <a:latin typeface="Calibri" pitchFamily="34" charset="0"/>
                <a:ea typeface="Calibri" pitchFamily="34" charset="-122"/>
                <a:cs typeface="Calibri" pitchFamily="34" charset="-120"/>
              </a:rPr>
              <a:t>2 · RE-DERIVES</a:t>
            </a:r>
            <a:endParaRPr lang="en-US" sz="1100" dirty="0"/>
          </a:p>
        </p:txBody>
      </p:sp>
      <p:sp>
        <p:nvSpPr>
          <p:cNvPr id="11" name="Text 9"/>
          <p:cNvSpPr txBox="1"/>
          <p:nvPr/>
        </p:nvSpPr>
        <p:spPr>
          <a:xfrm>
            <a:off x="3811091" y="2909491"/>
            <a:ext cx="1844477" cy="584200"/>
          </a:xfrm>
          <a:prstGeom prst="rect">
            <a:avLst/>
          </a:prstGeom>
          <a:noFill/>
          <a:ln/>
        </p:spPr>
        <p:txBody>
          <a:bodyPr wrap="square" lIns="0" tIns="0" rIns="0" bIns="0" rtlCol="0" anchor="t"/>
          <a:lstStyle/>
          <a:p>
            <a:pPr algn="l" indent="0" marL="0">
              <a:lnSpc>
                <a:spcPts val="2400"/>
              </a:lnSpc>
              <a:buNone/>
            </a:pPr>
            <a:r>
              <a:rPr lang="en-US" sz="2000" dirty="0">
                <a:solidFill>
                  <a:srgbClr val="6B4FA0"/>
                </a:solidFill>
                <a:latin typeface="Cambria" pitchFamily="34" charset="0"/>
                <a:ea typeface="Cambria" pitchFamily="34" charset="-122"/>
                <a:cs typeface="Cambria" pitchFamily="34" charset="-120"/>
              </a:rPr>
              <a:t>Independent co-signer</a:t>
            </a:r>
            <a:endParaRPr lang="en-US" sz="2000" dirty="0"/>
          </a:p>
        </p:txBody>
      </p:sp>
      <p:sp>
        <p:nvSpPr>
          <p:cNvPr id="12" name="Text 10"/>
          <p:cNvSpPr txBox="1"/>
          <p:nvPr/>
        </p:nvSpPr>
        <p:spPr>
          <a:xfrm>
            <a:off x="3811091" y="3582591"/>
            <a:ext cx="1844477" cy="1155402"/>
          </a:xfrm>
          <a:prstGeom prst="rect">
            <a:avLst/>
          </a:prstGeom>
          <a:noFill/>
          <a:ln/>
        </p:spPr>
        <p:txBody>
          <a:bodyPr wrap="square" lIns="0" tIns="0" rIns="0" bIns="0" rtlCol="0" anchor="t"/>
          <a:lstStyle/>
          <a:p>
            <a:pPr algn="l" indent="0" marL="0">
              <a:lnSpc>
                <a:spcPts val="1820"/>
              </a:lnSpc>
              <a:buNone/>
            </a:pPr>
            <a:r>
              <a:rPr lang="en-US" sz="1300" dirty="0">
                <a:solidFill>
                  <a:srgbClr val="4E6074"/>
                </a:solidFill>
                <a:latin typeface="Calibri" pitchFamily="34" charset="0"/>
                <a:ea typeface="Calibri" pitchFamily="34" charset="-122"/>
                <a:cs typeface="Calibri" pitchFamily="34" charset="-120"/>
              </a:rPr>
              <a:t>Separate process, own key. Recomputes the decision from the chain; signs only what the owner allowed.</a:t>
            </a:r>
            <a:endParaRPr lang="en-US" sz="1300" dirty="0"/>
          </a:p>
        </p:txBody>
      </p:sp>
      <p:sp>
        <p:nvSpPr>
          <p:cNvPr id="13" name="Text 11"/>
          <p:cNvSpPr txBox="1"/>
          <p:nvPr/>
        </p:nvSpPr>
        <p:spPr>
          <a:xfrm>
            <a:off x="5941318" y="3477617"/>
            <a:ext cx="372765" cy="431800"/>
          </a:xfrm>
          <a:prstGeom prst="rect">
            <a:avLst/>
          </a:prstGeom>
          <a:noFill/>
          <a:ln/>
        </p:spPr>
        <p:txBody>
          <a:bodyPr wrap="square" lIns="0" tIns="0" rIns="0" bIns="0" rtlCol="0" anchor="t"/>
          <a:lstStyle/>
          <a:p>
            <a:pPr algn="l" indent="0" marL="0">
              <a:lnSpc>
                <a:spcPts val="3360"/>
              </a:lnSpc>
              <a:buNone/>
            </a:pPr>
            <a:r>
              <a:rPr lang="en-US" sz="2800" dirty="0">
                <a:solidFill>
                  <a:srgbClr val="0A7468"/>
                </a:solidFill>
                <a:latin typeface="Calibri" pitchFamily="34" charset="0"/>
                <a:ea typeface="Calibri" pitchFamily="34" charset="-122"/>
                <a:cs typeface="Calibri" pitchFamily="34" charset="-120"/>
              </a:rPr>
              <a:t>→</a:t>
            </a:r>
            <a:endParaRPr lang="en-US" sz="2800" dirty="0"/>
          </a:p>
        </p:txBody>
      </p:sp>
      <p:sp>
        <p:nvSpPr>
          <p:cNvPr id="14" name="Shape 12"/>
          <p:cNvSpPr/>
          <p:nvPr/>
        </p:nvSpPr>
        <p:spPr>
          <a:xfrm>
            <a:off x="6390283" y="2439591"/>
            <a:ext cx="2212777" cy="2507952"/>
          </a:xfrm>
          <a:prstGeom prst="roundRect">
            <a:avLst>
              <a:gd name="adj" fmla="val 2296"/>
            </a:avLst>
          </a:prstGeom>
          <a:solidFill>
            <a:srgbClr val="FFFFFF"/>
          </a:solidFill>
          <a:ln w="6350">
            <a:solidFill>
              <a:srgbClr val="D6DEE1"/>
            </a:solidFill>
            <a:prstDash val="solid"/>
          </a:ln>
        </p:spPr>
      </p:sp>
      <p:sp>
        <p:nvSpPr>
          <p:cNvPr id="15" name="Text 13"/>
          <p:cNvSpPr txBox="1"/>
          <p:nvPr/>
        </p:nvSpPr>
        <p:spPr>
          <a:xfrm>
            <a:off x="6599833" y="264914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7B8A99"/>
                </a:solidFill>
                <a:latin typeface="Calibri" pitchFamily="34" charset="0"/>
                <a:ea typeface="Calibri" pitchFamily="34" charset="-122"/>
                <a:cs typeface="Calibri" pitchFamily="34" charset="-120"/>
              </a:rPr>
              <a:t>3 · VERIFIES</a:t>
            </a:r>
            <a:endParaRPr lang="en-US" sz="1100" dirty="0"/>
          </a:p>
        </p:txBody>
      </p:sp>
      <p:sp>
        <p:nvSpPr>
          <p:cNvPr id="16" name="Text 14"/>
          <p:cNvSpPr txBox="1"/>
          <p:nvPr/>
        </p:nvSpPr>
        <p:spPr>
          <a:xfrm>
            <a:off x="6599833" y="2909491"/>
            <a:ext cx="1844477" cy="304800"/>
          </a:xfrm>
          <a:prstGeom prst="rect">
            <a:avLst/>
          </a:prstGeom>
          <a:noFill/>
          <a:ln/>
        </p:spPr>
        <p:txBody>
          <a:bodyPr wrap="square" lIns="0" tIns="0" rIns="0" bIns="0" rtlCol="0" anchor="t"/>
          <a:lstStyle/>
          <a:p>
            <a:pPr algn="l" indent="0" marL="0">
              <a:lnSpc>
                <a:spcPts val="2400"/>
              </a:lnSpc>
              <a:buNone/>
            </a:pPr>
            <a:r>
              <a:rPr lang="en-US" sz="2000" dirty="0">
                <a:solidFill>
                  <a:srgbClr val="0A7468"/>
                </a:solidFill>
                <a:latin typeface="Cambria" pitchFamily="34" charset="0"/>
                <a:ea typeface="Cambria" pitchFamily="34" charset="-122"/>
                <a:cs typeface="Cambria" pitchFamily="34" charset="-120"/>
              </a:rPr>
              <a:t>Smart contract</a:t>
            </a:r>
            <a:endParaRPr lang="en-US" sz="2000" dirty="0"/>
          </a:p>
        </p:txBody>
      </p:sp>
      <p:sp>
        <p:nvSpPr>
          <p:cNvPr id="17" name="Text 15"/>
          <p:cNvSpPr txBox="1"/>
          <p:nvPr/>
        </p:nvSpPr>
        <p:spPr>
          <a:xfrm>
            <a:off x="6599833" y="3290491"/>
            <a:ext cx="1844477" cy="924322"/>
          </a:xfrm>
          <a:prstGeom prst="rect">
            <a:avLst/>
          </a:prstGeom>
          <a:noFill/>
          <a:ln/>
        </p:spPr>
        <p:txBody>
          <a:bodyPr wrap="square" lIns="0" tIns="0" rIns="0" bIns="0" rtlCol="0" anchor="t"/>
          <a:lstStyle/>
          <a:p>
            <a:pPr algn="l" indent="0" marL="0">
              <a:lnSpc>
                <a:spcPts val="1820"/>
              </a:lnSpc>
              <a:buNone/>
            </a:pPr>
            <a:r>
              <a:rPr lang="en-US" sz="1300" dirty="0">
                <a:solidFill>
                  <a:srgbClr val="4E6074"/>
                </a:solidFill>
                <a:latin typeface="Calibri" pitchFamily="34" charset="0"/>
                <a:ea typeface="Calibri" pitchFamily="34" charset="-122"/>
                <a:cs typeface="Calibri" pitchFamily="34" charset="-120"/>
              </a:rPr>
              <a:t>Owner's signed mandate, caps, protected liabilities, and the best-execution proof, in one transaction.</a:t>
            </a:r>
            <a:endParaRPr lang="en-US" sz="1300" dirty="0"/>
          </a:p>
        </p:txBody>
      </p:sp>
      <p:sp>
        <p:nvSpPr>
          <p:cNvPr id="18" name="Text 16"/>
          <p:cNvSpPr txBox="1"/>
          <p:nvPr/>
        </p:nvSpPr>
        <p:spPr>
          <a:xfrm>
            <a:off x="8730059" y="3477617"/>
            <a:ext cx="372765" cy="431800"/>
          </a:xfrm>
          <a:prstGeom prst="rect">
            <a:avLst/>
          </a:prstGeom>
          <a:noFill/>
          <a:ln/>
        </p:spPr>
        <p:txBody>
          <a:bodyPr wrap="square" lIns="0" tIns="0" rIns="0" bIns="0" rtlCol="0" anchor="t"/>
          <a:lstStyle/>
          <a:p>
            <a:pPr algn="l" indent="0" marL="0">
              <a:lnSpc>
                <a:spcPts val="3360"/>
              </a:lnSpc>
              <a:buNone/>
            </a:pPr>
            <a:r>
              <a:rPr lang="en-US" sz="2800" dirty="0">
                <a:solidFill>
                  <a:srgbClr val="0A7468"/>
                </a:solidFill>
                <a:latin typeface="Calibri" pitchFamily="34" charset="0"/>
                <a:ea typeface="Calibri" pitchFamily="34" charset="-122"/>
                <a:cs typeface="Calibri" pitchFamily="34" charset="-120"/>
              </a:rPr>
              <a:t>→</a:t>
            </a:r>
            <a:endParaRPr lang="en-US" sz="2800" dirty="0"/>
          </a:p>
        </p:txBody>
      </p:sp>
      <p:sp>
        <p:nvSpPr>
          <p:cNvPr id="19" name="Shape 17"/>
          <p:cNvSpPr/>
          <p:nvPr/>
        </p:nvSpPr>
        <p:spPr>
          <a:xfrm>
            <a:off x="9179024" y="2439591"/>
            <a:ext cx="2200077" cy="2507952"/>
          </a:xfrm>
          <a:prstGeom prst="roundRect">
            <a:avLst>
              <a:gd name="adj" fmla="val 2309"/>
            </a:avLst>
          </a:prstGeom>
          <a:solidFill>
            <a:srgbClr val="13233F"/>
          </a:solidFill>
          <a:ln/>
        </p:spPr>
      </p:sp>
      <p:sp>
        <p:nvSpPr>
          <p:cNvPr id="20" name="Text 18"/>
          <p:cNvSpPr txBox="1"/>
          <p:nvPr/>
        </p:nvSpPr>
        <p:spPr>
          <a:xfrm>
            <a:off x="9382224" y="264279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46C4B0"/>
                </a:solidFill>
                <a:latin typeface="Calibri" pitchFamily="34" charset="0"/>
                <a:ea typeface="Calibri" pitchFamily="34" charset="-122"/>
                <a:cs typeface="Calibri" pitchFamily="34" charset="-120"/>
              </a:rPr>
              <a:t>4 · OUTCOME</a:t>
            </a:r>
            <a:endParaRPr lang="en-US" sz="1100" dirty="0"/>
          </a:p>
        </p:txBody>
      </p:sp>
      <p:sp>
        <p:nvSpPr>
          <p:cNvPr id="21" name="Text 19"/>
          <p:cNvSpPr txBox="1"/>
          <p:nvPr/>
        </p:nvSpPr>
        <p:spPr>
          <a:xfrm>
            <a:off x="9382224" y="2903141"/>
            <a:ext cx="1844477" cy="304800"/>
          </a:xfrm>
          <a:prstGeom prst="rect">
            <a:avLst/>
          </a:prstGeom>
          <a:noFill/>
          <a:ln/>
        </p:spPr>
        <p:txBody>
          <a:bodyPr wrap="square" lIns="0" tIns="0" rIns="0" bIns="0" rtlCol="0" anchor="t"/>
          <a:lstStyle/>
          <a:p>
            <a:pPr algn="l" indent="0" marL="0">
              <a:lnSpc>
                <a:spcPts val="2400"/>
              </a:lnSpc>
              <a:buNone/>
            </a:pPr>
            <a:r>
              <a:rPr lang="en-US" sz="2000" dirty="0">
                <a:solidFill>
                  <a:srgbClr val="E4ECF1"/>
                </a:solidFill>
                <a:latin typeface="Cambria" pitchFamily="34" charset="0"/>
                <a:ea typeface="Cambria" pitchFamily="34" charset="-122"/>
                <a:cs typeface="Cambria" pitchFamily="34" charset="-120"/>
              </a:rPr>
              <a:t>Settles, or reverts</a:t>
            </a:r>
            <a:endParaRPr lang="en-US" sz="2000" dirty="0"/>
          </a:p>
        </p:txBody>
      </p:sp>
      <p:sp>
        <p:nvSpPr>
          <p:cNvPr id="22" name="Text 20"/>
          <p:cNvSpPr txBox="1"/>
          <p:nvPr/>
        </p:nvSpPr>
        <p:spPr>
          <a:xfrm>
            <a:off x="9382224" y="3284141"/>
            <a:ext cx="1844477" cy="693241"/>
          </a:xfrm>
          <a:prstGeom prst="rect">
            <a:avLst/>
          </a:prstGeom>
          <a:noFill/>
          <a:ln/>
        </p:spPr>
        <p:txBody>
          <a:bodyPr wrap="square" lIns="0" tIns="0" rIns="0" bIns="0" rtlCol="0" anchor="t"/>
          <a:lstStyle/>
          <a:p>
            <a:pPr algn="l" indent="0" marL="0">
              <a:lnSpc>
                <a:spcPts val="1820"/>
              </a:lnSpc>
              <a:buNone/>
            </a:pPr>
            <a:r>
              <a:rPr lang="en-US" sz="1300" dirty="0">
                <a:solidFill>
                  <a:srgbClr val="A9BACB"/>
                </a:solidFill>
                <a:latin typeface="Calibri" pitchFamily="34" charset="0"/>
                <a:ea typeface="Calibri" pitchFamily="34" charset="-122"/>
                <a:cs typeface="Calibri" pitchFamily="34" charset="-120"/>
              </a:rPr>
              <a:t>Every check passes and money moves. Any check fails and nothing moves.</a:t>
            </a:r>
            <a:endParaRPr lang="en-US" sz="1300" dirty="0"/>
          </a:p>
        </p:txBody>
      </p:sp>
      <p:sp>
        <p:nvSpPr>
          <p:cNvPr id="23" name="Shape 21"/>
          <p:cNvSpPr/>
          <p:nvPr/>
        </p:nvSpPr>
        <p:spPr>
          <a:xfrm>
            <a:off x="825500" y="5252343"/>
            <a:ext cx="0" cy="364430"/>
          </a:xfrm>
          <a:prstGeom prst="line">
            <a:avLst/>
          </a:prstGeom>
          <a:noFill/>
          <a:ln w="25400">
            <a:solidFill>
              <a:srgbClr val="0A7468"/>
            </a:solidFill>
            <a:prstDash val="solid"/>
          </a:ln>
        </p:spPr>
      </p:sp>
      <p:sp>
        <p:nvSpPr>
          <p:cNvPr id="24" name="Text 22"/>
          <p:cNvSpPr txBox="1"/>
          <p:nvPr/>
        </p:nvSpPr>
        <p:spPr>
          <a:xfrm>
            <a:off x="1016000" y="5277743"/>
            <a:ext cx="10570464" cy="313690"/>
          </a:xfrm>
          <a:prstGeom prst="rect">
            <a:avLst/>
          </a:prstGeom>
          <a:noFill/>
          <a:ln/>
        </p:spPr>
        <p:txBody>
          <a:bodyPr wrap="square" lIns="0" tIns="0" rIns="0" bIns="0" rtlCol="0" anchor="t"/>
          <a:lstStyle/>
          <a:p>
            <a:pPr algn="l" indent="0" marL="0">
              <a:lnSpc>
                <a:spcPts val="2470"/>
              </a:lnSpc>
              <a:buNone/>
            </a:pPr>
            <a:r>
              <a:rPr lang="en-US" sz="1900" dirty="0">
                <a:solidFill>
                  <a:srgbClr val="13233F"/>
                </a:solidFill>
                <a:latin typeface="Cambria" pitchFamily="34" charset="0"/>
                <a:ea typeface="Cambria" pitchFamily="34" charset="-122"/>
                <a:cs typeface="Cambria" pitchFamily="34" charset="-120"/>
              </a:rPr>
              <a:t>The AI can be wrong, manipulated or stolen. The money still moves only with a valid proof.</a:t>
            </a:r>
            <a:endParaRPr lang="en-US" sz="1900" dirty="0"/>
          </a:p>
        </p:txBody>
      </p:sp>
      <p:sp>
        <p:nvSpPr>
          <p:cNvPr id="25" name="Text 23"/>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 proof-carrying autonomy for AI treasuries</a:t>
            </a:r>
            <a:endParaRPr lang="en-US" sz="1200" dirty="0"/>
          </a:p>
        </p:txBody>
      </p:sp>
      <p:sp>
        <p:nvSpPr>
          <p:cNvPr id="26" name="Text 24"/>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BREAKTHROUGH · CERTIFIED BEST EXECUTION</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contract checks one inequality, inside the trade itself.</a:t>
            </a:r>
            <a:endParaRPr lang="en-US" sz="3200" dirty="0"/>
          </a:p>
        </p:txBody>
      </p:sp>
      <p:sp>
        <p:nvSpPr>
          <p:cNvPr id="4" name="Shape 2"/>
          <p:cNvSpPr/>
          <p:nvPr/>
        </p:nvSpPr>
        <p:spPr>
          <a:xfrm>
            <a:off x="812800" y="1870670"/>
            <a:ext cx="10566400" cy="1633141"/>
          </a:xfrm>
          <a:prstGeom prst="roundRect">
            <a:avLst>
              <a:gd name="adj" fmla="val 3111"/>
            </a:avLst>
          </a:prstGeom>
          <a:solidFill>
            <a:srgbClr val="0F1B2D"/>
          </a:solidFill>
          <a:ln/>
        </p:spPr>
      </p:sp>
      <p:sp>
        <p:nvSpPr>
          <p:cNvPr id="5" name="Text 3"/>
          <p:cNvSpPr txBox="1"/>
          <p:nvPr/>
        </p:nvSpPr>
        <p:spPr>
          <a:xfrm>
            <a:off x="1168400" y="2150070"/>
            <a:ext cx="10052304" cy="731520"/>
          </a:xfrm>
          <a:prstGeom prst="rect">
            <a:avLst/>
          </a:prstGeom>
          <a:noFill/>
          <a:ln/>
        </p:spPr>
        <p:txBody>
          <a:bodyPr wrap="square" lIns="0" tIns="0" rIns="0" bIns="0" rtlCol="0" anchor="t"/>
          <a:lstStyle/>
          <a:p>
            <a:pPr algn="l" indent="0" marL="0">
              <a:lnSpc>
                <a:spcPts val="5760"/>
              </a:lnSpc>
              <a:buNone/>
            </a:pPr>
            <a:r>
              <a:rPr lang="en-US" sz="4800" dirty="0">
                <a:solidFill>
                  <a:srgbClr val="E4ECF1"/>
                </a:solidFill>
                <a:latin typeface="Cambria" pitchFamily="34" charset="0"/>
                <a:ea typeface="Cambria" pitchFamily="34" charset="-122"/>
                <a:cs typeface="Cambria" pitchFamily="34" charset="-120"/>
              </a:rPr>
              <a:t>output ≥ (1 − τ) · B</a:t>
            </a:r>
            <a:endParaRPr lang="en-US" sz="4800" dirty="0"/>
          </a:p>
        </p:txBody>
      </p:sp>
      <p:sp>
        <p:nvSpPr>
          <p:cNvPr id="6" name="Text 4"/>
          <p:cNvSpPr txBox="1"/>
          <p:nvPr/>
        </p:nvSpPr>
        <p:spPr>
          <a:xfrm>
            <a:off x="1168400" y="2975570"/>
            <a:ext cx="10052304" cy="248920"/>
          </a:xfrm>
          <a:prstGeom prst="rect">
            <a:avLst/>
          </a:prstGeom>
          <a:noFill/>
          <a:ln/>
        </p:spPr>
        <p:txBody>
          <a:bodyPr wrap="square" lIns="0" tIns="0" rIns="0" bIns="0" rtlCol="0" anchor="t"/>
          <a:lstStyle/>
          <a:p>
            <a:pPr algn="l" indent="0" marL="0">
              <a:lnSpc>
                <a:spcPts val="1960"/>
              </a:lnSpc>
              <a:buNone/>
            </a:pPr>
            <a:r>
              <a:rPr lang="en-US" sz="1400" b="1" dirty="0">
                <a:solidFill>
                  <a:srgbClr val="46C4B0"/>
                </a:solidFill>
                <a:latin typeface="Calibri" pitchFamily="34" charset="0"/>
                <a:ea typeface="Calibri" pitchFamily="34" charset="-122"/>
                <a:cs typeface="Calibri" pitchFamily="34" charset="-120"/>
              </a:rPr>
              <a:t>B</a:t>
            </a:r>
            <a:pPr algn="l" indent="0" marL="0">
              <a:lnSpc>
                <a:spcPts val="1960"/>
              </a:lnSpc>
              <a:buNone/>
            </a:pPr>
            <a:r>
              <a:rPr lang="en-US" sz="1400" dirty="0">
                <a:solidFill>
                  <a:srgbClr val="A9BACB"/>
                </a:solidFill>
                <a:latin typeface="Calibri" pitchFamily="34" charset="0"/>
                <a:ea typeface="Calibri" pitchFamily="34" charset="-122"/>
                <a:cs typeface="Calibri" pitchFamily="34" charset="-120"/>
              </a:rPr>
              <a:t> = the most any route through the owner's approved venues could return, from their live reserves. </a:t>
            </a:r>
            <a:pPr algn="l" indent="0" marL="0">
              <a:lnSpc>
                <a:spcPts val="1960"/>
              </a:lnSpc>
              <a:buNone/>
            </a:pPr>
            <a:r>
              <a:rPr lang="en-US" sz="1400" b="1" dirty="0">
                <a:solidFill>
                  <a:srgbClr val="46C4B0"/>
                </a:solidFill>
                <a:latin typeface="Calibri" pitchFamily="34" charset="0"/>
                <a:ea typeface="Calibri" pitchFamily="34" charset="-122"/>
                <a:cs typeface="Calibri" pitchFamily="34" charset="-120"/>
              </a:rPr>
              <a:t>τ</a:t>
            </a:r>
            <a:pPr algn="l" indent="0" marL="0">
              <a:lnSpc>
                <a:spcPts val="1960"/>
              </a:lnSpc>
              <a:buNone/>
            </a:pPr>
            <a:r>
              <a:rPr lang="en-US" sz="1400" dirty="0">
                <a:solidFill>
                  <a:srgbClr val="A9BACB"/>
                </a:solidFill>
                <a:latin typeface="Calibri" pitchFamily="34" charset="0"/>
                <a:ea typeface="Calibri" pitchFamily="34" charset="-122"/>
                <a:cs typeface="Calibri" pitchFamily="34" charset="-120"/>
              </a:rPr>
              <a:t> = one part per million.</a:t>
            </a:r>
            <a:endParaRPr lang="en-US" sz="1400" dirty="0"/>
          </a:p>
        </p:txBody>
      </p:sp>
      <p:sp>
        <p:nvSpPr>
          <p:cNvPr id="7" name="Shape 5"/>
          <p:cNvSpPr/>
          <p:nvPr/>
        </p:nvSpPr>
        <p:spPr>
          <a:xfrm>
            <a:off x="812800" y="3707011"/>
            <a:ext cx="3403600" cy="1159470"/>
          </a:xfrm>
          <a:prstGeom prst="roundRect">
            <a:avLst>
              <a:gd name="adj" fmla="val 4381"/>
            </a:avLst>
          </a:prstGeom>
          <a:solidFill>
            <a:srgbClr val="FFFFFF"/>
          </a:solidFill>
          <a:ln w="6350">
            <a:solidFill>
              <a:srgbClr val="D6DEE1"/>
            </a:solidFill>
            <a:prstDash val="solid"/>
          </a:ln>
        </p:spPr>
      </p:sp>
      <p:sp>
        <p:nvSpPr>
          <p:cNvPr id="8" name="Text 6"/>
          <p:cNvSpPr txBox="1"/>
          <p:nvPr/>
        </p:nvSpPr>
        <p:spPr>
          <a:xfrm>
            <a:off x="1022350" y="3916561"/>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022350" y="4176911"/>
            <a:ext cx="3044190"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The owner approves the venues the agent may use.</a:t>
            </a:r>
            <a:endParaRPr lang="en-US" sz="1400" dirty="0"/>
          </a:p>
        </p:txBody>
      </p:sp>
      <p:sp>
        <p:nvSpPr>
          <p:cNvPr id="10" name="Shape 8"/>
          <p:cNvSpPr/>
          <p:nvPr/>
        </p:nvSpPr>
        <p:spPr>
          <a:xfrm>
            <a:off x="4394200" y="3707011"/>
            <a:ext cx="3403600" cy="1159470"/>
          </a:xfrm>
          <a:prstGeom prst="roundRect">
            <a:avLst>
              <a:gd name="adj" fmla="val 4381"/>
            </a:avLst>
          </a:prstGeom>
          <a:solidFill>
            <a:srgbClr val="FFFFFF"/>
          </a:solidFill>
          <a:ln w="6350">
            <a:solidFill>
              <a:srgbClr val="D6DEE1"/>
            </a:solidFill>
            <a:prstDash val="solid"/>
          </a:ln>
        </p:spPr>
      </p:sp>
      <p:sp>
        <p:nvSpPr>
          <p:cNvPr id="11" name="Text 9"/>
          <p:cNvSpPr txBox="1"/>
          <p:nvPr/>
        </p:nvSpPr>
        <p:spPr>
          <a:xfrm>
            <a:off x="4603750" y="3916561"/>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4603750" y="4176911"/>
            <a:ext cx="3044190"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The agent picks any route and sends one price per token as its certificate.</a:t>
            </a:r>
            <a:endParaRPr lang="en-US" sz="1400" dirty="0"/>
          </a:p>
        </p:txBody>
      </p:sp>
      <p:sp>
        <p:nvSpPr>
          <p:cNvPr id="13" name="Shape 11"/>
          <p:cNvSpPr/>
          <p:nvPr/>
        </p:nvSpPr>
        <p:spPr>
          <a:xfrm>
            <a:off x="7975600" y="3707011"/>
            <a:ext cx="3403600" cy="1159470"/>
          </a:xfrm>
          <a:prstGeom prst="roundRect">
            <a:avLst>
              <a:gd name="adj" fmla="val 4381"/>
            </a:avLst>
          </a:prstGeom>
          <a:solidFill>
            <a:srgbClr val="FFFFFF"/>
          </a:solidFill>
          <a:ln w="6350">
            <a:solidFill>
              <a:srgbClr val="D6DEE1"/>
            </a:solidFill>
            <a:prstDash val="solid"/>
          </a:ln>
        </p:spPr>
      </p:sp>
      <p:sp>
        <p:nvSpPr>
          <p:cNvPr id="14" name="Text 12"/>
          <p:cNvSpPr txBox="1"/>
          <p:nvPr/>
        </p:nvSpPr>
        <p:spPr>
          <a:xfrm>
            <a:off x="8185150" y="3916561"/>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8185150" y="4176911"/>
            <a:ext cx="3044190"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The contract recomputes B, rounding against the agent. A worse route reverts.</a:t>
            </a:r>
            <a:endParaRPr lang="en-US" sz="1400" dirty="0"/>
          </a:p>
        </p:txBody>
      </p:sp>
      <p:sp>
        <p:nvSpPr>
          <p:cNvPr id="16"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Why B can't be faked: any prices give a valid upper bound (weak duality). Derivation: appendix A1</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BREAKTHROUGH, LIVE · SEPOLIA TRANSACTION E1</a:t>
            </a:r>
            <a:endParaRPr lang="en-US" sz="1200" dirty="0"/>
          </a:p>
        </p:txBody>
      </p:sp>
      <p:sp>
        <p:nvSpPr>
          <p:cNvPr id="3" name="Text 1"/>
          <p:cNvSpPr txBox="1"/>
          <p:nvPr/>
        </p:nvSpPr>
        <p:spPr>
          <a:xfrm>
            <a:off x="812800" y="12001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20 tUSD in, 18.086846 tEUR out. The chain's own bound: 18.086849.</a:t>
            </a:r>
            <a:endParaRPr lang="en-US" sz="3200" dirty="0"/>
          </a:p>
        </p:txBody>
      </p:sp>
      <p:pic>
        <p:nvPicPr>
          <p:cNvPr id="4" name="Image 0" descr="The agent's route for 20 tUSD: 11.42 through venue 0 and 3.95 through venue 1 directly to tEUR, 4.63 through venue 2 to tETH and on through venue 3 to tEUR; venue 4, an off-market 1% pool, unused but still inside the bound">    </p:cNvPr>
          <p:cNvPicPr>
            <a:picLocks noChangeAspect="1"/>
          </p:cNvPicPr>
          <p:nvPr/>
        </p:nvPicPr>
        <p:blipFill>
          <a:blip r:embed="rId1"/>
          <a:stretch>
            <a:fillRect/>
          </a:stretch>
        </p:blipFill>
        <p:spPr>
          <a:xfrm>
            <a:off x="812800" y="2337991"/>
            <a:ext cx="6350000" cy="3302000"/>
          </a:xfrm>
          <a:prstGeom prst="rect">
            <a:avLst/>
          </a:prstGeom>
        </p:spPr>
      </p:pic>
      <p:sp>
        <p:nvSpPr>
          <p:cNvPr id="5" name="Shape 2"/>
          <p:cNvSpPr/>
          <p:nvPr/>
        </p:nvSpPr>
        <p:spPr>
          <a:xfrm>
            <a:off x="7416800" y="2337991"/>
            <a:ext cx="3962400" cy="2731691"/>
          </a:xfrm>
          <a:prstGeom prst="roundRect">
            <a:avLst>
              <a:gd name="adj" fmla="val 1860"/>
            </a:avLst>
          </a:prstGeom>
          <a:solidFill>
            <a:srgbClr val="13233F"/>
          </a:solidFill>
          <a:ln/>
        </p:spPr>
      </p:sp>
      <p:sp>
        <p:nvSpPr>
          <p:cNvPr id="6" name="Text 3"/>
          <p:cNvSpPr txBox="1"/>
          <p:nvPr/>
        </p:nvSpPr>
        <p:spPr>
          <a:xfrm>
            <a:off x="7645400" y="2566591"/>
            <a:ext cx="3575304" cy="609600"/>
          </a:xfrm>
          <a:prstGeom prst="rect">
            <a:avLst/>
          </a:prstGeom>
          <a:noFill/>
          <a:ln/>
        </p:spPr>
        <p:txBody>
          <a:bodyPr wrap="square" lIns="0" tIns="0" rIns="0" bIns="0" rtlCol="0" anchor="t"/>
          <a:lstStyle/>
          <a:p>
            <a:pPr algn="l" indent="0" marL="0">
              <a:lnSpc>
                <a:spcPts val="4800"/>
              </a:lnSpc>
              <a:buNone/>
            </a:pPr>
            <a:r>
              <a:rPr lang="en-US" sz="4800" dirty="0">
                <a:solidFill>
                  <a:srgbClr val="46C4B0"/>
                </a:solidFill>
                <a:latin typeface="Cambria" pitchFamily="34" charset="0"/>
                <a:ea typeface="Cambria" pitchFamily="34" charset="-122"/>
                <a:cs typeface="Cambria" pitchFamily="34" charset="-120"/>
              </a:rPr>
              <a:t>0.17 ppm</a:t>
            </a:r>
            <a:endParaRPr lang="en-US" sz="4800" dirty="0"/>
          </a:p>
        </p:txBody>
      </p:sp>
      <p:sp>
        <p:nvSpPr>
          <p:cNvPr id="7" name="Text 4"/>
          <p:cNvSpPr txBox="1"/>
          <p:nvPr/>
        </p:nvSpPr>
        <p:spPr>
          <a:xfrm>
            <a:off x="7645400" y="3290491"/>
            <a:ext cx="3575304"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from the most any route through the owner's five venues could have returned</a:t>
            </a:r>
            <a:endParaRPr lang="en-US" sz="1200" dirty="0"/>
          </a:p>
        </p:txBody>
      </p:sp>
      <p:sp>
        <p:nvSpPr>
          <p:cNvPr id="8" name="Shape 5"/>
          <p:cNvSpPr/>
          <p:nvPr/>
        </p:nvSpPr>
        <p:spPr>
          <a:xfrm>
            <a:off x="7645400" y="3834606"/>
            <a:ext cx="3505200" cy="0"/>
          </a:xfrm>
          <a:prstGeom prst="line">
            <a:avLst/>
          </a:prstGeom>
          <a:noFill/>
          <a:ln w="6350">
            <a:solidFill>
              <a:srgbClr val="2E4A72"/>
            </a:solidFill>
            <a:prstDash val="solid"/>
          </a:ln>
        </p:spPr>
      </p:sp>
      <p:sp>
        <p:nvSpPr>
          <p:cNvPr id="9" name="Text 6"/>
          <p:cNvSpPr txBox="1"/>
          <p:nvPr/>
        </p:nvSpPr>
        <p:spPr>
          <a:xfrm>
            <a:off x="7645400" y="3952081"/>
            <a:ext cx="1257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proof</a:t>
            </a:r>
            <a:endParaRPr lang="en-US" sz="1200" dirty="0"/>
          </a:p>
        </p:txBody>
      </p:sp>
      <p:sp>
        <p:nvSpPr>
          <p:cNvPr id="10" name="Text 7"/>
          <p:cNvSpPr txBox="1"/>
          <p:nvPr/>
        </p:nvSpPr>
        <p:spPr>
          <a:xfrm>
            <a:off x="8928100" y="3952081"/>
            <a:ext cx="2273300"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three prices: ν(tUSD) 0.891672 · ν(tETH) 2,724.50 · ν(tEUR) 1</a:t>
            </a:r>
            <a:endParaRPr lang="en-US" sz="1200" dirty="0"/>
          </a:p>
        </p:txBody>
      </p:sp>
      <p:sp>
        <p:nvSpPr>
          <p:cNvPr id="11" name="Text 8"/>
          <p:cNvSpPr txBox="1"/>
          <p:nvPr/>
        </p:nvSpPr>
        <p:spPr>
          <a:xfrm>
            <a:off x="7645400" y="4396581"/>
            <a:ext cx="1257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Checked by</a:t>
            </a:r>
            <a:endParaRPr lang="en-US" sz="1200" dirty="0"/>
          </a:p>
        </p:txBody>
      </p:sp>
      <p:sp>
        <p:nvSpPr>
          <p:cNvPr id="12" name="Text 9"/>
          <p:cNvSpPr txBox="1"/>
          <p:nvPr/>
        </p:nvSpPr>
        <p:spPr>
          <a:xfrm>
            <a:off x="8928100" y="4396581"/>
            <a:ext cx="2273300"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QEDExecution, same transaction</a:t>
            </a:r>
            <a:endParaRPr lang="en-US" sz="1200" dirty="0"/>
          </a:p>
        </p:txBody>
      </p:sp>
      <p:sp>
        <p:nvSpPr>
          <p:cNvPr id="13" name="Text 10"/>
          <p:cNvSpPr txBox="1"/>
          <p:nvPr/>
        </p:nvSpPr>
        <p:spPr>
          <a:xfrm>
            <a:off x="7645400" y="4656931"/>
            <a:ext cx="1257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Transaction</a:t>
            </a:r>
            <a:endParaRPr lang="en-US" sz="1200" dirty="0"/>
          </a:p>
        </p:txBody>
      </p:sp>
      <p:sp>
        <p:nvSpPr>
          <p:cNvPr id="14" name="Text 11"/>
          <p:cNvSpPr txBox="1"/>
          <p:nvPr/>
        </p:nvSpPr>
        <p:spPr>
          <a:xfrm>
            <a:off x="8928100" y="4656931"/>
            <a:ext cx="2273300"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0x56f798cd…9690</a:t>
            </a:r>
            <a:endParaRPr lang="en-US" sz="1200" dirty="0"/>
          </a:p>
        </p:txBody>
      </p:sp>
      <p:sp>
        <p:nvSpPr>
          <p:cNvPr id="15" name="Text 1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Amounts in tUSD → tEUR · block 11,952,708 · 1,122,781 gas</a:t>
            </a:r>
            <a:endParaRPr lang="en-US" sz="1200" dirty="0"/>
          </a:p>
        </p:txBody>
      </p:sp>
      <p:sp>
        <p:nvSpPr>
          <p:cNvPr id="16" name="Text 13"/>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PRODUCT · LIVE NOW</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Type an instruction. Watch it get proved.</a:t>
            </a:r>
            <a:endParaRPr lang="en-US" sz="3200" dirty="0"/>
          </a:p>
        </p:txBody>
      </p:sp>
      <p:pic>
        <p:nvPicPr>
          <p:cNvPr id="4" name="Image 0" descr="preencoded.png">    </p:cNvPr>
          <p:cNvPicPr>
            <a:picLocks noChangeAspect="1"/>
          </p:cNvPicPr>
          <p:nvPr/>
        </p:nvPicPr>
        <p:blipFill>
          <a:blip r:embed="rId1"/>
          <a:stretch>
            <a:fillRect/>
          </a:stretch>
        </p:blipFill>
        <p:spPr>
          <a:xfrm>
            <a:off x="812800" y="1819870"/>
            <a:ext cx="7010400" cy="4381500"/>
          </a:xfrm>
          <a:prstGeom prst="rect">
            <a:avLst/>
          </a:prstGeom>
        </p:spPr>
      </p:pic>
      <p:sp>
        <p:nvSpPr>
          <p:cNvPr id="5" name="Shape 2"/>
          <p:cNvSpPr/>
          <p:nvPr/>
        </p:nvSpPr>
        <p:spPr>
          <a:xfrm>
            <a:off x="8128000" y="1823045"/>
            <a:ext cx="3251200" cy="0"/>
          </a:xfrm>
          <a:prstGeom prst="line">
            <a:avLst/>
          </a:prstGeom>
          <a:noFill/>
          <a:ln w="6350">
            <a:solidFill>
              <a:srgbClr val="D6DEE1"/>
            </a:solidFill>
            <a:prstDash val="solid"/>
          </a:ln>
        </p:spPr>
      </p:sp>
      <p:sp>
        <p:nvSpPr>
          <p:cNvPr id="6" name="Text 3"/>
          <p:cNvSpPr txBox="1"/>
          <p:nvPr/>
        </p:nvSpPr>
        <p:spPr>
          <a:xfrm>
            <a:off x="8128000" y="1915120"/>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1 · YOU ASK</a:t>
            </a:r>
            <a:endParaRPr lang="en-US" sz="1100" dirty="0"/>
          </a:p>
        </p:txBody>
      </p:sp>
      <p:sp>
        <p:nvSpPr>
          <p:cNvPr id="7" name="Text 4"/>
          <p:cNvSpPr txBox="1"/>
          <p:nvPr/>
        </p:nvSpPr>
        <p:spPr>
          <a:xfrm>
            <a:off x="8128000" y="2111970"/>
            <a:ext cx="3316224" cy="214313"/>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“Convert 12.5 tUSD to tEUR for the euro invoices.”</a:t>
            </a:r>
            <a:endParaRPr lang="en-US" sz="1250" dirty="0"/>
          </a:p>
        </p:txBody>
      </p:sp>
      <p:sp>
        <p:nvSpPr>
          <p:cNvPr id="8" name="Shape 5"/>
          <p:cNvSpPr/>
          <p:nvPr/>
        </p:nvSpPr>
        <p:spPr>
          <a:xfrm>
            <a:off x="8128000" y="2443758"/>
            <a:ext cx="3251200" cy="0"/>
          </a:xfrm>
          <a:prstGeom prst="line">
            <a:avLst/>
          </a:prstGeom>
          <a:noFill/>
          <a:ln w="6350">
            <a:solidFill>
              <a:srgbClr val="D6DEE1"/>
            </a:solidFill>
            <a:prstDash val="solid"/>
          </a:ln>
        </p:spPr>
      </p:sp>
      <p:sp>
        <p:nvSpPr>
          <p:cNvPr id="9" name="Text 6"/>
          <p:cNvSpPr txBox="1"/>
          <p:nvPr/>
        </p:nvSpPr>
        <p:spPr>
          <a:xfrm>
            <a:off x="8128000" y="2535833"/>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2 · THE AI PROPOSES</a:t>
            </a:r>
            <a:endParaRPr lang="en-US" sz="1100" dirty="0"/>
          </a:p>
        </p:txBody>
      </p:sp>
      <p:sp>
        <p:nvSpPr>
          <p:cNvPr id="10" name="Text 7"/>
          <p:cNvSpPr txBox="1"/>
          <p:nvPr/>
        </p:nvSpPr>
        <p:spPr>
          <a:xfrm>
            <a:off x="8128000" y="2732683"/>
            <a:ext cx="3316224" cy="428625"/>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It shows the signed limits it checked. It cannot sign.</a:t>
            </a:r>
            <a:endParaRPr lang="en-US" sz="1250" dirty="0"/>
          </a:p>
        </p:txBody>
      </p:sp>
      <p:sp>
        <p:nvSpPr>
          <p:cNvPr id="11" name="Shape 8"/>
          <p:cNvSpPr/>
          <p:nvPr/>
        </p:nvSpPr>
        <p:spPr>
          <a:xfrm>
            <a:off x="8128000" y="3278783"/>
            <a:ext cx="3251200" cy="0"/>
          </a:xfrm>
          <a:prstGeom prst="line">
            <a:avLst/>
          </a:prstGeom>
          <a:noFill/>
          <a:ln w="6350">
            <a:solidFill>
              <a:srgbClr val="D6DEE1"/>
            </a:solidFill>
            <a:prstDash val="solid"/>
          </a:ln>
        </p:spPr>
      </p:sp>
      <p:sp>
        <p:nvSpPr>
          <p:cNvPr id="12" name="Text 9"/>
          <p:cNvSpPr txBox="1"/>
          <p:nvPr/>
        </p:nvSpPr>
        <p:spPr>
          <a:xfrm>
            <a:off x="8128000" y="3370858"/>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3 · YOU CONFIRM AS OWNER</a:t>
            </a:r>
            <a:endParaRPr lang="en-US" sz="1100" dirty="0"/>
          </a:p>
        </p:txBody>
      </p:sp>
      <p:sp>
        <p:nvSpPr>
          <p:cNvPr id="13" name="Text 10"/>
          <p:cNvSpPr txBox="1"/>
          <p:nvPr/>
        </p:nvSpPr>
        <p:spPr>
          <a:xfrm>
            <a:off x="8128000" y="3567708"/>
            <a:ext cx="3316224" cy="214313"/>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The co-signer re-derives and signs an order.</a:t>
            </a:r>
            <a:endParaRPr lang="en-US" sz="1250" dirty="0"/>
          </a:p>
        </p:txBody>
      </p:sp>
      <p:sp>
        <p:nvSpPr>
          <p:cNvPr id="14" name="Shape 11"/>
          <p:cNvSpPr/>
          <p:nvPr/>
        </p:nvSpPr>
        <p:spPr>
          <a:xfrm>
            <a:off x="8128000" y="3899495"/>
            <a:ext cx="3251200" cy="0"/>
          </a:xfrm>
          <a:prstGeom prst="line">
            <a:avLst/>
          </a:prstGeom>
          <a:noFill/>
          <a:ln w="6350">
            <a:solidFill>
              <a:srgbClr val="D6DEE1"/>
            </a:solidFill>
            <a:prstDash val="solid"/>
          </a:ln>
        </p:spPr>
      </p:sp>
      <p:sp>
        <p:nvSpPr>
          <p:cNvPr id="15" name="Text 12"/>
          <p:cNvSpPr txBox="1"/>
          <p:nvPr/>
        </p:nvSpPr>
        <p:spPr>
          <a:xfrm>
            <a:off x="8128000" y="3991570"/>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4 · THE CHAIN DECIDES</a:t>
            </a:r>
            <a:endParaRPr lang="en-US" sz="1100" dirty="0"/>
          </a:p>
        </p:txBody>
      </p:sp>
      <p:sp>
        <p:nvSpPr>
          <p:cNvPr id="16" name="Text 13"/>
          <p:cNvSpPr txBox="1"/>
          <p:nvPr/>
        </p:nvSpPr>
        <p:spPr>
          <a:xfrm>
            <a:off x="8128000" y="4188420"/>
            <a:ext cx="3316224" cy="428625"/>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Proof checked, transaction mined, balances reconciled: 0.26 ppm from the bound.</a:t>
            </a:r>
            <a:endParaRPr lang="en-US" sz="1250" dirty="0"/>
          </a:p>
        </p:txBody>
      </p:sp>
      <p:sp>
        <p:nvSpPr>
          <p:cNvPr id="17"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Real QED contracts on a testnet sandbox chain · valueless tokens · no wallet needed · screenshot of the app</a:t>
            </a:r>
            <a:endParaRPr lang="en-US" sz="1200" dirty="0"/>
          </a:p>
        </p:txBody>
      </p:sp>
      <p:sp>
        <p:nvSpPr>
          <p:cNvPr id="18"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AUTONOMY · SEPOLIA RUNS 4C AND 4D</a:t>
            </a:r>
            <a:endParaRPr lang="en-US" sz="1200" dirty="0"/>
          </a:p>
        </p:txBody>
      </p:sp>
      <p:sp>
        <p:nvSpPr>
          <p:cNvPr id="3" name="Text 1"/>
          <p:cNvSpPr txBox="1"/>
          <p:nvPr/>
        </p:nvSpPr>
        <p:spPr>
          <a:xfrm>
            <a:off x="812800" y="12001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owner sets the goal. The agent decides how much, and when to stop.</a:t>
            </a:r>
            <a:endParaRPr lang="en-US" sz="3200" dirty="0"/>
          </a:p>
        </p:txBody>
      </p:sp>
      <p:sp>
        <p:nvSpPr>
          <p:cNvPr id="4" name="Shape 2"/>
          <p:cNvSpPr/>
          <p:nvPr/>
        </p:nvSpPr>
        <p:spPr>
          <a:xfrm>
            <a:off x="812800" y="2337991"/>
            <a:ext cx="6096000" cy="1070570"/>
          </a:xfrm>
          <a:prstGeom prst="roundRect">
            <a:avLst>
              <a:gd name="adj" fmla="val 4745"/>
            </a:avLst>
          </a:prstGeom>
          <a:solidFill>
            <a:srgbClr val="13233F"/>
          </a:solidFill>
          <a:ln/>
        </p:spPr>
      </p:sp>
      <p:sp>
        <p:nvSpPr>
          <p:cNvPr id="5" name="Text 3"/>
          <p:cNvSpPr txBox="1"/>
          <p:nvPr/>
        </p:nvSpPr>
        <p:spPr>
          <a:xfrm>
            <a:off x="1016000" y="2515791"/>
            <a:ext cx="5803392"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46C4B0"/>
                </a:solidFill>
                <a:latin typeface="Calibri" pitchFamily="34" charset="0"/>
                <a:ea typeface="Calibri" pitchFamily="34" charset="-122"/>
                <a:cs typeface="Calibri" pitchFamily="34" charset="-120"/>
              </a:rPr>
              <a:t>STANDING POLICY · SIGNED ONCE BY THE OWNER</a:t>
            </a:r>
            <a:endParaRPr lang="en-US" sz="1100" dirty="0"/>
          </a:p>
        </p:txBody>
      </p:sp>
      <p:sp>
        <p:nvSpPr>
          <p:cNvPr id="6" name="Text 4"/>
          <p:cNvSpPr txBox="1"/>
          <p:nvPr/>
        </p:nvSpPr>
        <p:spPr>
          <a:xfrm>
            <a:off x="1016000" y="2750741"/>
            <a:ext cx="5803392" cy="480020"/>
          </a:xfrm>
          <a:prstGeom prst="rect">
            <a:avLst/>
          </a:prstGeom>
          <a:noFill/>
          <a:ln/>
        </p:spPr>
        <p:txBody>
          <a:bodyPr wrap="square" lIns="0" tIns="0" rIns="0" bIns="0" rtlCol="0" anchor="t"/>
          <a:lstStyle/>
          <a:p>
            <a:pPr algn="l" indent="0" marL="0">
              <a:lnSpc>
                <a:spcPts val="1890"/>
              </a:lnSpc>
              <a:buNone/>
            </a:pPr>
            <a:r>
              <a:rPr lang="en-US" sz="1400" dirty="0">
                <a:solidFill>
                  <a:srgbClr val="E4ECF1"/>
                </a:solidFill>
                <a:latin typeface="Calibri" pitchFamily="34" charset="0"/>
                <a:ea typeface="Calibri" pitchFamily="34" charset="-122"/>
                <a:cs typeface="Calibri" pitchFamily="34" charset="-120"/>
              </a:rPr>
              <a:t>Keep at least </a:t>
            </a:r>
            <a:pPr algn="l" indent="0" marL="0">
              <a:lnSpc>
                <a:spcPts val="1890"/>
              </a:lnSpc>
              <a:buNone/>
            </a:pPr>
            <a:r>
              <a:rPr lang="en-US" sz="1400" b="1" dirty="0">
                <a:solidFill>
                  <a:srgbClr val="E4ECF1"/>
                </a:solidFill>
                <a:latin typeface="Calibri" pitchFamily="34" charset="0"/>
                <a:ea typeface="Calibri" pitchFamily="34" charset="-122"/>
                <a:cs typeface="Calibri" pitchFamily="34" charset="-120"/>
              </a:rPr>
              <a:t>45 tEUR</a:t>
            </a:r>
            <a:pPr algn="l" indent="0" marL="0">
              <a:lnSpc>
                <a:spcPts val="1890"/>
              </a:lnSpc>
              <a:buNone/>
            </a:pPr>
            <a:r>
              <a:rPr lang="en-US" sz="1400" dirty="0">
                <a:solidFill>
                  <a:srgbClr val="E4ECF1"/>
                </a:solidFill>
                <a:latin typeface="Calibri" pitchFamily="34" charset="0"/>
                <a:ea typeface="Calibri" pitchFamily="34" charset="-122"/>
                <a:cs typeface="Calibri" pitchFamily="34" charset="-120"/>
              </a:rPr>
              <a:t> free in the euro reserve. Tranches of 2–25 tUSD. At most 150 bps cost each.</a:t>
            </a:r>
            <a:endParaRPr lang="en-US" sz="1400" dirty="0"/>
          </a:p>
        </p:txBody>
      </p:sp>
      <p:sp>
        <p:nvSpPr>
          <p:cNvPr id="7" name="Shape 5"/>
          <p:cNvSpPr/>
          <p:nvPr/>
        </p:nvSpPr>
        <p:spPr>
          <a:xfrm>
            <a:off x="812800" y="3526036"/>
            <a:ext cx="6096000" cy="0"/>
          </a:xfrm>
          <a:prstGeom prst="line">
            <a:avLst/>
          </a:prstGeom>
          <a:noFill/>
          <a:ln w="6350">
            <a:solidFill>
              <a:srgbClr val="D6DEE1"/>
            </a:solidFill>
            <a:prstDash val="solid"/>
          </a:ln>
        </p:spPr>
      </p:sp>
      <p:sp>
        <p:nvSpPr>
          <p:cNvPr id="8" name="Text 6"/>
          <p:cNvSpPr txBox="1"/>
          <p:nvPr/>
        </p:nvSpPr>
        <p:spPr>
          <a:xfrm>
            <a:off x="812800" y="3630811"/>
            <a:ext cx="749300" cy="222845"/>
          </a:xfrm>
          <a:prstGeom prst="rect">
            <a:avLst/>
          </a:prstGeom>
          <a:noFill/>
          <a:ln/>
        </p:spPr>
        <p:txBody>
          <a:bodyPr wrap="square" lIns="0" tIns="0" rIns="0" bIns="0" rtlCol="0" anchor="t"/>
          <a:lstStyle/>
          <a:p>
            <a:pPr algn="l" indent="0" marL="0">
              <a:lnSpc>
                <a:spcPts val="1560"/>
              </a:lnSpc>
              <a:buNone/>
            </a:pPr>
            <a:r>
              <a:rPr lang="en-US" sz="1300" b="1" dirty="0">
                <a:solidFill>
                  <a:srgbClr val="0A7468"/>
                </a:solidFill>
                <a:latin typeface="Calibri" pitchFamily="34" charset="0"/>
                <a:ea typeface="Calibri" pitchFamily="34" charset="-122"/>
                <a:cs typeface="Calibri" pitchFamily="34" charset="-120"/>
              </a:rPr>
              <a:t>Tick 1</a:t>
            </a:r>
            <a:endParaRPr lang="en-US" sz="1300" dirty="0"/>
          </a:p>
        </p:txBody>
      </p:sp>
      <p:sp>
        <p:nvSpPr>
          <p:cNvPr id="9" name="Text 7"/>
          <p:cNvSpPr txBox="1"/>
          <p:nvPr/>
        </p:nvSpPr>
        <p:spPr>
          <a:xfrm>
            <a:off x="1638300" y="3630811"/>
            <a:ext cx="4792980" cy="222885"/>
          </a:xfrm>
          <a:prstGeom prst="rect">
            <a:avLst/>
          </a:prstGeom>
          <a:noFill/>
          <a:ln/>
        </p:spPr>
        <p:txBody>
          <a:bodyPr wrap="square" lIns="0" tIns="0" rIns="0" bIns="0" rtlCol="0" anchor="t"/>
          <a:lstStyle/>
          <a:p>
            <a:pPr algn="l" indent="0" marL="0">
              <a:lnSpc>
                <a:spcPts val="1760"/>
              </a:lnSpc>
              <a:buNone/>
            </a:pPr>
            <a:r>
              <a:rPr lang="en-US" sz="1300" dirty="0">
                <a:solidFill>
                  <a:srgbClr val="13233F"/>
                </a:solidFill>
                <a:latin typeface="Calibri" pitchFamily="34" charset="0"/>
                <a:ea typeface="Calibri" pitchFamily="34" charset="-122"/>
                <a:cs typeface="Calibri" pitchFamily="34" charset="-120"/>
              </a:rPr>
              <a:t>Short 24.30 tEUR. Converts 19.54 tUSD, limited by market impact.</a:t>
            </a:r>
            <a:endParaRPr lang="en-US" sz="1300" dirty="0"/>
          </a:p>
        </p:txBody>
      </p:sp>
      <p:sp>
        <p:nvSpPr>
          <p:cNvPr id="10" name="Text 8"/>
          <p:cNvSpPr txBox="1"/>
          <p:nvPr/>
        </p:nvSpPr>
        <p:spPr>
          <a:xfrm>
            <a:off x="6413500" y="3630811"/>
            <a:ext cx="495300" cy="222845"/>
          </a:xfrm>
          <a:prstGeom prst="rect">
            <a:avLst/>
          </a:prstGeom>
          <a:noFill/>
          <a:ln/>
        </p:spPr>
        <p:txBody>
          <a:bodyPr wrap="square" lIns="0" tIns="0" rIns="0" bIns="0" rtlCol="0" anchor="t"/>
          <a:lstStyle/>
          <a:p>
            <a:pPr algn="r" indent="0" marL="0">
              <a:lnSpc>
                <a:spcPts val="1320"/>
              </a:lnSpc>
              <a:buNone/>
            </a:pPr>
            <a:r>
              <a:rPr lang="en-US" sz="1100" dirty="0">
                <a:solidFill>
                  <a:srgbClr val="4E6074"/>
                </a:solidFill>
                <a:latin typeface="Courier New" pitchFamily="34" charset="0"/>
                <a:ea typeface="Courier New" pitchFamily="34" charset="-122"/>
                <a:cs typeface="Courier New" pitchFamily="34" charset="-120"/>
              </a:rPr>
              <a:t>PE1</a:t>
            </a:r>
            <a:endParaRPr lang="en-US" sz="1100" dirty="0"/>
          </a:p>
        </p:txBody>
      </p:sp>
      <p:sp>
        <p:nvSpPr>
          <p:cNvPr id="11" name="Shape 9"/>
          <p:cNvSpPr/>
          <p:nvPr/>
        </p:nvSpPr>
        <p:spPr>
          <a:xfrm>
            <a:off x="812800" y="3971131"/>
            <a:ext cx="6096000" cy="0"/>
          </a:xfrm>
          <a:prstGeom prst="line">
            <a:avLst/>
          </a:prstGeom>
          <a:noFill/>
          <a:ln w="6350">
            <a:solidFill>
              <a:srgbClr val="D6DEE1"/>
            </a:solidFill>
            <a:prstDash val="solid"/>
          </a:ln>
        </p:spPr>
      </p:sp>
      <p:sp>
        <p:nvSpPr>
          <p:cNvPr id="12" name="Text 10"/>
          <p:cNvSpPr txBox="1"/>
          <p:nvPr/>
        </p:nvSpPr>
        <p:spPr>
          <a:xfrm>
            <a:off x="812800" y="4075906"/>
            <a:ext cx="749300" cy="222845"/>
          </a:xfrm>
          <a:prstGeom prst="rect">
            <a:avLst/>
          </a:prstGeom>
          <a:noFill/>
          <a:ln/>
        </p:spPr>
        <p:txBody>
          <a:bodyPr wrap="square" lIns="0" tIns="0" rIns="0" bIns="0" rtlCol="0" anchor="t"/>
          <a:lstStyle/>
          <a:p>
            <a:pPr algn="l" indent="0" marL="0">
              <a:lnSpc>
                <a:spcPts val="1560"/>
              </a:lnSpc>
              <a:buNone/>
            </a:pPr>
            <a:r>
              <a:rPr lang="en-US" sz="1300" b="1" dirty="0">
                <a:solidFill>
                  <a:srgbClr val="0A7468"/>
                </a:solidFill>
                <a:latin typeface="Calibri" pitchFamily="34" charset="0"/>
                <a:ea typeface="Calibri" pitchFamily="34" charset="-122"/>
                <a:cs typeface="Calibri" pitchFamily="34" charset="-120"/>
              </a:rPr>
              <a:t>Tick 2</a:t>
            </a:r>
            <a:endParaRPr lang="en-US" sz="1300" dirty="0"/>
          </a:p>
        </p:txBody>
      </p:sp>
      <p:sp>
        <p:nvSpPr>
          <p:cNvPr id="13" name="Text 11"/>
          <p:cNvSpPr txBox="1"/>
          <p:nvPr/>
        </p:nvSpPr>
        <p:spPr>
          <a:xfrm>
            <a:off x="1638300" y="4075906"/>
            <a:ext cx="4792980" cy="222885"/>
          </a:xfrm>
          <a:prstGeom prst="rect">
            <a:avLst/>
          </a:prstGeom>
          <a:noFill/>
          <a:ln/>
        </p:spPr>
        <p:txBody>
          <a:bodyPr wrap="square" lIns="0" tIns="0" rIns="0" bIns="0" rtlCol="0" anchor="t"/>
          <a:lstStyle/>
          <a:p>
            <a:pPr algn="l" indent="0" marL="0">
              <a:lnSpc>
                <a:spcPts val="1760"/>
              </a:lnSpc>
              <a:buNone/>
            </a:pPr>
            <a:r>
              <a:rPr lang="en-US" sz="1300" dirty="0">
                <a:solidFill>
                  <a:srgbClr val="13233F"/>
                </a:solidFill>
                <a:latin typeface="Calibri" pitchFamily="34" charset="0"/>
                <a:ea typeface="Calibri" pitchFamily="34" charset="-122"/>
                <a:cs typeface="Calibri" pitchFamily="34" charset="-120"/>
              </a:rPr>
              <a:t>Short 7.48 tEUR. Converts 8.84 tUSD, limited by need.</a:t>
            </a:r>
            <a:endParaRPr lang="en-US" sz="1300" dirty="0"/>
          </a:p>
        </p:txBody>
      </p:sp>
      <p:sp>
        <p:nvSpPr>
          <p:cNvPr id="14" name="Text 12"/>
          <p:cNvSpPr txBox="1"/>
          <p:nvPr/>
        </p:nvSpPr>
        <p:spPr>
          <a:xfrm>
            <a:off x="6413500" y="4075906"/>
            <a:ext cx="495300" cy="222845"/>
          </a:xfrm>
          <a:prstGeom prst="rect">
            <a:avLst/>
          </a:prstGeom>
          <a:noFill/>
          <a:ln/>
        </p:spPr>
        <p:txBody>
          <a:bodyPr wrap="square" lIns="0" tIns="0" rIns="0" bIns="0" rtlCol="0" anchor="t"/>
          <a:lstStyle/>
          <a:p>
            <a:pPr algn="r" indent="0" marL="0">
              <a:lnSpc>
                <a:spcPts val="1320"/>
              </a:lnSpc>
              <a:buNone/>
            </a:pPr>
            <a:r>
              <a:rPr lang="en-US" sz="1100" dirty="0">
                <a:solidFill>
                  <a:srgbClr val="4E6074"/>
                </a:solidFill>
                <a:latin typeface="Courier New" pitchFamily="34" charset="0"/>
                <a:ea typeface="Courier New" pitchFamily="34" charset="-122"/>
                <a:cs typeface="Courier New" pitchFamily="34" charset="-120"/>
              </a:rPr>
              <a:t>PE2</a:t>
            </a:r>
            <a:endParaRPr lang="en-US" sz="1100" dirty="0"/>
          </a:p>
        </p:txBody>
      </p:sp>
      <p:sp>
        <p:nvSpPr>
          <p:cNvPr id="15" name="Shape 13"/>
          <p:cNvSpPr/>
          <p:nvPr/>
        </p:nvSpPr>
        <p:spPr>
          <a:xfrm>
            <a:off x="812800" y="4416227"/>
            <a:ext cx="6096000" cy="0"/>
          </a:xfrm>
          <a:prstGeom prst="line">
            <a:avLst/>
          </a:prstGeom>
          <a:noFill/>
          <a:ln w="6350">
            <a:solidFill>
              <a:srgbClr val="D6DEE1"/>
            </a:solidFill>
            <a:prstDash val="solid"/>
          </a:ln>
        </p:spPr>
      </p:sp>
      <p:sp>
        <p:nvSpPr>
          <p:cNvPr id="16" name="Text 14"/>
          <p:cNvSpPr txBox="1"/>
          <p:nvPr/>
        </p:nvSpPr>
        <p:spPr>
          <a:xfrm>
            <a:off x="812800" y="4521002"/>
            <a:ext cx="749300" cy="222845"/>
          </a:xfrm>
          <a:prstGeom prst="rect">
            <a:avLst/>
          </a:prstGeom>
          <a:noFill/>
          <a:ln/>
        </p:spPr>
        <p:txBody>
          <a:bodyPr wrap="square" lIns="0" tIns="0" rIns="0" bIns="0" rtlCol="0" anchor="t"/>
          <a:lstStyle/>
          <a:p>
            <a:pPr algn="l" indent="0" marL="0">
              <a:lnSpc>
                <a:spcPts val="1560"/>
              </a:lnSpc>
              <a:buNone/>
            </a:pPr>
            <a:r>
              <a:rPr lang="en-US" sz="1300" b="1" dirty="0">
                <a:solidFill>
                  <a:srgbClr val="0A7468"/>
                </a:solidFill>
                <a:latin typeface="Calibri" pitchFamily="34" charset="0"/>
                <a:ea typeface="Calibri" pitchFamily="34" charset="-122"/>
                <a:cs typeface="Calibri" pitchFamily="34" charset="-120"/>
              </a:rPr>
              <a:t>Tick 3</a:t>
            </a:r>
            <a:endParaRPr lang="en-US" sz="1300" dirty="0"/>
          </a:p>
        </p:txBody>
      </p:sp>
      <p:sp>
        <p:nvSpPr>
          <p:cNvPr id="17" name="Text 15"/>
          <p:cNvSpPr txBox="1"/>
          <p:nvPr/>
        </p:nvSpPr>
        <p:spPr>
          <a:xfrm>
            <a:off x="1638300" y="4521002"/>
            <a:ext cx="4792980" cy="222885"/>
          </a:xfrm>
          <a:prstGeom prst="rect">
            <a:avLst/>
          </a:prstGeom>
          <a:noFill/>
          <a:ln/>
        </p:spPr>
        <p:txBody>
          <a:bodyPr wrap="square" lIns="0" tIns="0" rIns="0" bIns="0" rtlCol="0" anchor="t"/>
          <a:lstStyle/>
          <a:p>
            <a:pPr algn="l" indent="0" marL="0">
              <a:lnSpc>
                <a:spcPts val="1760"/>
              </a:lnSpc>
              <a:buNone/>
            </a:pPr>
            <a:r>
              <a:rPr lang="en-US" sz="1300" dirty="0">
                <a:solidFill>
                  <a:srgbClr val="13233F"/>
                </a:solidFill>
                <a:latin typeface="Calibri" pitchFamily="34" charset="0"/>
                <a:ea typeface="Calibri" pitchFamily="34" charset="-122"/>
                <a:cs typeface="Calibri" pitchFamily="34" charset="-120"/>
              </a:rPr>
              <a:t>Target met. Sends nothing.</a:t>
            </a:r>
            <a:endParaRPr lang="en-US" sz="1300" dirty="0"/>
          </a:p>
        </p:txBody>
      </p:sp>
      <p:sp>
        <p:nvSpPr>
          <p:cNvPr id="18" name="Text 16"/>
          <p:cNvSpPr txBox="1"/>
          <p:nvPr/>
        </p:nvSpPr>
        <p:spPr>
          <a:xfrm>
            <a:off x="7315200" y="2337991"/>
            <a:ext cx="4145280" cy="171450"/>
          </a:xfrm>
          <a:prstGeom prst="rect">
            <a:avLst/>
          </a:prstGeom>
          <a:noFill/>
          <a:ln/>
        </p:spPr>
        <p:txBody>
          <a:bodyPr wrap="square" lIns="0" tIns="0" rIns="0" bIns="0" rtlCol="0" anchor="t"/>
          <a:lstStyle/>
          <a:p>
            <a:pPr algn="l" indent="0" marL="0">
              <a:lnSpc>
                <a:spcPts val="1320"/>
              </a:lnSpc>
              <a:buNone/>
            </a:pPr>
            <a:r>
              <a:rPr lang="en-US" sz="1100" b="1" dirty="0">
                <a:solidFill>
                  <a:srgbClr val="4E6074"/>
                </a:solidFill>
                <a:latin typeface="Calibri" pitchFamily="34" charset="0"/>
                <a:ea typeface="Calibri" pitchFamily="34" charset="-122"/>
                <a:cs typeface="Calibri" pitchFamily="34" charset="-120"/>
              </a:rPr>
              <a:t>Free tEUR in the reserve · target 45</a:t>
            </a:r>
            <a:endParaRPr lang="en-US" sz="1100" dirty="0"/>
          </a:p>
        </p:txBody>
      </p:sp>
      <p:sp>
        <p:nvSpPr>
          <p:cNvPr id="19" name="Shape 17"/>
          <p:cNvSpPr/>
          <p:nvPr/>
        </p:nvSpPr>
        <p:spPr>
          <a:xfrm>
            <a:off x="7315200" y="5538391"/>
            <a:ext cx="4064000" cy="0"/>
          </a:xfrm>
          <a:prstGeom prst="line">
            <a:avLst/>
          </a:prstGeom>
          <a:noFill/>
          <a:ln w="12700">
            <a:solidFill>
              <a:srgbClr val="13233F"/>
            </a:solidFill>
            <a:prstDash val="solid"/>
          </a:ln>
        </p:spPr>
      </p:sp>
      <p:sp>
        <p:nvSpPr>
          <p:cNvPr id="20" name="Text 18"/>
          <p:cNvSpPr txBox="1"/>
          <p:nvPr/>
        </p:nvSpPr>
        <p:spPr>
          <a:xfrm>
            <a:off x="7569696" y="3944541"/>
            <a:ext cx="494209" cy="243840"/>
          </a:xfrm>
          <a:prstGeom prst="rect">
            <a:avLst/>
          </a:prstGeom>
          <a:noFill/>
          <a:ln/>
        </p:spPr>
        <p:txBody>
          <a:bodyPr wrap="square" lIns="0" tIns="0" rIns="0" bIns="0" rtlCol="0" anchor="t"/>
          <a:lstStyle/>
          <a:p>
            <a:pPr algn="l" indent="0" marL="0">
              <a:lnSpc>
                <a:spcPts val="1920"/>
              </a:lnSpc>
              <a:buNone/>
            </a:pPr>
            <a:r>
              <a:rPr lang="en-US" sz="1600" dirty="0">
                <a:solidFill>
                  <a:srgbClr val="13233F"/>
                </a:solidFill>
                <a:latin typeface="Cambria" pitchFamily="34" charset="0"/>
                <a:ea typeface="Cambria" pitchFamily="34" charset="-122"/>
                <a:cs typeface="Cambria" pitchFamily="34" charset="-120"/>
              </a:rPr>
              <a:t>20.70</a:t>
            </a:r>
            <a:endParaRPr lang="en-US" sz="1600" dirty="0"/>
          </a:p>
        </p:txBody>
      </p:sp>
      <p:sp>
        <p:nvSpPr>
          <p:cNvPr id="21" name="Shape 19"/>
          <p:cNvSpPr/>
          <p:nvPr/>
        </p:nvSpPr>
        <p:spPr>
          <a:xfrm>
            <a:off x="7442200" y="4242991"/>
            <a:ext cx="698500" cy="1054100"/>
          </a:xfrm>
          <a:prstGeom prst="roundRect">
            <a:avLst>
              <a:gd name="adj" fmla="val 3636"/>
            </a:avLst>
          </a:prstGeom>
          <a:solidFill>
            <a:srgbClr val="9FB0BE"/>
          </a:solidFill>
          <a:ln/>
        </p:spPr>
      </p:sp>
      <p:sp>
        <p:nvSpPr>
          <p:cNvPr id="22" name="Text 20"/>
          <p:cNvSpPr txBox="1"/>
          <p:nvPr/>
        </p:nvSpPr>
        <p:spPr>
          <a:xfrm>
            <a:off x="7630120" y="5360591"/>
            <a:ext cx="322560" cy="171450"/>
          </a:xfrm>
          <a:prstGeom prst="rect">
            <a:avLst/>
          </a:prstGeom>
          <a:noFill/>
          <a:ln/>
        </p:spPr>
        <p:txBody>
          <a:bodyPr wrap="square" lIns="0" tIns="0" rIns="0" bIns="0" rtlCol="0" anchor="t"/>
          <a:lstStyle/>
          <a:p>
            <a:pPr algn="ctr" indent="0" marL="0">
              <a:lnSpc>
                <a:spcPts val="1320"/>
              </a:lnSpc>
              <a:buNone/>
            </a:pPr>
            <a:r>
              <a:rPr lang="en-US" sz="1100" dirty="0">
                <a:solidFill>
                  <a:srgbClr val="4E6074"/>
                </a:solidFill>
                <a:latin typeface="Calibri" pitchFamily="34" charset="0"/>
                <a:ea typeface="Calibri" pitchFamily="34" charset="-122"/>
                <a:cs typeface="Calibri" pitchFamily="34" charset="-120"/>
              </a:rPr>
              <a:t>Start</a:t>
            </a:r>
            <a:endParaRPr lang="en-US" sz="1100" dirty="0"/>
          </a:p>
        </p:txBody>
      </p:sp>
      <p:sp>
        <p:nvSpPr>
          <p:cNvPr id="23" name="Text 21"/>
          <p:cNvSpPr txBox="1"/>
          <p:nvPr/>
        </p:nvSpPr>
        <p:spPr>
          <a:xfrm>
            <a:off x="8582918" y="3093641"/>
            <a:ext cx="474365" cy="243840"/>
          </a:xfrm>
          <a:prstGeom prst="rect">
            <a:avLst/>
          </a:prstGeom>
          <a:noFill/>
          <a:ln/>
        </p:spPr>
        <p:txBody>
          <a:bodyPr wrap="square" lIns="0" tIns="0" rIns="0" bIns="0" rtlCol="0" anchor="t"/>
          <a:lstStyle/>
          <a:p>
            <a:pPr algn="l" indent="0" marL="0">
              <a:lnSpc>
                <a:spcPts val="1920"/>
              </a:lnSpc>
              <a:buNone/>
            </a:pPr>
            <a:r>
              <a:rPr lang="en-US" sz="1600" dirty="0">
                <a:solidFill>
                  <a:srgbClr val="13233F"/>
                </a:solidFill>
                <a:latin typeface="Cambria" pitchFamily="34" charset="0"/>
                <a:ea typeface="Cambria" pitchFamily="34" charset="-122"/>
                <a:cs typeface="Cambria" pitchFamily="34" charset="-120"/>
              </a:rPr>
              <a:t>37.52</a:t>
            </a:r>
            <a:endParaRPr lang="en-US" sz="1600" dirty="0"/>
          </a:p>
        </p:txBody>
      </p:sp>
      <p:sp>
        <p:nvSpPr>
          <p:cNvPr id="24" name="Shape 22"/>
          <p:cNvSpPr/>
          <p:nvPr/>
        </p:nvSpPr>
        <p:spPr>
          <a:xfrm>
            <a:off x="8445500" y="3392091"/>
            <a:ext cx="698500" cy="1905000"/>
          </a:xfrm>
          <a:prstGeom prst="roundRect">
            <a:avLst>
              <a:gd name="adj" fmla="val 3636"/>
            </a:avLst>
          </a:prstGeom>
          <a:solidFill>
            <a:srgbClr val="46C4B0"/>
          </a:solidFill>
          <a:ln/>
        </p:spPr>
      </p:sp>
      <p:sp>
        <p:nvSpPr>
          <p:cNvPr id="25" name="Text 23"/>
          <p:cNvSpPr txBox="1"/>
          <p:nvPr/>
        </p:nvSpPr>
        <p:spPr>
          <a:xfrm>
            <a:off x="8460284" y="5360591"/>
            <a:ext cx="668834" cy="171450"/>
          </a:xfrm>
          <a:prstGeom prst="rect">
            <a:avLst/>
          </a:prstGeom>
          <a:noFill/>
          <a:ln/>
        </p:spPr>
        <p:txBody>
          <a:bodyPr wrap="square" lIns="0" tIns="0" rIns="0" bIns="0" rtlCol="0" anchor="t"/>
          <a:lstStyle/>
          <a:p>
            <a:pPr algn="ctr" indent="0" marL="0">
              <a:lnSpc>
                <a:spcPts val="1320"/>
              </a:lnSpc>
              <a:buNone/>
            </a:pPr>
            <a:r>
              <a:rPr lang="en-US" sz="1100" dirty="0">
                <a:solidFill>
                  <a:srgbClr val="4E6074"/>
                </a:solidFill>
                <a:latin typeface="Calibri" pitchFamily="34" charset="0"/>
                <a:ea typeface="Calibri" pitchFamily="34" charset="-122"/>
                <a:cs typeface="Calibri" pitchFamily="34" charset="-120"/>
              </a:rPr>
              <a:t>After tick 1</a:t>
            </a:r>
            <a:endParaRPr lang="en-US" sz="1100" dirty="0"/>
          </a:p>
        </p:txBody>
      </p:sp>
      <p:sp>
        <p:nvSpPr>
          <p:cNvPr id="26" name="Text 24"/>
          <p:cNvSpPr txBox="1"/>
          <p:nvPr/>
        </p:nvSpPr>
        <p:spPr>
          <a:xfrm>
            <a:off x="9573816" y="2712641"/>
            <a:ext cx="499269" cy="243840"/>
          </a:xfrm>
          <a:prstGeom prst="rect">
            <a:avLst/>
          </a:prstGeom>
          <a:noFill/>
          <a:ln/>
        </p:spPr>
        <p:txBody>
          <a:bodyPr wrap="square" lIns="0" tIns="0" rIns="0" bIns="0" rtlCol="0" anchor="t"/>
          <a:lstStyle/>
          <a:p>
            <a:pPr algn="l" indent="0" marL="0">
              <a:lnSpc>
                <a:spcPts val="1920"/>
              </a:lnSpc>
              <a:buNone/>
            </a:pPr>
            <a:r>
              <a:rPr lang="en-US" sz="1600" dirty="0">
                <a:solidFill>
                  <a:srgbClr val="13233F"/>
                </a:solidFill>
                <a:latin typeface="Cambria" pitchFamily="34" charset="0"/>
                <a:ea typeface="Cambria" pitchFamily="34" charset="-122"/>
                <a:cs typeface="Cambria" pitchFamily="34" charset="-120"/>
              </a:rPr>
              <a:t>45.00</a:t>
            </a:r>
            <a:endParaRPr lang="en-US" sz="1600" dirty="0"/>
          </a:p>
        </p:txBody>
      </p:sp>
      <p:sp>
        <p:nvSpPr>
          <p:cNvPr id="27" name="Shape 25"/>
          <p:cNvSpPr/>
          <p:nvPr/>
        </p:nvSpPr>
        <p:spPr>
          <a:xfrm>
            <a:off x="9448800" y="3011091"/>
            <a:ext cx="698500" cy="2286000"/>
          </a:xfrm>
          <a:prstGeom prst="roundRect">
            <a:avLst>
              <a:gd name="adj" fmla="val 3636"/>
            </a:avLst>
          </a:prstGeom>
          <a:solidFill>
            <a:srgbClr val="0A7468"/>
          </a:solidFill>
          <a:ln/>
        </p:spPr>
      </p:sp>
      <p:sp>
        <p:nvSpPr>
          <p:cNvPr id="28" name="Text 26"/>
          <p:cNvSpPr txBox="1"/>
          <p:nvPr/>
        </p:nvSpPr>
        <p:spPr>
          <a:xfrm>
            <a:off x="9463584" y="5360591"/>
            <a:ext cx="668834" cy="171450"/>
          </a:xfrm>
          <a:prstGeom prst="rect">
            <a:avLst/>
          </a:prstGeom>
          <a:noFill/>
          <a:ln/>
        </p:spPr>
        <p:txBody>
          <a:bodyPr wrap="square" lIns="0" tIns="0" rIns="0" bIns="0" rtlCol="0" anchor="t"/>
          <a:lstStyle/>
          <a:p>
            <a:pPr algn="ctr" indent="0" marL="0">
              <a:lnSpc>
                <a:spcPts val="1320"/>
              </a:lnSpc>
              <a:buNone/>
            </a:pPr>
            <a:r>
              <a:rPr lang="en-US" sz="1100" dirty="0">
                <a:solidFill>
                  <a:srgbClr val="4E6074"/>
                </a:solidFill>
                <a:latin typeface="Calibri" pitchFamily="34" charset="0"/>
                <a:ea typeface="Calibri" pitchFamily="34" charset="-122"/>
                <a:cs typeface="Calibri" pitchFamily="34" charset="-120"/>
              </a:rPr>
              <a:t>After tick 2</a:t>
            </a:r>
            <a:endParaRPr lang="en-US" sz="1100" dirty="0"/>
          </a:p>
        </p:txBody>
      </p:sp>
      <p:sp>
        <p:nvSpPr>
          <p:cNvPr id="29" name="Text 27"/>
          <p:cNvSpPr txBox="1"/>
          <p:nvPr/>
        </p:nvSpPr>
        <p:spPr>
          <a:xfrm>
            <a:off x="10577116" y="2712641"/>
            <a:ext cx="499269" cy="243840"/>
          </a:xfrm>
          <a:prstGeom prst="rect">
            <a:avLst/>
          </a:prstGeom>
          <a:noFill/>
          <a:ln/>
        </p:spPr>
        <p:txBody>
          <a:bodyPr wrap="square" lIns="0" tIns="0" rIns="0" bIns="0" rtlCol="0" anchor="t"/>
          <a:lstStyle/>
          <a:p>
            <a:pPr algn="l" indent="0" marL="0">
              <a:lnSpc>
                <a:spcPts val="1920"/>
              </a:lnSpc>
              <a:buNone/>
            </a:pPr>
            <a:r>
              <a:rPr lang="en-US" sz="1600" dirty="0">
                <a:solidFill>
                  <a:srgbClr val="13233F"/>
                </a:solidFill>
                <a:latin typeface="Cambria" pitchFamily="34" charset="0"/>
                <a:ea typeface="Cambria" pitchFamily="34" charset="-122"/>
                <a:cs typeface="Cambria" pitchFamily="34" charset="-120"/>
              </a:rPr>
              <a:t>45.00</a:t>
            </a:r>
            <a:endParaRPr lang="en-US" sz="1600" dirty="0"/>
          </a:p>
        </p:txBody>
      </p:sp>
      <p:sp>
        <p:nvSpPr>
          <p:cNvPr id="30" name="Shape 28"/>
          <p:cNvSpPr/>
          <p:nvPr/>
        </p:nvSpPr>
        <p:spPr>
          <a:xfrm>
            <a:off x="10452100" y="3011091"/>
            <a:ext cx="698500" cy="2286000"/>
          </a:xfrm>
          <a:prstGeom prst="roundRect">
            <a:avLst>
              <a:gd name="adj" fmla="val 3636"/>
            </a:avLst>
          </a:prstGeom>
          <a:solidFill>
            <a:srgbClr val="0A7468"/>
          </a:solidFill>
          <a:ln/>
        </p:spPr>
      </p:sp>
      <p:sp>
        <p:nvSpPr>
          <p:cNvPr id="31" name="Text 29"/>
          <p:cNvSpPr txBox="1"/>
          <p:nvPr/>
        </p:nvSpPr>
        <p:spPr>
          <a:xfrm>
            <a:off x="10429081" y="5360591"/>
            <a:ext cx="744438" cy="171450"/>
          </a:xfrm>
          <a:prstGeom prst="rect">
            <a:avLst/>
          </a:prstGeom>
          <a:noFill/>
          <a:ln/>
        </p:spPr>
        <p:txBody>
          <a:bodyPr wrap="square" lIns="0" tIns="0" rIns="0" bIns="0" rtlCol="0" anchor="t"/>
          <a:lstStyle/>
          <a:p>
            <a:pPr algn="ctr" indent="0" marL="0">
              <a:lnSpc>
                <a:spcPts val="1320"/>
              </a:lnSpc>
              <a:buNone/>
            </a:pPr>
            <a:r>
              <a:rPr lang="en-US" sz="1100" dirty="0">
                <a:solidFill>
                  <a:srgbClr val="4E6074"/>
                </a:solidFill>
                <a:latin typeface="Calibri" pitchFamily="34" charset="0"/>
                <a:ea typeface="Calibri" pitchFamily="34" charset="-122"/>
                <a:cs typeface="Calibri" pitchFamily="34" charset="-120"/>
              </a:rPr>
              <a:t>Tick 3: stops</a:t>
            </a:r>
            <a:endParaRPr lang="en-US" sz="1100" dirty="0"/>
          </a:p>
        </p:txBody>
      </p:sp>
      <p:sp>
        <p:nvSpPr>
          <p:cNvPr id="32" name="Text 30"/>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With both hot keys stolen, the on-chain policy still refused over-conversion (QA2) · try it in the app: Treasury</a:t>
            </a:r>
            <a:endParaRPr lang="en-US" sz="1200" dirty="0"/>
          </a:p>
        </p:txBody>
      </p:sp>
      <p:sp>
        <p:nvSpPr>
          <p:cNvPr id="33" name="Text 31"/>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SECURITY UNDER ATTACK · PUBLIC SEPOLIA RECEIPTS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We attacked it with stolen keys. The chain said no.</a:t>
            </a:r>
            <a:endParaRPr lang="en-US" sz="3200" dirty="0"/>
          </a:p>
        </p:txBody>
      </p:sp>
      <p:sp>
        <p:nvSpPr>
          <p:cNvPr id="4" name="Shape 2"/>
          <p:cNvSpPr/>
          <p:nvPr/>
        </p:nvSpPr>
        <p:spPr>
          <a:xfrm>
            <a:off x="812800" y="1870670"/>
            <a:ext cx="3403600" cy="2768600"/>
          </a:xfrm>
          <a:prstGeom prst="roundRect">
            <a:avLst>
              <a:gd name="adj" fmla="val 1835"/>
            </a:avLst>
          </a:prstGeom>
          <a:solidFill>
            <a:srgbClr val="FFFFFF"/>
          </a:solidFill>
          <a:ln w="6350">
            <a:solidFill>
              <a:srgbClr val="D6DEE1"/>
            </a:solidFill>
            <a:prstDash val="solid"/>
          </a:ln>
        </p:spPr>
      </p:sp>
      <p:sp>
        <p:nvSpPr>
          <p:cNvPr id="5" name="Text 3"/>
          <p:cNvSpPr txBox="1"/>
          <p:nvPr/>
        </p:nvSpPr>
        <p:spPr>
          <a:xfrm>
            <a:off x="1022350" y="2080220"/>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B1262E"/>
                </a:solidFill>
                <a:latin typeface="Calibri" pitchFamily="34" charset="0"/>
                <a:ea typeface="Calibri" pitchFamily="34" charset="-122"/>
                <a:cs typeface="Calibri" pitchFamily="34" charset="-120"/>
              </a:rPr>
              <a:t>ATTACK 1</a:t>
            </a:r>
            <a:endParaRPr lang="en-US" sz="1100" dirty="0"/>
          </a:p>
        </p:txBody>
      </p:sp>
      <p:sp>
        <p:nvSpPr>
          <p:cNvPr id="6" name="Text 4"/>
          <p:cNvSpPr txBox="1"/>
          <p:nvPr/>
        </p:nvSpPr>
        <p:spPr>
          <a:xfrm>
            <a:off x="1022350" y="2353270"/>
            <a:ext cx="3044190" cy="320040"/>
          </a:xfrm>
          <a:prstGeom prst="rect">
            <a:avLst/>
          </a:prstGeom>
          <a:noFill/>
          <a:ln/>
        </p:spPr>
        <p:txBody>
          <a:bodyPr wrap="square" lIns="0" tIns="0" rIns="0" bIns="0" rtlCol="0" anchor="t"/>
          <a:lstStyle/>
          <a:p>
            <a:pPr algn="l" indent="0" marL="0">
              <a:lnSpc>
                <a:spcPts val="2520"/>
              </a:lnSpc>
              <a:buNone/>
            </a:pPr>
            <a:r>
              <a:rPr lang="en-US" sz="2100" dirty="0">
                <a:solidFill>
                  <a:srgbClr val="13233F"/>
                </a:solidFill>
                <a:latin typeface="Cambria" pitchFamily="34" charset="0"/>
                <a:ea typeface="Cambria" pitchFamily="34" charset="-122"/>
                <a:cs typeface="Cambria" pitchFamily="34" charset="-120"/>
              </a:rPr>
              <a:t>A worse route</a:t>
            </a:r>
            <a:endParaRPr lang="en-US" sz="2100" dirty="0"/>
          </a:p>
        </p:txBody>
      </p:sp>
      <p:sp>
        <p:nvSpPr>
          <p:cNvPr id="7" name="Text 5"/>
          <p:cNvSpPr txBox="1"/>
          <p:nvPr/>
        </p:nvSpPr>
        <p:spPr>
          <a:xfrm>
            <a:off x="1022350" y="2766020"/>
            <a:ext cx="3044190" cy="666750"/>
          </a:xfrm>
          <a:prstGeom prst="rect">
            <a:avLst/>
          </a:prstGeom>
          <a:noFill/>
          <a:ln/>
        </p:spPr>
        <p:txBody>
          <a:bodyPr wrap="square" lIns="0" tIns="0" rIns="0" bIns="0" rtlCol="0" anchor="t"/>
          <a:lstStyle/>
          <a:p>
            <a:pPr algn="l" indent="0" marL="0">
              <a:lnSpc>
                <a:spcPts val="1750"/>
              </a:lnSpc>
              <a:buNone/>
            </a:pPr>
            <a:r>
              <a:rPr lang="en-US" sz="1250" dirty="0">
                <a:solidFill>
                  <a:srgbClr val="4E6074"/>
                </a:solidFill>
                <a:latin typeface="Calibri" pitchFamily="34" charset="0"/>
                <a:ea typeface="Calibri" pitchFamily="34" charset="-122"/>
                <a:cs typeface="Calibri" pitchFamily="34" charset="-120"/>
              </a:rPr>
              <a:t>A compromised agent routes through the direct pools only: 33 bps below the bound, yet above a 1% slippage floor.</a:t>
            </a:r>
            <a:endParaRPr lang="en-US" sz="1250" dirty="0"/>
          </a:p>
        </p:txBody>
      </p:sp>
      <p:sp>
        <p:nvSpPr>
          <p:cNvPr id="8" name="Shape 6"/>
          <p:cNvSpPr/>
          <p:nvPr/>
        </p:nvSpPr>
        <p:spPr>
          <a:xfrm>
            <a:off x="1022350" y="3537545"/>
            <a:ext cx="2984500" cy="0"/>
          </a:xfrm>
          <a:prstGeom prst="line">
            <a:avLst/>
          </a:prstGeom>
          <a:noFill/>
          <a:ln w="6350">
            <a:solidFill>
              <a:srgbClr val="D6DEE1"/>
            </a:solidFill>
            <a:prstDash val="solid"/>
          </a:ln>
        </p:spPr>
      </p:sp>
      <p:sp>
        <p:nvSpPr>
          <p:cNvPr id="9" name="Text 7"/>
          <p:cNvSpPr txBox="1"/>
          <p:nvPr/>
        </p:nvSpPr>
        <p:spPr>
          <a:xfrm>
            <a:off x="1022350" y="3642320"/>
            <a:ext cx="3044190" cy="342900"/>
          </a:xfrm>
          <a:prstGeom prst="rect">
            <a:avLst/>
          </a:prstGeom>
          <a:noFill/>
          <a:ln/>
        </p:spPr>
        <p:txBody>
          <a:bodyPr wrap="square" lIns="0" tIns="0" rIns="0" bIns="0" rtlCol="0" anchor="t"/>
          <a:lstStyle/>
          <a:p>
            <a:pPr algn="l" indent="0" marL="0">
              <a:lnSpc>
                <a:spcPts val="1320"/>
              </a:lnSpc>
              <a:buNone/>
            </a:pPr>
            <a:r>
              <a:rPr lang="en-US" sz="1100" dirty="0">
                <a:solidFill>
                  <a:srgbClr val="7B8A99"/>
                </a:solidFill>
                <a:latin typeface="Calibri" pitchFamily="34" charset="0"/>
                <a:ea typeface="Calibri" pitchFamily="34" charset="-122"/>
                <a:cs typeface="Calibri" pitchFamily="34" charset="-120"/>
              </a:rPr>
              <a:t>Stopped by QEDExecution · best-execution inequality</a:t>
            </a:r>
            <a:endParaRPr lang="en-US" sz="1100" dirty="0"/>
          </a:p>
        </p:txBody>
      </p:sp>
      <p:sp>
        <p:nvSpPr>
          <p:cNvPr id="10" name="Text 8"/>
          <p:cNvSpPr txBox="1"/>
          <p:nvPr/>
        </p:nvSpPr>
        <p:spPr>
          <a:xfrm>
            <a:off x="1022350" y="4036020"/>
            <a:ext cx="3044190" cy="213360"/>
          </a:xfrm>
          <a:prstGeom prst="rect">
            <a:avLst/>
          </a:prstGeom>
          <a:noFill/>
          <a:ln/>
        </p:spPr>
        <p:txBody>
          <a:bodyPr wrap="square" lIns="0" tIns="0" rIns="0" bIns="0" rtlCol="0" anchor="t"/>
          <a:lstStyle/>
          <a:p>
            <a:pPr algn="l" indent="0" marL="0">
              <a:lnSpc>
                <a:spcPts val="1680"/>
              </a:lnSpc>
              <a:buNone/>
            </a:pPr>
            <a:r>
              <a:rPr lang="en-US" sz="1400" dirty="0">
                <a:solidFill>
                  <a:srgbClr val="B1262E"/>
                </a:solidFill>
                <a:latin typeface="Courier New" pitchFamily="34" charset="0"/>
                <a:ea typeface="Courier New" pitchFamily="34" charset="-122"/>
                <a:cs typeface="Courier New" pitchFamily="34" charset="-120"/>
              </a:rPr>
              <a:t>NotBestExecution</a:t>
            </a:r>
            <a:endParaRPr lang="en-US" sz="1400" dirty="0"/>
          </a:p>
        </p:txBody>
      </p:sp>
      <p:sp>
        <p:nvSpPr>
          <p:cNvPr id="11" name="Text 9"/>
          <p:cNvSpPr txBox="1"/>
          <p:nvPr/>
        </p:nvSpPr>
        <p:spPr>
          <a:xfrm>
            <a:off x="1022350" y="4283670"/>
            <a:ext cx="3044190" cy="152400"/>
          </a:xfrm>
          <a:prstGeom prst="rect">
            <a:avLst/>
          </a:prstGeom>
          <a:noFill/>
          <a:ln/>
        </p:spPr>
        <p:txBody>
          <a:bodyPr wrap="square" lIns="0" tIns="0" rIns="0" bIns="0" rtlCol="0" anchor="t"/>
          <a:lstStyle/>
          <a:p>
            <a:pPr algn="l" indent="0" marL="0">
              <a:lnSpc>
                <a:spcPts val="1200"/>
              </a:lnSpc>
              <a:buNone/>
            </a:pPr>
            <a:r>
              <a:rPr lang="en-US" sz="1000" dirty="0">
                <a:solidFill>
                  <a:srgbClr val="4E6074"/>
                </a:solidFill>
                <a:latin typeface="Courier New" pitchFamily="34" charset="0"/>
                <a:ea typeface="Courier New" pitchFamily="34" charset="-122"/>
                <a:cs typeface="Courier New" pitchFamily="34" charset="-120"/>
              </a:rPr>
              <a:t>EA1 · 0xccd07d17…cd9b54937</a:t>
            </a:r>
            <a:endParaRPr lang="en-US" sz="1000" dirty="0"/>
          </a:p>
        </p:txBody>
      </p:sp>
      <p:sp>
        <p:nvSpPr>
          <p:cNvPr id="12" name="Shape 10"/>
          <p:cNvSpPr/>
          <p:nvPr/>
        </p:nvSpPr>
        <p:spPr>
          <a:xfrm>
            <a:off x="4394200" y="1870670"/>
            <a:ext cx="3403600" cy="2768600"/>
          </a:xfrm>
          <a:prstGeom prst="roundRect">
            <a:avLst>
              <a:gd name="adj" fmla="val 1835"/>
            </a:avLst>
          </a:prstGeom>
          <a:solidFill>
            <a:srgbClr val="FFFFFF"/>
          </a:solidFill>
          <a:ln w="6350">
            <a:solidFill>
              <a:srgbClr val="D6DEE1"/>
            </a:solidFill>
            <a:prstDash val="solid"/>
          </a:ln>
        </p:spPr>
      </p:sp>
      <p:sp>
        <p:nvSpPr>
          <p:cNvPr id="13" name="Text 11"/>
          <p:cNvSpPr txBox="1"/>
          <p:nvPr/>
        </p:nvSpPr>
        <p:spPr>
          <a:xfrm>
            <a:off x="4603750" y="2080220"/>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B1262E"/>
                </a:solidFill>
                <a:latin typeface="Calibri" pitchFamily="34" charset="0"/>
                <a:ea typeface="Calibri" pitchFamily="34" charset="-122"/>
                <a:cs typeface="Calibri" pitchFamily="34" charset="-120"/>
              </a:rPr>
              <a:t>ATTACK 2</a:t>
            </a:r>
            <a:endParaRPr lang="en-US" sz="1100" dirty="0"/>
          </a:p>
        </p:txBody>
      </p:sp>
      <p:sp>
        <p:nvSpPr>
          <p:cNvPr id="14" name="Text 12"/>
          <p:cNvSpPr txBox="1"/>
          <p:nvPr/>
        </p:nvSpPr>
        <p:spPr>
          <a:xfrm>
            <a:off x="4603750" y="2353270"/>
            <a:ext cx="3044190" cy="320040"/>
          </a:xfrm>
          <a:prstGeom prst="rect">
            <a:avLst/>
          </a:prstGeom>
          <a:noFill/>
          <a:ln/>
        </p:spPr>
        <p:txBody>
          <a:bodyPr wrap="square" lIns="0" tIns="0" rIns="0" bIns="0" rtlCol="0" anchor="t"/>
          <a:lstStyle/>
          <a:p>
            <a:pPr algn="l" indent="0" marL="0">
              <a:lnSpc>
                <a:spcPts val="2520"/>
              </a:lnSpc>
              <a:buNone/>
            </a:pPr>
            <a:r>
              <a:rPr lang="en-US" sz="2100" dirty="0">
                <a:solidFill>
                  <a:srgbClr val="13233F"/>
                </a:solidFill>
                <a:latin typeface="Cambria" pitchFamily="34" charset="0"/>
                <a:ea typeface="Cambria" pitchFamily="34" charset="-122"/>
                <a:cs typeface="Cambria" pitchFamily="34" charset="-120"/>
              </a:rPr>
              <a:t>Pay the attacker</a:t>
            </a:r>
            <a:endParaRPr lang="en-US" sz="2100" dirty="0"/>
          </a:p>
        </p:txBody>
      </p:sp>
      <p:sp>
        <p:nvSpPr>
          <p:cNvPr id="15" name="Text 13"/>
          <p:cNvSpPr txBox="1"/>
          <p:nvPr/>
        </p:nvSpPr>
        <p:spPr>
          <a:xfrm>
            <a:off x="4603750" y="2766020"/>
            <a:ext cx="3044190" cy="444500"/>
          </a:xfrm>
          <a:prstGeom prst="rect">
            <a:avLst/>
          </a:prstGeom>
          <a:noFill/>
          <a:ln/>
        </p:spPr>
        <p:txBody>
          <a:bodyPr wrap="square" lIns="0" tIns="0" rIns="0" bIns="0" rtlCol="0" anchor="t"/>
          <a:lstStyle/>
          <a:p>
            <a:pPr algn="l" indent="0" marL="0">
              <a:lnSpc>
                <a:spcPts val="1750"/>
              </a:lnSpc>
              <a:buNone/>
            </a:pPr>
            <a:r>
              <a:rPr lang="en-US" sz="1250" dirty="0">
                <a:solidFill>
                  <a:srgbClr val="4E6074"/>
                </a:solidFill>
                <a:latin typeface="Calibri" pitchFamily="34" charset="0"/>
                <a:ea typeface="Calibri" pitchFamily="34" charset="-122"/>
                <a:cs typeface="Calibri" pitchFamily="34" charset="-120"/>
              </a:rPr>
              <a:t>Both hot keys stolen, the agent's and the co-signer's. The attacker tries to pay itself.</a:t>
            </a:r>
            <a:endParaRPr lang="en-US" sz="1250" dirty="0"/>
          </a:p>
        </p:txBody>
      </p:sp>
      <p:sp>
        <p:nvSpPr>
          <p:cNvPr id="16" name="Shape 14"/>
          <p:cNvSpPr/>
          <p:nvPr/>
        </p:nvSpPr>
        <p:spPr>
          <a:xfrm>
            <a:off x="4603750" y="3315295"/>
            <a:ext cx="2984500" cy="0"/>
          </a:xfrm>
          <a:prstGeom prst="line">
            <a:avLst/>
          </a:prstGeom>
          <a:noFill/>
          <a:ln w="6350">
            <a:solidFill>
              <a:srgbClr val="D6DEE1"/>
            </a:solidFill>
            <a:prstDash val="solid"/>
          </a:ln>
        </p:spPr>
      </p:sp>
      <p:sp>
        <p:nvSpPr>
          <p:cNvPr id="17" name="Text 15"/>
          <p:cNvSpPr txBox="1"/>
          <p:nvPr/>
        </p:nvSpPr>
        <p:spPr>
          <a:xfrm>
            <a:off x="4603750" y="3420070"/>
            <a:ext cx="3044190" cy="171450"/>
          </a:xfrm>
          <a:prstGeom prst="rect">
            <a:avLst/>
          </a:prstGeom>
          <a:noFill/>
          <a:ln/>
        </p:spPr>
        <p:txBody>
          <a:bodyPr wrap="square" lIns="0" tIns="0" rIns="0" bIns="0" rtlCol="0" anchor="t"/>
          <a:lstStyle/>
          <a:p>
            <a:pPr algn="l" indent="0" marL="0">
              <a:lnSpc>
                <a:spcPts val="1320"/>
              </a:lnSpc>
              <a:buNone/>
            </a:pPr>
            <a:r>
              <a:rPr lang="en-US" sz="1100" dirty="0">
                <a:solidFill>
                  <a:srgbClr val="7B8A99"/>
                </a:solidFill>
                <a:latin typeface="Calibri" pitchFamily="34" charset="0"/>
                <a:ea typeface="Calibri" pitchFamily="34" charset="-122"/>
                <a:cs typeface="Calibri" pitchFamily="34" charset="-120"/>
              </a:rPr>
              <a:t>Stopped by QEDVault · owner's signed payee list</a:t>
            </a:r>
            <a:endParaRPr lang="en-US" sz="1100" dirty="0"/>
          </a:p>
        </p:txBody>
      </p:sp>
      <p:sp>
        <p:nvSpPr>
          <p:cNvPr id="18" name="Text 16"/>
          <p:cNvSpPr txBox="1"/>
          <p:nvPr/>
        </p:nvSpPr>
        <p:spPr>
          <a:xfrm>
            <a:off x="4603750" y="3642320"/>
            <a:ext cx="3044190" cy="213360"/>
          </a:xfrm>
          <a:prstGeom prst="rect">
            <a:avLst/>
          </a:prstGeom>
          <a:noFill/>
          <a:ln/>
        </p:spPr>
        <p:txBody>
          <a:bodyPr wrap="square" lIns="0" tIns="0" rIns="0" bIns="0" rtlCol="0" anchor="t"/>
          <a:lstStyle/>
          <a:p>
            <a:pPr algn="l" indent="0" marL="0">
              <a:lnSpc>
                <a:spcPts val="1680"/>
              </a:lnSpc>
              <a:buNone/>
            </a:pPr>
            <a:r>
              <a:rPr lang="en-US" sz="1400" dirty="0">
                <a:solidFill>
                  <a:srgbClr val="B1262E"/>
                </a:solidFill>
                <a:latin typeface="Courier New" pitchFamily="34" charset="0"/>
                <a:ea typeface="Courier New" pitchFamily="34" charset="-122"/>
                <a:cs typeface="Courier New" pitchFamily="34" charset="-120"/>
              </a:rPr>
              <a:t>PayeeNotInMandate</a:t>
            </a:r>
            <a:endParaRPr lang="en-US" sz="1400" dirty="0"/>
          </a:p>
        </p:txBody>
      </p:sp>
      <p:sp>
        <p:nvSpPr>
          <p:cNvPr id="19" name="Text 17"/>
          <p:cNvSpPr txBox="1"/>
          <p:nvPr/>
        </p:nvSpPr>
        <p:spPr>
          <a:xfrm>
            <a:off x="4603750" y="3889970"/>
            <a:ext cx="3044190" cy="152400"/>
          </a:xfrm>
          <a:prstGeom prst="rect">
            <a:avLst/>
          </a:prstGeom>
          <a:noFill/>
          <a:ln/>
        </p:spPr>
        <p:txBody>
          <a:bodyPr wrap="square" lIns="0" tIns="0" rIns="0" bIns="0" rtlCol="0" anchor="t"/>
          <a:lstStyle/>
          <a:p>
            <a:pPr algn="l" indent="0" marL="0">
              <a:lnSpc>
                <a:spcPts val="1200"/>
              </a:lnSpc>
              <a:buNone/>
            </a:pPr>
            <a:r>
              <a:rPr lang="en-US" sz="1000" dirty="0">
                <a:solidFill>
                  <a:srgbClr val="4E6074"/>
                </a:solidFill>
                <a:latin typeface="Courier New" pitchFamily="34" charset="0"/>
                <a:ea typeface="Courier New" pitchFamily="34" charset="-122"/>
                <a:cs typeface="Courier New" pitchFamily="34" charset="-120"/>
              </a:rPr>
              <a:t>X6 · 0xf9a023d7…29c63c018</a:t>
            </a:r>
            <a:endParaRPr lang="en-US" sz="1000" dirty="0"/>
          </a:p>
        </p:txBody>
      </p:sp>
      <p:sp>
        <p:nvSpPr>
          <p:cNvPr id="20" name="Shape 18"/>
          <p:cNvSpPr/>
          <p:nvPr/>
        </p:nvSpPr>
        <p:spPr>
          <a:xfrm>
            <a:off x="7975600" y="1870670"/>
            <a:ext cx="3403600" cy="2768600"/>
          </a:xfrm>
          <a:prstGeom prst="roundRect">
            <a:avLst>
              <a:gd name="adj" fmla="val 1835"/>
            </a:avLst>
          </a:prstGeom>
          <a:solidFill>
            <a:srgbClr val="FFFFFF"/>
          </a:solidFill>
          <a:ln w="6350">
            <a:solidFill>
              <a:srgbClr val="D6DEE1"/>
            </a:solidFill>
            <a:prstDash val="solid"/>
          </a:ln>
        </p:spPr>
      </p:sp>
      <p:sp>
        <p:nvSpPr>
          <p:cNvPr id="21" name="Text 19"/>
          <p:cNvSpPr txBox="1"/>
          <p:nvPr/>
        </p:nvSpPr>
        <p:spPr>
          <a:xfrm>
            <a:off x="8185150" y="2080220"/>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B1262E"/>
                </a:solidFill>
                <a:latin typeface="Calibri" pitchFamily="34" charset="0"/>
                <a:ea typeface="Calibri" pitchFamily="34" charset="-122"/>
                <a:cs typeface="Calibri" pitchFamily="34" charset="-120"/>
              </a:rPr>
              <a:t>ATTACK 3</a:t>
            </a:r>
            <a:endParaRPr lang="en-US" sz="1100" dirty="0"/>
          </a:p>
        </p:txBody>
      </p:sp>
      <p:sp>
        <p:nvSpPr>
          <p:cNvPr id="22" name="Text 20"/>
          <p:cNvSpPr txBox="1"/>
          <p:nvPr/>
        </p:nvSpPr>
        <p:spPr>
          <a:xfrm>
            <a:off x="8185150" y="2353270"/>
            <a:ext cx="3044190" cy="320040"/>
          </a:xfrm>
          <a:prstGeom prst="rect">
            <a:avLst/>
          </a:prstGeom>
          <a:noFill/>
          <a:ln/>
        </p:spPr>
        <p:txBody>
          <a:bodyPr wrap="square" lIns="0" tIns="0" rIns="0" bIns="0" rtlCol="0" anchor="t"/>
          <a:lstStyle/>
          <a:p>
            <a:pPr algn="l" indent="0" marL="0">
              <a:lnSpc>
                <a:spcPts val="2520"/>
              </a:lnSpc>
              <a:buNone/>
            </a:pPr>
            <a:r>
              <a:rPr lang="en-US" sz="2100" dirty="0">
                <a:solidFill>
                  <a:srgbClr val="13233F"/>
                </a:solidFill>
                <a:latin typeface="Cambria" pitchFamily="34" charset="0"/>
                <a:ea typeface="Cambria" pitchFamily="34" charset="-122"/>
                <a:cs typeface="Cambria" pitchFamily="34" charset="-120"/>
              </a:rPr>
              <a:t>Convert too much</a:t>
            </a:r>
            <a:endParaRPr lang="en-US" sz="2100" dirty="0"/>
          </a:p>
        </p:txBody>
      </p:sp>
      <p:sp>
        <p:nvSpPr>
          <p:cNvPr id="23" name="Text 21"/>
          <p:cNvSpPr txBox="1"/>
          <p:nvPr/>
        </p:nvSpPr>
        <p:spPr>
          <a:xfrm>
            <a:off x="8185150" y="2766020"/>
            <a:ext cx="3044190" cy="666750"/>
          </a:xfrm>
          <a:prstGeom prst="rect">
            <a:avLst/>
          </a:prstGeom>
          <a:noFill/>
          <a:ln/>
        </p:spPr>
        <p:txBody>
          <a:bodyPr wrap="square" lIns="0" tIns="0" rIns="0" bIns="0" rtlCol="0" anchor="t"/>
          <a:lstStyle/>
          <a:p>
            <a:pPr algn="l" indent="0" marL="0">
              <a:lnSpc>
                <a:spcPts val="1750"/>
              </a:lnSpc>
              <a:buNone/>
            </a:pPr>
            <a:r>
              <a:rPr lang="en-US" sz="1250" dirty="0">
                <a:solidFill>
                  <a:srgbClr val="4E6074"/>
                </a:solidFill>
                <a:latin typeface="Calibri" pitchFamily="34" charset="0"/>
                <a:ea typeface="Calibri" pitchFamily="34" charset="-122"/>
                <a:cs typeface="Calibri" pitchFamily="34" charset="-120"/>
              </a:rPr>
              <a:t>Both hot keys stolen again. The attacker converts more of the treasury than the policy needs.</a:t>
            </a:r>
            <a:endParaRPr lang="en-US" sz="1250" dirty="0"/>
          </a:p>
        </p:txBody>
      </p:sp>
      <p:sp>
        <p:nvSpPr>
          <p:cNvPr id="24" name="Shape 22"/>
          <p:cNvSpPr/>
          <p:nvPr/>
        </p:nvSpPr>
        <p:spPr>
          <a:xfrm>
            <a:off x="8185150" y="3537545"/>
            <a:ext cx="2984500" cy="0"/>
          </a:xfrm>
          <a:prstGeom prst="line">
            <a:avLst/>
          </a:prstGeom>
          <a:noFill/>
          <a:ln w="6350">
            <a:solidFill>
              <a:srgbClr val="D6DEE1"/>
            </a:solidFill>
            <a:prstDash val="solid"/>
          </a:ln>
        </p:spPr>
      </p:sp>
      <p:sp>
        <p:nvSpPr>
          <p:cNvPr id="25" name="Text 23"/>
          <p:cNvSpPr txBox="1"/>
          <p:nvPr/>
        </p:nvSpPr>
        <p:spPr>
          <a:xfrm>
            <a:off x="8185150" y="3642320"/>
            <a:ext cx="3044190" cy="342900"/>
          </a:xfrm>
          <a:prstGeom prst="rect">
            <a:avLst/>
          </a:prstGeom>
          <a:noFill/>
          <a:ln/>
        </p:spPr>
        <p:txBody>
          <a:bodyPr wrap="square" lIns="0" tIns="0" rIns="0" bIns="0" rtlCol="0" anchor="t"/>
          <a:lstStyle/>
          <a:p>
            <a:pPr algn="l" indent="0" marL="0">
              <a:lnSpc>
                <a:spcPts val="1320"/>
              </a:lnSpc>
              <a:buNone/>
            </a:pPr>
            <a:r>
              <a:rPr lang="en-US" sz="1100" dirty="0">
                <a:solidFill>
                  <a:srgbClr val="7B8A99"/>
                </a:solidFill>
                <a:latin typeface="Calibri" pitchFamily="34" charset="0"/>
                <a:ea typeface="Calibri" pitchFamily="34" charset="-122"/>
                <a:cs typeface="Calibri" pitchFamily="34" charset="-120"/>
              </a:rPr>
              <a:t>Stopped by QEDTreasuryPolicy · over-conversion clause</a:t>
            </a:r>
            <a:endParaRPr lang="en-US" sz="1100" dirty="0"/>
          </a:p>
        </p:txBody>
      </p:sp>
      <p:sp>
        <p:nvSpPr>
          <p:cNvPr id="26" name="Text 24"/>
          <p:cNvSpPr txBox="1"/>
          <p:nvPr/>
        </p:nvSpPr>
        <p:spPr>
          <a:xfrm>
            <a:off x="8185150" y="4036020"/>
            <a:ext cx="3044190" cy="213360"/>
          </a:xfrm>
          <a:prstGeom prst="rect">
            <a:avLst/>
          </a:prstGeom>
          <a:noFill/>
          <a:ln/>
        </p:spPr>
        <p:txBody>
          <a:bodyPr wrap="square" lIns="0" tIns="0" rIns="0" bIns="0" rtlCol="0" anchor="t"/>
          <a:lstStyle/>
          <a:p>
            <a:pPr algn="l" indent="0" marL="0">
              <a:lnSpc>
                <a:spcPts val="1680"/>
              </a:lnSpc>
              <a:buNone/>
            </a:pPr>
            <a:r>
              <a:rPr lang="en-US" sz="1400" dirty="0">
                <a:solidFill>
                  <a:srgbClr val="B1262E"/>
                </a:solidFill>
                <a:latin typeface="Courier New" pitchFamily="34" charset="0"/>
                <a:ea typeface="Courier New" pitchFamily="34" charset="-122"/>
                <a:cs typeface="Courier New" pitchFamily="34" charset="-120"/>
              </a:rPr>
              <a:t>OverConversion</a:t>
            </a:r>
            <a:endParaRPr lang="en-US" sz="1400" dirty="0"/>
          </a:p>
        </p:txBody>
      </p:sp>
      <p:sp>
        <p:nvSpPr>
          <p:cNvPr id="27" name="Text 25"/>
          <p:cNvSpPr txBox="1"/>
          <p:nvPr/>
        </p:nvSpPr>
        <p:spPr>
          <a:xfrm>
            <a:off x="8185150" y="4283670"/>
            <a:ext cx="3044190" cy="152400"/>
          </a:xfrm>
          <a:prstGeom prst="rect">
            <a:avLst/>
          </a:prstGeom>
          <a:noFill/>
          <a:ln/>
        </p:spPr>
        <p:txBody>
          <a:bodyPr wrap="square" lIns="0" tIns="0" rIns="0" bIns="0" rtlCol="0" anchor="t"/>
          <a:lstStyle/>
          <a:p>
            <a:pPr algn="l" indent="0" marL="0">
              <a:lnSpc>
                <a:spcPts val="1200"/>
              </a:lnSpc>
              <a:buNone/>
            </a:pPr>
            <a:r>
              <a:rPr lang="en-US" sz="1000" dirty="0">
                <a:solidFill>
                  <a:srgbClr val="4E6074"/>
                </a:solidFill>
                <a:latin typeface="Courier New" pitchFamily="34" charset="0"/>
                <a:ea typeface="Courier New" pitchFamily="34" charset="-122"/>
                <a:cs typeface="Courier New" pitchFamily="34" charset="-120"/>
              </a:rPr>
              <a:t>QA2 · 0xb49d0c4f…cd23f9f3</a:t>
            </a:r>
            <a:endParaRPr lang="en-US" sz="1000" dirty="0"/>
          </a:p>
        </p:txBody>
      </p:sp>
      <p:sp>
        <p:nvSpPr>
          <p:cNvPr id="28" name="Text 26"/>
          <p:cNvSpPr txBox="1"/>
          <p:nvPr/>
        </p:nvSpPr>
        <p:spPr>
          <a:xfrm>
            <a:off x="812800" y="4842470"/>
            <a:ext cx="10777728" cy="313690"/>
          </a:xfrm>
          <a:prstGeom prst="rect">
            <a:avLst/>
          </a:prstGeom>
          <a:noFill/>
          <a:ln/>
        </p:spPr>
        <p:txBody>
          <a:bodyPr wrap="square" lIns="0" tIns="0" rIns="0" bIns="0" rtlCol="0" anchor="t"/>
          <a:lstStyle/>
          <a:p>
            <a:pPr algn="l" indent="0" marL="0">
              <a:lnSpc>
                <a:spcPts val="2470"/>
              </a:lnSpc>
              <a:buNone/>
            </a:pPr>
            <a:r>
              <a:rPr lang="en-US" sz="1900" dirty="0">
                <a:solidFill>
                  <a:srgbClr val="13233F"/>
                </a:solidFill>
                <a:latin typeface="Cambria" pitchFamily="34" charset="0"/>
                <a:ea typeface="Cambria" pitchFamily="34" charset="-122"/>
                <a:cs typeface="Cambria" pitchFamily="34" charset="-120"/>
              </a:rPr>
              <a:t>48 attacks on Sepolia, 48 reverts, 0 tUSD to the attacker. Six run live in the app's Security Lab.</a:t>
            </a:r>
            <a:endParaRPr lang="en-US" sz="1900" dirty="0"/>
          </a:p>
        </p:txBody>
      </p:sp>
      <p:sp>
        <p:nvSpPr>
          <p:cNvPr id="29" name="Text 27"/>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Every attack and its custom error: docs/EVIDENCE.md · appendix A12</a:t>
            </a:r>
            <a:endParaRPr lang="en-US" sz="1200" dirty="0"/>
          </a:p>
        </p:txBody>
      </p:sp>
      <p:sp>
        <p:nvSpPr>
          <p:cNvPr id="30" name="Text 28"/>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WHY IT MATTERS · WHO WOULD PAY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Best execution becomes a precondition, not a quarterly report.</a:t>
            </a:r>
            <a:endParaRPr lang="en-US" sz="3200" dirty="0"/>
          </a:p>
        </p:txBody>
      </p:sp>
      <p:sp>
        <p:nvSpPr>
          <p:cNvPr id="4" name="Shape 2"/>
          <p:cNvSpPr/>
          <p:nvPr/>
        </p:nvSpPr>
        <p:spPr>
          <a:xfrm>
            <a:off x="812800" y="1921470"/>
            <a:ext cx="3386634" cy="1704181"/>
          </a:xfrm>
          <a:prstGeom prst="roundRect">
            <a:avLst>
              <a:gd name="adj" fmla="val 2981"/>
            </a:avLst>
          </a:prstGeom>
          <a:solidFill>
            <a:srgbClr val="FBFCFC"/>
          </a:solidFill>
          <a:ln w="6350">
            <a:solidFill>
              <a:srgbClr val="D6DEE1"/>
            </a:solidFill>
            <a:prstDash val="solid"/>
          </a:ln>
        </p:spPr>
      </p:sp>
      <p:sp>
        <p:nvSpPr>
          <p:cNvPr id="5" name="Text 3"/>
          <p:cNvSpPr txBox="1"/>
          <p:nvPr/>
        </p:nvSpPr>
        <p:spPr>
          <a:xfrm>
            <a:off x="1047750"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Agent treasuries</a:t>
            </a:r>
            <a:endParaRPr lang="en-US" sz="2000" dirty="0"/>
          </a:p>
        </p:txBody>
      </p:sp>
      <p:sp>
        <p:nvSpPr>
          <p:cNvPr id="6" name="Text 4"/>
          <p:cNvSpPr txBox="1"/>
          <p:nvPr/>
        </p:nvSpPr>
        <p:spPr>
          <a:xfrm>
            <a:off x="1047750" y="2537420"/>
            <a:ext cx="2975068" cy="85328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Businesses, DAOs and AI services that hold one currency and owe another can delegate conversion, including when and how much, without trusting the agent's routing.</a:t>
            </a:r>
            <a:endParaRPr lang="en-US" sz="1200" dirty="0"/>
          </a:p>
        </p:txBody>
      </p:sp>
      <p:sp>
        <p:nvSpPr>
          <p:cNvPr id="7" name="Shape 5"/>
          <p:cNvSpPr/>
          <p:nvPr/>
        </p:nvSpPr>
        <p:spPr>
          <a:xfrm>
            <a:off x="4402634" y="1921470"/>
            <a:ext cx="3386634" cy="1704181"/>
          </a:xfrm>
          <a:prstGeom prst="roundRect">
            <a:avLst>
              <a:gd name="adj" fmla="val 2981"/>
            </a:avLst>
          </a:prstGeom>
          <a:solidFill>
            <a:srgbClr val="FBFCFC"/>
          </a:solidFill>
          <a:ln w="6350">
            <a:solidFill>
              <a:srgbClr val="D6DEE1"/>
            </a:solidFill>
            <a:prstDash val="solid"/>
          </a:ln>
        </p:spPr>
      </p:sp>
      <p:sp>
        <p:nvSpPr>
          <p:cNvPr id="8" name="Text 6"/>
          <p:cNvSpPr txBox="1"/>
          <p:nvPr/>
        </p:nvSpPr>
        <p:spPr>
          <a:xfrm>
            <a:off x="4637584"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Regulated firms</a:t>
            </a:r>
            <a:endParaRPr lang="en-US" sz="2000" dirty="0"/>
          </a:p>
        </p:txBody>
      </p:sp>
      <p:sp>
        <p:nvSpPr>
          <p:cNvPr id="9" name="Text 7"/>
          <p:cNvSpPr txBox="1"/>
          <p:nvPr/>
        </p:nvSpPr>
        <p:spPr>
          <a:xfrm>
            <a:off x="4637584" y="2537420"/>
            <a:ext cx="2975068" cy="85328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per-trade record anyone can recompute from public state, for the best-execution duty firms already carry under MiFID II and FINRA rules.</a:t>
            </a:r>
            <a:endParaRPr lang="en-US" sz="1200" dirty="0"/>
          </a:p>
        </p:txBody>
      </p:sp>
      <p:sp>
        <p:nvSpPr>
          <p:cNvPr id="10" name="Shape 8"/>
          <p:cNvSpPr/>
          <p:nvPr/>
        </p:nvSpPr>
        <p:spPr>
          <a:xfrm>
            <a:off x="7992467" y="1921470"/>
            <a:ext cx="3386634" cy="1704181"/>
          </a:xfrm>
          <a:prstGeom prst="roundRect">
            <a:avLst>
              <a:gd name="adj" fmla="val 2981"/>
            </a:avLst>
          </a:prstGeom>
          <a:solidFill>
            <a:srgbClr val="FBFCFC"/>
          </a:solidFill>
          <a:ln w="6350">
            <a:solidFill>
              <a:srgbClr val="D6DEE1"/>
            </a:solidFill>
            <a:prstDash val="solid"/>
          </a:ln>
        </p:spPr>
      </p:sp>
      <p:sp>
        <p:nvSpPr>
          <p:cNvPr id="11" name="Text 9"/>
          <p:cNvSpPr txBox="1"/>
          <p:nvPr/>
        </p:nvSpPr>
        <p:spPr>
          <a:xfrm>
            <a:off x="8227417"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Solvers and intents</a:t>
            </a:r>
            <a:endParaRPr lang="en-US" sz="2000" dirty="0"/>
          </a:p>
        </p:txBody>
      </p:sp>
      <p:sp>
        <p:nvSpPr>
          <p:cNvPr id="12" name="Text 10"/>
          <p:cNvSpPr txBox="1"/>
          <p:nvPr/>
        </p:nvSpPr>
        <p:spPr>
          <a:xfrm>
            <a:off x="8227417" y="2537420"/>
            <a:ext cx="2975068"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filler can attach the proof and be accepted on it; a protocol can settle on the proof instead of after-the-fact monitoring.</a:t>
            </a:r>
            <a:endParaRPr lang="en-US" sz="1200" dirty="0"/>
          </a:p>
        </p:txBody>
      </p:sp>
      <p:sp>
        <p:nvSpPr>
          <p:cNvPr id="13" name="Shape 11"/>
          <p:cNvSpPr/>
          <p:nvPr/>
        </p:nvSpPr>
        <p:spPr>
          <a:xfrm>
            <a:off x="825500" y="3854252"/>
            <a:ext cx="0" cy="753070"/>
          </a:xfrm>
          <a:prstGeom prst="line">
            <a:avLst/>
          </a:prstGeom>
          <a:noFill/>
          <a:ln w="25400">
            <a:solidFill>
              <a:srgbClr val="0A7468"/>
            </a:solidFill>
            <a:prstDash val="solid"/>
          </a:ln>
        </p:spPr>
      </p:sp>
      <p:sp>
        <p:nvSpPr>
          <p:cNvPr id="14" name="Text 12"/>
          <p:cNvSpPr txBox="1"/>
          <p:nvPr/>
        </p:nvSpPr>
        <p:spPr>
          <a:xfrm>
            <a:off x="1016000" y="3879652"/>
            <a:ext cx="5077968"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BUSINESS MODEL · A HYPOTHESIS</a:t>
            </a:r>
            <a:endParaRPr lang="en-US" sz="1100" dirty="0"/>
          </a:p>
        </p:txBody>
      </p:sp>
      <p:sp>
        <p:nvSpPr>
          <p:cNvPr id="15" name="Text 13"/>
          <p:cNvSpPr txBox="1"/>
          <p:nvPr/>
        </p:nvSpPr>
        <p:spPr>
          <a:xfrm>
            <a:off x="1016000" y="4101902"/>
            <a:ext cx="5077968"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A verification layer: a fee per certified trade, or a licence for custodians and agent platforms.</a:t>
            </a:r>
            <a:endParaRPr lang="en-US" sz="1400" dirty="0"/>
          </a:p>
        </p:txBody>
      </p:sp>
      <p:sp>
        <p:nvSpPr>
          <p:cNvPr id="16" name="Shape 14"/>
          <p:cNvSpPr/>
          <p:nvPr/>
        </p:nvSpPr>
        <p:spPr>
          <a:xfrm>
            <a:off x="6210300" y="3854252"/>
            <a:ext cx="0" cy="753070"/>
          </a:xfrm>
          <a:prstGeom prst="line">
            <a:avLst/>
          </a:prstGeom>
          <a:noFill/>
          <a:ln w="25400">
            <a:solidFill>
              <a:srgbClr val="9A6A00"/>
            </a:solidFill>
            <a:prstDash val="solid"/>
          </a:ln>
        </p:spPr>
      </p:sp>
      <p:sp>
        <p:nvSpPr>
          <p:cNvPr id="17" name="Text 15"/>
          <p:cNvSpPr txBox="1"/>
          <p:nvPr/>
        </p:nvSpPr>
        <p:spPr>
          <a:xfrm>
            <a:off x="6400800" y="3879652"/>
            <a:ext cx="5077968"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9A6A00"/>
                </a:solidFill>
                <a:latin typeface="Calibri" pitchFamily="34" charset="0"/>
                <a:ea typeface="Calibri" pitchFamily="34" charset="-122"/>
                <a:cs typeface="Calibri" pitchFamily="34" charset="-120"/>
              </a:rPr>
              <a:t>NOT YET VALIDATED</a:t>
            </a:r>
            <a:endParaRPr lang="en-US" sz="1100" dirty="0"/>
          </a:p>
        </p:txBody>
      </p:sp>
      <p:sp>
        <p:nvSpPr>
          <p:cNvPr id="18" name="Text 16"/>
          <p:cNvSpPr txBox="1"/>
          <p:nvPr/>
        </p:nvSpPr>
        <p:spPr>
          <a:xfrm>
            <a:off x="6400800" y="4101902"/>
            <a:ext cx="5077968"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No users, revenue or partners yet. Unaudited, testnets only. No market size is claimed.</a:t>
            </a:r>
            <a:endParaRPr lang="en-US" sz="1400" dirty="0"/>
          </a:p>
        </p:txBody>
      </p:sp>
      <p:sp>
        <p:nvSpPr>
          <p:cNvPr id="19" name="Text 17"/>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Hypotheses, not traction · market sizing not claimed</a:t>
            </a:r>
            <a:endParaRPr lang="en-US" sz="1200" dirty="0"/>
          </a:p>
        </p:txBody>
      </p:sp>
      <p:sp>
        <p:nvSpPr>
          <p:cNvPr id="20" name="Text 18"/>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DEFENSIBILITY · PRIOR ART</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Every ingredient is known. The guarantee is not.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870670"/>
          <a:ext cx="10566400" cy="914400"/>
        </p:xfrm>
        <a:graphic>
          <a:graphicData uri="http://schemas.openxmlformats.org/drawingml/2006/table">
            <a:tbl>
              <a:tblPr/>
              <a:tblGrid>
                <a:gridCol w="3169841"/>
                <a:gridCol w="4226520"/>
                <a:gridCol w="3170039"/>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Closest work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leaves open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100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Intents and aggregators: UniswapX, 1inch Fusion, ERC-7683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Enforce a minimum output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Leak up to the tolerance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CoW Protocol, EBBO rule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Compare fills with baseline pools after settlement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Social, after the fact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A²MM (2021); on-chain one-hop routing (FC 2026)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Compute a split on-chain for parallel pools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Approximate, one pair, no bound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Certified routing (arXiv 2607.22540)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Off-chain KKT certificate for a router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Execution guarded by slippage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Angeris et al., EC 2022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CFMM routing is convex; duality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Theory; routes solved off-chain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100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QED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Verifies any route over any owner venues, in the trade's transaction, to 1 ppm</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Inside an agent's mandate, money on it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812800" y="3820120"/>
            <a:ext cx="10777728" cy="25717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We found no prior system that makes the optimality of an executed route an on-chain condition of the trade.</a:t>
            </a:r>
            <a:endParaRPr lang="en-US" sz="1500" dirty="0"/>
          </a:p>
        </p:txBody>
      </p:sp>
      <p:sp>
        <p:nvSpPr>
          <p:cNvPr id="6" name="Text 3"/>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Sources and the full comparison: docs/PRIOR_ART.md §0 · searched 20 Oct 2026</a:t>
            </a:r>
            <a:endParaRPr lang="en-US" sz="1200" dirty="0"/>
          </a:p>
        </p:txBody>
      </p:sp>
      <p:sp>
        <p:nvSpPr>
          <p:cNvPr id="7" name="Text 4"/>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TEAM AND NEXT STEPS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Built by two students. Ready for a pilot.</a:t>
            </a:r>
            <a:endParaRPr lang="en-US" sz="3200" dirty="0"/>
          </a:p>
        </p:txBody>
      </p:sp>
      <p:sp>
        <p:nvSpPr>
          <p:cNvPr id="4" name="Shape 2"/>
          <p:cNvSpPr/>
          <p:nvPr/>
        </p:nvSpPr>
        <p:spPr>
          <a:xfrm>
            <a:off x="812800" y="1870670"/>
            <a:ext cx="2781300" cy="1016000"/>
          </a:xfrm>
          <a:prstGeom prst="roundRect">
            <a:avLst>
              <a:gd name="adj" fmla="val 5000"/>
            </a:avLst>
          </a:prstGeom>
          <a:solidFill>
            <a:srgbClr val="FFFFFF"/>
          </a:solidFill>
          <a:ln w="6350">
            <a:solidFill>
              <a:srgbClr val="D6DEE1"/>
            </a:solidFill>
            <a:prstDash val="solid"/>
          </a:ln>
        </p:spPr>
      </p:sp>
      <p:sp>
        <p:nvSpPr>
          <p:cNvPr id="5" name="Text 3"/>
          <p:cNvSpPr txBox="1"/>
          <p:nvPr/>
        </p:nvSpPr>
        <p:spPr>
          <a:xfrm>
            <a:off x="1022350" y="2080220"/>
            <a:ext cx="2413000" cy="335280"/>
          </a:xfrm>
          <a:prstGeom prst="rect">
            <a:avLst/>
          </a:prstGeom>
          <a:noFill/>
          <a:ln/>
        </p:spPr>
        <p:txBody>
          <a:bodyPr wrap="square" lIns="0" tIns="0" rIns="0" bIns="0" rtlCol="0" anchor="t"/>
          <a:lstStyle/>
          <a:p>
            <a:pPr algn="l" indent="0" marL="0">
              <a:lnSpc>
                <a:spcPts val="2640"/>
              </a:lnSpc>
              <a:buNone/>
            </a:pPr>
            <a:r>
              <a:rPr lang="en-US" sz="2200" dirty="0">
                <a:solidFill>
                  <a:srgbClr val="13233F"/>
                </a:solidFill>
                <a:latin typeface="Cambria" pitchFamily="34" charset="0"/>
                <a:ea typeface="Cambria" pitchFamily="34" charset="-122"/>
                <a:cs typeface="Cambria" pitchFamily="34" charset="-120"/>
              </a:rPr>
              <a:t>Apurv Chauhan</a:t>
            </a:r>
            <a:endParaRPr lang="en-US" sz="2200" dirty="0"/>
          </a:p>
        </p:txBody>
      </p:sp>
      <p:sp>
        <p:nvSpPr>
          <p:cNvPr id="6" name="Text 4"/>
          <p:cNvSpPr txBox="1"/>
          <p:nvPr/>
        </p:nvSpPr>
        <p:spPr>
          <a:xfrm>
            <a:off x="1022350" y="2492970"/>
            <a:ext cx="24130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St. Xavier's College, Mumbai</a:t>
            </a:r>
            <a:endParaRPr lang="en-US" sz="1200" dirty="0"/>
          </a:p>
        </p:txBody>
      </p:sp>
      <p:sp>
        <p:nvSpPr>
          <p:cNvPr id="7" name="Shape 5"/>
          <p:cNvSpPr/>
          <p:nvPr/>
        </p:nvSpPr>
        <p:spPr>
          <a:xfrm>
            <a:off x="3771900" y="1870670"/>
            <a:ext cx="2781300" cy="1016000"/>
          </a:xfrm>
          <a:prstGeom prst="roundRect">
            <a:avLst>
              <a:gd name="adj" fmla="val 5000"/>
            </a:avLst>
          </a:prstGeom>
          <a:solidFill>
            <a:srgbClr val="FFFFFF"/>
          </a:solidFill>
          <a:ln w="6350">
            <a:solidFill>
              <a:srgbClr val="D6DEE1"/>
            </a:solidFill>
            <a:prstDash val="solid"/>
          </a:ln>
        </p:spPr>
      </p:sp>
      <p:sp>
        <p:nvSpPr>
          <p:cNvPr id="8" name="Text 6"/>
          <p:cNvSpPr txBox="1"/>
          <p:nvPr/>
        </p:nvSpPr>
        <p:spPr>
          <a:xfrm>
            <a:off x="3981450" y="2080220"/>
            <a:ext cx="2413000" cy="335280"/>
          </a:xfrm>
          <a:prstGeom prst="rect">
            <a:avLst/>
          </a:prstGeom>
          <a:noFill/>
          <a:ln/>
        </p:spPr>
        <p:txBody>
          <a:bodyPr wrap="square" lIns="0" tIns="0" rIns="0" bIns="0" rtlCol="0" anchor="t"/>
          <a:lstStyle/>
          <a:p>
            <a:pPr algn="l" indent="0" marL="0">
              <a:lnSpc>
                <a:spcPts val="2640"/>
              </a:lnSpc>
              <a:buNone/>
            </a:pPr>
            <a:r>
              <a:rPr lang="en-US" sz="2200" dirty="0">
                <a:solidFill>
                  <a:srgbClr val="13233F"/>
                </a:solidFill>
                <a:latin typeface="Cambria" pitchFamily="34" charset="0"/>
                <a:ea typeface="Cambria" pitchFamily="34" charset="-122"/>
                <a:cs typeface="Cambria" pitchFamily="34" charset="-120"/>
              </a:rPr>
              <a:t>Lakshya Goswami</a:t>
            </a:r>
            <a:endParaRPr lang="en-US" sz="2200" dirty="0"/>
          </a:p>
        </p:txBody>
      </p:sp>
      <p:sp>
        <p:nvSpPr>
          <p:cNvPr id="9" name="Text 7"/>
          <p:cNvSpPr txBox="1"/>
          <p:nvPr/>
        </p:nvSpPr>
        <p:spPr>
          <a:xfrm>
            <a:off x="3981450" y="2492970"/>
            <a:ext cx="24130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St. Xavier's College, Mumbai</a:t>
            </a:r>
            <a:endParaRPr lang="en-US" sz="1200" dirty="0"/>
          </a:p>
        </p:txBody>
      </p:sp>
      <p:sp>
        <p:nvSpPr>
          <p:cNvPr id="10" name="Text 8"/>
          <p:cNvSpPr txBox="1"/>
          <p:nvPr/>
        </p:nvSpPr>
        <p:spPr>
          <a:xfrm>
            <a:off x="812800" y="3064470"/>
            <a:ext cx="1845766" cy="487680"/>
          </a:xfrm>
          <a:prstGeom prst="rect">
            <a:avLst/>
          </a:prstGeom>
          <a:noFill/>
          <a:ln/>
        </p:spPr>
        <p:txBody>
          <a:bodyPr wrap="square" lIns="0" tIns="0" rIns="0" bIns="0" rtlCol="0" anchor="t"/>
          <a:lstStyle/>
          <a:p>
            <a:pPr algn="l" indent="0" marL="0">
              <a:lnSpc>
                <a:spcPts val="3840"/>
              </a:lnSpc>
              <a:buNone/>
            </a:pPr>
            <a:r>
              <a:rPr lang="en-US" sz="3200" dirty="0">
                <a:solidFill>
                  <a:srgbClr val="0A7468"/>
                </a:solidFill>
                <a:latin typeface="Cambria" pitchFamily="34" charset="0"/>
                <a:ea typeface="Cambria" pitchFamily="34" charset="-122"/>
                <a:cs typeface="Cambria" pitchFamily="34" charset="-120"/>
              </a:rPr>
              <a:t>24</a:t>
            </a:r>
            <a:endParaRPr lang="en-US" sz="3200" dirty="0"/>
          </a:p>
        </p:txBody>
      </p:sp>
      <p:sp>
        <p:nvSpPr>
          <p:cNvPr id="11" name="Text 9"/>
          <p:cNvSpPr txBox="1"/>
          <p:nvPr/>
        </p:nvSpPr>
        <p:spPr>
          <a:xfrm>
            <a:off x="812800" y="3572470"/>
            <a:ext cx="1845766"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contracts verified on Sourcify</a:t>
            </a:r>
            <a:endParaRPr lang="en-US" sz="1200" dirty="0"/>
          </a:p>
        </p:txBody>
      </p:sp>
      <p:sp>
        <p:nvSpPr>
          <p:cNvPr id="12" name="Text 10"/>
          <p:cNvSpPr txBox="1"/>
          <p:nvPr/>
        </p:nvSpPr>
        <p:spPr>
          <a:xfrm>
            <a:off x="2785566" y="3064470"/>
            <a:ext cx="1845766" cy="487680"/>
          </a:xfrm>
          <a:prstGeom prst="rect">
            <a:avLst/>
          </a:prstGeom>
          <a:noFill/>
          <a:ln/>
        </p:spPr>
        <p:txBody>
          <a:bodyPr wrap="square" lIns="0" tIns="0" rIns="0" bIns="0" rtlCol="0" anchor="t"/>
          <a:lstStyle/>
          <a:p>
            <a:pPr algn="l" indent="0" marL="0">
              <a:lnSpc>
                <a:spcPts val="3840"/>
              </a:lnSpc>
              <a:buNone/>
            </a:pPr>
            <a:r>
              <a:rPr lang="en-US" sz="3200" dirty="0">
                <a:solidFill>
                  <a:srgbClr val="0A7468"/>
                </a:solidFill>
                <a:latin typeface="Cambria" pitchFamily="34" charset="0"/>
                <a:ea typeface="Cambria" pitchFamily="34" charset="-122"/>
                <a:cs typeface="Cambria" pitchFamily="34" charset="-120"/>
              </a:rPr>
              <a:t>196</a:t>
            </a:r>
            <a:endParaRPr lang="en-US" sz="3200" dirty="0"/>
          </a:p>
        </p:txBody>
      </p:sp>
      <p:sp>
        <p:nvSpPr>
          <p:cNvPr id="13" name="Text 11"/>
          <p:cNvSpPr txBox="1"/>
          <p:nvPr/>
        </p:nvSpPr>
        <p:spPr>
          <a:xfrm>
            <a:off x="2785566" y="3572470"/>
            <a:ext cx="184576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real Sepolia transactions</a:t>
            </a:r>
            <a:endParaRPr lang="en-US" sz="1200" dirty="0"/>
          </a:p>
        </p:txBody>
      </p:sp>
      <p:sp>
        <p:nvSpPr>
          <p:cNvPr id="14" name="Text 12"/>
          <p:cNvSpPr txBox="1"/>
          <p:nvPr/>
        </p:nvSpPr>
        <p:spPr>
          <a:xfrm>
            <a:off x="4758333" y="3064470"/>
            <a:ext cx="1845766" cy="487680"/>
          </a:xfrm>
          <a:prstGeom prst="rect">
            <a:avLst/>
          </a:prstGeom>
          <a:noFill/>
          <a:ln/>
        </p:spPr>
        <p:txBody>
          <a:bodyPr wrap="square" lIns="0" tIns="0" rIns="0" bIns="0" rtlCol="0" anchor="t"/>
          <a:lstStyle/>
          <a:p>
            <a:pPr algn="l" indent="0" marL="0">
              <a:lnSpc>
                <a:spcPts val="3840"/>
              </a:lnSpc>
              <a:buNone/>
            </a:pPr>
            <a:r>
              <a:rPr lang="en-US" sz="3200" dirty="0">
                <a:solidFill>
                  <a:srgbClr val="0A7468"/>
                </a:solidFill>
                <a:latin typeface="Cambria" pitchFamily="34" charset="0"/>
                <a:ea typeface="Cambria" pitchFamily="34" charset="-122"/>
                <a:cs typeface="Cambria" pitchFamily="34" charset="-120"/>
              </a:rPr>
              <a:t>145 + 60</a:t>
            </a:r>
            <a:endParaRPr lang="en-US" sz="3200" dirty="0"/>
          </a:p>
        </p:txBody>
      </p:sp>
      <p:sp>
        <p:nvSpPr>
          <p:cNvPr id="15" name="Text 13"/>
          <p:cNvSpPr txBox="1"/>
          <p:nvPr/>
        </p:nvSpPr>
        <p:spPr>
          <a:xfrm>
            <a:off x="4758333" y="3572470"/>
            <a:ext cx="184576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tests passing in CI</a:t>
            </a:r>
            <a:endParaRPr lang="en-US" sz="1200" dirty="0"/>
          </a:p>
        </p:txBody>
      </p:sp>
      <p:sp>
        <p:nvSpPr>
          <p:cNvPr id="16" name="Shape 14"/>
          <p:cNvSpPr/>
          <p:nvPr/>
        </p:nvSpPr>
        <p:spPr>
          <a:xfrm>
            <a:off x="6807200" y="1870670"/>
            <a:ext cx="4572000" cy="2070100"/>
          </a:xfrm>
          <a:prstGeom prst="roundRect">
            <a:avLst>
              <a:gd name="adj" fmla="val 2454"/>
            </a:avLst>
          </a:prstGeom>
          <a:solidFill>
            <a:srgbClr val="0F1B2D"/>
          </a:solidFill>
          <a:ln/>
        </p:spPr>
      </p:sp>
      <p:sp>
        <p:nvSpPr>
          <p:cNvPr id="17" name="Text 15"/>
          <p:cNvSpPr txBox="1"/>
          <p:nvPr/>
        </p:nvSpPr>
        <p:spPr>
          <a:xfrm>
            <a:off x="7035800" y="2099270"/>
            <a:ext cx="4197096"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46C4B0"/>
                </a:solidFill>
                <a:latin typeface="Calibri" pitchFamily="34" charset="0"/>
                <a:ea typeface="Calibri" pitchFamily="34" charset="-122"/>
                <a:cs typeface="Calibri" pitchFamily="34" charset="-120"/>
              </a:rPr>
              <a:t>WHAT WE ARE LOOKING FOR</a:t>
            </a:r>
            <a:endParaRPr lang="en-US" sz="1100" dirty="0"/>
          </a:p>
        </p:txBody>
      </p:sp>
      <p:sp>
        <p:nvSpPr>
          <p:cNvPr id="18" name="Shape 16"/>
          <p:cNvSpPr/>
          <p:nvPr/>
        </p:nvSpPr>
        <p:spPr>
          <a:xfrm>
            <a:off x="7035800" y="2375495"/>
            <a:ext cx="4114800" cy="0"/>
          </a:xfrm>
          <a:prstGeom prst="line">
            <a:avLst/>
          </a:prstGeom>
          <a:noFill/>
          <a:ln w="6350">
            <a:solidFill>
              <a:srgbClr val="2E4A72"/>
            </a:solidFill>
            <a:prstDash val="solid"/>
          </a:ln>
        </p:spPr>
      </p:sp>
      <p:sp>
        <p:nvSpPr>
          <p:cNvPr id="19" name="Text 17"/>
          <p:cNvSpPr txBox="1"/>
          <p:nvPr/>
        </p:nvSpPr>
        <p:spPr>
          <a:xfrm>
            <a:off x="7035800" y="2480270"/>
            <a:ext cx="134541" cy="240010"/>
          </a:xfrm>
          <a:prstGeom prst="rect">
            <a:avLst/>
          </a:prstGeom>
          <a:noFill/>
          <a:ln/>
        </p:spPr>
        <p:txBody>
          <a:bodyPr wrap="square" lIns="0" tIns="0" rIns="0" bIns="0" rtlCol="0" anchor="t"/>
          <a:lstStyle/>
          <a:p>
            <a:pPr algn="l" indent="0" marL="0">
              <a:lnSpc>
                <a:spcPts val="1560"/>
              </a:lnSpc>
              <a:buNone/>
            </a:pPr>
            <a:r>
              <a:rPr lang="en-US" sz="1300" dirty="0">
                <a:solidFill>
                  <a:srgbClr val="46C4B0"/>
                </a:solidFill>
                <a:latin typeface="Calibri" pitchFamily="34" charset="0"/>
                <a:ea typeface="Calibri" pitchFamily="34" charset="-122"/>
                <a:cs typeface="Calibri" pitchFamily="34" charset="-120"/>
              </a:rPr>
              <a:t>1</a:t>
            </a:r>
            <a:endParaRPr lang="en-US" sz="1300" dirty="0"/>
          </a:p>
        </p:txBody>
      </p:sp>
      <p:sp>
        <p:nvSpPr>
          <p:cNvPr id="20" name="Text 18"/>
          <p:cNvSpPr txBox="1"/>
          <p:nvPr/>
        </p:nvSpPr>
        <p:spPr>
          <a:xfrm>
            <a:off x="7233841" y="2480270"/>
            <a:ext cx="3871526" cy="240030"/>
          </a:xfrm>
          <a:prstGeom prst="rect">
            <a:avLst/>
          </a:prstGeom>
          <a:noFill/>
          <a:ln/>
        </p:spPr>
        <p:txBody>
          <a:bodyPr wrap="square" lIns="0" tIns="0" rIns="0" bIns="0" rtlCol="0" anchor="t"/>
          <a:lstStyle/>
          <a:p>
            <a:pPr algn="l" indent="0" marL="0">
              <a:lnSpc>
                <a:spcPts val="1890"/>
              </a:lnSpc>
              <a:buNone/>
            </a:pPr>
            <a:r>
              <a:rPr lang="en-US" sz="1400" dirty="0">
                <a:solidFill>
                  <a:srgbClr val="E4ECF1"/>
                </a:solidFill>
                <a:latin typeface="Calibri" pitchFamily="34" charset="0"/>
                <a:ea typeface="Calibri" pitchFamily="34" charset="-122"/>
                <a:cs typeface="Calibri" pitchFamily="34" charset="-120"/>
              </a:rPr>
              <a:t>A treasury team or agent platform to run a pilot with</a:t>
            </a:r>
            <a:endParaRPr lang="en-US" sz="1400" dirty="0"/>
          </a:p>
        </p:txBody>
      </p:sp>
      <p:sp>
        <p:nvSpPr>
          <p:cNvPr id="21" name="Shape 19"/>
          <p:cNvSpPr/>
          <p:nvPr/>
        </p:nvSpPr>
        <p:spPr>
          <a:xfrm>
            <a:off x="7035800" y="2825055"/>
            <a:ext cx="4114800" cy="0"/>
          </a:xfrm>
          <a:prstGeom prst="line">
            <a:avLst/>
          </a:prstGeom>
          <a:noFill/>
          <a:ln w="6350">
            <a:solidFill>
              <a:srgbClr val="2E4A72"/>
            </a:solidFill>
            <a:prstDash val="solid"/>
          </a:ln>
        </p:spPr>
      </p:sp>
      <p:sp>
        <p:nvSpPr>
          <p:cNvPr id="22" name="Text 20"/>
          <p:cNvSpPr txBox="1"/>
          <p:nvPr/>
        </p:nvSpPr>
        <p:spPr>
          <a:xfrm>
            <a:off x="7035800" y="2929830"/>
            <a:ext cx="134541" cy="240010"/>
          </a:xfrm>
          <a:prstGeom prst="rect">
            <a:avLst/>
          </a:prstGeom>
          <a:noFill/>
          <a:ln/>
        </p:spPr>
        <p:txBody>
          <a:bodyPr wrap="square" lIns="0" tIns="0" rIns="0" bIns="0" rtlCol="0" anchor="t"/>
          <a:lstStyle/>
          <a:p>
            <a:pPr algn="l" indent="0" marL="0">
              <a:lnSpc>
                <a:spcPts val="1560"/>
              </a:lnSpc>
              <a:buNone/>
            </a:pPr>
            <a:r>
              <a:rPr lang="en-US" sz="1300" dirty="0">
                <a:solidFill>
                  <a:srgbClr val="46C4B0"/>
                </a:solidFill>
                <a:latin typeface="Calibri" pitchFamily="34" charset="0"/>
                <a:ea typeface="Calibri" pitchFamily="34" charset="-122"/>
                <a:cs typeface="Calibri" pitchFamily="34" charset="-120"/>
              </a:rPr>
              <a:t>2</a:t>
            </a:r>
            <a:endParaRPr lang="en-US" sz="1300" dirty="0"/>
          </a:p>
        </p:txBody>
      </p:sp>
      <p:sp>
        <p:nvSpPr>
          <p:cNvPr id="23" name="Text 21"/>
          <p:cNvSpPr txBox="1"/>
          <p:nvPr/>
        </p:nvSpPr>
        <p:spPr>
          <a:xfrm>
            <a:off x="7233841" y="2929830"/>
            <a:ext cx="3427143" cy="240030"/>
          </a:xfrm>
          <a:prstGeom prst="rect">
            <a:avLst/>
          </a:prstGeom>
          <a:noFill/>
          <a:ln/>
        </p:spPr>
        <p:txBody>
          <a:bodyPr wrap="square" lIns="0" tIns="0" rIns="0" bIns="0" rtlCol="0" anchor="t"/>
          <a:lstStyle/>
          <a:p>
            <a:pPr algn="l" indent="0" marL="0">
              <a:lnSpc>
                <a:spcPts val="1890"/>
              </a:lnSpc>
              <a:buNone/>
            </a:pPr>
            <a:r>
              <a:rPr lang="en-US" sz="1400" dirty="0">
                <a:solidFill>
                  <a:srgbClr val="E4ECF1"/>
                </a:solidFill>
                <a:latin typeface="Calibri" pitchFamily="34" charset="0"/>
                <a:ea typeface="Calibri" pitchFamily="34" charset="-122"/>
                <a:cs typeface="Calibri" pitchFamily="34" charset="-120"/>
              </a:rPr>
              <a:t>An independent security audit of the contracts</a:t>
            </a:r>
            <a:endParaRPr lang="en-US" sz="1400" dirty="0"/>
          </a:p>
        </p:txBody>
      </p:sp>
      <p:sp>
        <p:nvSpPr>
          <p:cNvPr id="24" name="Shape 22"/>
          <p:cNvSpPr/>
          <p:nvPr/>
        </p:nvSpPr>
        <p:spPr>
          <a:xfrm>
            <a:off x="7035800" y="3274616"/>
            <a:ext cx="4114800" cy="0"/>
          </a:xfrm>
          <a:prstGeom prst="line">
            <a:avLst/>
          </a:prstGeom>
          <a:noFill/>
          <a:ln w="6350">
            <a:solidFill>
              <a:srgbClr val="2E4A72"/>
            </a:solidFill>
            <a:prstDash val="solid"/>
          </a:ln>
        </p:spPr>
      </p:sp>
      <p:sp>
        <p:nvSpPr>
          <p:cNvPr id="25" name="Text 23"/>
          <p:cNvSpPr txBox="1"/>
          <p:nvPr/>
        </p:nvSpPr>
        <p:spPr>
          <a:xfrm>
            <a:off x="7035800" y="3379391"/>
            <a:ext cx="134541" cy="240010"/>
          </a:xfrm>
          <a:prstGeom prst="rect">
            <a:avLst/>
          </a:prstGeom>
          <a:noFill/>
          <a:ln/>
        </p:spPr>
        <p:txBody>
          <a:bodyPr wrap="square" lIns="0" tIns="0" rIns="0" bIns="0" rtlCol="0" anchor="t"/>
          <a:lstStyle/>
          <a:p>
            <a:pPr algn="l" indent="0" marL="0">
              <a:lnSpc>
                <a:spcPts val="1560"/>
              </a:lnSpc>
              <a:buNone/>
            </a:pPr>
            <a:r>
              <a:rPr lang="en-US" sz="1300" dirty="0">
                <a:solidFill>
                  <a:srgbClr val="46C4B0"/>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7233841" y="3379391"/>
            <a:ext cx="3651206" cy="240030"/>
          </a:xfrm>
          <a:prstGeom prst="rect">
            <a:avLst/>
          </a:prstGeom>
          <a:noFill/>
          <a:ln/>
        </p:spPr>
        <p:txBody>
          <a:bodyPr wrap="square" lIns="0" tIns="0" rIns="0" bIns="0" rtlCol="0" anchor="t"/>
          <a:lstStyle/>
          <a:p>
            <a:pPr algn="l" indent="0" marL="0">
              <a:lnSpc>
                <a:spcPts val="1890"/>
              </a:lnSpc>
              <a:buNone/>
            </a:pPr>
            <a:r>
              <a:rPr lang="en-US" sz="1400" dirty="0">
                <a:solidFill>
                  <a:srgbClr val="E4ECF1"/>
                </a:solidFill>
                <a:latin typeface="Calibri" pitchFamily="34" charset="0"/>
                <a:ea typeface="Calibri" pitchFamily="34" charset="-122"/>
                <a:cs typeface="Calibri" pitchFamily="34" charset="-120"/>
              </a:rPr>
              <a:t>Partners to extend the proof to more venue types</a:t>
            </a:r>
            <a:endParaRPr lang="en-US" sz="1400" dirty="0"/>
          </a:p>
        </p:txBody>
      </p:sp>
      <p:sp>
        <p:nvSpPr>
          <p:cNvPr id="27" name="Text 25"/>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Open source: github.com/Nightcore709/qed-agent-wallet</a:t>
            </a:r>
            <a:endParaRPr lang="en-US" sz="1200" dirty="0"/>
          </a:p>
        </p:txBody>
      </p:sp>
      <p:sp>
        <p:nvSpPr>
          <p:cNvPr id="28" name="Text 26"/>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QED</a:t>
            </a:r>
            <a:endParaRPr lang="en-US" sz="1200" dirty="0"/>
          </a:p>
        </p:txBody>
      </p:sp>
      <p:sp>
        <p:nvSpPr>
          <p:cNvPr id="3" name="Text 1"/>
          <p:cNvSpPr txBox="1"/>
          <p:nvPr/>
        </p:nvSpPr>
        <p:spPr>
          <a:xfrm>
            <a:off x="812800" y="1200150"/>
            <a:ext cx="10777728" cy="733425"/>
          </a:xfrm>
          <a:prstGeom prst="rect">
            <a:avLst/>
          </a:prstGeom>
          <a:noFill/>
          <a:ln/>
        </p:spPr>
        <p:txBody>
          <a:bodyPr wrap="square" lIns="0" tIns="0" rIns="0" bIns="0" rtlCol="0" anchor="t"/>
          <a:lstStyle/>
          <a:p>
            <a:pPr algn="l" indent="0" marL="0">
              <a:lnSpc>
                <a:spcPts val="5780"/>
              </a:lnSpc>
              <a:buNone/>
            </a:pPr>
            <a:r>
              <a:rPr lang="en-US" sz="5500" dirty="0">
                <a:solidFill>
                  <a:srgbClr val="E4ECF1"/>
                </a:solidFill>
                <a:latin typeface="Cambria" pitchFamily="34" charset="0"/>
                <a:ea typeface="Cambria" pitchFamily="34" charset="-122"/>
                <a:cs typeface="Cambria" pitchFamily="34" charset="-120"/>
              </a:rPr>
              <a:t>AI can decide. QED makes it prove.</a:t>
            </a:r>
            <a:endParaRPr lang="en-US" sz="5500" dirty="0"/>
          </a:p>
        </p:txBody>
      </p:sp>
      <p:sp>
        <p:nvSpPr>
          <p:cNvPr id="4" name="Text 2"/>
          <p:cNvSpPr txBox="1"/>
          <p:nvPr/>
        </p:nvSpPr>
        <p:spPr>
          <a:xfrm>
            <a:off x="812800" y="2136775"/>
            <a:ext cx="10777728" cy="731441"/>
          </a:xfrm>
          <a:prstGeom prst="rect">
            <a:avLst/>
          </a:prstGeom>
          <a:noFill/>
          <a:ln/>
        </p:spPr>
        <p:txBody>
          <a:bodyPr wrap="square" lIns="0" tIns="0" rIns="0" bIns="0" rtlCol="0" anchor="t"/>
          <a:lstStyle/>
          <a:p>
            <a:pPr algn="l" indent="0" marL="0">
              <a:lnSpc>
                <a:spcPts val="2880"/>
              </a:lnSpc>
              <a:buNone/>
            </a:pPr>
            <a:r>
              <a:rPr lang="en-US" sz="2400" i="1" dirty="0">
                <a:solidFill>
                  <a:srgbClr val="A9BACB"/>
                </a:solidFill>
                <a:latin typeface="Cambria" pitchFamily="34" charset="0"/>
                <a:ea typeface="Cambria" pitchFamily="34" charset="-122"/>
                <a:cs typeface="Cambria" pitchFamily="34" charset="-120"/>
              </a:rPr>
              <a:t>Verifiable financial constraints should be a precondition for autonomous execution, not an audit after the fact.</a:t>
            </a:r>
            <a:endParaRPr lang="en-US" sz="2400" dirty="0"/>
          </a:p>
        </p:txBody>
      </p:sp>
      <p:sp>
        <p:nvSpPr>
          <p:cNvPr id="5" name="Shape 3"/>
          <p:cNvSpPr/>
          <p:nvPr/>
        </p:nvSpPr>
        <p:spPr>
          <a:xfrm>
            <a:off x="812800" y="4651375"/>
            <a:ext cx="10566400" cy="0"/>
          </a:xfrm>
          <a:prstGeom prst="line">
            <a:avLst/>
          </a:prstGeom>
          <a:noFill/>
          <a:ln w="6350">
            <a:solidFill>
              <a:srgbClr val="2E4A72"/>
            </a:solidFill>
            <a:prstDash val="solid"/>
          </a:ln>
        </p:spPr>
      </p:sp>
      <p:sp>
        <p:nvSpPr>
          <p:cNvPr id="6" name="Text 4"/>
          <p:cNvSpPr txBox="1"/>
          <p:nvPr/>
        </p:nvSpPr>
        <p:spPr>
          <a:xfrm>
            <a:off x="812800" y="4832350"/>
            <a:ext cx="10777728"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Try it: the live app, on a testnet sandbox chain (no wallet, no keys)</a:t>
            </a:r>
            <a:endParaRPr lang="en-US" sz="1200" dirty="0"/>
          </a:p>
        </p:txBody>
      </p:sp>
      <p:sp>
        <p:nvSpPr>
          <p:cNvPr id="7" name="Text 5"/>
          <p:cNvSpPr txBox="1"/>
          <p:nvPr/>
        </p:nvSpPr>
        <p:spPr>
          <a:xfrm>
            <a:off x="812800" y="5054600"/>
            <a:ext cx="10777728" cy="228600"/>
          </a:xfrm>
          <a:prstGeom prst="rect">
            <a:avLst/>
          </a:prstGeom>
          <a:noFill/>
          <a:ln/>
        </p:spPr>
        <p:txBody>
          <a:bodyPr wrap="square" lIns="0" tIns="0" rIns="0" bIns="0" rtlCol="0" anchor="t"/>
          <a:lstStyle/>
          <a:p>
            <a:pPr algn="l" indent="0" marL="0">
              <a:lnSpc>
                <a:spcPts val="1800"/>
              </a:lnSpc>
              <a:buNone/>
            </a:pPr>
            <a:r>
              <a:rPr lang="en-US" sz="1500" dirty="0">
                <a:solidFill>
                  <a:srgbClr val="E4ECF1"/>
                </a:solidFill>
                <a:latin typeface="Courier New" pitchFamily="34" charset="0"/>
                <a:ea typeface="Courier New" pitchFamily="34" charset="-122"/>
                <a:cs typeface="Courier New" pitchFamily="34" charset="-120"/>
              </a:rPr>
              <a:t>qed-judges-preview-production.up.railway.app</a:t>
            </a:r>
            <a:endParaRPr lang="en-US" sz="1500" dirty="0"/>
          </a:p>
        </p:txBody>
      </p:sp>
      <p:sp>
        <p:nvSpPr>
          <p:cNvPr id="8" name="Text 6"/>
          <p:cNvSpPr txBox="1"/>
          <p:nvPr/>
        </p:nvSpPr>
        <p:spPr>
          <a:xfrm>
            <a:off x="812800" y="5448300"/>
            <a:ext cx="523341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Sepolia proof ledger</a:t>
            </a:r>
            <a:endParaRPr lang="en-US" sz="1200" dirty="0"/>
          </a:p>
        </p:txBody>
      </p:sp>
      <p:sp>
        <p:nvSpPr>
          <p:cNvPr id="9" name="Text 7"/>
          <p:cNvSpPr txBox="1"/>
          <p:nvPr/>
        </p:nvSpPr>
        <p:spPr>
          <a:xfrm>
            <a:off x="812800" y="5670550"/>
            <a:ext cx="5233416" cy="18288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nightcore709.github.io/qed-agent-wallet</a:t>
            </a:r>
            <a:endParaRPr lang="en-US" sz="1200" dirty="0"/>
          </a:p>
        </p:txBody>
      </p:sp>
      <p:sp>
        <p:nvSpPr>
          <p:cNvPr id="10" name="Text 8"/>
          <p:cNvSpPr txBox="1"/>
          <p:nvPr/>
        </p:nvSpPr>
        <p:spPr>
          <a:xfrm>
            <a:off x="6248400" y="5448300"/>
            <a:ext cx="523341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Code, evidence, docs</a:t>
            </a:r>
            <a:endParaRPr lang="en-US" sz="1200" dirty="0"/>
          </a:p>
        </p:txBody>
      </p:sp>
      <p:sp>
        <p:nvSpPr>
          <p:cNvPr id="11" name="Text 9"/>
          <p:cNvSpPr txBox="1"/>
          <p:nvPr/>
        </p:nvSpPr>
        <p:spPr>
          <a:xfrm>
            <a:off x="6248400" y="5670550"/>
            <a:ext cx="5233416" cy="18288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github.com/Nightcore709/qed-agent-wallet</a:t>
            </a:r>
            <a:endParaRPr lang="en-US" sz="1200" dirty="0"/>
          </a:p>
        </p:txBody>
      </p:sp>
      <p:sp>
        <p:nvSpPr>
          <p:cNvPr id="12" name="Text 10"/>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Apurv Chauhan · Lakshya Goswami · St. Xavier's College, Mumbai</a:t>
            </a:r>
            <a:endParaRPr lang="en-US" sz="1200" dirty="0"/>
          </a:p>
        </p:txBody>
      </p:sp>
      <p:sp>
        <p:nvSpPr>
          <p:cNvPr id="13" name="Text 11"/>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A9BACB"/>
                </a:solidFill>
                <a:latin typeface="Calibri" pitchFamily="34" charset="0"/>
                <a:ea typeface="Calibri" pitchFamily="34" charset="-122"/>
                <a:cs typeface="Calibri" pitchFamily="34" charset="-120"/>
              </a:rPr>
              <a:t>12 / 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QED — Pitch Deck</dc:title>
  <dc:subject>FinTechathon 2026 · Topic F · QED</dc:subject>
  <dc:creator>QED team</dc:creator>
  <cp:lastModifiedBy>QED team</cp:lastModifiedBy>
  <cp:revision>1</cp:revision>
  <dcterms:created xsi:type="dcterms:W3CDTF">2026-10-20T14:27:26Z</dcterms:created>
  <dcterms:modified xsi:type="dcterms:W3CDTF">2026-10-20T14:27:26Z</dcterms:modified>
</cp:coreProperties>
</file>